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  <p:embeddedFontLst>
    <p:embeddedFont>
      <p:font typeface="SourceCodeVF"/>
      <p:regular r:id="rId9"/>
      <p:bold r:id="rId9"/>
      <p:italic r:id="rId10"/>
      <p:boldItalic r:id="rId10"/>
    </p:embeddedFont>
    <p:embeddedFont>
      <p:font typeface="Roboto"/>
      <p:regular r:id="rId11"/>
      <p:bold r:id="rId11"/>
      <p:italic r:id="rId11"/>
      <p:boldItalic r:id="rId11"/>
    </p:embeddedFont>
    <p:embeddedFont>
      <p:font typeface="Roboto Flex"/>
      <p:regular r:id="rId12"/>
      <p:bold r:id="rId12"/>
      <p:italic r:id="rId12"/>
      <p:boldItalic r:id="rId12"/>
    </p:embeddedFont>
    <p:embeddedFont>
      <p:font typeface="Roboto Slab"/>
      <p:regular r:id="rId13"/>
      <p:bold r:id="rId1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font" Target="fonts/Font_1_SourceCodeVF_Regular.fntdata"/><Relationship Id="rId10" Type="http://schemas.openxmlformats.org/officeDocument/2006/relationships/font" Target="fonts/Font_2_SourceCodeVF_Italic.fntdata"/><Relationship Id="rId11" Type="http://schemas.openxmlformats.org/officeDocument/2006/relationships/font" Target="fonts/Font_3_Roboto_Regular.fntdata"/><Relationship Id="rId12" Type="http://schemas.openxmlformats.org/officeDocument/2006/relationships/font" Target="fonts/Font_4_Roboto_Flex_Regular.fntdata"/><Relationship Id="rId13" Type="http://schemas.openxmlformats.org/officeDocument/2006/relationships/font" Target="fonts/Font_5_Roboto_Slab_Regular.fntdata"/><Relationship Id="rId14" Type="http://schemas.openxmlformats.org/officeDocument/2006/relationships/font" Target="fonts/Font_6_Roboto_Slab_Bold.fntdata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539A50B-4D80-4B0F-82C3-78CF2B078E5C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3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04601F-C1D5-48F0-B31D-16448C1D6672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 hasCustomPrompt="1"/>
          </p:nvPr>
        </p:nvSpPr>
        <p:spPr>
          <a:xfrm>
            <a:off x="388080" y="1440000"/>
            <a:ext cx="11409480" cy="251928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Headline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6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Format des Gliederungstextes durch Klicken bearbeiten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Slab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Zweite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Dritte Gliederungsebene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Vierte Gliederungsebene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Fünfte Gliederungsebene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Sechste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</a:rPr>
              <a:t>Siebte Gliederungsebene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ufzählung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dt" idx="7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ldNum" idx="8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7C9BC3-A005-4C88-BC4B-6AC1BBEDE1F7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11409480" cy="415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 hasCustomPrompt="1"/>
          </p:nvPr>
        </p:nvSpPr>
        <p:spPr>
          <a:xfrm>
            <a:off x="400320" y="1448280"/>
            <a:ext cx="1140948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9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ufzählung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dt" idx="10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1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F1AA21-6E07-4BFC-991D-9FF579724B97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1386000"/>
            <a:ext cx="11409480" cy="507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7pPr>
          </a:lstStyle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Aufzählung:</a:t>
            </a:r>
            <a:br>
              <a:rPr sz="2000"/>
            </a:b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28600" indent="-228600" algn="l" defTabSz="914400">
              <a:lnSpc>
                <a:spcPct val="120000"/>
              </a:lnSpc>
              <a:spcBef>
                <a:spcPts val="1001"/>
              </a:spcBef>
              <a:buClr>
                <a:srgbClr val="595959"/>
              </a:buClr>
              <a:buFont typeface="Roboto Flex"/>
              <a:buChar char="•"/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2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-Spalten-Foli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7"/>
          <p:cNvSpPr/>
          <p:nvPr/>
        </p:nvSpPr>
        <p:spPr>
          <a:xfrm>
            <a:off x="0" y="6629400"/>
            <a:ext cx="12191400" cy="22788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de-DE" sz="1800" b="0" u="none" strike="noStrike">
              <a:solidFill>
                <a:schemeClr val="lt1"/>
              </a:solidFill>
              <a:effectLst/>
              <a:uFillTx/>
              <a:latin typeface="Roboto Flex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dt" idx="13"/>
          </p:nvPr>
        </p:nvSpPr>
        <p:spPr>
          <a:xfrm>
            <a:off x="35136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4"/>
          </p:nvPr>
        </p:nvSpPr>
        <p:spPr>
          <a:xfrm>
            <a:off x="9018000" y="6629400"/>
            <a:ext cx="274248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6ED4C1-7E14-4511-97A3-5AFA987286A8}" type="slidenum">
              <a:rPr lang="de-DE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 Flex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 hasCustomPrompt="1"/>
          </p:nvPr>
        </p:nvSpPr>
        <p:spPr>
          <a:xfrm>
            <a:off x="351360" y="2304000"/>
            <a:ext cx="5625360" cy="415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 hasCustomPrompt="1"/>
          </p:nvPr>
        </p:nvSpPr>
        <p:spPr>
          <a:xfrm>
            <a:off x="6135120" y="2295360"/>
            <a:ext cx="5625360" cy="415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1pPr>
            <a:lvl2pPr lvl="2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2pPr>
            <a:lvl3pPr lvl="3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3pPr>
            <a:lvl4pPr lvl="4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  <a:def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defRPr>
            </a:lvl4pPr>
            <a:lvl5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defRPr>
            </a:lvl5pPr>
            <a:lvl6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6pPr>
            <a:lvl7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defRPr>
            </a:lvl7pPr>
          </a:lstStyle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Text hier einfügen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Dritte Ebene</a:t>
            </a:r>
            <a:endParaRPr lang="de-DE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Vierte Ebene</a:t>
            </a:r>
            <a:endParaRPr lang="de-DE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595959"/>
              </a:buClr>
              <a:buFont typeface="Roboto Flex"/>
              <a:buChar char="•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Fünfte Ebene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indent="0" algn="l" defTabSz="914400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title" hasCustomPrompt="1"/>
          </p:nvPr>
        </p:nvSpPr>
        <p:spPr>
          <a:xfrm>
            <a:off x="388080" y="1454400"/>
            <a:ext cx="11409480" cy="64044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Überschrift</a:t>
            </a:r>
            <a:br>
              <a:rPr sz="2000"/>
            </a:br>
            <a:r>
              <a:rPr lang="de-DE" sz="20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maximal 2 Zeilen</a:t>
            </a:r>
            <a:endParaRPr lang="de-DE" sz="20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ftr" idx="15"/>
          </p:nvPr>
        </p:nvSpPr>
        <p:spPr>
          <a:xfrm>
            <a:off x="4038480" y="655848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Roboto Flex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 hasCustomPrompt="1"/>
          </p:nvPr>
        </p:nvSpPr>
        <p:spPr>
          <a:xfrm>
            <a:off x="381960" y="1440000"/>
            <a:ext cx="11409480" cy="251928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Lab 02: </a:t>
            </a: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SourceCodeVF"/>
                <a:ea typeface="Roboto Slab"/>
              </a:rPr>
              <a:t>systemd</a:t>
            </a: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 Unit-Dateien</a:t>
            </a:r>
            <a:br>
              <a:rPr sz="4400"/>
            </a:br>
            <a:r>
              <a:rPr lang="de-DE" sz="44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erstellen und verstehen</a:t>
            </a:r>
            <a:endParaRPr lang="de-DE" sz="44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 hasCustomPrompt="1"/>
          </p:nvPr>
        </p:nvSpPr>
        <p:spPr>
          <a:xfrm>
            <a:off x="381960" y="3959640"/>
            <a:ext cx="11409480" cy="755280"/>
          </a:xfrm>
          <a:prstGeom prst="rect">
            <a:avLst/>
          </a:prstGeom>
          <a:solidFill>
            <a:srgbClr val="FFCD0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</a:rPr>
              <a:t>Überblick über das Lab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0DB274B-C72C-4314-A6E5-A1E8E27B7D1E}" type="slidenum">
              <a:t>1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fld id="{18B156C4-F9B3-4E93-97C8-6934EA3F1980}" type="datetime1">
              <a:rPr lang="de-DE"/>
              <a:t>22.09.2026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548604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 Kollege hat ein </a:t>
            </a: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Bash</a:t>
            </a: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-Skript geschrieben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Es schreibt Netzwerkstatistiken ins Syslog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Das Problem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Startet nicht automatisch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Läuft nicht dauerhaft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Es fehlt: eine Unit-Datei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Ihr Auftrag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Den Dienst selbst in </a:t>
            </a: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systemd</a:t>
            </a:r>
            <a:r>
              <a:rPr lang="de-DE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integrieren</a:t>
            </a:r>
            <a:endParaRPr lang="de-DE" sz="1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Ihre Ausgangslage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  <p:pic>
        <p:nvPicPr>
          <p:cNvPr id="34" name="Picture 3" descr="server.png"/>
          <p:cNvPicPr/>
          <p:nvPr/>
        </p:nvPicPr>
        <p:blipFill>
          <a:blip r:embed="rId1"/>
          <a:stretch/>
        </p:blipFill>
        <p:spPr>
          <a:xfrm>
            <a:off x="6311160" y="2304360"/>
            <a:ext cx="5445360" cy="415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128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Die Struktur einer systemd Unit-Datei kennen und anwenden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Einen eigenen Dienst ohne vorhandene Unit-Datei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in 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systemd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integrieren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Den Unterschied zwischen einem fehlenden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und einem fehlerhaften Dienst diagnostizieren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Eine Unit-Datei schrittweise verbessern und das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Ergebnis mit 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journalctl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überprüfen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Das lernen Sie in diesem Lab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128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1: Ausgangszustand verstehen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3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Skript ohne Unit-Datei – was weiß </a:t>
            </a:r>
            <a:r>
              <a:rPr lang="de-DE" sz="13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systemd</a:t>
            </a:r>
            <a:r>
              <a:rPr lang="de-DE" sz="13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darüber?</a:t>
            </a:r>
            <a:endParaRPr lang="de-DE" sz="13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2: Minimale Unit-Datei schreiben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3: Unit-Datei von Cockpit analysieren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3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Aufbau einer echten, produktiven Unit-Datei</a:t>
            </a:r>
            <a:endParaRPr lang="de-DE" sz="13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4: Unit-Datei schrittweise verbessern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594360" lvl="1" indent="-201240" algn="l" defTabSz="914400">
              <a:lnSpc>
                <a:spcPct val="9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3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Benutzerkontext, Neustartverhalten, Abhängigkeiten</a:t>
            </a:r>
            <a:endParaRPr lang="de-DE" sz="13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 Flex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5: Autostart aktivieren und Persistenz prüfen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5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Slab"/>
                <a:ea typeface="Roboto"/>
              </a:rPr>
              <a:t>Schritt 6: Fehler in Unit-Dateien diagnostizieren</a:t>
            </a:r>
            <a:endParaRPr lang="de-DE" sz="15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Ablauf: 6 Schritte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128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Testskript erstellen und im Hintergrund ausführen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netmon.sh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unter 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/opt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anlegen und ausführbar machen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Start ohne Unit-Datei versuchen und Fehlermeldung verstehen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Minimale Unit-Datei schreiben und mit daemon-reload aktivieren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Unit-Datei von Cockpit mit 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systemctl cat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analysieren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Unit-Datei um User, Restart und After ergänzen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Autostart aktivieren und nach einem Neustart prüfen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Absichtlich einen Fehler einbauen und mit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journalctl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 diagnostizieren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Ihre Aufgaben während des Labs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hasCustomPrompt="1"/>
          </p:nvPr>
        </p:nvSpPr>
        <p:spPr>
          <a:xfrm>
            <a:off x="347400" y="2304360"/>
            <a:ext cx="11411280" cy="415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20040" indent="-201240" algn="l" defTabSz="914400">
              <a:lnSpc>
                <a:spcPct val="120000"/>
              </a:lnSpc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Wann ist eine Drop-in-Datei die bessere Wahl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gegenüber einer vollständigen eigenen Unit-Datei?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  <a:p>
            <a:pPr marL="320040" indent="-201240" algn="l" defTabSz="914400">
              <a:lnSpc>
                <a:spcPct val="120000"/>
              </a:lnSpc>
              <a:spcBef>
                <a:spcPts val="1001"/>
              </a:spcBef>
              <a:spcAft>
                <a:spcPts val="201"/>
              </a:spcAft>
              <a:buClr>
                <a:srgbClr val="595959"/>
              </a:buClr>
              <a:buFont typeface="Roboto Flex"/>
              <a:buChar char="•"/>
            </a:pP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Welche Konsequenz hat es, wenn </a:t>
            </a: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SourceCodeVF"/>
                <a:ea typeface="Roboto"/>
              </a:rPr>
              <a:t>After=network.target</a:t>
            </a:r>
            <a:br>
              <a:rPr sz="1600"/>
            </a:br>
            <a:r>
              <a:rPr lang="de-DE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Roboto Flex"/>
                <a:ea typeface="Roboto"/>
              </a:rPr>
              <a:t>fehlt und das Skript Netzwerkverbindungen aufbaut?</a:t>
            </a:r>
            <a:endParaRPr lang="de-DE" sz="16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Roboto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 hasCustomPrompt="1"/>
          </p:nvPr>
        </p:nvSpPr>
        <p:spPr>
          <a:xfrm>
            <a:off x="402480" y="1444680"/>
            <a:ext cx="11411280" cy="639720"/>
          </a:xfrm>
          <a:prstGeom prst="rect">
            <a:avLst/>
          </a:prstGeom>
          <a:solidFill>
            <a:srgbClr val="2B418E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chemeClr val="lt1"/>
                </a:solidFill>
                <a:effectLst/>
                <a:uFillTx/>
                <a:latin typeface="Roboto Slab"/>
                <a:ea typeface="Roboto Slab"/>
              </a:rPr>
              <a:t>Fragen zum Abschluss</a:t>
            </a:r>
            <a:endParaRPr lang="de-DE" sz="2600" b="1" u="none" strike="noStrike">
              <a:solidFill>
                <a:schemeClr val="lt1"/>
              </a:solidFill>
              <a:effectLst/>
              <a:uFillTx/>
              <a:latin typeface="Roboto Sla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Flex" panose="020F0302020204030204" pitchFamily="0" charset="1"/>
        <a:ea typeface=""/>
        <a:cs typeface=""/>
      </a:majorFont>
      <a:minorFont>
        <a:latin typeface="Roboto Flex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LibreOffice/26.8.0.3$Linux_X86_64 LibreOffice_project/bce0998afefdbc355585ca324285661a2170ba77</Application>
  <AppVersion>15.0000</AppVersion>
  <Words>4</Words>
  <Paragraphs>4</Paragraphs>
  <Company>ALP-Dillingen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2019-06-04T07:33:10Z</dcterms:created>
  <dc:creator>Koehler, Oliver</dc:creator>
  <dc:description/>
  <dc:language>de-DE</dc:language>
  <cp:lastModifiedBy>Florian Reichl</cp:lastModifiedBy>
  <dcterms:modified xsi:type="dcterms:W3CDTF">2026-09-22T16:05:05Z</dcterms:modified>
  <cp:revision>26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2</vt:i4>
  </property>
</Properties>
</file>