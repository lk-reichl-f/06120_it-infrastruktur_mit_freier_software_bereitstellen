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559675" cy="10691813"/>
  <p:embeddedFontLst>
    <p:embeddedFont>
      <p:font typeface="SourceCodeVF"/>
      <p:regular r:id="rId9"/>
      <p:bold r:id="rId9"/>
      <p:italic r:id="rId10"/>
      <p:boldItalic r:id="rId10"/>
    </p:embeddedFont>
    <p:embeddedFont>
      <p:font typeface="Roboto"/>
      <p:regular r:id="rId11"/>
      <p:bold r:id="rId11"/>
      <p:italic r:id="rId11"/>
      <p:boldItalic r:id="rId11"/>
    </p:embeddedFont>
    <p:embeddedFont>
      <p:font typeface="Roboto Slab"/>
      <p:regular r:id="rId12"/>
      <p:bold r:id="rId13"/>
    </p:embeddedFont>
    <p:embeddedFont>
      <p:font typeface="Roboto Flex"/>
      <p:regular r:id="rId14"/>
      <p:bold r:id="rId14"/>
      <p:italic r:id="rId14"/>
      <p:boldItalic r:id="rId14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font" Target="fonts/Font_1_SourceCodeVF_Regular.fntdata"/><Relationship Id="rId10" Type="http://schemas.openxmlformats.org/officeDocument/2006/relationships/font" Target="fonts/Font_2_SourceCodeVF_Italic.fntdata"/><Relationship Id="rId11" Type="http://schemas.openxmlformats.org/officeDocument/2006/relationships/font" Target="fonts/Font_3_Roboto_Regular.fntdata"/><Relationship Id="rId12" Type="http://schemas.openxmlformats.org/officeDocument/2006/relationships/font" Target="fonts/Font_4_Roboto_Slab_Regular.fntdata"/><Relationship Id="rId13" Type="http://schemas.openxmlformats.org/officeDocument/2006/relationships/font" Target="fonts/Font_5_Roboto_Slab_Bold.fntdata"/><Relationship Id="rId14" Type="http://schemas.openxmlformats.org/officeDocument/2006/relationships/font" Target="fonts/Font_6_Roboto_Flex_Regular.fntdata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7"/>
          <p:cNvSpPr/>
          <p:nvPr/>
        </p:nvSpPr>
        <p:spPr>
          <a:xfrm>
            <a:off x="0" y="6629400"/>
            <a:ext cx="12191040" cy="227520"/>
          </a:xfrm>
          <a:prstGeom prst="rect">
            <a:avLst/>
          </a:prstGeom>
          <a:solidFill>
            <a:srgbClr val="274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de-DE" sz="1800" b="0" u="none" strike="noStrike">
              <a:solidFill>
                <a:schemeClr val="lt1"/>
              </a:solidFill>
              <a:effectLst/>
              <a:uFillTx/>
              <a:latin typeface="Roboto Flex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dt" idx="1"/>
          </p:nvPr>
        </p:nvSpPr>
        <p:spPr>
          <a:xfrm>
            <a:off x="351360" y="6629400"/>
            <a:ext cx="274212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9018000" y="6629400"/>
            <a:ext cx="274212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6C985C7-51F0-45E6-9429-7D3D540ACB95}" type="slidenum"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3"/>
          </p:nvPr>
        </p:nvSpPr>
        <p:spPr>
          <a:xfrm>
            <a:off x="4038480" y="655848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-Foli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7"/>
          <p:cNvSpPr/>
          <p:nvPr/>
        </p:nvSpPr>
        <p:spPr>
          <a:xfrm>
            <a:off x="0" y="6629400"/>
            <a:ext cx="12191040" cy="227520"/>
          </a:xfrm>
          <a:prstGeom prst="rect">
            <a:avLst/>
          </a:prstGeom>
          <a:solidFill>
            <a:srgbClr val="274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de-DE" sz="1800" b="0" u="none" strike="noStrike">
              <a:solidFill>
                <a:schemeClr val="lt1"/>
              </a:solidFill>
              <a:effectLst/>
              <a:uFillTx/>
              <a:latin typeface="Roboto Flex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dt" idx="4"/>
          </p:nvPr>
        </p:nvSpPr>
        <p:spPr>
          <a:xfrm>
            <a:off x="351360" y="6629400"/>
            <a:ext cx="274212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9018000" y="6629400"/>
            <a:ext cx="274212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3A9FE39-EA56-419E-8011-DA3E4F6F7977}" type="slidenum"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title" hasCustomPrompt="1"/>
          </p:nvPr>
        </p:nvSpPr>
        <p:spPr>
          <a:xfrm>
            <a:off x="388080" y="1440000"/>
            <a:ext cx="11409120" cy="251892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de-DE" sz="44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Headline</a:t>
            </a:r>
            <a:endParaRPr lang="de-DE" sz="44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6"/>
          </p:nvPr>
        </p:nvSpPr>
        <p:spPr>
          <a:xfrm>
            <a:off x="4038480" y="655848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</a:rPr>
              <a:t>Format des Gliederungstextes durch Klicken bearbeiten</a:t>
            </a:r>
            <a:endParaRPr lang="de-DE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Slab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Zweite Gliederungsebene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Dritte Gliederungsebene</a:t>
            </a:r>
            <a:endParaRPr lang="de-DE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Vierte Gliederungsebene</a:t>
            </a:r>
            <a:endParaRPr lang="de-DE" sz="1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Fünfte Gliederungsebene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Sechste Gliederungsebene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Siebte Gliederungsebene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ufzählung-Foli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7"/>
          <p:cNvSpPr/>
          <p:nvPr/>
        </p:nvSpPr>
        <p:spPr>
          <a:xfrm>
            <a:off x="0" y="6629400"/>
            <a:ext cx="12191040" cy="227520"/>
          </a:xfrm>
          <a:prstGeom prst="rect">
            <a:avLst/>
          </a:prstGeom>
          <a:solidFill>
            <a:srgbClr val="274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de-DE" sz="1800" b="0" u="none" strike="noStrike">
              <a:solidFill>
                <a:schemeClr val="lt1"/>
              </a:solidFill>
              <a:effectLst/>
              <a:uFillTx/>
              <a:latin typeface="Roboto Flex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dt" idx="7"/>
          </p:nvPr>
        </p:nvSpPr>
        <p:spPr>
          <a:xfrm>
            <a:off x="351360" y="6629400"/>
            <a:ext cx="274212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ldNum" idx="8"/>
          </p:nvPr>
        </p:nvSpPr>
        <p:spPr>
          <a:xfrm>
            <a:off x="9018000" y="6629400"/>
            <a:ext cx="274212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2FC6BA7-5894-42E5-920D-60E0BB2110EE}" type="slidenum"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 hasCustomPrompt="1"/>
          </p:nvPr>
        </p:nvSpPr>
        <p:spPr>
          <a:xfrm>
            <a:off x="351360" y="2304000"/>
            <a:ext cx="11409120" cy="415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  <a:defRPr lang="de-DE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1pPr>
            <a:lvl2pPr lvl="2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2pPr>
            <a:lvl3pPr lvl="3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3pPr>
            <a:lvl4pPr lvl="4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4pPr>
            <a:lvl5pPr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5pPr>
            <a:lvl6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6pPr>
            <a:lvl7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7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Aufzählung:</a:t>
            </a:r>
            <a:br>
              <a:rPr sz="2000"/>
            </a:b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Text hier einfügen</a:t>
            </a: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Dritte Ebene</a:t>
            </a:r>
            <a:endParaRPr lang="de-DE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Vierte Ebene</a:t>
            </a:r>
            <a:endParaRPr lang="de-DE" sz="1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Fünfte Ebene</a:t>
            </a:r>
            <a:endParaRPr lang="de-DE" sz="14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title" hasCustomPrompt="1"/>
          </p:nvPr>
        </p:nvSpPr>
        <p:spPr>
          <a:xfrm>
            <a:off x="400320" y="1448280"/>
            <a:ext cx="11409120" cy="64044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Überschrift</a:t>
            </a:r>
            <a:br>
              <a:rPr sz="2000"/>
            </a:br>
            <a:r>
              <a: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maximal 2 Zeilen</a:t>
            </a:r>
            <a:endParaRPr lang="de-DE" sz="20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9"/>
          </p:nvPr>
        </p:nvSpPr>
        <p:spPr>
          <a:xfrm>
            <a:off x="4038480" y="655848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Aufzählung-Foli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7"/>
          <p:cNvSpPr/>
          <p:nvPr/>
        </p:nvSpPr>
        <p:spPr>
          <a:xfrm>
            <a:off x="0" y="6629400"/>
            <a:ext cx="12191040" cy="227520"/>
          </a:xfrm>
          <a:prstGeom prst="rect">
            <a:avLst/>
          </a:prstGeom>
          <a:solidFill>
            <a:srgbClr val="274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de-DE" sz="1800" b="0" u="none" strike="noStrike">
              <a:solidFill>
                <a:schemeClr val="lt1"/>
              </a:solidFill>
              <a:effectLst/>
              <a:uFillTx/>
              <a:latin typeface="Roboto Flex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dt" idx="10"/>
          </p:nvPr>
        </p:nvSpPr>
        <p:spPr>
          <a:xfrm>
            <a:off x="351360" y="6629400"/>
            <a:ext cx="274212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1"/>
          </p:nvPr>
        </p:nvSpPr>
        <p:spPr>
          <a:xfrm>
            <a:off x="9018000" y="6629400"/>
            <a:ext cx="274212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3F7AC27-5464-4C3F-A120-5D4DF54324F6}" type="slidenum"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 hasCustomPrompt="1"/>
          </p:nvPr>
        </p:nvSpPr>
        <p:spPr>
          <a:xfrm>
            <a:off x="351360" y="1386000"/>
            <a:ext cx="11409120" cy="506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  <a:defRPr lang="de-DE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1pPr>
            <a:lvl2pPr lvl="2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2pPr>
            <a:lvl3pPr lvl="3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3pPr>
            <a:lvl4pPr lvl="4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4pPr>
            <a:lvl5pPr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5pPr>
            <a:lvl6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6pPr>
            <a:lvl7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7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Aufzählung:</a:t>
            </a:r>
            <a:br>
              <a:rPr sz="2000"/>
            </a:b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Text hier einfügen</a:t>
            </a: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Dritte Ebene</a:t>
            </a:r>
            <a:endParaRPr lang="de-DE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Vierte Ebene</a:t>
            </a:r>
            <a:endParaRPr lang="de-DE" sz="1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Fünfte Ebene</a:t>
            </a:r>
            <a:endParaRPr lang="de-DE" sz="14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2"/>
          </p:nvPr>
        </p:nvSpPr>
        <p:spPr>
          <a:xfrm>
            <a:off x="4038480" y="655848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-Spalten-Foli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7"/>
          <p:cNvSpPr/>
          <p:nvPr/>
        </p:nvSpPr>
        <p:spPr>
          <a:xfrm>
            <a:off x="0" y="6629400"/>
            <a:ext cx="12191040" cy="227520"/>
          </a:xfrm>
          <a:prstGeom prst="rect">
            <a:avLst/>
          </a:prstGeom>
          <a:solidFill>
            <a:srgbClr val="274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de-DE" sz="1800" b="0" u="none" strike="noStrike">
              <a:solidFill>
                <a:schemeClr val="lt1"/>
              </a:solidFill>
              <a:effectLst/>
              <a:uFillTx/>
              <a:latin typeface="Roboto Flex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dt" idx="13"/>
          </p:nvPr>
        </p:nvSpPr>
        <p:spPr>
          <a:xfrm>
            <a:off x="351360" y="6629400"/>
            <a:ext cx="274212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14"/>
          </p:nvPr>
        </p:nvSpPr>
        <p:spPr>
          <a:xfrm>
            <a:off x="9018000" y="6629400"/>
            <a:ext cx="274212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887AFB4-B8C8-4E53-BBE0-37E96A569B5E}" type="slidenum"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 hasCustomPrompt="1"/>
          </p:nvPr>
        </p:nvSpPr>
        <p:spPr>
          <a:xfrm>
            <a:off x="351360" y="2304000"/>
            <a:ext cx="5625000" cy="415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1pPr>
            <a:lvl2pPr lvl="2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2pPr>
            <a:lvl3pPr lvl="3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3pPr>
            <a:lvl4pPr lvl="4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4pPr>
            <a:lvl5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5pPr>
            <a:lvl6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6pPr>
            <a:lvl7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7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Text hier einfügen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Dritte Ebene</a:t>
            </a:r>
            <a:endParaRPr lang="de-DE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Vierte Ebene</a:t>
            </a:r>
            <a:endParaRPr lang="de-DE" sz="1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Fünfte Ebene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 hasCustomPrompt="1"/>
          </p:nvPr>
        </p:nvSpPr>
        <p:spPr>
          <a:xfrm>
            <a:off x="6135120" y="2295360"/>
            <a:ext cx="5625000" cy="415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1pPr>
            <a:lvl2pPr lvl="2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2pPr>
            <a:lvl3pPr lvl="3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3pPr>
            <a:lvl4pPr lvl="4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4pPr>
            <a:lvl5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5pPr>
            <a:lvl6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6pPr>
            <a:lvl7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7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Text hier einfügen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Dritte Ebene</a:t>
            </a:r>
            <a:endParaRPr lang="de-DE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Vierte Ebene</a:t>
            </a:r>
            <a:endParaRPr lang="de-DE" sz="1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Fünfte Ebene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title" hasCustomPrompt="1"/>
          </p:nvPr>
        </p:nvSpPr>
        <p:spPr>
          <a:xfrm>
            <a:off x="388080" y="1454400"/>
            <a:ext cx="11409120" cy="64044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Überschrift</a:t>
            </a:r>
            <a:br>
              <a:rPr sz="2000"/>
            </a:br>
            <a:r>
              <a: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maximal 2 Zeilen</a:t>
            </a:r>
            <a:endParaRPr lang="de-DE" sz="20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ftr" idx="15"/>
          </p:nvPr>
        </p:nvSpPr>
        <p:spPr>
          <a:xfrm>
            <a:off x="4038480" y="655848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 hasCustomPrompt="1"/>
          </p:nvPr>
        </p:nvSpPr>
        <p:spPr>
          <a:xfrm>
            <a:off x="381960" y="1440000"/>
            <a:ext cx="11409120" cy="251892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Lab 06: Reverse Proxy mit nginx und nativem ACME-Modul</a:t>
            </a:r>
            <a:endParaRPr lang="de-DE" sz="44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 hasCustomPrompt="1"/>
          </p:nvPr>
        </p:nvSpPr>
        <p:spPr>
          <a:xfrm>
            <a:off x="381960" y="3959640"/>
            <a:ext cx="11409120" cy="754920"/>
          </a:xfrm>
          <a:prstGeom prst="rect">
            <a:avLst/>
          </a:prstGeom>
          <a:solidFill>
            <a:srgbClr val="FFCD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</a:rPr>
              <a:t>Überblick über das Lab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0C0FF42-C9BF-4E99-BE82-A8974990253D}" type="slidenum">
              <a:t>1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201B93EC-E53E-4FB4-B837-F2882F6AB2B3}" type="datetime1">
              <a:rPr lang="de-DE"/>
              <a:t>07.10.2026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hasCustomPrompt="1"/>
          </p:nvPr>
        </p:nvSpPr>
        <p:spPr>
          <a:xfrm>
            <a:off x="347400" y="2304360"/>
            <a:ext cx="5485680" cy="415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594360" lvl="1" indent="-201240" algn="l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Ein externer Auditor hat eine Feststellung dokumentiert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Das Problem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594360" lvl="1" indent="-201240" algn="l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Caddy bezieht Zertifikate vollständig automatisch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Anbieter und Protokoll stehen nirgends</a:t>
            </a:r>
            <a:br>
              <a:rPr sz="1400"/>
            </a:b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in der Konfiguration selbst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Die Forderung des Auditors (Control A.8.24)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594360" lvl="1" indent="-201240" algn="l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Diese Entscheidung muss nachvollziehbar</a:t>
            </a:r>
            <a:br>
              <a:rPr sz="1400"/>
            </a:b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dokumentiert sein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Ihr Auftrag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594360" lvl="1" indent="-201240" algn="l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Caddy durch nginx mit nativem ACME-Modul ablösen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title" hasCustomPrompt="1"/>
          </p:nvPr>
        </p:nvSpPr>
        <p:spPr>
          <a:xfrm>
            <a:off x="402480" y="1444680"/>
            <a:ext cx="11410920" cy="63936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Ihr Auftrag: ISO-27001-Auditvorbereitung</a:t>
            </a:r>
            <a:endParaRPr lang="de-DE" sz="26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  <p:pic>
        <p:nvPicPr>
          <p:cNvPr id="34" name="Picture 3" descr="server.png"/>
          <p:cNvPicPr/>
          <p:nvPr/>
        </p:nvPicPr>
        <p:blipFill>
          <a:blip r:embed="rId1"/>
          <a:stretch/>
        </p:blipFill>
        <p:spPr>
          <a:xfrm>
            <a:off x="6311160" y="2304360"/>
            <a:ext cx="5445000" cy="4150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hasCustomPrompt="1"/>
          </p:nvPr>
        </p:nvSpPr>
        <p:spPr>
          <a:xfrm>
            <a:off x="347400" y="2304360"/>
            <a:ext cx="11410920" cy="415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ACME als offenes Protokoll verstehen und einen</a:t>
            </a:r>
            <a:br>
              <a:rPr sz="1600"/>
            </a:b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Zertifikatsanbieter bewusst konfigurieren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nginx aus dem offiziellen Repository inklusive</a:t>
            </a:r>
            <a:br>
              <a:rPr sz="1600"/>
            </a:b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des nativen ACME-Moduls installieren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Mehrere virtuelle Hosts manuell als nginx-Server-</a:t>
            </a:r>
            <a:br>
              <a:rPr sz="1600"/>
            </a:b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Blöcke konfigurieren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Das ISO-27001-Control A.8.24 mit konkreten</a:t>
            </a:r>
            <a:br>
              <a:rPr sz="1600"/>
            </a:b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technischen Maßnahmen in Verbindung bringen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title" hasCustomPrompt="1"/>
          </p:nvPr>
        </p:nvSpPr>
        <p:spPr>
          <a:xfrm>
            <a:off x="402480" y="1444680"/>
            <a:ext cx="11410920" cy="63936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Das lernen Sie in diesem Lab</a:t>
            </a:r>
            <a:endParaRPr lang="de-DE" sz="26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hasCustomPrompt="1"/>
          </p:nvPr>
        </p:nvSpPr>
        <p:spPr>
          <a:xfrm>
            <a:off x="347400" y="2304360"/>
            <a:ext cx="11410920" cy="415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Schritt 1: Caddy ablösen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Schritt 2: nginx aus dem offiziellen Repository installieren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Schritt 3: ACME-Modul aktivieren und Issuer konfigurieren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Schritt 4: Cockpit als nginx-Server-Block migrieren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Schritt 5: Die übrigen Dienste analog migrieren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594360" lvl="1" indent="-201240" algn="l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Dienst A, Dienst B, Webseite, Dashboard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Schritt 6: Ergebnis im Browser prüfen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title" hasCustomPrompt="1"/>
          </p:nvPr>
        </p:nvSpPr>
        <p:spPr>
          <a:xfrm>
            <a:off x="402480" y="1444680"/>
            <a:ext cx="11410920" cy="63936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Ablauf: 6 Schritte</a:t>
            </a:r>
            <a:endParaRPr lang="de-DE" sz="26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hasCustomPrompt="1"/>
          </p:nvPr>
        </p:nvSpPr>
        <p:spPr>
          <a:xfrm>
            <a:off x="347400" y="2304360"/>
            <a:ext cx="11410920" cy="415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Caddy stoppen und deaktivieren, Ports 80/443 prüfen</a:t>
            </a:r>
            <a:endParaRPr lang="de-DE" sz="15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nginx samt ACME-Modul aus dem offiziellen</a:t>
            </a:r>
            <a:br>
              <a:rPr sz="1500"/>
            </a:b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Repository installieren</a:t>
            </a:r>
            <a:endParaRPr lang="de-DE" sz="15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ACME-Modul laden und Issuer (Let's Encrypt) konfigurieren</a:t>
            </a:r>
            <a:endParaRPr lang="de-DE" sz="15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Listener für die HTTP-01-Challenge einrichten</a:t>
            </a:r>
            <a:endParaRPr lang="de-DE" sz="15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Cockpit als ersten Server-Block migrieren</a:t>
            </a:r>
            <a:br>
              <a:rPr sz="1500"/>
            </a:b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und Zertifikat prüfen</a:t>
            </a:r>
            <a:endParaRPr lang="de-DE" sz="15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Dienst A, Dienst B (mit Basic Auth), Webseite</a:t>
            </a:r>
            <a:br>
              <a:rPr sz="1500"/>
            </a:b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und Dashboard analog migrieren</a:t>
            </a:r>
            <a:endParaRPr lang="de-DE" sz="15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Jede Konfiguration mit </a:t>
            </a: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SourceCodeVF"/>
                <a:ea typeface="Roboto"/>
              </a:rPr>
              <a:t>nginx -t</a:t>
            </a: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 validieren und laden</a:t>
            </a:r>
            <a:endParaRPr lang="de-DE" sz="15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Alle Domains im Browser prüfen, Caddy-Status kontrollieren</a:t>
            </a:r>
            <a:endParaRPr lang="de-DE" sz="15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title" hasCustomPrompt="1"/>
          </p:nvPr>
        </p:nvSpPr>
        <p:spPr>
          <a:xfrm>
            <a:off x="402480" y="1444680"/>
            <a:ext cx="11410920" cy="63936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Ihre Aufgaben während des Labs</a:t>
            </a:r>
            <a:endParaRPr lang="de-DE" sz="26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hasCustomPrompt="1"/>
          </p:nvPr>
        </p:nvSpPr>
        <p:spPr>
          <a:xfrm>
            <a:off x="347400" y="2304360"/>
            <a:ext cx="11410920" cy="415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Welche Audit-Feststellung lässt sich anhand der nginx-</a:t>
            </a:r>
            <a:br>
              <a:rPr sz="1400"/>
            </a:b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Konfiguration jetzt konkret nachweisen – und was genau</a:t>
            </a:r>
            <a:br>
              <a:rPr sz="1400"/>
            </a:b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würde ein Auditor dafür sehen wollen?</a:t>
            </a:r>
            <a:endParaRPr lang="de-DE" sz="14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Vergleichen Sie den Aufwand für eine neue Subdomain bei</a:t>
            </a:r>
            <a:br>
              <a:rPr sz="1400"/>
            </a:b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Caddy (Lab 04) mit dem Aufwand bei nginx mit ACME-Modul –</a:t>
            </a:r>
            <a:br>
              <a:rPr sz="1400"/>
            </a:b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was hat sich an Übersicht und Kontrolle verändert, was am Komfort?</a:t>
            </a:r>
            <a:endParaRPr lang="de-DE" sz="14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Warum ist die explizite Konfiguration des ACME-Issuers aus</a:t>
            </a:r>
            <a:br>
              <a:rPr sz="1400"/>
            </a:b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Audit-Sicht besser als die automatische Lösung von Caddy?</a:t>
            </a:r>
            <a:endParaRPr lang="de-DE" sz="14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title" hasCustomPrompt="1"/>
          </p:nvPr>
        </p:nvSpPr>
        <p:spPr>
          <a:xfrm>
            <a:off x="402480" y="1444680"/>
            <a:ext cx="11410920" cy="63936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Fragen zum Abschluss</a:t>
            </a:r>
            <a:endParaRPr lang="de-DE" sz="26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 Flex" panose="020F0302020204030204" pitchFamily="0" charset="1"/>
        <a:ea typeface=""/>
        <a:cs typeface=""/>
      </a:majorFont>
      <a:minorFont>
        <a:latin typeface="Roboto Flex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LibreOffice/26.8.0.3$Linux_X86_64 LibreOffice_project/bce0998afefdbc355585ca324285661a2170ba77</Application>
  <AppVersion>15.0000</AppVersion>
  <Words>4</Words>
  <Paragraphs>4</Paragraphs>
  <Company>ALP-Dillingen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2019-06-04T07:33:10Z</dcterms:created>
  <dc:creator>Koehler, Oliver</dc:creator>
  <dc:description/>
  <dc:language>de-DE</dc:language>
  <cp:lastModifiedBy>Florian Reichl</cp:lastModifiedBy>
  <dcterms:modified xsi:type="dcterms:W3CDTF">2026-10-07T08:03:37Z</dcterms:modified>
  <cp:revision>27</cp:revision>
  <dc:subject/>
  <dc:title>PowerPoint-Präsentation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Breitbild</vt:lpwstr>
  </property>
  <property fmtid="{D5CDD505-2E9C-101B-9397-08002B2CF9AE}" pid="3" name="Slides">
    <vt:i4>2</vt:i4>
  </property>
</Properties>
</file>