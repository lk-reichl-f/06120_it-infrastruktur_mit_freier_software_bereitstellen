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17"/>
  </p:notesMasterIdLst>
  <p:sldIdLst>
    <p:sldId id="444" r:id="rId2"/>
    <p:sldId id="455" r:id="rId3"/>
    <p:sldId id="456" r:id="rId4"/>
    <p:sldId id="468" r:id="rId5"/>
    <p:sldId id="458" r:id="rId6"/>
    <p:sldId id="470" r:id="rId7"/>
    <p:sldId id="471" r:id="rId8"/>
    <p:sldId id="461" r:id="rId9"/>
    <p:sldId id="462" r:id="rId10"/>
    <p:sldId id="463" r:id="rId11"/>
    <p:sldId id="464" r:id="rId12"/>
    <p:sldId id="465" r:id="rId13"/>
    <p:sldId id="472" r:id="rId14"/>
    <p:sldId id="466" r:id="rId15"/>
    <p:sldId id="467" r:id="rId16"/>
  </p:sldIdLst>
  <p:sldSz cx="12192000" cy="6858000"/>
  <p:notesSz cx="6858000" cy="9144000"/>
  <p:embeddedFontLst>
    <p:embeddedFont>
      <p:font typeface="Calibri" panose="020F0502020204030204" pitchFamily="34" charset="0"/>
      <p:regular r:id="rId18"/>
      <p:bold r:id="rId19"/>
      <p:italic r:id="rId20"/>
      <p:boldItalic r:id="rId21"/>
    </p:embeddedFont>
    <p:embeddedFont>
      <p:font typeface="Roboto" panose="02000000000000000000" pitchFamily="2" charset="0"/>
      <p:regular r:id="rId22"/>
      <p:bold r:id="rId23"/>
      <p:italic r:id="rId24"/>
      <p:boldItalic r:id="rId25"/>
    </p:embeddedFont>
    <p:embeddedFont>
      <p:font typeface="Roboto Slab" pitchFamily="2" charset="0"/>
      <p:regular r:id="rId26"/>
      <p:bold r:id="rId27"/>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1AF"/>
    <a:srgbClr val="005AA8"/>
    <a:srgbClr val="E7E7E9"/>
    <a:srgbClr val="FFCD00"/>
    <a:srgbClr val="4472C4"/>
    <a:srgbClr val="274295"/>
    <a:srgbClr val="DEEBF7"/>
    <a:srgbClr val="2B418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436" autoAdjust="0"/>
    <p:restoredTop sz="83758" autoAdjust="0"/>
  </p:normalViewPr>
  <p:slideViewPr>
    <p:cSldViewPr snapToGrid="0">
      <p:cViewPr varScale="1">
        <p:scale>
          <a:sx n="92" d="100"/>
          <a:sy n="92" d="100"/>
        </p:scale>
        <p:origin x="156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57A8F1-2E97-442A-A3DE-98A08CE3B9A6}" type="datetimeFigureOut">
              <a:rPr lang="de-DE" smtClean="0"/>
              <a:t>24.09.2026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D5FE33-4217-42D2-A2B6-93ED6DCD092C}" type="slidenum">
              <a:rPr lang="de-DE" smtClean="0"/>
              <a:t>‹Nr.›</a:t>
            </a:fld>
            <a:endParaRPr lang="de-DE"/>
          </a:p>
        </p:txBody>
      </p:sp>
    </p:spTree>
    <p:extLst>
      <p:ext uri="{BB962C8B-B14F-4D97-AF65-F5344CB8AC3E}">
        <p14:creationId xmlns:p14="http://schemas.microsoft.com/office/powerpoint/2010/main" val="1751763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rtl="0">
              <a:buFont typeface="Arial" panose="020B0604020202020204" pitchFamily="34" charset="0"/>
              <a:buChar char="•"/>
            </a:pPr>
            <a:r>
              <a:rPr lang="de-DE" b="1" dirty="0"/>
              <a:t>DOCKER-Chain</a:t>
            </a:r>
            <a:r>
              <a:rPr lang="de-DE" dirty="0"/>
              <a:t>: Regeln, die </a:t>
            </a:r>
            <a:r>
              <a:rPr lang="de-DE" i="1" dirty="0"/>
              <a:t>Docker automatisch</a:t>
            </a:r>
            <a:r>
              <a:rPr lang="de-DE" dirty="0"/>
              <a:t> verwaltet (z. B. die DNAT-Regel für -p 127.0.0.1:8080:80).</a:t>
            </a:r>
          </a:p>
          <a:p>
            <a:pPr rtl="0">
              <a:buFont typeface="Arial" panose="020B0604020202020204" pitchFamily="34" charset="0"/>
              <a:buChar char="•"/>
            </a:pPr>
            <a:endParaRPr lang="de-DE" dirty="0"/>
          </a:p>
          <a:p>
            <a:pPr rtl="0">
              <a:buFont typeface="Arial" panose="020B0604020202020204" pitchFamily="34" charset="0"/>
              <a:buChar char="•"/>
            </a:pPr>
            <a:r>
              <a:rPr lang="de-DE" b="1" dirty="0"/>
              <a:t>DOCKER-USER-Chain</a:t>
            </a:r>
            <a:r>
              <a:rPr lang="de-DE" dirty="0"/>
              <a:t>: ein Einstiegspunkt, den Docker zwar anlegt, aber bewusst leer lässt – reserviert für Regeln, die </a:t>
            </a:r>
            <a:r>
              <a:rPr lang="de-DE" i="1" dirty="0"/>
              <a:t>Sie</a:t>
            </a:r>
            <a:r>
              <a:rPr lang="de-DE" dirty="0"/>
              <a:t> (der "User" im Sinne von Mensch/Administrator, nicht ein Linux-Benutzerkonto) selbst hinzufügen wollen, etwa über </a:t>
            </a:r>
            <a:r>
              <a:rPr lang="de-DE" dirty="0" err="1"/>
              <a:t>ufw</a:t>
            </a:r>
            <a:r>
              <a:rPr lang="de-DE" dirty="0"/>
              <a:t>.</a:t>
            </a:r>
          </a:p>
          <a:p>
            <a:endParaRPr lang="de-DE" dirty="0"/>
          </a:p>
        </p:txBody>
      </p:sp>
      <p:sp>
        <p:nvSpPr>
          <p:cNvPr id="4" name="Foliennummernplatzhalter 3"/>
          <p:cNvSpPr>
            <a:spLocks noGrp="1"/>
          </p:cNvSpPr>
          <p:nvPr>
            <p:ph type="sldNum" sz="quarter" idx="5"/>
          </p:nvPr>
        </p:nvSpPr>
        <p:spPr/>
        <p:txBody>
          <a:bodyPr/>
          <a:lstStyle/>
          <a:p>
            <a:fld id="{4BD5FE33-4217-42D2-A2B6-93ED6DCD092C}" type="slidenum">
              <a:rPr lang="de-DE" smtClean="0"/>
              <a:t>7</a:t>
            </a:fld>
            <a:endParaRPr lang="de-DE"/>
          </a:p>
        </p:txBody>
      </p:sp>
    </p:spTree>
    <p:extLst>
      <p:ext uri="{BB962C8B-B14F-4D97-AF65-F5344CB8AC3E}">
        <p14:creationId xmlns:p14="http://schemas.microsoft.com/office/powerpoint/2010/main" val="27218652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zu 1. </a:t>
            </a:r>
          </a:p>
          <a:p>
            <a:pPr rtl="0"/>
            <a:r>
              <a:rPr lang="de-DE" dirty="0"/>
              <a:t>Die entscheidende Frage ist: </a:t>
            </a:r>
            <a:r>
              <a:rPr lang="de-DE" b="1" dirty="0"/>
              <a:t>Wer pflegt die Daten – der Mensch auf dem Host, oder die Anwendung selbst im Container?</a:t>
            </a:r>
            <a:endParaRPr lang="de-DE" dirty="0"/>
          </a:p>
          <a:p>
            <a:pPr rtl="0"/>
            <a:r>
              <a:rPr lang="de-DE" b="1" dirty="0"/>
              <a:t>Webseite → Bind Mount</a:t>
            </a:r>
            <a:r>
              <a:rPr lang="de-DE" dirty="0"/>
              <a:t>, weil die HTML-Dateien vom Administrator direkt auf dem Host bearbeitet werden (z. B. mit </a:t>
            </a:r>
            <a:r>
              <a:rPr lang="de-DE" dirty="0" err="1"/>
              <a:t>nano</a:t>
            </a:r>
            <a:r>
              <a:rPr lang="de-DE" dirty="0"/>
              <a:t>, per </a:t>
            </a:r>
            <a:r>
              <a:rPr lang="de-DE" dirty="0" err="1"/>
              <a:t>Deployment</a:t>
            </a:r>
            <a:r>
              <a:rPr lang="de-DE" dirty="0"/>
              <a:t>-Skript oder Versionskontrolle). Dafür muss der Speicherort ein bekannter, frei wählbarer Pfad sein (/</a:t>
            </a:r>
            <a:r>
              <a:rPr lang="de-DE" dirty="0" err="1"/>
              <a:t>srv</a:t>
            </a:r>
            <a:r>
              <a:rPr lang="de-DE" dirty="0"/>
              <a:t>/</a:t>
            </a:r>
            <a:r>
              <a:rPr lang="de-DE" dirty="0" err="1"/>
              <a:t>www</a:t>
            </a:r>
            <a:r>
              <a:rPr lang="de-DE" dirty="0"/>
              <a:t>) – genau das leistet ein Bind Mount. Zusätzlich lässt sich der Mount mit :</a:t>
            </a:r>
            <a:r>
              <a:rPr lang="de-DE" dirty="0" err="1"/>
              <a:t>ro</a:t>
            </a:r>
            <a:r>
              <a:rPr lang="de-DE" dirty="0"/>
              <a:t> </a:t>
            </a:r>
            <a:r>
              <a:rPr lang="de-DE" dirty="0" err="1"/>
              <a:t>read-only</a:t>
            </a:r>
            <a:r>
              <a:rPr lang="de-DE" dirty="0"/>
              <a:t> einbinden, sodass der Container die Inhalte zwar ausliefern, aber nicht verändern kann.</a:t>
            </a:r>
          </a:p>
          <a:p>
            <a:pPr rtl="0"/>
            <a:endParaRPr lang="de-DE" dirty="0"/>
          </a:p>
          <a:p>
            <a:pPr rtl="0"/>
            <a:r>
              <a:rPr lang="de-DE" b="1" dirty="0" err="1"/>
              <a:t>Node</a:t>
            </a:r>
            <a:r>
              <a:rPr lang="de-DE" b="1" dirty="0"/>
              <a:t>-RED-Daten → benanntes Volume</a:t>
            </a:r>
            <a:r>
              <a:rPr lang="de-DE" dirty="0"/>
              <a:t>, weil </a:t>
            </a:r>
            <a:r>
              <a:rPr lang="de-DE" dirty="0" err="1"/>
              <a:t>Flows</a:t>
            </a:r>
            <a:r>
              <a:rPr lang="de-DE" dirty="0"/>
              <a:t>, Einstellungen und installierte Nodes von der Anwendung selbst zur Laufzeit erzeugt und verwaltet werden – kein manuelles Bearbeiten durch den Administrator vorgesehen. Der genaue Speicherort auf dem Host ist dabei irrelevant; wichtig ist nur, dass die Daten den Container-Lebenszyklus überdauern. Ein benanntes Volume nimmt Docker diese Pfadverwaltung ab (automatisches Anlegen, einheitliche Verwaltung über </a:t>
            </a:r>
            <a:r>
              <a:rPr lang="de-DE" dirty="0" err="1"/>
              <a:t>docker</a:t>
            </a:r>
            <a:r>
              <a:rPr lang="de-DE" dirty="0"/>
              <a:t> </a:t>
            </a:r>
            <a:r>
              <a:rPr lang="de-DE" dirty="0" err="1"/>
              <a:t>volume</a:t>
            </a:r>
            <a:r>
              <a:rPr lang="de-DE" dirty="0"/>
              <a:t>-Befehle) und ist damit die für Anwendungsdaten typische Wahl.</a:t>
            </a:r>
          </a:p>
          <a:p>
            <a:pPr rtl="0"/>
            <a:r>
              <a:rPr lang="de-DE" b="1" dirty="0"/>
              <a:t>Faustregel:</a:t>
            </a:r>
            <a:r>
              <a:rPr lang="de-DE" dirty="0"/>
              <a:t> Inhalte, die der Mensch pflegt und die außerhalb von Docker eine Bedeutung haben → Bind Mount. Daten, die ausschließlich die Anwendung selbst erzeugt und benötigt → benanntes Volume.</a:t>
            </a:r>
          </a:p>
          <a:p>
            <a:pPr rtl="0"/>
            <a:endParaRPr lang="de-DE" dirty="0"/>
          </a:p>
          <a:p>
            <a:pPr rtl="0"/>
            <a:r>
              <a:rPr lang="de-DE" dirty="0"/>
              <a:t>zu 2.</a:t>
            </a:r>
          </a:p>
          <a:p>
            <a:pPr rtl="0"/>
            <a:r>
              <a:rPr lang="de-DE" dirty="0" err="1"/>
              <a:t>docker</a:t>
            </a:r>
            <a:r>
              <a:rPr lang="de-DE" dirty="0"/>
              <a:t> </a:t>
            </a:r>
            <a:r>
              <a:rPr lang="de-DE" dirty="0" err="1"/>
              <a:t>rm</a:t>
            </a:r>
            <a:r>
              <a:rPr lang="de-DE" dirty="0"/>
              <a:t> </a:t>
            </a:r>
            <a:r>
              <a:rPr lang="de-DE" dirty="0" err="1"/>
              <a:t>nodered</a:t>
            </a:r>
            <a:r>
              <a:rPr lang="de-DE" dirty="0"/>
              <a:t> entfernt </a:t>
            </a:r>
            <a:r>
              <a:rPr lang="de-DE" b="1" dirty="0"/>
              <a:t>nur den Container</a:t>
            </a:r>
            <a:r>
              <a:rPr lang="de-DE" dirty="0"/>
              <a:t> – seine beschreibbare Schicht und die Metadaten. Das Volume </a:t>
            </a:r>
            <a:r>
              <a:rPr lang="de-DE" dirty="0" err="1"/>
              <a:t>nodered-data</a:t>
            </a:r>
            <a:r>
              <a:rPr lang="de-DE" dirty="0"/>
              <a:t> besteht als eigenständiges Objekt unabhängig vom Container weiter, da Docker es getrennt vom Container-Lebenszyklus verwaltet. Ein neu gestarteter Container mit -v </a:t>
            </a:r>
            <a:r>
              <a:rPr lang="de-DE" dirty="0" err="1"/>
              <a:t>nodered-data</a:t>
            </a:r>
            <a:r>
              <a:rPr lang="de-DE" dirty="0"/>
              <a:t>:/</a:t>
            </a:r>
            <a:r>
              <a:rPr lang="de-DE" dirty="0" err="1"/>
              <a:t>data</a:t>
            </a:r>
            <a:r>
              <a:rPr lang="de-DE" dirty="0"/>
              <a:t> findet alle </a:t>
            </a:r>
            <a:r>
              <a:rPr lang="de-DE" dirty="0" err="1"/>
              <a:t>Flows</a:t>
            </a:r>
            <a:r>
              <a:rPr lang="de-DE" dirty="0"/>
              <a:t> und Einstellungen unverändert vor.</a:t>
            </a:r>
          </a:p>
          <a:p>
            <a:pPr rtl="0"/>
            <a:r>
              <a:rPr lang="de-DE" dirty="0"/>
              <a:t>Wird zusätzlich </a:t>
            </a:r>
            <a:r>
              <a:rPr lang="de-DE" dirty="0" err="1"/>
              <a:t>docker</a:t>
            </a:r>
            <a:r>
              <a:rPr lang="de-DE" dirty="0"/>
              <a:t> </a:t>
            </a:r>
            <a:r>
              <a:rPr lang="de-DE" dirty="0" err="1"/>
              <a:t>volume</a:t>
            </a:r>
            <a:r>
              <a:rPr lang="de-DE" dirty="0"/>
              <a:t> </a:t>
            </a:r>
            <a:r>
              <a:rPr lang="de-DE" dirty="0" err="1"/>
              <a:t>rm</a:t>
            </a:r>
            <a:r>
              <a:rPr lang="de-DE" dirty="0"/>
              <a:t> </a:t>
            </a:r>
            <a:r>
              <a:rPr lang="de-DE" dirty="0" err="1"/>
              <a:t>nodered-data</a:t>
            </a:r>
            <a:r>
              <a:rPr lang="de-DE" dirty="0"/>
              <a:t> ausgeführt, werden die im Volume gespeicherten Daten </a:t>
            </a:r>
            <a:r>
              <a:rPr lang="de-DE" b="1" dirty="0"/>
              <a:t>unwiderruflich gelöscht</a:t>
            </a:r>
            <a:r>
              <a:rPr lang="de-DE" dirty="0"/>
              <a:t>. Ein danach gestarteter Container mit demselben Namen und derselben -v-Angabe erhält ein leeres, neu angelegtes Volume – </a:t>
            </a:r>
            <a:r>
              <a:rPr lang="de-DE" dirty="0" err="1"/>
              <a:t>Node</a:t>
            </a:r>
            <a:r>
              <a:rPr lang="de-DE" dirty="0"/>
              <a:t>-RED startet dann bei der Ersteinrichtung, als wäre es der allererste Start.</a:t>
            </a:r>
          </a:p>
          <a:p>
            <a:pPr rtl="0"/>
            <a:r>
              <a:rPr lang="de-DE" dirty="0"/>
              <a:t>Hinweis: </a:t>
            </a:r>
            <a:r>
              <a:rPr lang="de-DE" dirty="0" err="1"/>
              <a:t>docker</a:t>
            </a:r>
            <a:r>
              <a:rPr lang="de-DE" dirty="0"/>
              <a:t> </a:t>
            </a:r>
            <a:r>
              <a:rPr lang="de-DE" dirty="0" err="1"/>
              <a:t>volume</a:t>
            </a:r>
            <a:r>
              <a:rPr lang="de-DE" dirty="0"/>
              <a:t> </a:t>
            </a:r>
            <a:r>
              <a:rPr lang="de-DE" dirty="0" err="1"/>
              <a:t>rm</a:t>
            </a:r>
            <a:r>
              <a:rPr lang="de-DE" dirty="0"/>
              <a:t> schlägt fehl, solange das Volume noch von einem – auch gestoppten – Container referenziert wird. Deshalb muss der Container immer zuerst entfernt werden, bevor das Volume gelöscht werden kann.</a:t>
            </a:r>
          </a:p>
          <a:p>
            <a:pPr rtl="0"/>
            <a:endParaRPr lang="de-DE" dirty="0"/>
          </a:p>
          <a:p>
            <a:pPr rtl="0"/>
            <a:endParaRPr lang="de-DE" dirty="0"/>
          </a:p>
          <a:p>
            <a:pPr rtl="0"/>
            <a:r>
              <a:rPr lang="de-DE" dirty="0"/>
              <a:t>zu 3.</a:t>
            </a:r>
          </a:p>
          <a:p>
            <a:pPr rtl="0"/>
            <a:r>
              <a:rPr lang="de-DE" dirty="0"/>
              <a:t>Der gängige, Docker-native Weg ist ein temporärer Hilfscontainer, der sowohl das Volume als auch ein Backup-Zielverzeichnis auf dem Host einbindet und daraus ein Archiv erstellt:</a:t>
            </a:r>
          </a:p>
          <a:p>
            <a:pPr rtl="0"/>
            <a:endParaRPr lang="de-DE" dirty="0"/>
          </a:p>
          <a:p>
            <a:pPr rtl="0"/>
            <a:r>
              <a:rPr lang="de-DE" dirty="0"/>
              <a:t>bash</a:t>
            </a:r>
          </a:p>
          <a:p>
            <a:pPr rtl="0"/>
            <a:r>
              <a:rPr lang="de-DE" dirty="0" err="1">
                <a:solidFill>
                  <a:srgbClr val="0051C2"/>
                </a:solidFill>
                <a:effectLst/>
              </a:rPr>
              <a:t>docker</a:t>
            </a:r>
            <a:r>
              <a:rPr lang="de-DE" dirty="0"/>
              <a:t> </a:t>
            </a:r>
            <a:r>
              <a:rPr lang="de-DE" dirty="0" err="1">
                <a:solidFill>
                  <a:srgbClr val="008000"/>
                </a:solidFill>
                <a:effectLst/>
              </a:rPr>
              <a:t>run</a:t>
            </a:r>
            <a:r>
              <a:rPr lang="de-DE" dirty="0"/>
              <a:t> </a:t>
            </a:r>
            <a:r>
              <a:rPr lang="de-DE" dirty="0">
                <a:solidFill>
                  <a:srgbClr val="008000"/>
                </a:solidFill>
                <a:effectLst/>
              </a:rPr>
              <a:t>--</a:t>
            </a:r>
            <a:r>
              <a:rPr lang="de-DE" dirty="0" err="1">
                <a:solidFill>
                  <a:srgbClr val="008000"/>
                </a:solidFill>
                <a:effectLst/>
              </a:rPr>
              <a:t>rm</a:t>
            </a:r>
            <a:r>
              <a:rPr lang="de-DE" dirty="0"/>
              <a:t> </a:t>
            </a:r>
            <a:r>
              <a:rPr lang="de-DE" dirty="0">
                <a:solidFill>
                  <a:srgbClr val="008080"/>
                </a:solidFill>
                <a:effectLst/>
              </a:rPr>
              <a:t>\</a:t>
            </a:r>
            <a:r>
              <a:rPr lang="de-DE" dirty="0"/>
              <a:t> </a:t>
            </a:r>
            <a:r>
              <a:rPr lang="de-DE" dirty="0">
                <a:solidFill>
                  <a:srgbClr val="008000"/>
                </a:solidFill>
                <a:effectLst/>
              </a:rPr>
              <a:t>-v</a:t>
            </a:r>
            <a:r>
              <a:rPr lang="de-DE" dirty="0"/>
              <a:t> </a:t>
            </a:r>
            <a:r>
              <a:rPr lang="de-DE" dirty="0" err="1">
                <a:solidFill>
                  <a:srgbClr val="008000"/>
                </a:solidFill>
                <a:effectLst/>
              </a:rPr>
              <a:t>nodered-data</a:t>
            </a:r>
            <a:r>
              <a:rPr lang="de-DE" dirty="0">
                <a:solidFill>
                  <a:srgbClr val="008000"/>
                </a:solidFill>
                <a:effectLst/>
              </a:rPr>
              <a:t>:/</a:t>
            </a:r>
            <a:r>
              <a:rPr lang="de-DE" dirty="0" err="1">
                <a:solidFill>
                  <a:srgbClr val="008000"/>
                </a:solidFill>
                <a:effectLst/>
              </a:rPr>
              <a:t>data:ro</a:t>
            </a:r>
            <a:r>
              <a:rPr lang="de-DE" dirty="0"/>
              <a:t> </a:t>
            </a:r>
            <a:r>
              <a:rPr lang="de-DE" dirty="0">
                <a:solidFill>
                  <a:srgbClr val="008080"/>
                </a:solidFill>
                <a:effectLst/>
              </a:rPr>
              <a:t>\</a:t>
            </a:r>
            <a:r>
              <a:rPr lang="de-DE" dirty="0"/>
              <a:t> </a:t>
            </a:r>
            <a:r>
              <a:rPr lang="de-DE" dirty="0">
                <a:solidFill>
                  <a:srgbClr val="008000"/>
                </a:solidFill>
                <a:effectLst/>
              </a:rPr>
              <a:t>-v</a:t>
            </a:r>
            <a:r>
              <a:rPr lang="de-DE" dirty="0"/>
              <a:t> </a:t>
            </a:r>
            <a:r>
              <a:rPr lang="de-DE" dirty="0">
                <a:solidFill>
                  <a:srgbClr val="008000"/>
                </a:solidFill>
                <a:effectLst/>
              </a:rPr>
              <a:t>"</a:t>
            </a:r>
            <a:r>
              <a:rPr lang="de-DE" dirty="0">
                <a:solidFill>
                  <a:srgbClr val="2B303B"/>
                </a:solidFill>
                <a:effectLst/>
              </a:rPr>
              <a:t>$(</a:t>
            </a:r>
            <a:r>
              <a:rPr lang="de-DE" dirty="0" err="1">
                <a:solidFill>
                  <a:srgbClr val="0051C2"/>
                </a:solidFill>
                <a:effectLst/>
              </a:rPr>
              <a:t>pwd</a:t>
            </a:r>
            <a:r>
              <a:rPr lang="de-DE" dirty="0">
                <a:solidFill>
                  <a:srgbClr val="2B303B"/>
                </a:solidFill>
                <a:effectLst/>
              </a:rPr>
              <a:t>)</a:t>
            </a:r>
            <a:r>
              <a:rPr lang="de-DE" dirty="0">
                <a:solidFill>
                  <a:srgbClr val="008000"/>
                </a:solidFill>
                <a:effectLst/>
              </a:rPr>
              <a:t>":/</a:t>
            </a:r>
            <a:r>
              <a:rPr lang="de-DE" dirty="0" err="1">
                <a:solidFill>
                  <a:srgbClr val="008000"/>
                </a:solidFill>
                <a:effectLst/>
              </a:rPr>
              <a:t>backup</a:t>
            </a:r>
            <a:r>
              <a:rPr lang="de-DE" dirty="0"/>
              <a:t> </a:t>
            </a:r>
            <a:r>
              <a:rPr lang="de-DE" dirty="0">
                <a:solidFill>
                  <a:srgbClr val="008080"/>
                </a:solidFill>
                <a:effectLst/>
              </a:rPr>
              <a:t>\</a:t>
            </a:r>
            <a:r>
              <a:rPr lang="de-DE" dirty="0"/>
              <a:t> </a:t>
            </a:r>
            <a:r>
              <a:rPr lang="de-DE" dirty="0">
                <a:solidFill>
                  <a:srgbClr val="008000"/>
                </a:solidFill>
                <a:effectLst/>
              </a:rPr>
              <a:t>alpine</a:t>
            </a:r>
            <a:r>
              <a:rPr lang="de-DE" dirty="0"/>
              <a:t> </a:t>
            </a:r>
            <a:r>
              <a:rPr lang="de-DE" dirty="0">
                <a:solidFill>
                  <a:srgbClr val="008080"/>
                </a:solidFill>
                <a:effectLst/>
              </a:rPr>
              <a:t>\</a:t>
            </a:r>
            <a:r>
              <a:rPr lang="de-DE" dirty="0"/>
              <a:t> </a:t>
            </a:r>
            <a:r>
              <a:rPr lang="de-DE" dirty="0" err="1">
                <a:solidFill>
                  <a:srgbClr val="008000"/>
                </a:solidFill>
                <a:effectLst/>
              </a:rPr>
              <a:t>tar</a:t>
            </a:r>
            <a:r>
              <a:rPr lang="de-DE" dirty="0"/>
              <a:t> </a:t>
            </a:r>
            <a:r>
              <a:rPr lang="de-DE" dirty="0" err="1">
                <a:solidFill>
                  <a:srgbClr val="008000"/>
                </a:solidFill>
                <a:effectLst/>
              </a:rPr>
              <a:t>czf</a:t>
            </a:r>
            <a:r>
              <a:rPr lang="de-DE" dirty="0"/>
              <a:t> </a:t>
            </a:r>
            <a:r>
              <a:rPr lang="de-DE" dirty="0">
                <a:solidFill>
                  <a:srgbClr val="008000"/>
                </a:solidFill>
                <a:effectLst/>
              </a:rPr>
              <a:t>/</a:t>
            </a:r>
            <a:r>
              <a:rPr lang="de-DE" dirty="0" err="1">
                <a:solidFill>
                  <a:srgbClr val="008000"/>
                </a:solidFill>
                <a:effectLst/>
              </a:rPr>
              <a:t>backup</a:t>
            </a:r>
            <a:r>
              <a:rPr lang="de-DE" dirty="0">
                <a:solidFill>
                  <a:srgbClr val="008000"/>
                </a:solidFill>
                <a:effectLst/>
              </a:rPr>
              <a:t>/</a:t>
            </a:r>
            <a:r>
              <a:rPr lang="de-DE" dirty="0" err="1">
                <a:solidFill>
                  <a:srgbClr val="008000"/>
                </a:solidFill>
                <a:effectLst/>
              </a:rPr>
              <a:t>nodered</a:t>
            </a:r>
            <a:r>
              <a:rPr lang="de-DE" dirty="0">
                <a:solidFill>
                  <a:srgbClr val="008000"/>
                </a:solidFill>
                <a:effectLst/>
              </a:rPr>
              <a:t>-backup-</a:t>
            </a:r>
            <a:r>
              <a:rPr lang="de-DE" dirty="0">
                <a:solidFill>
                  <a:srgbClr val="2B303B"/>
                </a:solidFill>
                <a:effectLst/>
              </a:rPr>
              <a:t>$(</a:t>
            </a:r>
            <a:r>
              <a:rPr lang="de-DE" dirty="0">
                <a:solidFill>
                  <a:srgbClr val="0051C2"/>
                </a:solidFill>
                <a:effectLst/>
              </a:rPr>
              <a:t>date</a:t>
            </a:r>
            <a:r>
              <a:rPr lang="de-DE" dirty="0"/>
              <a:t> </a:t>
            </a:r>
            <a:r>
              <a:rPr lang="de-DE" dirty="0">
                <a:solidFill>
                  <a:srgbClr val="008000"/>
                </a:solidFill>
                <a:effectLst/>
              </a:rPr>
              <a:t>+%F</a:t>
            </a:r>
            <a:r>
              <a:rPr lang="de-DE" dirty="0">
                <a:solidFill>
                  <a:srgbClr val="2B303B"/>
                </a:solidFill>
                <a:effectLst/>
              </a:rPr>
              <a:t>)</a:t>
            </a:r>
            <a:r>
              <a:rPr lang="de-DE" dirty="0">
                <a:solidFill>
                  <a:srgbClr val="008000"/>
                </a:solidFill>
                <a:effectLst/>
              </a:rPr>
              <a:t>.tar.gz</a:t>
            </a:r>
            <a:r>
              <a:rPr lang="de-DE" dirty="0"/>
              <a:t> </a:t>
            </a:r>
            <a:r>
              <a:rPr lang="de-DE" dirty="0">
                <a:solidFill>
                  <a:srgbClr val="008000"/>
                </a:solidFill>
                <a:effectLst/>
              </a:rPr>
              <a:t>-C</a:t>
            </a:r>
            <a:r>
              <a:rPr lang="de-DE" dirty="0"/>
              <a:t> </a:t>
            </a:r>
            <a:r>
              <a:rPr lang="de-DE" dirty="0">
                <a:solidFill>
                  <a:srgbClr val="008000"/>
                </a:solidFill>
                <a:effectLst/>
              </a:rPr>
              <a:t>/</a:t>
            </a:r>
            <a:r>
              <a:rPr lang="de-DE" dirty="0" err="1">
                <a:solidFill>
                  <a:srgbClr val="008000"/>
                </a:solidFill>
                <a:effectLst/>
              </a:rPr>
              <a:t>data</a:t>
            </a:r>
            <a:r>
              <a:rPr lang="de-DE" dirty="0"/>
              <a:t> </a:t>
            </a:r>
            <a:r>
              <a:rPr lang="de-DE" dirty="0">
                <a:solidFill>
                  <a:srgbClr val="008000"/>
                </a:solidFill>
                <a:effectLst/>
              </a:rPr>
              <a:t>.</a:t>
            </a:r>
          </a:p>
          <a:p>
            <a:pPr rtl="0"/>
            <a:endParaRPr lang="de-DE" dirty="0">
              <a:solidFill>
                <a:srgbClr val="008000"/>
              </a:solidFill>
              <a:effectLst/>
            </a:endParaRPr>
          </a:p>
          <a:p>
            <a:pPr rtl="0"/>
            <a:endParaRPr lang="de-DE" dirty="0"/>
          </a:p>
          <a:p>
            <a:pPr rtl="0"/>
            <a:r>
              <a:rPr lang="de-DE" dirty="0"/>
              <a:t>Dieser Ansatz funktioniert unabhängig davon, ob der eigentliche </a:t>
            </a:r>
            <a:r>
              <a:rPr lang="de-DE" dirty="0" err="1"/>
              <a:t>nodered</a:t>
            </a:r>
            <a:r>
              <a:rPr lang="de-DE" dirty="0"/>
              <a:t>-Container gerade läuft, und nutzt ausschließlich Docker-Bordmittel (kein direkter Root-Zugriff auf interne Docker-Pfade nötig).</a:t>
            </a:r>
          </a:p>
          <a:p>
            <a:pPr rtl="0"/>
            <a:r>
              <a:rPr lang="de-DE" dirty="0"/>
              <a:t>Alternativ ließe sich der tatsächliche Speicherort über </a:t>
            </a:r>
            <a:r>
              <a:rPr lang="de-DE" dirty="0" err="1"/>
              <a:t>docker</a:t>
            </a:r>
            <a:r>
              <a:rPr lang="de-DE" dirty="0"/>
              <a:t> </a:t>
            </a:r>
            <a:r>
              <a:rPr lang="de-DE" dirty="0" err="1"/>
              <a:t>volume</a:t>
            </a:r>
            <a:r>
              <a:rPr lang="de-DE" dirty="0"/>
              <a:t> </a:t>
            </a:r>
            <a:r>
              <a:rPr lang="de-DE" dirty="0" err="1"/>
              <a:t>inspect</a:t>
            </a:r>
            <a:r>
              <a:rPr lang="de-DE" dirty="0"/>
              <a:t> </a:t>
            </a:r>
            <a:r>
              <a:rPr lang="de-DE" dirty="0" err="1"/>
              <a:t>nodered-data</a:t>
            </a:r>
            <a:r>
              <a:rPr lang="de-DE" dirty="0"/>
              <a:t> (Feld </a:t>
            </a:r>
            <a:r>
              <a:rPr lang="de-DE" dirty="0" err="1"/>
              <a:t>Mountpoint</a:t>
            </a:r>
            <a:r>
              <a:rPr lang="de-DE" dirty="0"/>
              <a:t>) ermitteln und direkt als root sichern – das umgeht jedoch Dockers eigene Verwaltung, ist weniger portabel und sollte nicht der Standardweg sein, da der interne Pfad (/</a:t>
            </a:r>
            <a:r>
              <a:rPr lang="de-DE" dirty="0" err="1"/>
              <a:t>var</a:t>
            </a:r>
            <a:r>
              <a:rPr lang="de-DE" dirty="0"/>
              <a:t>/</a:t>
            </a:r>
            <a:r>
              <a:rPr lang="de-DE" dirty="0" err="1"/>
              <a:t>lib</a:t>
            </a:r>
            <a:r>
              <a:rPr lang="de-DE" dirty="0"/>
              <a:t>/</a:t>
            </a:r>
            <a:r>
              <a:rPr lang="de-DE" dirty="0" err="1"/>
              <a:t>docker</a:t>
            </a:r>
            <a:r>
              <a:rPr lang="de-DE" dirty="0"/>
              <a:t>/</a:t>
            </a:r>
            <a:r>
              <a:rPr lang="de-DE" dirty="0" err="1"/>
              <a:t>volumes</a:t>
            </a:r>
            <a:r>
              <a:rPr lang="de-DE" dirty="0"/>
              <a:t>/…) ein Implementierungsdetail ist, auf das man sich nicht verlassen sollte.</a:t>
            </a:r>
          </a:p>
          <a:p>
            <a:pPr rtl="0"/>
            <a:r>
              <a:rPr lang="de-DE" dirty="0"/>
              <a:t>Für den produktiven Einsatz bietet sich ein automatisiertes, zeitgesteuertes Backup nach demselben Muster an, wie es in Lab 08 (Backup-Container mit </a:t>
            </a:r>
            <a:r>
              <a:rPr lang="de-DE" dirty="0" err="1"/>
              <a:t>cron</a:t>
            </a:r>
            <a:r>
              <a:rPr lang="de-DE" dirty="0"/>
              <a:t>) bereits eingeführt wird.</a:t>
            </a:r>
          </a:p>
          <a:p>
            <a:pPr rtl="0"/>
            <a:endParaRPr lang="de-DE" dirty="0"/>
          </a:p>
          <a:p>
            <a:pPr rtl="0"/>
            <a:r>
              <a:rPr lang="de-DE" dirty="0"/>
              <a:t>zu 4.</a:t>
            </a:r>
          </a:p>
          <a:p>
            <a:pPr rtl="0"/>
            <a:r>
              <a:rPr lang="de-DE" b="1" dirty="0"/>
              <a:t>Beispiel: eine PostgreSQL-Datenbank als Container.</a:t>
            </a:r>
            <a:endParaRPr lang="de-DE" dirty="0"/>
          </a:p>
          <a:p>
            <a:pPr rtl="0">
              <a:buFont typeface="Arial" panose="020B0604020202020204" pitchFamily="34" charset="0"/>
              <a:buChar char="•"/>
            </a:pPr>
            <a:r>
              <a:rPr lang="de-DE" dirty="0"/>
              <a:t>Die eigentlichen Datenbankdateien (/</a:t>
            </a:r>
            <a:r>
              <a:rPr lang="de-DE" dirty="0" err="1"/>
              <a:t>var</a:t>
            </a:r>
            <a:r>
              <a:rPr lang="de-DE" dirty="0"/>
              <a:t>/</a:t>
            </a:r>
            <a:r>
              <a:rPr lang="de-DE" dirty="0" err="1"/>
              <a:t>lib</a:t>
            </a:r>
            <a:r>
              <a:rPr lang="de-DE" dirty="0"/>
              <a:t>/</a:t>
            </a:r>
            <a:r>
              <a:rPr lang="de-DE" dirty="0" err="1"/>
              <a:t>postgresql</a:t>
            </a:r>
            <a:r>
              <a:rPr lang="de-DE" dirty="0"/>
              <a:t>/</a:t>
            </a:r>
            <a:r>
              <a:rPr lang="de-DE" dirty="0" err="1"/>
              <a:t>data</a:t>
            </a:r>
            <a:r>
              <a:rPr lang="de-DE" dirty="0"/>
              <a:t>) gehören in ein </a:t>
            </a:r>
            <a:r>
              <a:rPr lang="de-DE" b="1" dirty="0"/>
              <a:t>benanntes Volume</a:t>
            </a:r>
            <a:r>
              <a:rPr lang="de-DE" dirty="0"/>
              <a:t> (</a:t>
            </a:r>
            <a:r>
              <a:rPr lang="de-DE" dirty="0" err="1"/>
              <a:t>pg-data</a:t>
            </a:r>
            <a:r>
              <a:rPr lang="de-DE" dirty="0"/>
              <a:t>): Diese Daten werden ausschließlich von PostgreSQL selbst geschrieben und gelesen, ein manueller Eingriff auf Dateiebene ist nicht vorgesehen und sogar riskant (Datenkorruption bei laufendem Betrieb). Backups erfolgen ohnehin nicht durch Kopieren der Rohdateien, sondern über </a:t>
            </a:r>
            <a:r>
              <a:rPr lang="de-DE" dirty="0" err="1"/>
              <a:t>pg_dump</a:t>
            </a:r>
            <a:r>
              <a:rPr lang="de-DE" dirty="0"/>
              <a:t>/</a:t>
            </a:r>
            <a:r>
              <a:rPr lang="de-DE" dirty="0" err="1"/>
              <a:t>pg_restore</a:t>
            </a:r>
            <a:r>
              <a:rPr lang="de-DE" dirty="0"/>
              <a:t> – der genaue Host-Pfad ist also irrelevant.</a:t>
            </a:r>
          </a:p>
          <a:p>
            <a:pPr rtl="0">
              <a:buFont typeface="Arial" panose="020B0604020202020204" pitchFamily="34" charset="0"/>
              <a:buChar char="•"/>
            </a:pPr>
            <a:r>
              <a:rPr lang="de-DE" dirty="0"/>
              <a:t>Eine eigene Konfigurationsdatei (</a:t>
            </a:r>
            <a:r>
              <a:rPr lang="de-DE" dirty="0" err="1"/>
              <a:t>postgresql.conf</a:t>
            </a:r>
            <a:r>
              <a:rPr lang="de-DE" dirty="0"/>
              <a:t> mit angepassten Parametern) würde dagegen über einen </a:t>
            </a:r>
            <a:r>
              <a:rPr lang="de-DE" b="1" dirty="0"/>
              <a:t>Bind Mount</a:t>
            </a:r>
            <a:r>
              <a:rPr lang="de-DE" dirty="0"/>
              <a:t> eingebunden, z. B. -v /</a:t>
            </a:r>
            <a:r>
              <a:rPr lang="de-DE" dirty="0" err="1"/>
              <a:t>srv</a:t>
            </a:r>
            <a:r>
              <a:rPr lang="de-DE" dirty="0"/>
              <a:t>/</a:t>
            </a:r>
            <a:r>
              <a:rPr lang="de-DE" dirty="0" err="1"/>
              <a:t>pg-config</a:t>
            </a:r>
            <a:r>
              <a:rPr lang="de-DE" dirty="0"/>
              <a:t>/</a:t>
            </a:r>
            <a:r>
              <a:rPr lang="de-DE" dirty="0" err="1"/>
              <a:t>postgresql.conf</a:t>
            </a:r>
            <a:r>
              <a:rPr lang="de-DE" dirty="0"/>
              <a:t>:/</a:t>
            </a:r>
            <a:r>
              <a:rPr lang="de-DE" dirty="0" err="1"/>
              <a:t>etc</a:t>
            </a:r>
            <a:r>
              <a:rPr lang="de-DE" dirty="0"/>
              <a:t>/</a:t>
            </a:r>
            <a:r>
              <a:rPr lang="de-DE" dirty="0" err="1"/>
              <a:t>postgresql</a:t>
            </a:r>
            <a:r>
              <a:rPr lang="de-DE" dirty="0"/>
              <a:t>/</a:t>
            </a:r>
            <a:r>
              <a:rPr lang="de-DE" dirty="0" err="1"/>
              <a:t>postgresql.conf:ro</a:t>
            </a:r>
            <a:r>
              <a:rPr lang="de-DE" dirty="0"/>
              <a:t>: Diese Datei pflegt der Administrator bewusst selbst, möchte sie ggf. unter Versionskontrolle halten und beim Container-Update unverändert wiederverwenden.</a:t>
            </a:r>
          </a:p>
          <a:p>
            <a:pPr rtl="0"/>
            <a:r>
              <a:rPr lang="de-DE" dirty="0"/>
              <a:t>Damit greift dieselbe Faustregel wie bei </a:t>
            </a:r>
            <a:r>
              <a:rPr lang="de-DE" dirty="0" err="1"/>
              <a:t>nginx</a:t>
            </a:r>
            <a:r>
              <a:rPr lang="de-DE" dirty="0"/>
              <a:t>/</a:t>
            </a:r>
            <a:r>
              <a:rPr lang="de-DE" dirty="0" err="1"/>
              <a:t>Node</a:t>
            </a:r>
            <a:r>
              <a:rPr lang="de-DE" dirty="0"/>
              <a:t>-RED: von der Anwendung verwaltete Nutzdaten → Volume; vom Menschen gepflegte Konfiguration → Bind Mount.</a:t>
            </a:r>
          </a:p>
          <a:p>
            <a:pPr rtl="0"/>
            <a:endParaRPr lang="de-DE" dirty="0"/>
          </a:p>
          <a:p>
            <a:pPr rtl="0"/>
            <a:endParaRPr lang="de-DE" dirty="0"/>
          </a:p>
          <a:p>
            <a:pPr rtl="0"/>
            <a:endParaRPr lang="de-DE" dirty="0"/>
          </a:p>
          <a:p>
            <a:pPr rtl="0"/>
            <a:endParaRPr lang="de-DE" dirty="0"/>
          </a:p>
          <a:p>
            <a:pPr rtl="0"/>
            <a:endParaRPr lang="de-DE" dirty="0"/>
          </a:p>
          <a:p>
            <a:endParaRPr lang="de-DE" dirty="0"/>
          </a:p>
        </p:txBody>
      </p:sp>
      <p:sp>
        <p:nvSpPr>
          <p:cNvPr id="4" name="Foliennummernplatzhalter 3"/>
          <p:cNvSpPr>
            <a:spLocks noGrp="1"/>
          </p:cNvSpPr>
          <p:nvPr>
            <p:ph type="sldNum" sz="quarter" idx="5"/>
          </p:nvPr>
        </p:nvSpPr>
        <p:spPr/>
        <p:txBody>
          <a:bodyPr/>
          <a:lstStyle/>
          <a:p>
            <a:fld id="{4BD5FE33-4217-42D2-A2B6-93ED6DCD092C}" type="slidenum">
              <a:rPr lang="de-DE" smtClean="0"/>
              <a:t>14</a:t>
            </a:fld>
            <a:endParaRPr lang="de-DE"/>
          </a:p>
        </p:txBody>
      </p:sp>
    </p:spTree>
    <p:extLst>
      <p:ext uri="{BB962C8B-B14F-4D97-AF65-F5344CB8AC3E}">
        <p14:creationId xmlns:p14="http://schemas.microsoft.com/office/powerpoint/2010/main" val="8431460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zu 5. </a:t>
            </a:r>
          </a:p>
          <a:p>
            <a:pPr rtl="0"/>
            <a:r>
              <a:rPr lang="de-DE" dirty="0" err="1"/>
              <a:t>ufw</a:t>
            </a:r>
            <a:r>
              <a:rPr lang="de-DE" dirty="0"/>
              <a:t> verwaltet in erster Linie die </a:t>
            </a:r>
            <a:r>
              <a:rPr lang="de-DE" b="1" dirty="0"/>
              <a:t>INPUT-Chain</a:t>
            </a:r>
            <a:r>
              <a:rPr lang="de-DE" dirty="0"/>
              <a:t> – also Pakete, die für den Host selbst bestimmt sind. Traffic zu einem mit -p veröffentlichten Container-Port läuft dagegen über die </a:t>
            </a:r>
            <a:r>
              <a:rPr lang="de-DE" b="1" dirty="0"/>
              <a:t>FORWARD-Chain</a:t>
            </a:r>
            <a:r>
              <a:rPr lang="de-DE" dirty="0"/>
              <a:t>, die </a:t>
            </a:r>
            <a:r>
              <a:rPr lang="de-DE" dirty="0" err="1"/>
              <a:t>ufw</a:t>
            </a:r>
            <a:r>
              <a:rPr lang="de-DE" dirty="0"/>
              <a:t> </a:t>
            </a:r>
            <a:r>
              <a:rPr lang="de-DE" dirty="0" err="1"/>
              <a:t>status</a:t>
            </a:r>
            <a:r>
              <a:rPr lang="de-DE" dirty="0"/>
              <a:t> gar nicht anzeigt. Docker trägt dort – in einer eigenen DOCKER-Chain – seine eigenen DNAT-/ACCEPT-Regeln ein, um den veröffentlichten Port zu erreichen. Diese Regeln entstehen automatisch beim </a:t>
            </a:r>
            <a:r>
              <a:rPr lang="de-DE" dirty="0" err="1"/>
              <a:t>docker</a:t>
            </a:r>
            <a:r>
              <a:rPr lang="de-DE" dirty="0"/>
              <a:t> </a:t>
            </a:r>
            <a:r>
              <a:rPr lang="de-DE" dirty="0" err="1"/>
              <a:t>run</a:t>
            </a:r>
            <a:r>
              <a:rPr lang="de-DE" dirty="0"/>
              <a:t> -p … und sind von </a:t>
            </a:r>
            <a:r>
              <a:rPr lang="de-DE" dirty="0" err="1"/>
              <a:t>ufw</a:t>
            </a:r>
            <a:r>
              <a:rPr lang="de-DE" dirty="0"/>
              <a:t> vollständig unabhängig.</a:t>
            </a:r>
          </a:p>
          <a:p>
            <a:pPr rtl="0"/>
            <a:r>
              <a:rPr lang="de-DE" dirty="0"/>
              <a:t>Die DOCKER-USER-Chain spielt dabei eine besondere Rolle: Docker legt sie zwar an, lässt sie aber </a:t>
            </a:r>
            <a:r>
              <a:rPr lang="de-DE" b="1" dirty="0"/>
              <a:t>standardmäßig leer</a:t>
            </a:r>
            <a:r>
              <a:rPr lang="de-DE" dirty="0"/>
              <a:t> – sie ist lediglich als erster Einstiegspunkt in FORWARD reserviert, an dem </a:t>
            </a:r>
            <a:r>
              <a:rPr lang="de-DE" i="1" dirty="0"/>
              <a:t>Sie</a:t>
            </a:r>
            <a:r>
              <a:rPr lang="de-DE" dirty="0"/>
              <a:t> (der "User" im Namen steht für den Administrator, nicht für ein Linux-Benutzerkonto) eigene Regeln ergänzen könnten, bevor Dockers eigene DOCKER-Chain-Regeln greifen. Ohne eine solche manuell ergänzte Regel bietet DOCKER-USER keinerlei Schutz. Ein Container, der mit -p &lt;</a:t>
            </a:r>
            <a:r>
              <a:rPr lang="de-DE" dirty="0" err="1"/>
              <a:t>port</a:t>
            </a:r>
            <a:r>
              <a:rPr lang="de-DE" dirty="0"/>
              <a:t>&gt;:&lt;</a:t>
            </a:r>
            <a:r>
              <a:rPr lang="de-DE" dirty="0" err="1"/>
              <a:t>port</a:t>
            </a:r>
            <a:r>
              <a:rPr lang="de-DE" dirty="0"/>
              <a:t>&gt; (ohne IP-Präfix, also an 0.0.0.0 gebunden) veröffentlicht wird, ist deshalb direkt aus dem Internet erreichbar – </a:t>
            </a:r>
            <a:r>
              <a:rPr lang="de-DE" dirty="0" err="1"/>
              <a:t>ufw</a:t>
            </a:r>
            <a:r>
              <a:rPr lang="de-DE" dirty="0"/>
              <a:t> </a:t>
            </a:r>
            <a:r>
              <a:rPr lang="de-DE" dirty="0" err="1"/>
              <a:t>status</a:t>
            </a:r>
            <a:r>
              <a:rPr lang="de-DE" dirty="0"/>
              <a:t> würde dabei fälschlich den Eindruck erwecken, der Host sei durch die konfigurierten INPUT-Regeln abgesichert, obwohl der Container-Traffic diese Prüfung nie durchläuft.</a:t>
            </a:r>
          </a:p>
          <a:p>
            <a:endParaRPr lang="de-DE" dirty="0"/>
          </a:p>
          <a:p>
            <a:endParaRPr lang="de-DE" dirty="0"/>
          </a:p>
          <a:p>
            <a:r>
              <a:rPr lang="de-DE" dirty="0"/>
              <a:t>zu 6. </a:t>
            </a:r>
          </a:p>
          <a:p>
            <a:endParaRPr lang="de-DE" dirty="0"/>
          </a:p>
          <a:p>
            <a:pPr rtl="0"/>
            <a:r>
              <a:rPr lang="de-DE" dirty="0"/>
              <a:t>Beide Fehler für sich genommen sind bereits riskant, in Kombination ergeben sie jedoch ein kritisches Sicherheitsproblem:</a:t>
            </a:r>
          </a:p>
          <a:p>
            <a:pPr rtl="0">
              <a:buFont typeface="Arial" panose="020B0604020202020204" pitchFamily="34" charset="0"/>
              <a:buChar char="•"/>
            </a:pPr>
            <a:r>
              <a:rPr lang="de-DE" b="1" dirty="0"/>
              <a:t>Nur fehlendes 127.0.0.1-Präfix</a:t>
            </a:r>
            <a:r>
              <a:rPr lang="de-DE" dirty="0"/>
              <a:t> (-p 1880:1880 statt -p 127.0.0.1:1880:1880): Der </a:t>
            </a:r>
            <a:r>
              <a:rPr lang="de-DE" dirty="0" err="1"/>
              <a:t>Node</a:t>
            </a:r>
            <a:r>
              <a:rPr lang="de-DE" dirty="0"/>
              <a:t>-RED-Editor wäre – wie in Frage 5 erläutert – direkt aus dem Internet erreichbar, unabhängig von </a:t>
            </a:r>
            <a:r>
              <a:rPr lang="de-DE" dirty="0" err="1"/>
              <a:t>ufw</a:t>
            </a:r>
            <a:r>
              <a:rPr lang="de-DE" dirty="0"/>
              <a:t>. Mit aktivem </a:t>
            </a:r>
            <a:r>
              <a:rPr lang="de-DE" dirty="0" err="1"/>
              <a:t>adminAuth</a:t>
            </a:r>
            <a:r>
              <a:rPr lang="de-DE" dirty="0"/>
              <a:t> würde ein Angreifer aber immerhin auf eine Login-Maske treffen und bräuchte gültige Zugangsdaten.</a:t>
            </a:r>
          </a:p>
          <a:p>
            <a:pPr rtl="0">
              <a:buFont typeface="Arial" panose="020B0604020202020204" pitchFamily="34" charset="0"/>
              <a:buChar char="•"/>
            </a:pPr>
            <a:r>
              <a:rPr lang="de-DE" b="1" dirty="0"/>
              <a:t>Nur fehlendes </a:t>
            </a:r>
            <a:r>
              <a:rPr lang="de-DE" b="1" dirty="0" err="1"/>
              <a:t>adminAuth</a:t>
            </a:r>
            <a:r>
              <a:rPr lang="de-DE" dirty="0"/>
              <a:t> bei korrektem 127.0.0.1-Präfix: Der Editor wäre ungeschützt, aber nur für Prozesse auf demselben Host erreichbar (z. B. Caddy) – ein Angreifer aus dem Internet käme gar nicht erst an den Editor heran.</a:t>
            </a:r>
          </a:p>
          <a:p>
            <a:pPr rtl="0">
              <a:buFont typeface="Arial" panose="020B0604020202020204" pitchFamily="34" charset="0"/>
              <a:buChar char="•"/>
            </a:pPr>
            <a:r>
              <a:rPr lang="de-DE" b="1" dirty="0"/>
              <a:t>Beide Fehler gleichzeitig</a:t>
            </a:r>
            <a:r>
              <a:rPr lang="de-DE" dirty="0"/>
              <a:t>: Der komplett ungeschützte Editor ist direkt aus dem Internet erreichbar. Da der Editor das Anlegen von </a:t>
            </a:r>
            <a:r>
              <a:rPr lang="de-DE" dirty="0" err="1"/>
              <a:t>exec</a:t>
            </a:r>
            <a:r>
              <a:rPr lang="de-DE" dirty="0"/>
              <a:t>-Nodes erlaubt, kann jeder, der die Oberfläche öffnet, beliebige Shell-Befehle im Container ausführen (Remote Code </a:t>
            </a:r>
            <a:r>
              <a:rPr lang="de-DE" dirty="0" err="1"/>
              <a:t>Execution</a:t>
            </a:r>
            <a:r>
              <a:rPr lang="de-DE" dirty="0"/>
              <a:t>) – etwa um aus dem Container auszubrechen, das Volume zu manipulieren, weitere Schadsoftware nachzuladen oder den Server als Ausgangspunkt für weitere Angriffe im Netzwerk zu nutzen. Genau dieses Muster – öffentlich erreichbare, </a:t>
            </a:r>
            <a:r>
              <a:rPr lang="de-DE" dirty="0" err="1"/>
              <a:t>unauthentifizierte</a:t>
            </a:r>
            <a:r>
              <a:rPr lang="de-DE" dirty="0"/>
              <a:t> </a:t>
            </a:r>
            <a:r>
              <a:rPr lang="de-DE" dirty="0" err="1"/>
              <a:t>Node</a:t>
            </a:r>
            <a:r>
              <a:rPr lang="de-DE" dirty="0"/>
              <a:t>-RED-Instanzen mit aktivierten </a:t>
            </a:r>
            <a:r>
              <a:rPr lang="de-DE" dirty="0" err="1"/>
              <a:t>exec</a:t>
            </a:r>
            <a:r>
              <a:rPr lang="de-DE" dirty="0"/>
              <a:t>-Nodes – zählt in der Praxis zu den bekannten, real ausgenutzten Angriffswegen gegen </a:t>
            </a:r>
            <a:r>
              <a:rPr lang="de-DE" dirty="0" err="1"/>
              <a:t>Node</a:t>
            </a:r>
            <a:r>
              <a:rPr lang="de-DE" dirty="0"/>
              <a:t>-RED-Installationen.</a:t>
            </a:r>
          </a:p>
          <a:p>
            <a:pPr rtl="0"/>
            <a:r>
              <a:rPr lang="de-DE" dirty="0"/>
              <a:t>Die beiden Absicherungen (Login-Pflicht und Portbindung) sind damit unabhängige, sich ergänzende Schutzebenen – der Ausfall einer einzelnen reduziert das Risiko, der Ausfall beider gleichzeitig macht den Server verwundbar.</a:t>
            </a:r>
          </a:p>
          <a:p>
            <a:endParaRPr lang="de-DE" dirty="0"/>
          </a:p>
        </p:txBody>
      </p:sp>
      <p:sp>
        <p:nvSpPr>
          <p:cNvPr id="4" name="Foliennummernplatzhalter 3"/>
          <p:cNvSpPr>
            <a:spLocks noGrp="1"/>
          </p:cNvSpPr>
          <p:nvPr>
            <p:ph type="sldNum" sz="quarter" idx="5"/>
          </p:nvPr>
        </p:nvSpPr>
        <p:spPr/>
        <p:txBody>
          <a:bodyPr/>
          <a:lstStyle/>
          <a:p>
            <a:fld id="{4BD5FE33-4217-42D2-A2B6-93ED6DCD092C}" type="slidenum">
              <a:rPr lang="de-DE" smtClean="0"/>
              <a:t>15</a:t>
            </a:fld>
            <a:endParaRPr lang="de-DE"/>
          </a:p>
        </p:txBody>
      </p:sp>
    </p:spTree>
    <p:extLst>
      <p:ext uri="{BB962C8B-B14F-4D97-AF65-F5344CB8AC3E}">
        <p14:creationId xmlns:p14="http://schemas.microsoft.com/office/powerpoint/2010/main" val="1450148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41BC23E3-4510-413A-9361-7EEE4D3F2E84}" type="datetime1">
              <a:rPr lang="de-DE" smtClean="0"/>
              <a:t>24.09.2026</a:t>
            </a:fld>
            <a:endParaRPr lang="de-DE"/>
          </a:p>
        </p:txBody>
      </p:sp>
      <p:sp>
        <p:nvSpPr>
          <p:cNvPr id="4" name="Foliennummernplatzhalter 3"/>
          <p:cNvSpPr>
            <a:spLocks noGrp="1"/>
          </p:cNvSpPr>
          <p:nvPr>
            <p:ph type="sldNum" sz="quarter" idx="12"/>
          </p:nvPr>
        </p:nvSpPr>
        <p:spPr/>
        <p:txBody>
          <a:bodyPr/>
          <a:lstStyle/>
          <a:p>
            <a:fld id="{341CD41A-C668-429A-AD07-4F84BBC3B3E7}" type="slidenum">
              <a:rPr lang="de-DE" smtClean="0"/>
              <a:t>‹Nr.›</a:t>
            </a:fld>
            <a:endParaRPr lang="de-DE"/>
          </a:p>
        </p:txBody>
      </p:sp>
      <p:sp>
        <p:nvSpPr>
          <p:cNvPr id="3" name="Fußzeilenplatzhalter 2">
            <a:extLst>
              <a:ext uri="{FF2B5EF4-FFF2-40B4-BE49-F238E27FC236}">
                <a16:creationId xmlns:a16="http://schemas.microsoft.com/office/drawing/2014/main" id="{7F76B9BF-0406-764A-A3AE-DEC5AD580CC8}"/>
              </a:ext>
            </a:extLst>
          </p:cNvPr>
          <p:cNvSpPr>
            <a:spLocks noGrp="1"/>
          </p:cNvSpPr>
          <p:nvPr>
            <p:ph type="ftr" sz="quarter" idx="13"/>
          </p:nvPr>
        </p:nvSpPr>
        <p:spPr/>
        <p:txBody>
          <a:bodyPr/>
          <a:lstStyle/>
          <a:p>
            <a:endParaRPr lang="de-DE"/>
          </a:p>
        </p:txBody>
      </p:sp>
    </p:spTree>
    <p:extLst>
      <p:ext uri="{BB962C8B-B14F-4D97-AF65-F5344CB8AC3E}">
        <p14:creationId xmlns:p14="http://schemas.microsoft.com/office/powerpoint/2010/main" val="23225974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3" name="Datumsplatzhalter 2"/>
          <p:cNvSpPr>
            <a:spLocks noGrp="1"/>
          </p:cNvSpPr>
          <p:nvPr>
            <p:ph type="dt" sz="half" idx="10"/>
          </p:nvPr>
        </p:nvSpPr>
        <p:spPr/>
        <p:txBody>
          <a:bodyPr/>
          <a:lstStyle/>
          <a:p>
            <a:fld id="{DFF21B63-CC14-4CF7-B236-95F232F15D6B}" type="datetime1">
              <a:rPr lang="de-DE" smtClean="0"/>
              <a:t>24.09.2026</a:t>
            </a:fld>
            <a:endParaRPr lang="de-DE" dirty="0"/>
          </a:p>
        </p:txBody>
      </p:sp>
      <p:sp>
        <p:nvSpPr>
          <p:cNvPr id="5" name="Foliennummernplatzhalter 4"/>
          <p:cNvSpPr>
            <a:spLocks noGrp="1"/>
          </p:cNvSpPr>
          <p:nvPr>
            <p:ph type="sldNum" sz="quarter" idx="12"/>
          </p:nvPr>
        </p:nvSpPr>
        <p:spPr/>
        <p:txBody>
          <a:bodyPr/>
          <a:lstStyle/>
          <a:p>
            <a:fld id="{341CD41A-C668-429A-AD07-4F84BBC3B3E7}" type="slidenum">
              <a:rPr lang="de-DE" smtClean="0"/>
              <a:pPr/>
              <a:t>‹Nr.›</a:t>
            </a:fld>
            <a:endParaRPr lang="de-DE" dirty="0"/>
          </a:p>
        </p:txBody>
      </p:sp>
      <p:sp>
        <p:nvSpPr>
          <p:cNvPr id="7" name="Untertitel 2"/>
          <p:cNvSpPr>
            <a:spLocks noGrp="1"/>
          </p:cNvSpPr>
          <p:nvPr>
            <p:ph type="subTitle" idx="1" hasCustomPrompt="1"/>
          </p:nvPr>
        </p:nvSpPr>
        <p:spPr>
          <a:xfrm>
            <a:off x="388003" y="3959588"/>
            <a:ext cx="11410123" cy="756000"/>
          </a:xfrm>
          <a:solidFill>
            <a:srgbClr val="FFCD00"/>
          </a:solidFill>
        </p:spPr>
        <p:txBody>
          <a:bodyPr anchor="ctr">
            <a:normAutofit/>
          </a:bodyPr>
          <a:lstStyle>
            <a:lvl1pPr algn="ctr">
              <a:defRPr sz="3200">
                <a:solidFill>
                  <a:schemeClr val="accent5">
                    <a:lumMod val="75000"/>
                  </a:schemeClr>
                </a:solidFill>
                <a:latin typeface="Roboto" panose="02000000000000000000" pitchFamily="2" charset="0"/>
                <a:ea typeface="Roboto" panose="02000000000000000000" pitchFamily="2" charset="0"/>
              </a:defRPr>
            </a:lvl1pPr>
          </a:lstStyle>
          <a:p>
            <a:r>
              <a:rPr lang="de-DE" sz="3200" spc="200" dirty="0" err="1">
                <a:solidFill>
                  <a:srgbClr val="2B418E"/>
                </a:solidFill>
                <a:latin typeface="Roboto" panose="02000000000000000000" pitchFamily="2" charset="0"/>
                <a:ea typeface="Roboto" panose="02000000000000000000" pitchFamily="2" charset="0"/>
              </a:rPr>
              <a:t>Subline</a:t>
            </a:r>
            <a:endParaRPr lang="de-DE" sz="3200" spc="200" dirty="0">
              <a:solidFill>
                <a:srgbClr val="2B418E"/>
              </a:solidFill>
              <a:latin typeface="Roboto" panose="02000000000000000000" pitchFamily="2" charset="0"/>
              <a:ea typeface="Roboto" panose="02000000000000000000" pitchFamily="2" charset="0"/>
            </a:endParaRPr>
          </a:p>
        </p:txBody>
      </p:sp>
      <p:sp>
        <p:nvSpPr>
          <p:cNvPr id="8" name="Titel 1"/>
          <p:cNvSpPr>
            <a:spLocks noGrp="1"/>
          </p:cNvSpPr>
          <p:nvPr>
            <p:ph type="ctrTitle" hasCustomPrompt="1"/>
          </p:nvPr>
        </p:nvSpPr>
        <p:spPr>
          <a:xfrm>
            <a:off x="388002" y="1439999"/>
            <a:ext cx="11410123" cy="2520000"/>
          </a:xfrm>
          <a:solidFill>
            <a:srgbClr val="2B418E"/>
          </a:solidFill>
        </p:spPr>
        <p:txBody>
          <a:bodyPr anchor="ctr">
            <a:normAutofit/>
          </a:bodyPr>
          <a:lstStyle>
            <a:lvl1pPr>
              <a:defRPr sz="4400">
                <a:solidFill>
                  <a:schemeClr val="bg1"/>
                </a:solidFill>
              </a:defRPr>
            </a:lvl1pPr>
          </a:lstStyle>
          <a:p>
            <a:r>
              <a:rPr lang="de-DE" altLang="de-DE" sz="4400" b="1" dirty="0">
                <a:solidFill>
                  <a:schemeClr val="bg1"/>
                </a:solidFill>
                <a:latin typeface="Roboto Slab" pitchFamily="2" charset="0"/>
                <a:ea typeface="Roboto Slab" pitchFamily="2" charset="0"/>
              </a:rPr>
              <a:t>Headline</a:t>
            </a:r>
            <a:endParaRPr lang="de-DE" sz="4400" b="1" dirty="0">
              <a:latin typeface="Roboto Slab" pitchFamily="2" charset="0"/>
              <a:ea typeface="Roboto Slab" pitchFamily="2" charset="0"/>
            </a:endParaRPr>
          </a:p>
        </p:txBody>
      </p:sp>
      <p:sp>
        <p:nvSpPr>
          <p:cNvPr id="2" name="Fußzeilenplatzhalter 1">
            <a:extLst>
              <a:ext uri="{FF2B5EF4-FFF2-40B4-BE49-F238E27FC236}">
                <a16:creationId xmlns:a16="http://schemas.microsoft.com/office/drawing/2014/main" id="{6323C46C-563A-C940-92F4-FEC0E92C53F7}"/>
              </a:ext>
            </a:extLst>
          </p:cNvPr>
          <p:cNvSpPr>
            <a:spLocks noGrp="1"/>
          </p:cNvSpPr>
          <p:nvPr>
            <p:ph type="ftr" sz="quarter" idx="13"/>
          </p:nvPr>
        </p:nvSpPr>
        <p:spPr/>
        <p:txBody>
          <a:bodyPr/>
          <a:lstStyle/>
          <a:p>
            <a:endParaRPr lang="de-DE"/>
          </a:p>
        </p:txBody>
      </p:sp>
    </p:spTree>
    <p:extLst>
      <p:ext uri="{BB962C8B-B14F-4D97-AF65-F5344CB8AC3E}">
        <p14:creationId xmlns:p14="http://schemas.microsoft.com/office/powerpoint/2010/main" val="31482181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ufzählung-Folie">
    <p:spTree>
      <p:nvGrpSpPr>
        <p:cNvPr id="1" name=""/>
        <p:cNvGrpSpPr/>
        <p:nvPr/>
      </p:nvGrpSpPr>
      <p:grpSpPr>
        <a:xfrm>
          <a:off x="0" y="0"/>
          <a:ext cx="0" cy="0"/>
          <a:chOff x="0" y="0"/>
          <a:chExt cx="0" cy="0"/>
        </a:xfrm>
      </p:grpSpPr>
      <p:sp>
        <p:nvSpPr>
          <p:cNvPr id="3" name="Datumsplatzhalter 2"/>
          <p:cNvSpPr>
            <a:spLocks noGrp="1"/>
          </p:cNvSpPr>
          <p:nvPr>
            <p:ph type="dt" sz="half" idx="10"/>
          </p:nvPr>
        </p:nvSpPr>
        <p:spPr/>
        <p:txBody>
          <a:bodyPr/>
          <a:lstStyle/>
          <a:p>
            <a:fld id="{DFF21B63-CC14-4CF7-B236-95F232F15D6B}" type="datetime1">
              <a:rPr lang="de-DE" smtClean="0"/>
              <a:t>24.09.2026</a:t>
            </a:fld>
            <a:endParaRPr lang="de-DE" dirty="0"/>
          </a:p>
        </p:txBody>
      </p:sp>
      <p:sp>
        <p:nvSpPr>
          <p:cNvPr id="5" name="Foliennummernplatzhalter 4"/>
          <p:cNvSpPr>
            <a:spLocks noGrp="1"/>
          </p:cNvSpPr>
          <p:nvPr>
            <p:ph type="sldNum" sz="quarter" idx="12"/>
          </p:nvPr>
        </p:nvSpPr>
        <p:spPr/>
        <p:txBody>
          <a:bodyPr/>
          <a:lstStyle/>
          <a:p>
            <a:fld id="{341CD41A-C668-429A-AD07-4F84BBC3B3E7}" type="slidenum">
              <a:rPr lang="de-DE" smtClean="0"/>
              <a:pPr/>
              <a:t>‹Nr.›</a:t>
            </a:fld>
            <a:endParaRPr lang="de-DE" dirty="0"/>
          </a:p>
        </p:txBody>
      </p:sp>
      <p:sp>
        <p:nvSpPr>
          <p:cNvPr id="6" name="Inhaltsplatzhalter 2"/>
          <p:cNvSpPr>
            <a:spLocks noGrp="1"/>
          </p:cNvSpPr>
          <p:nvPr>
            <p:ph idx="1" hasCustomPrompt="1"/>
          </p:nvPr>
        </p:nvSpPr>
        <p:spPr>
          <a:xfrm>
            <a:off x="351181" y="2304000"/>
            <a:ext cx="11410124" cy="4153080"/>
          </a:xfrm>
        </p:spPr>
        <p:txBody>
          <a:bodyPr>
            <a:noAutofit/>
          </a:bodyPr>
          <a:lstStyle>
            <a:lvl1pPr>
              <a:defRPr>
                <a:latin typeface="Roboto" panose="02000000000000000000" pitchFamily="2" charset="0"/>
                <a:ea typeface="Roboto" panose="02000000000000000000" pitchFamily="2" charset="0"/>
              </a:defRPr>
            </a:lvl1pPr>
          </a:lstStyle>
          <a:p>
            <a:pPr>
              <a:lnSpc>
                <a:spcPct val="120000"/>
              </a:lnSpc>
            </a:pPr>
            <a:r>
              <a:rPr lang="de-DE" sz="2000" b="1" dirty="0">
                <a:solidFill>
                  <a:schemeClr val="tx1">
                    <a:lumMod val="65000"/>
                    <a:lumOff val="35000"/>
                  </a:schemeClr>
                </a:solidFill>
                <a:latin typeface="Roboto" panose="02000000000000000000" pitchFamily="2" charset="0"/>
                <a:ea typeface="Roboto" panose="02000000000000000000" pitchFamily="2" charset="0"/>
              </a:rPr>
              <a:t>Aufzählung:</a:t>
            </a:r>
            <a:br>
              <a:rPr lang="de-DE" sz="2000" b="1" dirty="0">
                <a:solidFill>
                  <a:schemeClr val="tx1">
                    <a:lumMod val="65000"/>
                    <a:lumOff val="35000"/>
                  </a:schemeClr>
                </a:solidFill>
                <a:latin typeface="Roboto" panose="02000000000000000000" pitchFamily="2" charset="0"/>
                <a:ea typeface="Roboto" panose="02000000000000000000" pitchFamily="2" charset="0"/>
              </a:rPr>
            </a:br>
            <a:r>
              <a:rPr lang="de-DE" sz="2000" dirty="0">
                <a:solidFill>
                  <a:schemeClr val="tx1">
                    <a:lumMod val="65000"/>
                    <a:lumOff val="35000"/>
                  </a:schemeClr>
                </a:solidFill>
                <a:latin typeface="Roboto" panose="02000000000000000000" pitchFamily="2" charset="0"/>
                <a:ea typeface="Roboto" panose="02000000000000000000" pitchFamily="2" charset="0"/>
              </a:rPr>
              <a:t>Text hier einfügen</a:t>
            </a:r>
          </a:p>
          <a:p>
            <a:pPr lvl="2"/>
            <a:r>
              <a:rPr lang="de-DE" dirty="0"/>
              <a:t>Dritte Ebene</a:t>
            </a:r>
          </a:p>
          <a:p>
            <a:pPr lvl="3"/>
            <a:r>
              <a:rPr lang="de-DE" dirty="0"/>
              <a:t>Vierte Ebene</a:t>
            </a:r>
          </a:p>
          <a:p>
            <a:pPr lvl="4"/>
            <a:r>
              <a:rPr lang="de-DE" dirty="0"/>
              <a:t>Fünfte Ebene</a:t>
            </a:r>
          </a:p>
          <a:p>
            <a:pPr>
              <a:lnSpc>
                <a:spcPct val="120000"/>
              </a:lnSpc>
            </a:pPr>
            <a:r>
              <a:rPr lang="de-DE" sz="2000" dirty="0">
                <a:solidFill>
                  <a:schemeClr val="tx1">
                    <a:lumMod val="65000"/>
                    <a:lumOff val="35000"/>
                  </a:schemeClr>
                </a:solidFill>
                <a:latin typeface="Roboto" panose="02000000000000000000" pitchFamily="2" charset="0"/>
                <a:ea typeface="Roboto" panose="02000000000000000000" pitchFamily="2" charset="0"/>
              </a:rPr>
              <a:t> </a:t>
            </a: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p:txBody>
      </p:sp>
      <p:sp>
        <p:nvSpPr>
          <p:cNvPr id="8" name="Title 1"/>
          <p:cNvSpPr>
            <a:spLocks noGrp="1"/>
          </p:cNvSpPr>
          <p:nvPr>
            <p:ph type="title" hasCustomPrompt="1"/>
          </p:nvPr>
        </p:nvSpPr>
        <p:spPr>
          <a:xfrm>
            <a:off x="400277" y="1445754"/>
            <a:ext cx="11410124" cy="646331"/>
          </a:xfrm>
          <a:solidFill>
            <a:srgbClr val="2B418E"/>
          </a:solidFill>
        </p:spPr>
        <p:txBody>
          <a:bodyPr wrap="square">
            <a:spAutoFit/>
          </a:bodyPr>
          <a:lstStyle>
            <a:lvl1pPr algn="l">
              <a:defRPr sz="2000" b="1">
                <a:solidFill>
                  <a:schemeClr val="bg1"/>
                </a:solidFill>
              </a:defRPr>
            </a:lvl1pPr>
          </a:lstStyle>
          <a:p>
            <a:r>
              <a:rPr lang="de-DE" dirty="0"/>
              <a:t>Überschrift</a:t>
            </a:r>
            <a:br>
              <a:rPr lang="de-DE" dirty="0"/>
            </a:br>
            <a:r>
              <a:rPr lang="de-DE" dirty="0"/>
              <a:t>maximal 2 Zeilen</a:t>
            </a:r>
            <a:endParaRPr lang="en-US" dirty="0"/>
          </a:p>
        </p:txBody>
      </p:sp>
      <p:sp>
        <p:nvSpPr>
          <p:cNvPr id="2" name="Fußzeilenplatzhalter 1">
            <a:extLst>
              <a:ext uri="{FF2B5EF4-FFF2-40B4-BE49-F238E27FC236}">
                <a16:creationId xmlns:a16="http://schemas.microsoft.com/office/drawing/2014/main" id="{39ADA1F3-7414-E348-8F03-4F47E182C581}"/>
              </a:ext>
            </a:extLst>
          </p:cNvPr>
          <p:cNvSpPr>
            <a:spLocks noGrp="1"/>
          </p:cNvSpPr>
          <p:nvPr>
            <p:ph type="ftr" sz="quarter" idx="13"/>
          </p:nvPr>
        </p:nvSpPr>
        <p:spPr/>
        <p:txBody>
          <a:bodyPr/>
          <a:lstStyle/>
          <a:p>
            <a:endParaRPr lang="de-DE"/>
          </a:p>
        </p:txBody>
      </p:sp>
    </p:spTree>
    <p:extLst>
      <p:ext uri="{BB962C8B-B14F-4D97-AF65-F5344CB8AC3E}">
        <p14:creationId xmlns:p14="http://schemas.microsoft.com/office/powerpoint/2010/main" val="41168190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ufzählung-Folie">
    <p:spTree>
      <p:nvGrpSpPr>
        <p:cNvPr id="1" name=""/>
        <p:cNvGrpSpPr/>
        <p:nvPr/>
      </p:nvGrpSpPr>
      <p:grpSpPr>
        <a:xfrm>
          <a:off x="0" y="0"/>
          <a:ext cx="0" cy="0"/>
          <a:chOff x="0" y="0"/>
          <a:chExt cx="0" cy="0"/>
        </a:xfrm>
      </p:grpSpPr>
      <p:sp>
        <p:nvSpPr>
          <p:cNvPr id="3" name="Datumsplatzhalter 2"/>
          <p:cNvSpPr>
            <a:spLocks noGrp="1"/>
          </p:cNvSpPr>
          <p:nvPr>
            <p:ph type="dt" sz="half" idx="10"/>
          </p:nvPr>
        </p:nvSpPr>
        <p:spPr/>
        <p:txBody>
          <a:bodyPr/>
          <a:lstStyle/>
          <a:p>
            <a:fld id="{DFF21B63-CC14-4CF7-B236-95F232F15D6B}" type="datetime1">
              <a:rPr lang="de-DE" smtClean="0"/>
              <a:t>24.09.2026</a:t>
            </a:fld>
            <a:endParaRPr lang="de-DE" dirty="0"/>
          </a:p>
        </p:txBody>
      </p:sp>
      <p:sp>
        <p:nvSpPr>
          <p:cNvPr id="5" name="Foliennummernplatzhalter 4"/>
          <p:cNvSpPr>
            <a:spLocks noGrp="1"/>
          </p:cNvSpPr>
          <p:nvPr>
            <p:ph type="sldNum" sz="quarter" idx="12"/>
          </p:nvPr>
        </p:nvSpPr>
        <p:spPr/>
        <p:txBody>
          <a:bodyPr/>
          <a:lstStyle/>
          <a:p>
            <a:fld id="{341CD41A-C668-429A-AD07-4F84BBC3B3E7}" type="slidenum">
              <a:rPr lang="de-DE" smtClean="0"/>
              <a:pPr/>
              <a:t>‹Nr.›</a:t>
            </a:fld>
            <a:endParaRPr lang="de-DE" dirty="0"/>
          </a:p>
        </p:txBody>
      </p:sp>
      <p:sp>
        <p:nvSpPr>
          <p:cNvPr id="6" name="Inhaltsplatzhalter 2"/>
          <p:cNvSpPr>
            <a:spLocks noGrp="1"/>
          </p:cNvSpPr>
          <p:nvPr>
            <p:ph idx="1" hasCustomPrompt="1"/>
          </p:nvPr>
        </p:nvSpPr>
        <p:spPr>
          <a:xfrm>
            <a:off x="351181" y="1386038"/>
            <a:ext cx="11410124" cy="5071042"/>
          </a:xfrm>
        </p:spPr>
        <p:txBody>
          <a:bodyPr>
            <a:noAutofit/>
          </a:bodyPr>
          <a:lstStyle>
            <a:lvl1pPr>
              <a:defRPr>
                <a:latin typeface="Roboto" panose="02000000000000000000" pitchFamily="2" charset="0"/>
                <a:ea typeface="Roboto" panose="02000000000000000000" pitchFamily="2" charset="0"/>
              </a:defRPr>
            </a:lvl1pPr>
          </a:lstStyle>
          <a:p>
            <a:pPr>
              <a:lnSpc>
                <a:spcPct val="120000"/>
              </a:lnSpc>
            </a:pPr>
            <a:r>
              <a:rPr lang="de-DE" sz="2000" b="1" dirty="0">
                <a:solidFill>
                  <a:schemeClr val="tx1">
                    <a:lumMod val="65000"/>
                    <a:lumOff val="35000"/>
                  </a:schemeClr>
                </a:solidFill>
                <a:latin typeface="Roboto" panose="02000000000000000000" pitchFamily="2" charset="0"/>
                <a:ea typeface="Roboto" panose="02000000000000000000" pitchFamily="2" charset="0"/>
              </a:rPr>
              <a:t>Aufzählung:</a:t>
            </a:r>
            <a:br>
              <a:rPr lang="de-DE" sz="2000" b="1" dirty="0">
                <a:solidFill>
                  <a:schemeClr val="tx1">
                    <a:lumMod val="65000"/>
                    <a:lumOff val="35000"/>
                  </a:schemeClr>
                </a:solidFill>
                <a:latin typeface="Roboto" panose="02000000000000000000" pitchFamily="2" charset="0"/>
                <a:ea typeface="Roboto" panose="02000000000000000000" pitchFamily="2" charset="0"/>
              </a:rPr>
            </a:br>
            <a:r>
              <a:rPr lang="de-DE" sz="2000" dirty="0">
                <a:solidFill>
                  <a:schemeClr val="tx1">
                    <a:lumMod val="65000"/>
                    <a:lumOff val="35000"/>
                  </a:schemeClr>
                </a:solidFill>
                <a:latin typeface="Roboto" panose="02000000000000000000" pitchFamily="2" charset="0"/>
                <a:ea typeface="Roboto" panose="02000000000000000000" pitchFamily="2" charset="0"/>
              </a:rPr>
              <a:t>Text hier einfügen</a:t>
            </a:r>
          </a:p>
          <a:p>
            <a:pPr lvl="2"/>
            <a:r>
              <a:rPr lang="de-DE" dirty="0"/>
              <a:t>Dritte Ebene</a:t>
            </a:r>
          </a:p>
          <a:p>
            <a:pPr lvl="3"/>
            <a:r>
              <a:rPr lang="de-DE" dirty="0"/>
              <a:t>Vierte Ebene</a:t>
            </a:r>
          </a:p>
          <a:p>
            <a:pPr lvl="4"/>
            <a:r>
              <a:rPr lang="de-DE" dirty="0"/>
              <a:t>Fünfte Ebene</a:t>
            </a:r>
          </a:p>
          <a:p>
            <a:pPr>
              <a:lnSpc>
                <a:spcPct val="120000"/>
              </a:lnSpc>
            </a:pPr>
            <a:r>
              <a:rPr lang="de-DE" sz="2000" dirty="0">
                <a:solidFill>
                  <a:schemeClr val="tx1">
                    <a:lumMod val="65000"/>
                    <a:lumOff val="35000"/>
                  </a:schemeClr>
                </a:solidFill>
                <a:latin typeface="Roboto" panose="02000000000000000000" pitchFamily="2" charset="0"/>
                <a:ea typeface="Roboto" panose="02000000000000000000" pitchFamily="2" charset="0"/>
              </a:rPr>
              <a:t> </a:t>
            </a: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p:txBody>
      </p:sp>
      <p:sp>
        <p:nvSpPr>
          <p:cNvPr id="2" name="Fußzeilenplatzhalter 1">
            <a:extLst>
              <a:ext uri="{FF2B5EF4-FFF2-40B4-BE49-F238E27FC236}">
                <a16:creationId xmlns:a16="http://schemas.microsoft.com/office/drawing/2014/main" id="{D295CA11-9812-1547-A9A0-1EEEC47FC478}"/>
              </a:ext>
            </a:extLst>
          </p:cNvPr>
          <p:cNvSpPr>
            <a:spLocks noGrp="1"/>
          </p:cNvSpPr>
          <p:nvPr>
            <p:ph type="ftr" sz="quarter" idx="13"/>
          </p:nvPr>
        </p:nvSpPr>
        <p:spPr/>
        <p:txBody>
          <a:bodyPr/>
          <a:lstStyle/>
          <a:p>
            <a:endParaRPr lang="de-DE"/>
          </a:p>
        </p:txBody>
      </p:sp>
    </p:spTree>
    <p:extLst>
      <p:ext uri="{BB962C8B-B14F-4D97-AF65-F5344CB8AC3E}">
        <p14:creationId xmlns:p14="http://schemas.microsoft.com/office/powerpoint/2010/main" val="31672841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Spalten-Folie">
    <p:spTree>
      <p:nvGrpSpPr>
        <p:cNvPr id="1" name=""/>
        <p:cNvGrpSpPr/>
        <p:nvPr/>
      </p:nvGrpSpPr>
      <p:grpSpPr>
        <a:xfrm>
          <a:off x="0" y="0"/>
          <a:ext cx="0" cy="0"/>
          <a:chOff x="0" y="0"/>
          <a:chExt cx="0" cy="0"/>
        </a:xfrm>
      </p:grpSpPr>
      <p:sp>
        <p:nvSpPr>
          <p:cNvPr id="3" name="Datumsplatzhalter 2"/>
          <p:cNvSpPr>
            <a:spLocks noGrp="1"/>
          </p:cNvSpPr>
          <p:nvPr>
            <p:ph type="dt" sz="half" idx="10"/>
          </p:nvPr>
        </p:nvSpPr>
        <p:spPr/>
        <p:txBody>
          <a:bodyPr/>
          <a:lstStyle/>
          <a:p>
            <a:fld id="{DFF21B63-CC14-4CF7-B236-95F232F15D6B}" type="datetime1">
              <a:rPr lang="de-DE" smtClean="0"/>
              <a:t>24.09.2026</a:t>
            </a:fld>
            <a:endParaRPr lang="de-DE" dirty="0"/>
          </a:p>
        </p:txBody>
      </p:sp>
      <p:sp>
        <p:nvSpPr>
          <p:cNvPr id="5" name="Foliennummernplatzhalter 4"/>
          <p:cNvSpPr>
            <a:spLocks noGrp="1"/>
          </p:cNvSpPr>
          <p:nvPr>
            <p:ph type="sldNum" sz="quarter" idx="12"/>
          </p:nvPr>
        </p:nvSpPr>
        <p:spPr/>
        <p:txBody>
          <a:bodyPr/>
          <a:lstStyle/>
          <a:p>
            <a:fld id="{341CD41A-C668-429A-AD07-4F84BBC3B3E7}" type="slidenum">
              <a:rPr lang="de-DE" smtClean="0"/>
              <a:pPr/>
              <a:t>‹Nr.›</a:t>
            </a:fld>
            <a:endParaRPr lang="de-DE" dirty="0"/>
          </a:p>
        </p:txBody>
      </p:sp>
      <p:sp>
        <p:nvSpPr>
          <p:cNvPr id="6" name="Inhaltsplatzhalter 2"/>
          <p:cNvSpPr>
            <a:spLocks noGrp="1"/>
          </p:cNvSpPr>
          <p:nvPr>
            <p:ph idx="1" hasCustomPrompt="1"/>
          </p:nvPr>
        </p:nvSpPr>
        <p:spPr>
          <a:xfrm>
            <a:off x="351181" y="2304000"/>
            <a:ext cx="5626107" cy="4153080"/>
          </a:xfrm>
        </p:spPr>
        <p:txBody>
          <a:bodyPr>
            <a:noAutofit/>
          </a:bodyPr>
          <a:lstStyle>
            <a:lvl1pPr marL="0" indent="0">
              <a:buNone/>
              <a:defRPr/>
            </a:lvl1pPr>
          </a:lstStyle>
          <a:p>
            <a:pPr>
              <a:lnSpc>
                <a:spcPct val="120000"/>
              </a:lnSpc>
            </a:pPr>
            <a:r>
              <a:rPr lang="de-DE" sz="2000" dirty="0">
                <a:solidFill>
                  <a:schemeClr val="tx1">
                    <a:lumMod val="65000"/>
                    <a:lumOff val="35000"/>
                  </a:schemeClr>
                </a:solidFill>
                <a:latin typeface="Roboto" panose="02000000000000000000" pitchFamily="2" charset="0"/>
                <a:ea typeface="Roboto" panose="02000000000000000000" pitchFamily="2" charset="0"/>
              </a:rPr>
              <a:t>Text hier einfügen</a:t>
            </a:r>
          </a:p>
          <a:p>
            <a:pPr lvl="2"/>
            <a:r>
              <a:rPr lang="de-DE" dirty="0"/>
              <a:t>Dritte Ebene</a:t>
            </a:r>
          </a:p>
          <a:p>
            <a:pPr lvl="3"/>
            <a:r>
              <a:rPr lang="de-DE" dirty="0"/>
              <a:t>Vierte Ebene</a:t>
            </a:r>
          </a:p>
          <a:p>
            <a:pPr lvl="4"/>
            <a:r>
              <a:rPr lang="de-DE" dirty="0"/>
              <a:t>Fünfte Ebene</a:t>
            </a:r>
          </a:p>
          <a:p>
            <a:pPr>
              <a:lnSpc>
                <a:spcPct val="120000"/>
              </a:lnSpc>
            </a:pPr>
            <a:r>
              <a:rPr lang="de-DE" sz="2000" dirty="0">
                <a:solidFill>
                  <a:schemeClr val="tx1">
                    <a:lumMod val="65000"/>
                    <a:lumOff val="35000"/>
                  </a:schemeClr>
                </a:solidFill>
                <a:latin typeface="Roboto" panose="02000000000000000000" pitchFamily="2" charset="0"/>
                <a:ea typeface="Roboto" panose="02000000000000000000" pitchFamily="2" charset="0"/>
              </a:rPr>
              <a:t> </a:t>
            </a: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p:txBody>
      </p:sp>
      <p:sp>
        <p:nvSpPr>
          <p:cNvPr id="8" name="Inhaltsplatzhalter 2"/>
          <p:cNvSpPr>
            <a:spLocks noGrp="1"/>
          </p:cNvSpPr>
          <p:nvPr>
            <p:ph idx="13" hasCustomPrompt="1"/>
          </p:nvPr>
        </p:nvSpPr>
        <p:spPr>
          <a:xfrm>
            <a:off x="6135198" y="2295485"/>
            <a:ext cx="5626107" cy="4153080"/>
          </a:xfrm>
        </p:spPr>
        <p:txBody>
          <a:bodyPr>
            <a:noAutofit/>
          </a:bodyPr>
          <a:lstStyle>
            <a:lvl1pPr marL="0" indent="0">
              <a:buNone/>
              <a:defRPr/>
            </a:lvl1pPr>
          </a:lstStyle>
          <a:p>
            <a:pPr>
              <a:lnSpc>
                <a:spcPct val="120000"/>
              </a:lnSpc>
            </a:pPr>
            <a:r>
              <a:rPr lang="de-DE" sz="2000" dirty="0">
                <a:solidFill>
                  <a:schemeClr val="tx1">
                    <a:lumMod val="65000"/>
                    <a:lumOff val="35000"/>
                  </a:schemeClr>
                </a:solidFill>
                <a:latin typeface="Roboto" panose="02000000000000000000" pitchFamily="2" charset="0"/>
                <a:ea typeface="Roboto" panose="02000000000000000000" pitchFamily="2" charset="0"/>
              </a:rPr>
              <a:t>Text hier einfügen</a:t>
            </a:r>
          </a:p>
          <a:p>
            <a:pPr lvl="2"/>
            <a:r>
              <a:rPr lang="de-DE" dirty="0"/>
              <a:t>Dritte Ebene</a:t>
            </a:r>
          </a:p>
          <a:p>
            <a:pPr lvl="3"/>
            <a:r>
              <a:rPr lang="de-DE" dirty="0"/>
              <a:t>Vierte Ebene</a:t>
            </a:r>
          </a:p>
          <a:p>
            <a:pPr lvl="4"/>
            <a:r>
              <a:rPr lang="de-DE" dirty="0"/>
              <a:t>Fünfte Ebene</a:t>
            </a:r>
          </a:p>
          <a:p>
            <a:pPr>
              <a:lnSpc>
                <a:spcPct val="120000"/>
              </a:lnSpc>
            </a:pPr>
            <a:r>
              <a:rPr lang="de-DE" sz="2000" dirty="0">
                <a:solidFill>
                  <a:schemeClr val="tx1">
                    <a:lumMod val="65000"/>
                    <a:lumOff val="35000"/>
                  </a:schemeClr>
                </a:solidFill>
                <a:latin typeface="Roboto" panose="02000000000000000000" pitchFamily="2" charset="0"/>
                <a:ea typeface="Roboto" panose="02000000000000000000" pitchFamily="2" charset="0"/>
              </a:rPr>
              <a:t> </a:t>
            </a: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a:p>
            <a:pPr>
              <a:lnSpc>
                <a:spcPct val="120000"/>
              </a:lnSpc>
            </a:pPr>
            <a:endParaRPr lang="de-DE" sz="2000" dirty="0">
              <a:solidFill>
                <a:schemeClr val="tx1">
                  <a:lumMod val="65000"/>
                  <a:lumOff val="35000"/>
                </a:schemeClr>
              </a:solidFill>
              <a:latin typeface="Roboto" panose="02000000000000000000" pitchFamily="2" charset="0"/>
              <a:ea typeface="Roboto" panose="02000000000000000000" pitchFamily="2" charset="0"/>
            </a:endParaRPr>
          </a:p>
        </p:txBody>
      </p:sp>
      <p:sp>
        <p:nvSpPr>
          <p:cNvPr id="9" name="Title 1"/>
          <p:cNvSpPr>
            <a:spLocks noGrp="1"/>
          </p:cNvSpPr>
          <p:nvPr>
            <p:ph type="title" hasCustomPrompt="1"/>
          </p:nvPr>
        </p:nvSpPr>
        <p:spPr>
          <a:xfrm>
            <a:off x="388003" y="1451891"/>
            <a:ext cx="11410124" cy="646331"/>
          </a:xfrm>
          <a:solidFill>
            <a:srgbClr val="2B418E"/>
          </a:solidFill>
        </p:spPr>
        <p:txBody>
          <a:bodyPr wrap="square">
            <a:spAutoFit/>
          </a:bodyPr>
          <a:lstStyle>
            <a:lvl1pPr algn="l">
              <a:defRPr sz="2000" b="1">
                <a:solidFill>
                  <a:schemeClr val="bg1"/>
                </a:solidFill>
              </a:defRPr>
            </a:lvl1pPr>
          </a:lstStyle>
          <a:p>
            <a:r>
              <a:rPr lang="de-DE" dirty="0"/>
              <a:t>Überschrift</a:t>
            </a:r>
            <a:br>
              <a:rPr lang="de-DE" dirty="0"/>
            </a:br>
            <a:r>
              <a:rPr lang="de-DE" dirty="0"/>
              <a:t>maximal 2 Zeilen</a:t>
            </a:r>
            <a:endParaRPr lang="en-US" dirty="0"/>
          </a:p>
        </p:txBody>
      </p:sp>
      <p:sp>
        <p:nvSpPr>
          <p:cNvPr id="2" name="Fußzeilenplatzhalter 1">
            <a:extLst>
              <a:ext uri="{FF2B5EF4-FFF2-40B4-BE49-F238E27FC236}">
                <a16:creationId xmlns:a16="http://schemas.microsoft.com/office/drawing/2014/main" id="{929FB456-7ECE-6841-8927-D979B8552058}"/>
              </a:ext>
            </a:extLst>
          </p:cNvPr>
          <p:cNvSpPr>
            <a:spLocks noGrp="1"/>
          </p:cNvSpPr>
          <p:nvPr>
            <p:ph type="ftr" sz="quarter" idx="14"/>
          </p:nvPr>
        </p:nvSpPr>
        <p:spPr/>
        <p:txBody>
          <a:bodyPr/>
          <a:lstStyle/>
          <a:p>
            <a:endParaRPr lang="de-DE"/>
          </a:p>
        </p:txBody>
      </p:sp>
    </p:spTree>
    <p:extLst>
      <p:ext uri="{BB962C8B-B14F-4D97-AF65-F5344CB8AC3E}">
        <p14:creationId xmlns:p14="http://schemas.microsoft.com/office/powerpoint/2010/main" val="3350273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Zwei Inhalte">
    <p:spTree>
      <p:nvGrpSpPr>
        <p:cNvPr id="1" name=""/>
        <p:cNvGrpSpPr/>
        <p:nvPr/>
      </p:nvGrpSpPr>
      <p:grpSpPr>
        <a:xfrm>
          <a:off x="0" y="0"/>
          <a:ext cx="0" cy="0"/>
          <a:chOff x="0" y="0"/>
          <a:chExt cx="0" cy="0"/>
        </a:xfrm>
      </p:grpSpPr>
      <p:sp>
        <p:nvSpPr>
          <p:cNvPr id="9" name="Abgerundetes Rechteck 8"/>
          <p:cNvSpPr/>
          <p:nvPr userDrawn="1"/>
        </p:nvSpPr>
        <p:spPr>
          <a:xfrm>
            <a:off x="341354" y="276550"/>
            <a:ext cx="12084756" cy="1144800"/>
          </a:xfrm>
          <a:prstGeom prst="roundRect">
            <a:avLst/>
          </a:prstGeom>
          <a:no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798"/>
          </a:p>
        </p:txBody>
      </p:sp>
      <p:sp>
        <p:nvSpPr>
          <p:cNvPr id="3" name="Inhaltsplatzhalter 2"/>
          <p:cNvSpPr>
            <a:spLocks noGrp="1"/>
          </p:cNvSpPr>
          <p:nvPr>
            <p:ph sz="half" idx="1"/>
          </p:nvPr>
        </p:nvSpPr>
        <p:spPr>
          <a:xfrm>
            <a:off x="629087" y="1628799"/>
            <a:ext cx="5394381" cy="4536000"/>
          </a:xfrm>
        </p:spPr>
        <p:txBody>
          <a:bodyPr/>
          <a:lstStyle>
            <a:lvl1pPr>
              <a:defRPr sz="2797">
                <a:solidFill>
                  <a:schemeClr val="tx2"/>
                </a:solidFill>
              </a:defRPr>
            </a:lvl1pPr>
            <a:lvl2pPr>
              <a:defRPr sz="2398">
                <a:solidFill>
                  <a:schemeClr val="tx2"/>
                </a:solidFill>
              </a:defRPr>
            </a:lvl2pPr>
            <a:lvl3pPr>
              <a:defRPr sz="1998">
                <a:solidFill>
                  <a:schemeClr val="tx2"/>
                </a:solidFill>
              </a:defRPr>
            </a:lvl3pPr>
            <a:lvl4pPr>
              <a:defRPr sz="1798">
                <a:solidFill>
                  <a:schemeClr val="tx2"/>
                </a:solidFill>
              </a:defRPr>
            </a:lvl4pPr>
            <a:lvl5pPr>
              <a:defRPr sz="1798">
                <a:solidFill>
                  <a:schemeClr val="tx2"/>
                </a:solidFill>
              </a:defRPr>
            </a:lvl5pPr>
            <a:lvl6pPr>
              <a:defRPr sz="1798"/>
            </a:lvl6pPr>
            <a:lvl7pPr>
              <a:defRPr sz="1798"/>
            </a:lvl7pPr>
            <a:lvl8pPr>
              <a:defRPr sz="1798"/>
            </a:lvl8pPr>
            <a:lvl9pPr>
              <a:defRPr sz="1798"/>
            </a:lvl9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3"/>
          <p:cNvSpPr>
            <a:spLocks noGrp="1"/>
          </p:cNvSpPr>
          <p:nvPr>
            <p:ph sz="half" idx="2"/>
          </p:nvPr>
        </p:nvSpPr>
        <p:spPr>
          <a:xfrm>
            <a:off x="6168532" y="1628799"/>
            <a:ext cx="5394381" cy="4536000"/>
          </a:xfrm>
        </p:spPr>
        <p:txBody>
          <a:bodyPr/>
          <a:lstStyle>
            <a:lvl1pPr>
              <a:defRPr sz="2797">
                <a:solidFill>
                  <a:schemeClr val="tx2"/>
                </a:solidFill>
              </a:defRPr>
            </a:lvl1pPr>
            <a:lvl2pPr>
              <a:defRPr sz="2398">
                <a:solidFill>
                  <a:schemeClr val="tx2"/>
                </a:solidFill>
              </a:defRPr>
            </a:lvl2pPr>
            <a:lvl3pPr>
              <a:defRPr sz="1998">
                <a:solidFill>
                  <a:schemeClr val="tx2"/>
                </a:solidFill>
              </a:defRPr>
            </a:lvl3pPr>
            <a:lvl4pPr>
              <a:defRPr sz="1798">
                <a:solidFill>
                  <a:schemeClr val="tx2"/>
                </a:solidFill>
              </a:defRPr>
            </a:lvl4pPr>
            <a:lvl5pPr>
              <a:defRPr sz="1798">
                <a:solidFill>
                  <a:schemeClr val="tx2"/>
                </a:solidFill>
              </a:defRPr>
            </a:lvl5pPr>
            <a:lvl6pPr>
              <a:defRPr sz="1798"/>
            </a:lvl6pPr>
            <a:lvl7pPr>
              <a:defRPr sz="1798"/>
            </a:lvl7pPr>
            <a:lvl8pPr>
              <a:defRPr sz="1798"/>
            </a:lvl8pPr>
            <a:lvl9pPr>
              <a:defRPr sz="1798"/>
            </a:lvl9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p:cNvSpPr>
            <a:spLocks noGrp="1"/>
          </p:cNvSpPr>
          <p:nvPr>
            <p:ph type="title"/>
          </p:nvPr>
        </p:nvSpPr>
        <p:spPr>
          <a:xfrm>
            <a:off x="609601" y="274638"/>
            <a:ext cx="10953313" cy="1143000"/>
          </a:xfrm>
        </p:spPr>
        <p:txBody>
          <a:bodyPr>
            <a:normAutofit/>
          </a:bodyPr>
          <a:lstStyle>
            <a:lvl1pPr>
              <a:defRPr sz="2398" b="1">
                <a:solidFill>
                  <a:schemeClr val="tx2"/>
                </a:solidFill>
              </a:defRPr>
            </a:lvl1pPr>
          </a:lstStyle>
          <a:p>
            <a:r>
              <a:rPr lang="de-DE" dirty="0"/>
              <a:t>Titelmasterformat durch Klicken bearbeiten</a:t>
            </a:r>
          </a:p>
        </p:txBody>
      </p:sp>
      <p:sp>
        <p:nvSpPr>
          <p:cNvPr id="18" name="Datumsplatzhalter 6"/>
          <p:cNvSpPr>
            <a:spLocks noGrp="1"/>
          </p:cNvSpPr>
          <p:nvPr>
            <p:ph type="dt" sz="half" idx="10"/>
          </p:nvPr>
        </p:nvSpPr>
        <p:spPr>
          <a:xfrm>
            <a:off x="609600" y="6356352"/>
            <a:ext cx="2844800" cy="365125"/>
          </a:xfrm>
          <a:prstGeom prst="rect">
            <a:avLst/>
          </a:prstGeom>
        </p:spPr>
        <p:txBody>
          <a:bodyPr/>
          <a:lstStyle>
            <a:lvl1pPr marL="0" algn="l" defTabSz="913486" rtl="0" eaLnBrk="1" latinLnBrk="0" hangingPunct="1">
              <a:defRPr lang="de-DE" sz="1049" kern="1200" dirty="0">
                <a:solidFill>
                  <a:schemeClr val="bg1"/>
                </a:solidFill>
                <a:latin typeface="Arial" panose="020B0604020202020204" pitchFamily="34" charset="0"/>
                <a:ea typeface="+mn-ea"/>
                <a:cs typeface="Arial" panose="020B0604020202020204" pitchFamily="34" charset="0"/>
              </a:defRPr>
            </a:lvl1pPr>
          </a:lstStyle>
          <a:p>
            <a:fld id="{757CD2D1-8C96-4412-8C0C-09C7E956F080}" type="datetime1">
              <a:rPr lang="de-DE" smtClean="0"/>
              <a:t>24.09.2026</a:t>
            </a:fld>
            <a:endParaRPr lang="de-DE" dirty="0"/>
          </a:p>
        </p:txBody>
      </p:sp>
      <p:sp>
        <p:nvSpPr>
          <p:cNvPr id="20" name="Foliennummernplatzhalter 8"/>
          <p:cNvSpPr>
            <a:spLocks noGrp="1"/>
          </p:cNvSpPr>
          <p:nvPr>
            <p:ph type="sldNum" sz="quarter" idx="4"/>
          </p:nvPr>
        </p:nvSpPr>
        <p:spPr>
          <a:xfrm>
            <a:off x="8737601" y="6356352"/>
            <a:ext cx="2844800" cy="365125"/>
          </a:xfrm>
          <a:prstGeom prst="rect">
            <a:avLst/>
          </a:prstGeom>
        </p:spPr>
        <p:txBody>
          <a:bodyPr/>
          <a:lstStyle>
            <a:lvl1pPr algn="r">
              <a:defRPr lang="de-DE" sz="1049" kern="1200" smtClean="0">
                <a:solidFill>
                  <a:schemeClr val="bg1"/>
                </a:solidFill>
                <a:latin typeface="Arial" panose="020B0604020202020204" pitchFamily="34" charset="0"/>
                <a:ea typeface="+mn-ea"/>
                <a:cs typeface="Arial" panose="020B0604020202020204" pitchFamily="34" charset="0"/>
              </a:defRPr>
            </a:lvl1pPr>
          </a:lstStyle>
          <a:p>
            <a:fld id="{43A6DCFB-163F-4561-BF28-3CD1FE47EE20}" type="slidenum">
              <a:rPr lang="de-DE" smtClean="0"/>
              <a:pPr/>
              <a:t>‹Nr.›</a:t>
            </a:fld>
            <a:endParaRPr lang="de-DE" dirty="0"/>
          </a:p>
        </p:txBody>
      </p:sp>
    </p:spTree>
    <p:extLst>
      <p:ext uri="{BB962C8B-B14F-4D97-AF65-F5344CB8AC3E}">
        <p14:creationId xmlns:p14="http://schemas.microsoft.com/office/powerpoint/2010/main" val="35647312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202F9D49-4CB7-4444-915C-FDDFCF5AC699}"/>
              </a:ext>
            </a:extLst>
          </p:cNvPr>
          <p:cNvSpPr/>
          <p:nvPr userDrawn="1"/>
        </p:nvSpPr>
        <p:spPr>
          <a:xfrm>
            <a:off x="0" y="6629400"/>
            <a:ext cx="12192000" cy="228600"/>
          </a:xfrm>
          <a:prstGeom prst="rect">
            <a:avLst/>
          </a:prstGeom>
          <a:solidFill>
            <a:srgbClr val="2742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platzhalter 1"/>
          <p:cNvSpPr>
            <a:spLocks noGrp="1"/>
          </p:cNvSpPr>
          <p:nvPr>
            <p:ph type="title"/>
          </p:nvPr>
        </p:nvSpPr>
        <p:spPr>
          <a:xfrm>
            <a:off x="838200" y="1123121"/>
            <a:ext cx="10515600" cy="1719469"/>
          </a:xfrm>
          <a:prstGeom prst="rect">
            <a:avLst/>
          </a:prstGeom>
        </p:spPr>
        <p:txBody>
          <a:bodyPr vert="horz" lIns="91440" tIns="45720" rIns="91440" bIns="45720" rtlCol="0" anchor="ctr">
            <a:normAutofit/>
          </a:bodyPr>
          <a:lstStyle/>
          <a:p>
            <a:r>
              <a:rPr lang="de-DE" dirty="0"/>
              <a:t>Titelmasterformat durch Klicken bearbeiten</a:t>
            </a:r>
          </a:p>
        </p:txBody>
      </p:sp>
      <p:sp>
        <p:nvSpPr>
          <p:cNvPr id="3" name="Textplatzhalter 2"/>
          <p:cNvSpPr>
            <a:spLocks noGrp="1"/>
          </p:cNvSpPr>
          <p:nvPr>
            <p:ph type="body" idx="1"/>
          </p:nvPr>
        </p:nvSpPr>
        <p:spPr>
          <a:xfrm>
            <a:off x="841513" y="2842591"/>
            <a:ext cx="10515600" cy="3786809"/>
          </a:xfrm>
          <a:prstGeom prst="rect">
            <a:avLst/>
          </a:prstGeom>
        </p:spPr>
        <p:txBody>
          <a:bodyPr vert="horz" lIns="91440" tIns="45720" rIns="91440" bIns="45720" rtlCol="0">
            <a:normAutofit/>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p:cNvSpPr>
            <a:spLocks noGrp="1"/>
          </p:cNvSpPr>
          <p:nvPr>
            <p:ph type="dt" sz="half" idx="2"/>
          </p:nvPr>
        </p:nvSpPr>
        <p:spPr>
          <a:xfrm>
            <a:off x="351181" y="6629400"/>
            <a:ext cx="2743200" cy="228600"/>
          </a:xfrm>
          <a:prstGeom prst="rect">
            <a:avLst/>
          </a:prstGeom>
        </p:spPr>
        <p:txBody>
          <a:bodyPr vert="horz" lIns="91440" tIns="45720" rIns="91440" bIns="45720" rtlCol="0" anchor="ctr"/>
          <a:lstStyle>
            <a:lvl1pPr algn="l">
              <a:defRPr sz="1200">
                <a:solidFill>
                  <a:schemeClr val="bg1">
                    <a:lumMod val="95000"/>
                  </a:schemeClr>
                </a:solidFill>
              </a:defRPr>
            </a:lvl1pPr>
          </a:lstStyle>
          <a:p>
            <a:fld id="{DFF21B63-CC14-4CF7-B236-95F232F15D6B}" type="datetime1">
              <a:rPr lang="de-DE" smtClean="0"/>
              <a:t>24.09.2026</a:t>
            </a:fld>
            <a:endParaRPr lang="de-DE" dirty="0"/>
          </a:p>
        </p:txBody>
      </p:sp>
      <p:sp>
        <p:nvSpPr>
          <p:cNvPr id="6" name="Foliennummernplatzhalter 5"/>
          <p:cNvSpPr>
            <a:spLocks noGrp="1"/>
          </p:cNvSpPr>
          <p:nvPr>
            <p:ph type="sldNum" sz="quarter" idx="4"/>
          </p:nvPr>
        </p:nvSpPr>
        <p:spPr>
          <a:xfrm>
            <a:off x="9018105" y="6629400"/>
            <a:ext cx="2743200" cy="228599"/>
          </a:xfrm>
          <a:prstGeom prst="rect">
            <a:avLst/>
          </a:prstGeom>
        </p:spPr>
        <p:txBody>
          <a:bodyPr vert="horz" lIns="91440" tIns="45720" rIns="91440" bIns="45720" rtlCol="0" anchor="ctr"/>
          <a:lstStyle>
            <a:lvl1pPr algn="r">
              <a:defRPr sz="1200">
                <a:solidFill>
                  <a:schemeClr val="bg1">
                    <a:lumMod val="95000"/>
                  </a:schemeClr>
                </a:solidFill>
              </a:defRPr>
            </a:lvl1pPr>
          </a:lstStyle>
          <a:p>
            <a:fld id="{341CD41A-C668-429A-AD07-4F84BBC3B3E7}" type="slidenum">
              <a:rPr lang="de-DE" smtClean="0"/>
              <a:pPr/>
              <a:t>‹Nr.›</a:t>
            </a:fld>
            <a:endParaRPr lang="de-DE" dirty="0"/>
          </a:p>
        </p:txBody>
      </p:sp>
      <p:sp>
        <p:nvSpPr>
          <p:cNvPr id="5" name="Fußzeilenplatzhalter 4">
            <a:extLst>
              <a:ext uri="{FF2B5EF4-FFF2-40B4-BE49-F238E27FC236}">
                <a16:creationId xmlns:a16="http://schemas.microsoft.com/office/drawing/2014/main" id="{3EE2BAE6-A273-B346-9C40-F0E5E4CBC3CE}"/>
              </a:ext>
            </a:extLst>
          </p:cNvPr>
          <p:cNvSpPr>
            <a:spLocks noGrp="1"/>
          </p:cNvSpPr>
          <p:nvPr>
            <p:ph type="ftr" sz="quarter" idx="3"/>
          </p:nvPr>
        </p:nvSpPr>
        <p:spPr>
          <a:xfrm>
            <a:off x="4038600" y="6558483"/>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de-DE" dirty="0"/>
          </a:p>
        </p:txBody>
      </p:sp>
    </p:spTree>
    <p:extLst>
      <p:ext uri="{BB962C8B-B14F-4D97-AF65-F5344CB8AC3E}">
        <p14:creationId xmlns:p14="http://schemas.microsoft.com/office/powerpoint/2010/main" val="3746501783"/>
      </p:ext>
    </p:extLst>
  </p:cSld>
  <p:clrMap bg1="lt1" tx1="dk1" bg2="lt2" tx2="dk2" accent1="accent1" accent2="accent2" accent3="accent3" accent4="accent4" accent5="accent5" accent6="accent6" hlink="hlink" folHlink="folHlink"/>
  <p:sldLayoutIdLst>
    <p:sldLayoutId id="2147483655" r:id="rId1"/>
    <p:sldLayoutId id="2147483661" r:id="rId2"/>
    <p:sldLayoutId id="2147483662" r:id="rId3"/>
    <p:sldLayoutId id="2147483667" r:id="rId4"/>
    <p:sldLayoutId id="2147483663" r:id="rId5"/>
    <p:sldLayoutId id="2147483672" r:id="rId6"/>
  </p:sldLayoutIdLst>
  <p:hf hdr="0"/>
  <p:txStyles>
    <p:titleStyle>
      <a:lvl1pPr algn="ctr" defTabSz="914400" rtl="0" eaLnBrk="1" latinLnBrk="0" hangingPunct="1">
        <a:lnSpc>
          <a:spcPct val="90000"/>
        </a:lnSpc>
        <a:spcBef>
          <a:spcPct val="0"/>
        </a:spcBef>
        <a:buNone/>
        <a:defRPr sz="4400" b="1" kern="1200">
          <a:solidFill>
            <a:schemeClr val="accent5">
              <a:lumMod val="75000"/>
            </a:schemeClr>
          </a:solidFill>
          <a:latin typeface="Roboto Slab" pitchFamily="2" charset="0"/>
          <a:ea typeface="Roboto Slab"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lumMod val="65000"/>
              <a:lumOff val="35000"/>
            </a:schemeClr>
          </a:solidFill>
          <a:latin typeface="Roboto Slab" pitchFamily="2" charset="0"/>
          <a:ea typeface="Roboto Slab"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48FF65-5AE9-45FB-8D3A-73F6AFF4A470}"/>
              </a:ext>
            </a:extLst>
          </p:cNvPr>
          <p:cNvSpPr>
            <a:spLocks noGrp="1"/>
          </p:cNvSpPr>
          <p:nvPr>
            <p:ph type="ctrTitle"/>
          </p:nvPr>
        </p:nvSpPr>
        <p:spPr/>
        <p:txBody>
          <a:bodyPr/>
          <a:lstStyle/>
          <a:p>
            <a:r>
              <a:rPr lang="de-DE" dirty="0"/>
              <a:t>IT-Infrastruktur mit freier Software </a:t>
            </a:r>
            <a:br>
              <a:rPr lang="de-DE" dirty="0"/>
            </a:br>
            <a:r>
              <a:rPr lang="de-DE" dirty="0"/>
              <a:t>(z. B. Linux) bereitstellen </a:t>
            </a:r>
          </a:p>
        </p:txBody>
      </p:sp>
      <p:sp>
        <p:nvSpPr>
          <p:cNvPr id="3" name="Untertitel 2">
            <a:extLst>
              <a:ext uri="{FF2B5EF4-FFF2-40B4-BE49-F238E27FC236}">
                <a16:creationId xmlns:a16="http://schemas.microsoft.com/office/drawing/2014/main" id="{AA6E370A-3F9D-4972-8257-4338E8BC435E}"/>
              </a:ext>
            </a:extLst>
          </p:cNvPr>
          <p:cNvSpPr>
            <a:spLocks noGrp="1"/>
          </p:cNvSpPr>
          <p:nvPr>
            <p:ph type="subTitle" idx="1"/>
          </p:nvPr>
        </p:nvSpPr>
        <p:spPr>
          <a:xfrm>
            <a:off x="388003" y="3959587"/>
            <a:ext cx="11410123" cy="1116909"/>
          </a:xfrm>
        </p:spPr>
        <p:txBody>
          <a:bodyPr>
            <a:normAutofit/>
          </a:bodyPr>
          <a:lstStyle/>
          <a:p>
            <a:pPr marL="0" indent="0">
              <a:buNone/>
            </a:pPr>
            <a:r>
              <a:rPr lang="de-DE" dirty="0"/>
              <a:t>Lab 05 -   </a:t>
            </a:r>
          </a:p>
          <a:p>
            <a:pPr marL="0" indent="0">
              <a:buNone/>
            </a:pPr>
            <a:r>
              <a:rPr lang="de-DE" dirty="0"/>
              <a:t>Webdienste als Docker-Container bereitstellen</a:t>
            </a:r>
          </a:p>
        </p:txBody>
      </p:sp>
    </p:spTree>
    <p:extLst>
      <p:ext uri="{BB962C8B-B14F-4D97-AF65-F5344CB8AC3E}">
        <p14:creationId xmlns:p14="http://schemas.microsoft.com/office/powerpoint/2010/main" val="41107705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A8876A94-DDF9-4DFE-88C6-4AD2D82A4CE0}"/>
              </a:ext>
            </a:extLst>
          </p:cNvPr>
          <p:cNvSpPr>
            <a:spLocks noGrp="1"/>
          </p:cNvSpPr>
          <p:nvPr>
            <p:ph type="title"/>
          </p:nvPr>
        </p:nvSpPr>
        <p:spPr/>
        <p:txBody>
          <a:bodyPr/>
          <a:lstStyle/>
          <a:p>
            <a:r>
              <a:rPr lang="de-DE" dirty="0"/>
              <a:t>Zielvorgabe: Docker-Container hinter Caddy</a:t>
            </a:r>
          </a:p>
        </p:txBody>
      </p:sp>
      <p:sp>
        <p:nvSpPr>
          <p:cNvPr id="5" name="Datumsplatzhalter 4">
            <a:extLst>
              <a:ext uri="{FF2B5EF4-FFF2-40B4-BE49-F238E27FC236}">
                <a16:creationId xmlns:a16="http://schemas.microsoft.com/office/drawing/2014/main" id="{8552E27A-EAD4-4009-9443-85CCF2FEBEDE}"/>
              </a:ext>
            </a:extLst>
          </p:cNvPr>
          <p:cNvSpPr>
            <a:spLocks noGrp="1"/>
          </p:cNvSpPr>
          <p:nvPr>
            <p:ph type="dt" sz="half" idx="10"/>
          </p:nvPr>
        </p:nvSpPr>
        <p:spPr/>
        <p:txBody>
          <a:bodyPr/>
          <a:lstStyle/>
          <a:p>
            <a:fld id="{757CD2D1-8C96-4412-8C0C-09C7E956F080}" type="datetime1">
              <a:rPr lang="de-DE" smtClean="0"/>
              <a:t>24.09.2026</a:t>
            </a:fld>
            <a:endParaRPr lang="de-DE" dirty="0"/>
          </a:p>
        </p:txBody>
      </p:sp>
      <p:sp>
        <p:nvSpPr>
          <p:cNvPr id="6" name="Foliennummernplatzhalter 5">
            <a:extLst>
              <a:ext uri="{FF2B5EF4-FFF2-40B4-BE49-F238E27FC236}">
                <a16:creationId xmlns:a16="http://schemas.microsoft.com/office/drawing/2014/main" id="{89ECD8EA-CF76-4F3D-A5C6-7795DCE9B1D1}"/>
              </a:ext>
            </a:extLst>
          </p:cNvPr>
          <p:cNvSpPr>
            <a:spLocks noGrp="1"/>
          </p:cNvSpPr>
          <p:nvPr>
            <p:ph type="sldNum" sz="quarter" idx="4"/>
          </p:nvPr>
        </p:nvSpPr>
        <p:spPr/>
        <p:txBody>
          <a:bodyPr/>
          <a:lstStyle/>
          <a:p>
            <a:fld id="{43A6DCFB-163F-4561-BF28-3CD1FE47EE20}" type="slidenum">
              <a:rPr lang="de-DE" smtClean="0"/>
              <a:pPr/>
              <a:t>2</a:t>
            </a:fld>
            <a:endParaRPr lang="de-DE" dirty="0"/>
          </a:p>
        </p:txBody>
      </p:sp>
      <p:sp>
        <p:nvSpPr>
          <p:cNvPr id="32" name="Rounded Rectangle 31"/>
          <p:cNvSpPr/>
          <p:nvPr/>
        </p:nvSpPr>
        <p:spPr>
          <a:xfrm>
            <a:off x="2138360" y="2880360"/>
            <a:ext cx="2606040" cy="914400"/>
          </a:xfrm>
          <a:prstGeom prst="roundRect">
            <a:avLst>
              <a:gd name="adj" fmla="val 10000"/>
            </a:avLst>
          </a:prstGeom>
          <a:solidFill>
            <a:srgbClr val="1E2761"/>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dirty="0">
                <a:solidFill>
                  <a:srgbClr val="FFFFFF"/>
                </a:solidFill>
                <a:latin typeface="Arial"/>
              </a:rPr>
              <a:t>Caddy Reverse Proxy</a:t>
            </a:r>
          </a:p>
          <a:p>
            <a:pPr algn="ctr"/>
            <a:r>
              <a:rPr sz="1300" b="1" dirty="0">
                <a:solidFill>
                  <a:srgbClr val="FFFFFF"/>
                </a:solidFill>
                <a:latin typeface="Arial"/>
              </a:rPr>
              <a:t>Port 443 – bereits aus Lab 04</a:t>
            </a:r>
          </a:p>
        </p:txBody>
      </p:sp>
      <p:sp>
        <p:nvSpPr>
          <p:cNvPr id="33" name="Rounded Rectangle 32"/>
          <p:cNvSpPr/>
          <p:nvPr/>
        </p:nvSpPr>
        <p:spPr>
          <a:xfrm>
            <a:off x="5989342" y="2423160"/>
            <a:ext cx="2423160" cy="777240"/>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nginx (Webseite)</a:t>
            </a:r>
          </a:p>
          <a:p>
            <a:pPr algn="ctr"/>
            <a:r>
              <a:rPr sz="1200" b="1">
                <a:solidFill>
                  <a:srgbClr val="1A1A1A"/>
                </a:solidFill>
                <a:latin typeface="Arial"/>
              </a:rPr>
              <a:t>localhost:8080</a:t>
            </a:r>
          </a:p>
        </p:txBody>
      </p:sp>
      <p:sp>
        <p:nvSpPr>
          <p:cNvPr id="34" name="Rounded Rectangle 33"/>
          <p:cNvSpPr/>
          <p:nvPr/>
        </p:nvSpPr>
        <p:spPr>
          <a:xfrm>
            <a:off x="5989342" y="3474720"/>
            <a:ext cx="2423160" cy="777240"/>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Node-RED (Dashboard)</a:t>
            </a:r>
          </a:p>
          <a:p>
            <a:pPr algn="ctr"/>
            <a:r>
              <a:rPr sz="1200" b="1">
                <a:solidFill>
                  <a:srgbClr val="1A1A1A"/>
                </a:solidFill>
                <a:latin typeface="Arial"/>
              </a:rPr>
              <a:t>localhost:1880</a:t>
            </a:r>
          </a:p>
        </p:txBody>
      </p:sp>
      <p:sp>
        <p:nvSpPr>
          <p:cNvPr id="21" name="Text 9">
            <a:extLst>
              <a:ext uri="{FF2B5EF4-FFF2-40B4-BE49-F238E27FC236}">
                <a16:creationId xmlns:a16="http://schemas.microsoft.com/office/drawing/2014/main" id="{1114FAF3-CE3E-4819-8674-A7A49A279B3C}"/>
              </a:ext>
            </a:extLst>
          </p:cNvPr>
          <p:cNvSpPr/>
          <p:nvPr/>
        </p:nvSpPr>
        <p:spPr>
          <a:xfrm>
            <a:off x="985923" y="4341615"/>
            <a:ext cx="5546630" cy="238641"/>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A1A1A"/>
                </a:solidFill>
                <a:latin typeface="Arial" pitchFamily="34" charset="0"/>
                <a:ea typeface="Arial" pitchFamily="34" charset="-122"/>
                <a:cs typeface="Arial" pitchFamily="34" charset="-120"/>
              </a:rPr>
              <a:t>Ziel erreicht, wenn:</a:t>
            </a:r>
            <a:endParaRPr lang="en-US" sz="1400" dirty="0"/>
          </a:p>
        </p:txBody>
      </p:sp>
      <p:sp>
        <p:nvSpPr>
          <p:cNvPr id="22" name="Shape 10">
            <a:extLst>
              <a:ext uri="{FF2B5EF4-FFF2-40B4-BE49-F238E27FC236}">
                <a16:creationId xmlns:a16="http://schemas.microsoft.com/office/drawing/2014/main" id="{11AC712A-8D90-4C74-85BE-D16524DBA39E}"/>
              </a:ext>
            </a:extLst>
          </p:cNvPr>
          <p:cNvSpPr/>
          <p:nvPr/>
        </p:nvSpPr>
        <p:spPr>
          <a:xfrm>
            <a:off x="989098" y="4761152"/>
            <a:ext cx="349171" cy="349171"/>
          </a:xfrm>
          <a:prstGeom prst="roundRect">
            <a:avLst>
              <a:gd name="adj" fmla="val 50000"/>
            </a:avLst>
          </a:prstGeom>
          <a:solidFill>
            <a:srgbClr val="FFFFFF"/>
          </a:solidFill>
          <a:ln w="6350">
            <a:solidFill>
              <a:srgbClr val="1A1A1A"/>
            </a:solidFill>
            <a:prstDash val="solid"/>
          </a:ln>
        </p:spPr>
      </p:sp>
      <p:pic>
        <p:nvPicPr>
          <p:cNvPr id="23" name="Image 0" descr="CheckCircle">
            <a:extLst>
              <a:ext uri="{FF2B5EF4-FFF2-40B4-BE49-F238E27FC236}">
                <a16:creationId xmlns:a16="http://schemas.microsoft.com/office/drawing/2014/main" id="{29C0B409-3284-49E9-8DFE-E23818BFE29E}"/>
              </a:ext>
            </a:extLst>
          </p:cNvPr>
          <p:cNvPicPr>
            <a:picLocks noChangeAspect="1"/>
          </p:cNvPicPr>
          <p:nvPr/>
        </p:nvPicPr>
        <p:blipFill>
          <a:blip r:embed="rId2"/>
          <a:srcRect/>
          <a:stretch/>
        </p:blipFill>
        <p:spPr>
          <a:xfrm>
            <a:off x="1074743" y="4846798"/>
            <a:ext cx="177760" cy="177760"/>
          </a:xfrm>
          <a:prstGeom prst="rect">
            <a:avLst/>
          </a:prstGeom>
        </p:spPr>
      </p:pic>
      <p:sp>
        <p:nvSpPr>
          <p:cNvPr id="24" name="Text 11">
            <a:extLst>
              <a:ext uri="{FF2B5EF4-FFF2-40B4-BE49-F238E27FC236}">
                <a16:creationId xmlns:a16="http://schemas.microsoft.com/office/drawing/2014/main" id="{70295F90-794F-4989-A8C1-02E71610AF3A}"/>
              </a:ext>
            </a:extLst>
          </p:cNvPr>
          <p:cNvSpPr/>
          <p:nvPr/>
        </p:nvSpPr>
        <p:spPr>
          <a:xfrm>
            <a:off x="1493843" y="4757977"/>
            <a:ext cx="5023472" cy="223520"/>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A1A1A"/>
                </a:solidFill>
                <a:latin typeface="Arial" pitchFamily="34" charset="0"/>
                <a:ea typeface="Arial" pitchFamily="34" charset="-122"/>
                <a:cs typeface="Arial" pitchFamily="34" charset="-120"/>
              </a:rPr>
              <a:t>Beide Dienste ohne Zertifikatswarnung</a:t>
            </a:r>
            <a:endParaRPr lang="en-US" sz="1300" dirty="0"/>
          </a:p>
        </p:txBody>
      </p:sp>
      <p:sp>
        <p:nvSpPr>
          <p:cNvPr id="25" name="Text 12">
            <a:extLst>
              <a:ext uri="{FF2B5EF4-FFF2-40B4-BE49-F238E27FC236}">
                <a16:creationId xmlns:a16="http://schemas.microsoft.com/office/drawing/2014/main" id="{24E425D7-B2A0-43A9-A433-DC24ABB2B815}"/>
              </a:ext>
            </a:extLst>
          </p:cNvPr>
          <p:cNvSpPr/>
          <p:nvPr/>
        </p:nvSpPr>
        <p:spPr>
          <a:xfrm>
            <a:off x="1493843" y="4994197"/>
            <a:ext cx="5023472" cy="20316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6B7280"/>
                </a:solidFill>
                <a:latin typeface="Courier New" pitchFamily="34" charset="0"/>
                <a:ea typeface="Courier New" pitchFamily="34" charset="-122"/>
                <a:cs typeface="Courier New" pitchFamily="34" charset="-120"/>
              </a:rPr>
              <a:t>Caddy stellt HTTPS wie in Lab 04 automatisch bereit</a:t>
            </a:r>
            <a:endParaRPr lang="en-US" sz="1000" dirty="0"/>
          </a:p>
        </p:txBody>
      </p:sp>
      <p:sp>
        <p:nvSpPr>
          <p:cNvPr id="26" name="Shape 13">
            <a:extLst>
              <a:ext uri="{FF2B5EF4-FFF2-40B4-BE49-F238E27FC236}">
                <a16:creationId xmlns:a16="http://schemas.microsoft.com/office/drawing/2014/main" id="{F81898E2-B8F9-4032-85B6-4399339A4281}"/>
              </a:ext>
            </a:extLst>
          </p:cNvPr>
          <p:cNvSpPr/>
          <p:nvPr/>
        </p:nvSpPr>
        <p:spPr>
          <a:xfrm>
            <a:off x="989098" y="5378253"/>
            <a:ext cx="349171" cy="349171"/>
          </a:xfrm>
          <a:prstGeom prst="roundRect">
            <a:avLst>
              <a:gd name="adj" fmla="val 50000"/>
            </a:avLst>
          </a:prstGeom>
          <a:solidFill>
            <a:srgbClr val="FFFFFF"/>
          </a:solidFill>
          <a:ln w="6350">
            <a:solidFill>
              <a:srgbClr val="1A1A1A"/>
            </a:solidFill>
            <a:prstDash val="solid"/>
          </a:ln>
        </p:spPr>
      </p:sp>
      <p:pic>
        <p:nvPicPr>
          <p:cNvPr id="29" name="Image 1" descr="CheckCircle">
            <a:extLst>
              <a:ext uri="{FF2B5EF4-FFF2-40B4-BE49-F238E27FC236}">
                <a16:creationId xmlns:a16="http://schemas.microsoft.com/office/drawing/2014/main" id="{53BDCC22-837A-48C3-B90C-4558915E32E9}"/>
              </a:ext>
            </a:extLst>
          </p:cNvPr>
          <p:cNvPicPr>
            <a:picLocks noChangeAspect="1"/>
          </p:cNvPicPr>
          <p:nvPr/>
        </p:nvPicPr>
        <p:blipFill>
          <a:blip r:embed="rId2"/>
          <a:srcRect/>
          <a:stretch/>
        </p:blipFill>
        <p:spPr>
          <a:xfrm>
            <a:off x="1074743" y="5463899"/>
            <a:ext cx="177760" cy="177760"/>
          </a:xfrm>
          <a:prstGeom prst="rect">
            <a:avLst/>
          </a:prstGeom>
        </p:spPr>
      </p:pic>
      <p:sp>
        <p:nvSpPr>
          <p:cNvPr id="44" name="Text 14">
            <a:extLst>
              <a:ext uri="{FF2B5EF4-FFF2-40B4-BE49-F238E27FC236}">
                <a16:creationId xmlns:a16="http://schemas.microsoft.com/office/drawing/2014/main" id="{8F397F52-50E8-40FC-90A0-9AFBD738B011}"/>
              </a:ext>
            </a:extLst>
          </p:cNvPr>
          <p:cNvSpPr/>
          <p:nvPr/>
        </p:nvSpPr>
        <p:spPr>
          <a:xfrm>
            <a:off x="1493843" y="5375078"/>
            <a:ext cx="5023472" cy="223520"/>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A1A1A"/>
                </a:solidFill>
                <a:latin typeface="Arial" pitchFamily="34" charset="0"/>
                <a:ea typeface="Arial" pitchFamily="34" charset="-122"/>
                <a:cs typeface="Arial" pitchFamily="34" charset="-120"/>
              </a:rPr>
              <a:t>Container-Ports nur lokal gebunden</a:t>
            </a:r>
            <a:endParaRPr lang="en-US" sz="1300" dirty="0"/>
          </a:p>
        </p:txBody>
      </p:sp>
      <p:sp>
        <p:nvSpPr>
          <p:cNvPr id="45" name="Text 15">
            <a:extLst>
              <a:ext uri="{FF2B5EF4-FFF2-40B4-BE49-F238E27FC236}">
                <a16:creationId xmlns:a16="http://schemas.microsoft.com/office/drawing/2014/main" id="{CEC29FA4-E584-4F2A-BEA7-F67796373F13}"/>
              </a:ext>
            </a:extLst>
          </p:cNvPr>
          <p:cNvSpPr/>
          <p:nvPr/>
        </p:nvSpPr>
        <p:spPr>
          <a:xfrm>
            <a:off x="1493843" y="5611299"/>
            <a:ext cx="5023472" cy="20316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6B7280"/>
                </a:solidFill>
                <a:latin typeface="Arial" pitchFamily="34" charset="0"/>
                <a:ea typeface="Arial" pitchFamily="34" charset="-122"/>
                <a:cs typeface="Arial" pitchFamily="34" charset="-120"/>
              </a:rPr>
              <a:t>-p 127.0.0.1:&lt;Port&gt;:&lt;Port&gt; statt 0.0.0.0</a:t>
            </a:r>
            <a:endParaRPr lang="en-US" sz="1000" dirty="0"/>
          </a:p>
        </p:txBody>
      </p:sp>
      <p:sp>
        <p:nvSpPr>
          <p:cNvPr id="46" name="Shape 16">
            <a:extLst>
              <a:ext uri="{FF2B5EF4-FFF2-40B4-BE49-F238E27FC236}">
                <a16:creationId xmlns:a16="http://schemas.microsoft.com/office/drawing/2014/main" id="{D89DFCBD-A203-4B91-9EC5-D7CDB8297C63}"/>
              </a:ext>
            </a:extLst>
          </p:cNvPr>
          <p:cNvSpPr/>
          <p:nvPr/>
        </p:nvSpPr>
        <p:spPr>
          <a:xfrm>
            <a:off x="989098" y="5995354"/>
            <a:ext cx="349171" cy="349171"/>
          </a:xfrm>
          <a:prstGeom prst="roundRect">
            <a:avLst>
              <a:gd name="adj" fmla="val 50000"/>
            </a:avLst>
          </a:prstGeom>
          <a:solidFill>
            <a:srgbClr val="FFFFFF"/>
          </a:solidFill>
          <a:ln w="6350">
            <a:solidFill>
              <a:srgbClr val="1A1A1A"/>
            </a:solidFill>
            <a:prstDash val="solid"/>
          </a:ln>
        </p:spPr>
      </p:sp>
      <p:pic>
        <p:nvPicPr>
          <p:cNvPr id="47" name="Image 2" descr="CheckCircle">
            <a:extLst>
              <a:ext uri="{FF2B5EF4-FFF2-40B4-BE49-F238E27FC236}">
                <a16:creationId xmlns:a16="http://schemas.microsoft.com/office/drawing/2014/main" id="{4B659E73-2762-4EBA-B435-A9EB942E4A88}"/>
              </a:ext>
            </a:extLst>
          </p:cNvPr>
          <p:cNvPicPr>
            <a:picLocks noChangeAspect="1"/>
          </p:cNvPicPr>
          <p:nvPr/>
        </p:nvPicPr>
        <p:blipFill>
          <a:blip r:embed="rId2"/>
          <a:srcRect/>
          <a:stretch/>
        </p:blipFill>
        <p:spPr>
          <a:xfrm>
            <a:off x="1074743" y="6081000"/>
            <a:ext cx="177760" cy="177760"/>
          </a:xfrm>
          <a:prstGeom prst="rect">
            <a:avLst/>
          </a:prstGeom>
        </p:spPr>
      </p:pic>
      <p:sp>
        <p:nvSpPr>
          <p:cNvPr id="48" name="Text 17">
            <a:extLst>
              <a:ext uri="{FF2B5EF4-FFF2-40B4-BE49-F238E27FC236}">
                <a16:creationId xmlns:a16="http://schemas.microsoft.com/office/drawing/2014/main" id="{9087C244-55BD-4CA7-8480-17CFC737853E}"/>
              </a:ext>
            </a:extLst>
          </p:cNvPr>
          <p:cNvSpPr/>
          <p:nvPr/>
        </p:nvSpPr>
        <p:spPr>
          <a:xfrm>
            <a:off x="1493843" y="5992179"/>
            <a:ext cx="5023472" cy="223520"/>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A1A1A"/>
                </a:solidFill>
                <a:latin typeface="Arial" pitchFamily="34" charset="0"/>
                <a:ea typeface="Arial" pitchFamily="34" charset="-122"/>
                <a:cs typeface="Arial" pitchFamily="34" charset="-120"/>
              </a:rPr>
              <a:t>Daten überleben Container-Updates</a:t>
            </a:r>
            <a:endParaRPr lang="en-US" sz="1300" dirty="0"/>
          </a:p>
        </p:txBody>
      </p:sp>
      <p:sp>
        <p:nvSpPr>
          <p:cNvPr id="49" name="Text 18">
            <a:extLst>
              <a:ext uri="{FF2B5EF4-FFF2-40B4-BE49-F238E27FC236}">
                <a16:creationId xmlns:a16="http://schemas.microsoft.com/office/drawing/2014/main" id="{7B5DF3C5-1AB8-470D-BA56-7C010112BE1C}"/>
              </a:ext>
            </a:extLst>
          </p:cNvPr>
          <p:cNvSpPr/>
          <p:nvPr/>
        </p:nvSpPr>
        <p:spPr>
          <a:xfrm>
            <a:off x="1493843" y="6228399"/>
            <a:ext cx="5023472" cy="20316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6B7280"/>
                </a:solidFill>
                <a:latin typeface="Courier New" pitchFamily="34" charset="0"/>
                <a:ea typeface="Courier New" pitchFamily="34" charset="-122"/>
                <a:cs typeface="Courier New" pitchFamily="34" charset="-120"/>
              </a:rPr>
              <a:t>Bind Mount (nginx) und benanntes Volume (Node-RED)</a:t>
            </a:r>
            <a:endParaRPr lang="en-US" sz="1000" dirty="0"/>
          </a:p>
        </p:txBody>
      </p:sp>
      <p:sp>
        <p:nvSpPr>
          <p:cNvPr id="50" name="Shape 2">
            <a:extLst>
              <a:ext uri="{FF2B5EF4-FFF2-40B4-BE49-F238E27FC236}">
                <a16:creationId xmlns:a16="http://schemas.microsoft.com/office/drawing/2014/main" id="{A7BB55EB-4254-433E-B336-713E7D3464CB}"/>
              </a:ext>
            </a:extLst>
          </p:cNvPr>
          <p:cNvSpPr/>
          <p:nvPr/>
        </p:nvSpPr>
        <p:spPr>
          <a:xfrm>
            <a:off x="8548485" y="1739753"/>
            <a:ext cx="3553635" cy="2002911"/>
          </a:xfrm>
          <a:prstGeom prst="roundRect">
            <a:avLst>
              <a:gd name="adj" fmla="val 4196"/>
            </a:avLst>
          </a:prstGeom>
          <a:solidFill>
            <a:srgbClr val="F5F5F5"/>
          </a:solidFill>
          <a:ln w="6350">
            <a:solidFill>
              <a:srgbClr val="D1D5DB"/>
            </a:solidFill>
            <a:prstDash val="solid"/>
          </a:ln>
        </p:spPr>
      </p:sp>
      <p:sp>
        <p:nvSpPr>
          <p:cNvPr id="51" name="Text 3">
            <a:extLst>
              <a:ext uri="{FF2B5EF4-FFF2-40B4-BE49-F238E27FC236}">
                <a16:creationId xmlns:a16="http://schemas.microsoft.com/office/drawing/2014/main" id="{E863D0F8-7CD7-42D4-A917-596AEF9B92B8}"/>
              </a:ext>
            </a:extLst>
          </p:cNvPr>
          <p:cNvSpPr/>
          <p:nvPr/>
        </p:nvSpPr>
        <p:spPr>
          <a:xfrm>
            <a:off x="8806890" y="1927516"/>
            <a:ext cx="3500000" cy="254000"/>
          </a:xfrm>
          <a:prstGeom prst="rect">
            <a:avLst/>
          </a:prstGeom>
          <a:noFill/>
          <a:ln/>
        </p:spPr>
        <p:txBody>
          <a:bodyPr wrap="square" lIns="0" tIns="0" rIns="0" bIns="0" rtlCol="0" anchor="t">
            <a:normAutofit/>
          </a:bodyPr>
          <a:lstStyle/>
          <a:p>
            <a:pPr marL="0" indent="0" algn="l">
              <a:lnSpc>
                <a:spcPts val="1800"/>
              </a:lnSpc>
              <a:buNone/>
            </a:pPr>
            <a:r>
              <a:rPr lang="en-US" sz="1000" dirty="0">
                <a:solidFill>
                  <a:srgbClr val="1A1A1A"/>
                </a:solidFill>
                <a:latin typeface="Courier New" pitchFamily="34" charset="0"/>
                <a:ea typeface="Courier New" pitchFamily="34" charset="-122"/>
                <a:cs typeface="Courier New" pitchFamily="34" charset="-120"/>
              </a:rPr>
              <a:t>$ docker ps</a:t>
            </a:r>
            <a:endParaRPr lang="en-US" sz="1000" dirty="0"/>
          </a:p>
        </p:txBody>
      </p:sp>
      <p:sp>
        <p:nvSpPr>
          <p:cNvPr id="52" name="Text 4">
            <a:extLst>
              <a:ext uri="{FF2B5EF4-FFF2-40B4-BE49-F238E27FC236}">
                <a16:creationId xmlns:a16="http://schemas.microsoft.com/office/drawing/2014/main" id="{EE5EA43F-AF5F-404C-8EC3-30CD7871DE14}"/>
              </a:ext>
            </a:extLst>
          </p:cNvPr>
          <p:cNvSpPr/>
          <p:nvPr/>
        </p:nvSpPr>
        <p:spPr>
          <a:xfrm>
            <a:off x="8806890" y="2219576"/>
            <a:ext cx="3500000" cy="254000"/>
          </a:xfrm>
          <a:prstGeom prst="rect">
            <a:avLst/>
          </a:prstGeom>
          <a:noFill/>
          <a:ln/>
        </p:spPr>
        <p:txBody>
          <a:bodyPr wrap="square" lIns="0" tIns="0" rIns="0" bIns="0" rtlCol="0" anchor="t">
            <a:normAutofit/>
          </a:bodyPr>
          <a:lstStyle/>
          <a:p>
            <a:pPr marL="0" indent="0" algn="l">
              <a:lnSpc>
                <a:spcPts val="1800"/>
              </a:lnSpc>
              <a:buNone/>
            </a:pPr>
            <a:r>
              <a:rPr lang="en-US" sz="1000" dirty="0">
                <a:solidFill>
                  <a:srgbClr val="1A1A1A"/>
                </a:solidFill>
                <a:latin typeface="Courier New" pitchFamily="34" charset="0"/>
                <a:ea typeface="Courier New" pitchFamily="34" charset="-122"/>
                <a:cs typeface="Courier New" pitchFamily="34" charset="-120"/>
              </a:rPr>
              <a:t>nginx-web   Up · 127.0.0.1:8080-&gt;80</a:t>
            </a:r>
            <a:endParaRPr lang="en-US" sz="1000" dirty="0"/>
          </a:p>
        </p:txBody>
      </p:sp>
      <p:sp>
        <p:nvSpPr>
          <p:cNvPr id="53" name="Text 5">
            <a:extLst>
              <a:ext uri="{FF2B5EF4-FFF2-40B4-BE49-F238E27FC236}">
                <a16:creationId xmlns:a16="http://schemas.microsoft.com/office/drawing/2014/main" id="{79A4DC1E-2BB3-445C-B1DD-C8C24B58D896}"/>
              </a:ext>
            </a:extLst>
          </p:cNvPr>
          <p:cNvSpPr/>
          <p:nvPr/>
        </p:nvSpPr>
        <p:spPr>
          <a:xfrm>
            <a:off x="8806890" y="2511637"/>
            <a:ext cx="3500000" cy="254000"/>
          </a:xfrm>
          <a:prstGeom prst="rect">
            <a:avLst/>
          </a:prstGeom>
          <a:noFill/>
          <a:ln/>
        </p:spPr>
        <p:txBody>
          <a:bodyPr wrap="square" lIns="0" tIns="0" rIns="0" bIns="0" rtlCol="0" anchor="t">
            <a:normAutofit/>
          </a:bodyPr>
          <a:lstStyle/>
          <a:p>
            <a:pPr marL="0" indent="0" algn="l">
              <a:lnSpc>
                <a:spcPts val="1800"/>
              </a:lnSpc>
              <a:buNone/>
            </a:pPr>
            <a:r>
              <a:rPr lang="en-US" sz="1000" dirty="0">
                <a:solidFill>
                  <a:srgbClr val="1A1A1A"/>
                </a:solidFill>
                <a:latin typeface="Courier New" pitchFamily="34" charset="0"/>
                <a:ea typeface="Courier New" pitchFamily="34" charset="-122"/>
                <a:cs typeface="Courier New" pitchFamily="34" charset="-120"/>
              </a:rPr>
              <a:t>nodered     Up · 127.0.0.1:1880-&gt;1880</a:t>
            </a:r>
            <a:endParaRPr lang="en-US" sz="1000" dirty="0"/>
          </a:p>
        </p:txBody>
      </p:sp>
      <p:sp>
        <p:nvSpPr>
          <p:cNvPr id="54" name="Text 6">
            <a:extLst>
              <a:ext uri="{FF2B5EF4-FFF2-40B4-BE49-F238E27FC236}">
                <a16:creationId xmlns:a16="http://schemas.microsoft.com/office/drawing/2014/main" id="{B8194AB6-C611-4B81-A202-63DC7C6E8CC8}"/>
              </a:ext>
            </a:extLst>
          </p:cNvPr>
          <p:cNvSpPr/>
          <p:nvPr/>
        </p:nvSpPr>
        <p:spPr>
          <a:xfrm>
            <a:off x="8806890" y="2803697"/>
            <a:ext cx="3500000" cy="254000"/>
          </a:xfrm>
          <a:prstGeom prst="rect">
            <a:avLst/>
          </a:prstGeom>
          <a:noFill/>
          <a:ln/>
        </p:spPr>
        <p:txBody>
          <a:bodyPr wrap="square" lIns="0" tIns="0" rIns="0" bIns="0" rtlCol="0" anchor="t">
            <a:normAutofit/>
          </a:bodyPr>
          <a:lstStyle/>
          <a:p>
            <a:pPr marL="0" indent="0" algn="l">
              <a:lnSpc>
                <a:spcPts val="1800"/>
              </a:lnSpc>
              <a:buNone/>
            </a:pPr>
            <a:endParaRPr lang="en-US" sz="1000" dirty="0"/>
          </a:p>
        </p:txBody>
      </p:sp>
      <p:sp>
        <p:nvSpPr>
          <p:cNvPr id="55" name="Text 7">
            <a:extLst>
              <a:ext uri="{FF2B5EF4-FFF2-40B4-BE49-F238E27FC236}">
                <a16:creationId xmlns:a16="http://schemas.microsoft.com/office/drawing/2014/main" id="{086F7CC9-C822-4419-A0A1-4680B8AE6C36}"/>
              </a:ext>
            </a:extLst>
          </p:cNvPr>
          <p:cNvSpPr/>
          <p:nvPr/>
        </p:nvSpPr>
        <p:spPr>
          <a:xfrm>
            <a:off x="8806890" y="3095758"/>
            <a:ext cx="3500000" cy="254000"/>
          </a:xfrm>
          <a:prstGeom prst="rect">
            <a:avLst/>
          </a:prstGeom>
          <a:noFill/>
          <a:ln/>
        </p:spPr>
        <p:txBody>
          <a:bodyPr wrap="square" lIns="0" tIns="0" rIns="0" bIns="0" rtlCol="0" anchor="t">
            <a:normAutofit/>
          </a:bodyPr>
          <a:lstStyle/>
          <a:p>
            <a:pPr marL="0" indent="0" algn="l">
              <a:lnSpc>
                <a:spcPts val="1800"/>
              </a:lnSpc>
              <a:buNone/>
            </a:pPr>
            <a:r>
              <a:rPr lang="en-US" sz="1000" dirty="0">
                <a:solidFill>
                  <a:srgbClr val="1A1A1A"/>
                </a:solidFill>
                <a:latin typeface="Courier New" pitchFamily="34" charset="0"/>
                <a:ea typeface="Courier New" pitchFamily="34" charset="-122"/>
                <a:cs typeface="Courier New" pitchFamily="34" charset="-120"/>
              </a:rPr>
              <a:t>restart-Policy:</a:t>
            </a:r>
            <a:endParaRPr lang="en-US" sz="1000" dirty="0"/>
          </a:p>
        </p:txBody>
      </p:sp>
      <p:sp>
        <p:nvSpPr>
          <p:cNvPr id="56" name="Text 8">
            <a:extLst>
              <a:ext uri="{FF2B5EF4-FFF2-40B4-BE49-F238E27FC236}">
                <a16:creationId xmlns:a16="http://schemas.microsoft.com/office/drawing/2014/main" id="{C9685715-5DDB-40EA-8B83-8BFE9102D87E}"/>
              </a:ext>
            </a:extLst>
          </p:cNvPr>
          <p:cNvSpPr/>
          <p:nvPr/>
        </p:nvSpPr>
        <p:spPr>
          <a:xfrm>
            <a:off x="8806890" y="3387818"/>
            <a:ext cx="3500000" cy="254000"/>
          </a:xfrm>
          <a:prstGeom prst="rect">
            <a:avLst/>
          </a:prstGeom>
          <a:noFill/>
          <a:ln/>
        </p:spPr>
        <p:txBody>
          <a:bodyPr wrap="square" lIns="0" tIns="0" rIns="0" bIns="0" rtlCol="0" anchor="t">
            <a:normAutofit/>
          </a:bodyPr>
          <a:lstStyle/>
          <a:p>
            <a:pPr marL="0" indent="0" algn="l">
              <a:lnSpc>
                <a:spcPts val="1800"/>
              </a:lnSpc>
              <a:buNone/>
            </a:pPr>
            <a:r>
              <a:rPr lang="en-US" sz="1000" b="1" dirty="0">
                <a:solidFill>
                  <a:srgbClr val="1A1A1A"/>
                </a:solidFill>
                <a:latin typeface="Courier New" pitchFamily="34" charset="0"/>
                <a:ea typeface="Courier New" pitchFamily="34" charset="-122"/>
                <a:cs typeface="Courier New" pitchFamily="34" charset="-120"/>
              </a:rPr>
              <a:t>unless-stopped (beide Container)</a:t>
            </a:r>
            <a:endParaRPr lang="en-US" sz="1000" dirty="0"/>
          </a:p>
        </p:txBody>
      </p:sp>
      <p:grpSp>
        <p:nvGrpSpPr>
          <p:cNvPr id="57" name="Gruppieren 56">
            <a:extLst>
              <a:ext uri="{FF2B5EF4-FFF2-40B4-BE49-F238E27FC236}">
                <a16:creationId xmlns:a16="http://schemas.microsoft.com/office/drawing/2014/main" id="{BD0C9F41-076D-42D9-8246-8406ADBBCD4E}"/>
              </a:ext>
            </a:extLst>
          </p:cNvPr>
          <p:cNvGrpSpPr/>
          <p:nvPr/>
        </p:nvGrpSpPr>
        <p:grpSpPr>
          <a:xfrm>
            <a:off x="492067" y="2792493"/>
            <a:ext cx="1351659" cy="1017731"/>
            <a:chOff x="1277241" y="1717910"/>
            <a:chExt cx="1351659" cy="1017731"/>
          </a:xfrm>
        </p:grpSpPr>
        <p:pic>
          <p:nvPicPr>
            <p:cNvPr id="58" name="Grafik 57">
              <a:extLst>
                <a:ext uri="{FF2B5EF4-FFF2-40B4-BE49-F238E27FC236}">
                  <a16:creationId xmlns:a16="http://schemas.microsoft.com/office/drawing/2014/main" id="{DF31A487-DFBC-477A-B3E4-7D124DDF20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1509841" y="1717910"/>
              <a:ext cx="847584" cy="1017731"/>
            </a:xfrm>
            <a:prstGeom prst="rect">
              <a:avLst/>
            </a:prstGeom>
          </p:spPr>
        </p:pic>
        <p:sp>
          <p:nvSpPr>
            <p:cNvPr id="59" name="Text 9">
              <a:extLst>
                <a:ext uri="{FF2B5EF4-FFF2-40B4-BE49-F238E27FC236}">
                  <a16:creationId xmlns:a16="http://schemas.microsoft.com/office/drawing/2014/main" id="{63E311FE-87E9-4F46-9EA9-CAC1C93B669B}"/>
                </a:ext>
              </a:extLst>
            </p:cNvPr>
            <p:cNvSpPr txBox="1"/>
            <p:nvPr/>
          </p:nvSpPr>
          <p:spPr>
            <a:xfrm>
              <a:off x="1277241" y="1822261"/>
              <a:ext cx="1351659" cy="420624"/>
            </a:xfrm>
            <a:prstGeom prst="rect">
              <a:avLst/>
            </a:prstGeom>
            <a:noFill/>
            <a:ln>
              <a:noFill/>
            </a:ln>
          </p:spPr>
          <p:txBody>
            <a:bodyPr wrap="square" lIns="0" tIns="0" rIns="0" bIns="0" rtlCol="0" anchor="ctr"/>
            <a:lstStyle/>
            <a:p>
              <a:pPr marL="0" indent="0" algn="ctr">
                <a:buNone/>
              </a:pPr>
              <a:r>
                <a:rPr lang="en-US" sz="1300" b="1" kern="0" spc="100" dirty="0">
                  <a:solidFill>
                    <a:srgbClr val="0061AF"/>
                  </a:solidFill>
                  <a:latin typeface="Calibri" pitchFamily="34" charset="0"/>
                  <a:ea typeface="Calibri" pitchFamily="34" charset="-122"/>
                  <a:cs typeface="Calibri" pitchFamily="34" charset="-120"/>
                </a:rPr>
                <a:t>CLIENT</a:t>
              </a:r>
              <a:endParaRPr lang="en-US" sz="1300" dirty="0">
                <a:solidFill>
                  <a:srgbClr val="0061AF"/>
                </a:solidFill>
              </a:endParaRPr>
            </a:p>
          </p:txBody>
        </p:sp>
      </p:grpSp>
      <p:grpSp>
        <p:nvGrpSpPr>
          <p:cNvPr id="60" name="Gruppieren 59">
            <a:extLst>
              <a:ext uri="{FF2B5EF4-FFF2-40B4-BE49-F238E27FC236}">
                <a16:creationId xmlns:a16="http://schemas.microsoft.com/office/drawing/2014/main" id="{E3D05772-2A79-44E3-8BA9-4BA93265710C}"/>
              </a:ext>
            </a:extLst>
          </p:cNvPr>
          <p:cNvGrpSpPr/>
          <p:nvPr/>
        </p:nvGrpSpPr>
        <p:grpSpPr>
          <a:xfrm>
            <a:off x="2427109" y="1595358"/>
            <a:ext cx="1351659" cy="985018"/>
            <a:chOff x="9848849" y="1767865"/>
            <a:chExt cx="1351659" cy="985018"/>
          </a:xfrm>
        </p:grpSpPr>
        <p:sp>
          <p:nvSpPr>
            <p:cNvPr id="61" name="Rechteck 60">
              <a:extLst>
                <a:ext uri="{FF2B5EF4-FFF2-40B4-BE49-F238E27FC236}">
                  <a16:creationId xmlns:a16="http://schemas.microsoft.com/office/drawing/2014/main" id="{CA6EB264-C0BA-46C4-AC70-DDD04008783B}"/>
                </a:ext>
              </a:extLst>
            </p:cNvPr>
            <p:cNvSpPr/>
            <p:nvPr/>
          </p:nvSpPr>
          <p:spPr>
            <a:xfrm>
              <a:off x="10160000" y="1767865"/>
              <a:ext cx="729358" cy="985018"/>
            </a:xfrm>
            <a:prstGeom prst="rect">
              <a:avLst/>
            </a:prstGeom>
            <a:solidFill>
              <a:srgbClr val="E7E7E9"/>
            </a:solidFill>
            <a:ln w="47625">
              <a:solidFill>
                <a:srgbClr val="005A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62" name="Gerader Verbinder 61">
              <a:extLst>
                <a:ext uri="{FF2B5EF4-FFF2-40B4-BE49-F238E27FC236}">
                  <a16:creationId xmlns:a16="http://schemas.microsoft.com/office/drawing/2014/main" id="{8D0933F7-EAC4-47FE-B330-7D8267716464}"/>
                </a:ext>
              </a:extLst>
            </p:cNvPr>
            <p:cNvCxnSpPr>
              <a:cxnSpLocks/>
            </p:cNvCxnSpPr>
            <p:nvPr/>
          </p:nvCxnSpPr>
          <p:spPr>
            <a:xfrm>
              <a:off x="10274154" y="2341045"/>
              <a:ext cx="279692" cy="0"/>
            </a:xfrm>
            <a:prstGeom prst="line">
              <a:avLst/>
            </a:prstGeom>
            <a:ln w="31750">
              <a:solidFill>
                <a:srgbClr val="005AA8"/>
              </a:solidFill>
            </a:ln>
          </p:spPr>
          <p:style>
            <a:lnRef idx="1">
              <a:schemeClr val="accent1"/>
            </a:lnRef>
            <a:fillRef idx="0">
              <a:schemeClr val="accent1"/>
            </a:fillRef>
            <a:effectRef idx="0">
              <a:schemeClr val="accent1"/>
            </a:effectRef>
            <a:fontRef idx="minor">
              <a:schemeClr val="tx1"/>
            </a:fontRef>
          </p:style>
        </p:cxnSp>
        <p:cxnSp>
          <p:nvCxnSpPr>
            <p:cNvPr id="63" name="Gerader Verbinder 62">
              <a:extLst>
                <a:ext uri="{FF2B5EF4-FFF2-40B4-BE49-F238E27FC236}">
                  <a16:creationId xmlns:a16="http://schemas.microsoft.com/office/drawing/2014/main" id="{A5873910-0D9F-4B87-B73E-5D80DF9AF71D}"/>
                </a:ext>
              </a:extLst>
            </p:cNvPr>
            <p:cNvCxnSpPr>
              <a:cxnSpLocks/>
            </p:cNvCxnSpPr>
            <p:nvPr/>
          </p:nvCxnSpPr>
          <p:spPr>
            <a:xfrm>
              <a:off x="10274154" y="2441810"/>
              <a:ext cx="279692" cy="0"/>
            </a:xfrm>
            <a:prstGeom prst="line">
              <a:avLst/>
            </a:prstGeom>
            <a:ln w="31750">
              <a:solidFill>
                <a:srgbClr val="005AA8"/>
              </a:solidFill>
            </a:ln>
          </p:spPr>
          <p:style>
            <a:lnRef idx="1">
              <a:schemeClr val="accent1"/>
            </a:lnRef>
            <a:fillRef idx="0">
              <a:schemeClr val="accent1"/>
            </a:fillRef>
            <a:effectRef idx="0">
              <a:schemeClr val="accent1"/>
            </a:effectRef>
            <a:fontRef idx="minor">
              <a:schemeClr val="tx1"/>
            </a:fontRef>
          </p:style>
        </p:cxnSp>
        <p:cxnSp>
          <p:nvCxnSpPr>
            <p:cNvPr id="64" name="Gerader Verbinder 63">
              <a:extLst>
                <a:ext uri="{FF2B5EF4-FFF2-40B4-BE49-F238E27FC236}">
                  <a16:creationId xmlns:a16="http://schemas.microsoft.com/office/drawing/2014/main" id="{F65E0B38-28DB-4565-AD84-38413A0D7874}"/>
                </a:ext>
              </a:extLst>
            </p:cNvPr>
            <p:cNvCxnSpPr>
              <a:cxnSpLocks/>
            </p:cNvCxnSpPr>
            <p:nvPr/>
          </p:nvCxnSpPr>
          <p:spPr>
            <a:xfrm>
              <a:off x="10274154" y="2567286"/>
              <a:ext cx="279692" cy="0"/>
            </a:xfrm>
            <a:prstGeom prst="line">
              <a:avLst/>
            </a:prstGeom>
            <a:ln w="31750">
              <a:solidFill>
                <a:srgbClr val="005AA8"/>
              </a:solidFill>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66F50FE2-91FF-45B1-BF5B-95B224F5FFBE}"/>
                </a:ext>
              </a:extLst>
            </p:cNvPr>
            <p:cNvSpPr/>
            <p:nvPr/>
          </p:nvSpPr>
          <p:spPr>
            <a:xfrm>
              <a:off x="10553846" y="1942465"/>
              <a:ext cx="162565" cy="162000"/>
            </a:xfrm>
            <a:prstGeom prst="ellipse">
              <a:avLst/>
            </a:prstGeom>
            <a:solidFill>
              <a:srgbClr val="E7E7E9"/>
            </a:solidFill>
            <a:ln w="38100">
              <a:solidFill>
                <a:srgbClr val="005A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6" name="Text 9">
              <a:extLst>
                <a:ext uri="{FF2B5EF4-FFF2-40B4-BE49-F238E27FC236}">
                  <a16:creationId xmlns:a16="http://schemas.microsoft.com/office/drawing/2014/main" id="{C80E50A8-B92A-46D2-8FB2-73FFD230B848}"/>
                </a:ext>
              </a:extLst>
            </p:cNvPr>
            <p:cNvSpPr txBox="1"/>
            <p:nvPr/>
          </p:nvSpPr>
          <p:spPr>
            <a:xfrm>
              <a:off x="9848849" y="2000031"/>
              <a:ext cx="1351659" cy="420624"/>
            </a:xfrm>
            <a:prstGeom prst="rect">
              <a:avLst/>
            </a:prstGeom>
            <a:noFill/>
            <a:ln>
              <a:noFill/>
            </a:ln>
          </p:spPr>
          <p:txBody>
            <a:bodyPr wrap="square" lIns="0" tIns="0" rIns="0" bIns="0" rtlCol="0" anchor="ctr"/>
            <a:lstStyle/>
            <a:p>
              <a:pPr marL="0" indent="0" algn="ctr">
                <a:buNone/>
              </a:pPr>
              <a:r>
                <a:rPr lang="en-US" sz="1300" b="1" kern="0" spc="100" dirty="0">
                  <a:solidFill>
                    <a:srgbClr val="0061AF"/>
                  </a:solidFill>
                  <a:latin typeface="Calibri" pitchFamily="34" charset="0"/>
                  <a:ea typeface="Calibri" pitchFamily="34" charset="-122"/>
                  <a:cs typeface="Calibri" pitchFamily="34" charset="-120"/>
                </a:rPr>
                <a:t>Server</a:t>
              </a:r>
              <a:endParaRPr lang="en-US" sz="1300" dirty="0">
                <a:solidFill>
                  <a:srgbClr val="0061AF"/>
                </a:solidFill>
              </a:endParaRPr>
            </a:p>
          </p:txBody>
        </p:sp>
      </p:grpSp>
      <p:cxnSp>
        <p:nvCxnSpPr>
          <p:cNvPr id="67" name="Connector 66"/>
          <p:cNvCxnSpPr/>
          <p:nvPr/>
        </p:nvCxnSpPr>
        <p:spPr>
          <a:xfrm flipV="1">
            <a:off x="4744400" y="2811780"/>
            <a:ext cx="1244942" cy="525780"/>
          </a:xfrm>
          <a:prstGeom prst="line">
            <a:avLst/>
          </a:prstGeom>
          <a:ln w="19050">
            <a:solidFill>
              <a:srgbClr val="005A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4744400" y="3337560"/>
            <a:ext cx="1244942" cy="525779"/>
          </a:xfrm>
          <a:prstGeom prst="line">
            <a:avLst/>
          </a:prstGeom>
          <a:ln w="19050">
            <a:solidFill>
              <a:srgbClr val="F2B84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644360" y="3337560"/>
            <a:ext cx="494000" cy="0"/>
          </a:xfrm>
          <a:prstGeom prst="line">
            <a:avLst/>
          </a:prstGeom>
          <a:ln w="19050">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329829" y="3043345"/>
            <a:ext cx="1097280" cy="219456"/>
          </a:xfrm>
          <a:prstGeom prst="rect">
            <a:avLst/>
          </a:prstGeom>
          <a:noFill/>
        </p:spPr>
        <p:txBody>
          <a:bodyPr wrap="square" lIns="0" tIns="0" rIns="0" bIns="0">
            <a:spAutoFit/>
          </a:bodyPr>
          <a:lstStyle/>
          <a:p>
            <a:pPr algn="ctr"/>
            <a:r>
              <a:rPr sz="1100" b="1" i="0">
                <a:solidFill>
                  <a:srgbClr val="1E2761"/>
                </a:solidFill>
                <a:latin typeface="Arial"/>
              </a:rPr>
              <a:t>HTTPS</a:t>
            </a:r>
          </a:p>
        </p:txBody>
      </p:sp>
      <p:sp>
        <p:nvSpPr>
          <p:cNvPr id="71" name="TextBox 70"/>
          <p:cNvSpPr txBox="1"/>
          <p:nvPr/>
        </p:nvSpPr>
        <p:spPr>
          <a:xfrm>
            <a:off x="5989342" y="2222478"/>
            <a:ext cx="2423160" cy="237744"/>
          </a:xfrm>
          <a:prstGeom prst="rect">
            <a:avLst/>
          </a:prstGeom>
          <a:noFill/>
        </p:spPr>
        <p:txBody>
          <a:bodyPr wrap="square" lIns="0" tIns="0" rIns="0" bIns="0">
            <a:spAutoFit/>
          </a:bodyPr>
          <a:lstStyle/>
          <a:p>
            <a:pPr algn="l"/>
            <a:r>
              <a:rPr sz="950" b="0" i="1">
                <a:solidFill>
                  <a:srgbClr val="5B6472"/>
                </a:solidFill>
                <a:latin typeface="Arial"/>
              </a:rPr>
              <a:t>www.&lt;IHRE-DOMAIN&gt;</a:t>
            </a:r>
          </a:p>
        </p:txBody>
      </p:sp>
      <p:sp>
        <p:nvSpPr>
          <p:cNvPr id="72" name="TextBox 71"/>
          <p:cNvSpPr txBox="1"/>
          <p:nvPr/>
        </p:nvSpPr>
        <p:spPr>
          <a:xfrm>
            <a:off x="5989342" y="3274038"/>
            <a:ext cx="2423160" cy="237744"/>
          </a:xfrm>
          <a:prstGeom prst="rect">
            <a:avLst/>
          </a:prstGeom>
          <a:noFill/>
        </p:spPr>
        <p:txBody>
          <a:bodyPr wrap="square" lIns="0" tIns="0" rIns="0" bIns="0">
            <a:spAutoFit/>
          </a:bodyPr>
          <a:lstStyle/>
          <a:p>
            <a:pPr algn="l"/>
            <a:r>
              <a:rPr sz="950" b="0" i="1">
                <a:solidFill>
                  <a:srgbClr val="5B6472"/>
                </a:solidFill>
                <a:latin typeface="Arial"/>
              </a:rPr>
              <a:t>dashboard.&lt;IHRE-DOMAIN&gt;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01" y="274638"/>
            <a:ext cx="10953313" cy="1143000"/>
          </a:xfrm>
        </p:spPr>
        <p:txBody>
          <a:bodyPr/>
          <a:lstStyle/>
          <a:p>
            <a:r>
              <a:rPr lang="de-DE" sz="2400" dirty="0"/>
              <a:t>Bind Mount vs. benanntes Volume</a:t>
            </a:r>
            <a:endParaRPr sz="2400" dirty="0"/>
          </a:p>
        </p:txBody>
      </p:sp>
      <p:sp>
        <p:nvSpPr>
          <p:cNvPr id="5" name="TextBox 4"/>
          <p:cNvSpPr txBox="1"/>
          <p:nvPr/>
        </p:nvSpPr>
        <p:spPr>
          <a:xfrm>
            <a:off x="822960" y="1691640"/>
            <a:ext cx="4572000" cy="256032"/>
          </a:xfrm>
          <a:prstGeom prst="rect">
            <a:avLst/>
          </a:prstGeom>
          <a:noFill/>
        </p:spPr>
        <p:txBody>
          <a:bodyPr wrap="square" lIns="0" tIns="0" rIns="0" bIns="0">
            <a:spAutoFit/>
          </a:bodyPr>
          <a:lstStyle/>
          <a:p>
            <a:pPr algn="l"/>
            <a:r>
              <a:rPr sz="1500" b="1" i="0">
                <a:solidFill>
                  <a:srgbClr val="005AA8"/>
                </a:solidFill>
                <a:latin typeface="Arial"/>
              </a:rPr>
              <a:t>Bind Mount — nginx-web</a:t>
            </a:r>
          </a:p>
        </p:txBody>
      </p:sp>
      <p:sp>
        <p:nvSpPr>
          <p:cNvPr id="6" name="TextBox 5"/>
          <p:cNvSpPr txBox="1"/>
          <p:nvPr/>
        </p:nvSpPr>
        <p:spPr>
          <a:xfrm>
            <a:off x="6766560" y="1691640"/>
            <a:ext cx="4572000" cy="256032"/>
          </a:xfrm>
          <a:prstGeom prst="rect">
            <a:avLst/>
          </a:prstGeom>
          <a:noFill/>
        </p:spPr>
        <p:txBody>
          <a:bodyPr wrap="square" lIns="0" tIns="0" rIns="0" bIns="0">
            <a:spAutoFit/>
          </a:bodyPr>
          <a:lstStyle/>
          <a:p>
            <a:pPr algn="l"/>
            <a:r>
              <a:rPr sz="1500" b="1" i="0">
                <a:solidFill>
                  <a:srgbClr val="F2B84B"/>
                </a:solidFill>
                <a:latin typeface="Arial"/>
              </a:rPr>
              <a:t>Benanntes Volume — nodered</a:t>
            </a:r>
          </a:p>
        </p:txBody>
      </p:sp>
      <p:sp>
        <p:nvSpPr>
          <p:cNvPr id="7" name="Rounded Rectangle 6"/>
          <p:cNvSpPr/>
          <p:nvPr/>
        </p:nvSpPr>
        <p:spPr>
          <a:xfrm>
            <a:off x="822960" y="2011680"/>
            <a:ext cx="4206240" cy="1188720"/>
          </a:xfrm>
          <a:prstGeom prst="roundRect">
            <a:avLst>
              <a:gd name="adj" fmla="val 10000"/>
            </a:avLst>
          </a:prstGeom>
          <a:solidFill>
            <a:srgbClr val="F5F5F5"/>
          </a:solidFill>
          <a:ln w="12700">
            <a:solidFill>
              <a:srgbClr val="005AA8"/>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SPEICHERORT (von Ihnen gewählt):</a:t>
            </a:r>
          </a:p>
          <a:p>
            <a:pPr algn="ctr"/>
            <a:r>
              <a:rPr sz="1400" b="0">
                <a:solidFill>
                  <a:srgbClr val="1A1A1A"/>
                </a:solidFill>
                <a:latin typeface="Arial"/>
              </a:rPr>
              <a:t>/srv/www/</a:t>
            </a:r>
          </a:p>
          <a:p>
            <a:pPr algn="ctr"/>
            <a:r>
              <a:rPr sz="900" b="0">
                <a:solidFill>
                  <a:srgbClr val="5B6472"/>
                </a:solidFill>
                <a:latin typeface="Arial"/>
              </a:rPr>
              <a:t>→ Sie legen den absoluten Pfad fest</a:t>
            </a:r>
          </a:p>
        </p:txBody>
      </p:sp>
      <p:cxnSp>
        <p:nvCxnSpPr>
          <p:cNvPr id="8" name="Connector 7"/>
          <p:cNvCxnSpPr/>
          <p:nvPr/>
        </p:nvCxnSpPr>
        <p:spPr>
          <a:xfrm>
            <a:off x="2926080" y="3246120"/>
            <a:ext cx="0" cy="457200"/>
          </a:xfrm>
          <a:prstGeom prst="line">
            <a:avLst/>
          </a:prstGeom>
          <a:ln w="25400">
            <a:solidFill>
              <a:srgbClr val="005A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063240" y="3255264"/>
            <a:ext cx="4206240" cy="219456"/>
          </a:xfrm>
          <a:prstGeom prst="rect">
            <a:avLst/>
          </a:prstGeom>
          <a:noFill/>
        </p:spPr>
        <p:txBody>
          <a:bodyPr wrap="square" lIns="0" tIns="0" rIns="0" bIns="0">
            <a:spAutoFit/>
          </a:bodyPr>
          <a:lstStyle/>
          <a:p>
            <a:pPr algn="l"/>
            <a:r>
              <a:rPr sz="1000" b="0">
                <a:solidFill>
                  <a:srgbClr val="5B6472"/>
                </a:solidFill>
                <a:latin typeface="Courier New"/>
              </a:rPr>
              <a:t>-v </a:t>
            </a:r>
            <a:r>
              <a:rPr sz="1000" b="0">
                <a:solidFill>
                  <a:srgbClr val="005AA8"/>
                </a:solidFill>
                <a:latin typeface="Courier New"/>
              </a:rPr>
              <a:t>/srv/www</a:t>
            </a:r>
            <a:r>
              <a:rPr sz="1000" b="1">
                <a:solidFill>
                  <a:srgbClr val="1A1A1A"/>
                </a:solidFill>
                <a:latin typeface="Courier New"/>
              </a:rPr>
              <a:t>:</a:t>
            </a:r>
            <a:r>
              <a:rPr sz="1000" b="0">
                <a:solidFill>
                  <a:srgbClr val="1E2761"/>
                </a:solidFill>
                <a:latin typeface="Courier New"/>
              </a:rPr>
              <a:t>/usr/share/nginx/html</a:t>
            </a:r>
            <a:r>
              <a:rPr sz="1000" b="0">
                <a:solidFill>
                  <a:srgbClr val="5B6472"/>
                </a:solidFill>
                <a:latin typeface="Courier New"/>
              </a:rPr>
              <a:t>:ro</a:t>
            </a:r>
          </a:p>
        </p:txBody>
      </p:sp>
      <p:sp>
        <p:nvSpPr>
          <p:cNvPr id="10" name="TextBox 9"/>
          <p:cNvSpPr txBox="1"/>
          <p:nvPr/>
        </p:nvSpPr>
        <p:spPr>
          <a:xfrm>
            <a:off x="3063240" y="3465576"/>
            <a:ext cx="4206240" cy="201168"/>
          </a:xfrm>
          <a:prstGeom prst="rect">
            <a:avLst/>
          </a:prstGeom>
          <a:noFill/>
        </p:spPr>
        <p:txBody>
          <a:bodyPr wrap="square" lIns="0" tIns="0" rIns="0" bIns="0">
            <a:spAutoFit/>
          </a:bodyPr>
          <a:lstStyle/>
          <a:p>
            <a:pPr algn="l"/>
            <a:r>
              <a:rPr sz="800" b="0" i="1">
                <a:solidFill>
                  <a:srgbClr val="5B6472"/>
                </a:solidFill>
                <a:latin typeface="Arial"/>
              </a:rPr>
              <a:t>links = Hostpfad   ·   rechts = Containerpfad</a:t>
            </a:r>
          </a:p>
        </p:txBody>
      </p:sp>
      <p:sp>
        <p:nvSpPr>
          <p:cNvPr id="11" name="Rounded Rectangle 10"/>
          <p:cNvSpPr/>
          <p:nvPr/>
        </p:nvSpPr>
        <p:spPr>
          <a:xfrm>
            <a:off x="822960" y="3749039"/>
            <a:ext cx="4206240" cy="777240"/>
          </a:xfrm>
          <a:prstGeom prst="roundRect">
            <a:avLst>
              <a:gd name="adj" fmla="val 10000"/>
            </a:avLst>
          </a:prstGeom>
          <a:solidFill>
            <a:srgbClr val="F5F5F5"/>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CONTAINERPFAD (nginx-web):</a:t>
            </a:r>
          </a:p>
          <a:p>
            <a:pPr algn="ctr"/>
            <a:r>
              <a:rPr sz="1200" b="0">
                <a:solidFill>
                  <a:srgbClr val="1A1A1A"/>
                </a:solidFill>
                <a:latin typeface="Arial"/>
              </a:rPr>
              <a:t>/usr/share/nginx/html/</a:t>
            </a:r>
          </a:p>
        </p:txBody>
      </p:sp>
      <p:sp>
        <p:nvSpPr>
          <p:cNvPr id="12" name="TextBox 11"/>
          <p:cNvSpPr txBox="1"/>
          <p:nvPr/>
        </p:nvSpPr>
        <p:spPr>
          <a:xfrm>
            <a:off x="822960" y="4599432"/>
            <a:ext cx="4206240" cy="237744"/>
          </a:xfrm>
          <a:prstGeom prst="rect">
            <a:avLst/>
          </a:prstGeom>
          <a:noFill/>
        </p:spPr>
        <p:txBody>
          <a:bodyPr wrap="square" lIns="0" tIns="0" rIns="0" bIns="0">
            <a:spAutoFit/>
          </a:bodyPr>
          <a:lstStyle/>
          <a:p>
            <a:pPr algn="ctr"/>
            <a:r>
              <a:rPr sz="1200" b="0" i="1">
                <a:solidFill>
                  <a:srgbClr val="5B6472"/>
                </a:solidFill>
                <a:latin typeface="Arial"/>
              </a:rPr>
              <a:t>Beide Pfade legen Sie direkt fest</a:t>
            </a:r>
          </a:p>
        </p:txBody>
      </p:sp>
      <p:sp>
        <p:nvSpPr>
          <p:cNvPr id="13" name="Rounded Rectangle 12"/>
          <p:cNvSpPr/>
          <p:nvPr/>
        </p:nvSpPr>
        <p:spPr>
          <a:xfrm>
            <a:off x="6766560" y="2011680"/>
            <a:ext cx="4206240" cy="1188720"/>
          </a:xfrm>
          <a:prstGeom prst="roundRect">
            <a:avLst>
              <a:gd name="adj" fmla="val 10000"/>
            </a:avLst>
          </a:prstGeom>
          <a:solidFill>
            <a:srgbClr val="F5F5F5"/>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SPEICHERORT (Docker-verwaltet):</a:t>
            </a:r>
          </a:p>
          <a:p>
            <a:pPr algn="ctr"/>
            <a:r>
              <a:rPr sz="1400" b="0">
                <a:solidFill>
                  <a:srgbClr val="1A1A1A"/>
                </a:solidFill>
                <a:latin typeface="Arial"/>
              </a:rPr>
              <a:t>Name: nodered-data</a:t>
            </a:r>
          </a:p>
          <a:p>
            <a:pPr algn="ctr"/>
            <a:r>
              <a:rPr sz="900" b="0">
                <a:solidFill>
                  <a:srgbClr val="5B6472"/>
                </a:solidFill>
                <a:latin typeface="Arial"/>
              </a:rPr>
              <a:t>→ Docker vergibt den absoluten Pfad:</a:t>
            </a:r>
          </a:p>
          <a:p>
            <a:pPr algn="ctr"/>
            <a:r>
              <a:rPr sz="900" b="0">
                <a:solidFill>
                  <a:srgbClr val="5B6472"/>
                </a:solidFill>
                <a:latin typeface="Arial"/>
              </a:rPr>
              <a:t>/var/lib/docker/volumes/…/_data</a:t>
            </a:r>
          </a:p>
        </p:txBody>
      </p:sp>
      <p:cxnSp>
        <p:nvCxnSpPr>
          <p:cNvPr id="14" name="Connector 13"/>
          <p:cNvCxnSpPr/>
          <p:nvPr/>
        </p:nvCxnSpPr>
        <p:spPr>
          <a:xfrm>
            <a:off x="8869680" y="3246120"/>
            <a:ext cx="0" cy="457200"/>
          </a:xfrm>
          <a:prstGeom prst="line">
            <a:avLst/>
          </a:prstGeom>
          <a:ln w="25400">
            <a:solidFill>
              <a:srgbClr val="C99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006840" y="3255264"/>
            <a:ext cx="4023360" cy="219456"/>
          </a:xfrm>
          <a:prstGeom prst="rect">
            <a:avLst/>
          </a:prstGeom>
          <a:noFill/>
        </p:spPr>
        <p:txBody>
          <a:bodyPr wrap="square" lIns="0" tIns="0" rIns="0" bIns="0">
            <a:spAutoFit/>
          </a:bodyPr>
          <a:lstStyle/>
          <a:p>
            <a:pPr algn="l"/>
            <a:r>
              <a:rPr sz="1000" b="0">
                <a:solidFill>
                  <a:srgbClr val="5B6472"/>
                </a:solidFill>
                <a:latin typeface="Courier New"/>
              </a:rPr>
              <a:t>-v </a:t>
            </a:r>
            <a:r>
              <a:rPr sz="1000" b="0">
                <a:solidFill>
                  <a:srgbClr val="F2B84B"/>
                </a:solidFill>
                <a:latin typeface="Courier New"/>
              </a:rPr>
              <a:t>nodered-data</a:t>
            </a:r>
            <a:r>
              <a:rPr sz="1000" b="1">
                <a:solidFill>
                  <a:srgbClr val="1A1A1A"/>
                </a:solidFill>
                <a:latin typeface="Courier New"/>
              </a:rPr>
              <a:t>:</a:t>
            </a:r>
            <a:r>
              <a:rPr sz="1000" b="0">
                <a:solidFill>
                  <a:srgbClr val="1E2761"/>
                </a:solidFill>
                <a:latin typeface="Courier New"/>
              </a:rPr>
              <a:t>/data</a:t>
            </a:r>
          </a:p>
        </p:txBody>
      </p:sp>
      <p:sp>
        <p:nvSpPr>
          <p:cNvPr id="16" name="TextBox 15"/>
          <p:cNvSpPr txBox="1"/>
          <p:nvPr/>
        </p:nvSpPr>
        <p:spPr>
          <a:xfrm>
            <a:off x="9006840" y="3465576"/>
            <a:ext cx="4023360" cy="201168"/>
          </a:xfrm>
          <a:prstGeom prst="rect">
            <a:avLst/>
          </a:prstGeom>
          <a:noFill/>
        </p:spPr>
        <p:txBody>
          <a:bodyPr wrap="square" lIns="0" tIns="0" rIns="0" bIns="0">
            <a:spAutoFit/>
          </a:bodyPr>
          <a:lstStyle/>
          <a:p>
            <a:pPr algn="l"/>
            <a:r>
              <a:rPr sz="800" b="0" i="1">
                <a:solidFill>
                  <a:srgbClr val="5B6472"/>
                </a:solidFill>
                <a:latin typeface="Arial"/>
              </a:rPr>
              <a:t>links = Volume-Name   ·   rechts = Containerpfad</a:t>
            </a:r>
          </a:p>
        </p:txBody>
      </p:sp>
      <p:sp>
        <p:nvSpPr>
          <p:cNvPr id="17" name="Rounded Rectangle 16"/>
          <p:cNvSpPr/>
          <p:nvPr/>
        </p:nvSpPr>
        <p:spPr>
          <a:xfrm>
            <a:off x="6766560" y="3749039"/>
            <a:ext cx="4206240" cy="777240"/>
          </a:xfrm>
          <a:prstGeom prst="roundRect">
            <a:avLst>
              <a:gd name="adj" fmla="val 10000"/>
            </a:avLst>
          </a:prstGeom>
          <a:solidFill>
            <a:srgbClr val="F5F5F5"/>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CONTAINERPFAD (nodered):</a:t>
            </a:r>
          </a:p>
          <a:p>
            <a:pPr algn="ctr"/>
            <a:r>
              <a:rPr sz="1200" b="0">
                <a:solidFill>
                  <a:srgbClr val="1A1A1A"/>
                </a:solidFill>
                <a:latin typeface="Arial"/>
              </a:rPr>
              <a:t>/data/</a:t>
            </a:r>
          </a:p>
        </p:txBody>
      </p:sp>
      <p:sp>
        <p:nvSpPr>
          <p:cNvPr id="18" name="TextBox 17"/>
          <p:cNvSpPr txBox="1"/>
          <p:nvPr/>
        </p:nvSpPr>
        <p:spPr>
          <a:xfrm>
            <a:off x="6766560" y="4599432"/>
            <a:ext cx="4206240" cy="237744"/>
          </a:xfrm>
          <a:prstGeom prst="rect">
            <a:avLst/>
          </a:prstGeom>
          <a:noFill/>
        </p:spPr>
        <p:txBody>
          <a:bodyPr wrap="square" lIns="0" tIns="0" rIns="0" bIns="0">
            <a:spAutoFit/>
          </a:bodyPr>
          <a:lstStyle/>
          <a:p>
            <a:pPr algn="ctr"/>
            <a:r>
              <a:rPr sz="1200" b="0" i="1">
                <a:solidFill>
                  <a:srgbClr val="5B6472"/>
                </a:solidFill>
                <a:latin typeface="Arial"/>
              </a:rPr>
              <a:t>Namen vergeben Sie – den Pfad dahinter Docker</a:t>
            </a:r>
          </a:p>
        </p:txBody>
      </p:sp>
      <p:sp>
        <p:nvSpPr>
          <p:cNvPr id="19" name="Rounded Rectangle 18"/>
          <p:cNvSpPr/>
          <p:nvPr/>
        </p:nvSpPr>
        <p:spPr>
          <a:xfrm>
            <a:off x="548640" y="4956048"/>
            <a:ext cx="11091672" cy="548640"/>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1" dirty="0" err="1">
                <a:solidFill>
                  <a:srgbClr val="1A1A1A"/>
                </a:solidFill>
                <a:latin typeface="Arial"/>
              </a:rPr>
              <a:t>Standardverhalten</a:t>
            </a:r>
            <a:r>
              <a:rPr sz="1200" b="1" dirty="0">
                <a:solidFill>
                  <a:srgbClr val="1A1A1A"/>
                </a:solidFill>
                <a:latin typeface="Arial"/>
              </a:rPr>
              <a:t> </a:t>
            </a:r>
            <a:r>
              <a:rPr sz="1200" b="1" dirty="0" err="1">
                <a:solidFill>
                  <a:srgbClr val="1A1A1A"/>
                </a:solidFill>
                <a:latin typeface="Arial"/>
              </a:rPr>
              <a:t>ohne</a:t>
            </a:r>
            <a:r>
              <a:rPr sz="1200" b="1" dirty="0">
                <a:solidFill>
                  <a:srgbClr val="1A1A1A"/>
                </a:solidFill>
                <a:latin typeface="Arial"/>
              </a:rPr>
              <a:t> </a:t>
            </a:r>
            <a:r>
              <a:rPr lang="de-DE" sz="1200" b="1" dirty="0">
                <a:solidFill>
                  <a:srgbClr val="1A1A1A"/>
                </a:solidFill>
                <a:latin typeface="Arial"/>
              </a:rPr>
              <a:t>Eingriff</a:t>
            </a:r>
            <a:r>
              <a:rPr sz="1200" b="1" dirty="0">
                <a:solidFill>
                  <a:srgbClr val="1A1A1A"/>
                </a:solidFill>
                <a:latin typeface="Arial"/>
              </a:rPr>
              <a:t>:</a:t>
            </a:r>
          </a:p>
          <a:p>
            <a:pPr algn="l"/>
            <a:r>
              <a:rPr sz="1100" b="0" dirty="0" err="1">
                <a:solidFill>
                  <a:srgbClr val="1A1A1A"/>
                </a:solidFill>
                <a:latin typeface="Arial"/>
              </a:rPr>
              <a:t>Landet</a:t>
            </a:r>
            <a:r>
              <a:rPr sz="1100" b="0" dirty="0">
                <a:solidFill>
                  <a:srgbClr val="1A1A1A"/>
                </a:solidFill>
                <a:latin typeface="Arial"/>
              </a:rPr>
              <a:t> in der </a:t>
            </a:r>
            <a:r>
              <a:rPr sz="1100" b="0" dirty="0" err="1">
                <a:solidFill>
                  <a:srgbClr val="1A1A1A"/>
                </a:solidFill>
                <a:latin typeface="Arial"/>
              </a:rPr>
              <a:t>beschreibbaren</a:t>
            </a:r>
            <a:r>
              <a:rPr sz="1100" b="0" dirty="0">
                <a:solidFill>
                  <a:srgbClr val="1A1A1A"/>
                </a:solidFill>
                <a:latin typeface="Arial"/>
              </a:rPr>
              <a:t> Container-</a:t>
            </a:r>
            <a:r>
              <a:rPr sz="1100" b="0" dirty="0" err="1">
                <a:solidFill>
                  <a:srgbClr val="1A1A1A"/>
                </a:solidFill>
                <a:latin typeface="Arial"/>
              </a:rPr>
              <a:t>Schicht</a:t>
            </a:r>
            <a:r>
              <a:rPr sz="1100" b="0" dirty="0">
                <a:solidFill>
                  <a:srgbClr val="1A1A1A"/>
                </a:solidFill>
                <a:latin typeface="Arial"/>
              </a:rPr>
              <a:t> – </a:t>
            </a:r>
            <a:r>
              <a:rPr sz="1100" b="0" dirty="0" err="1">
                <a:solidFill>
                  <a:srgbClr val="1A1A1A"/>
                </a:solidFill>
                <a:latin typeface="Arial"/>
              </a:rPr>
              <a:t>verloren</a:t>
            </a:r>
            <a:r>
              <a:rPr sz="1100" b="0" dirty="0">
                <a:solidFill>
                  <a:srgbClr val="1A1A1A"/>
                </a:solidFill>
                <a:latin typeface="Arial"/>
              </a:rPr>
              <a:t> </a:t>
            </a:r>
            <a:r>
              <a:rPr sz="1100" b="0" dirty="0" err="1">
                <a:solidFill>
                  <a:srgbClr val="1A1A1A"/>
                </a:solidFill>
                <a:latin typeface="Arial"/>
              </a:rPr>
              <a:t>bei</a:t>
            </a:r>
            <a:r>
              <a:rPr sz="1100" b="0" dirty="0">
                <a:solidFill>
                  <a:srgbClr val="1A1A1A"/>
                </a:solidFill>
                <a:latin typeface="Arial"/>
              </a:rPr>
              <a:t> docker rm.</a:t>
            </a:r>
          </a:p>
        </p:txBody>
      </p:sp>
      <p:sp>
        <p:nvSpPr>
          <p:cNvPr id="20" name="Rounded Rectangle 19"/>
          <p:cNvSpPr/>
          <p:nvPr/>
        </p:nvSpPr>
        <p:spPr>
          <a:xfrm>
            <a:off x="548640" y="5623560"/>
            <a:ext cx="11091672" cy="502920"/>
          </a:xfrm>
          <a:prstGeom prst="roundRect">
            <a:avLst>
              <a:gd name="adj" fmla="val 19231"/>
            </a:avLst>
          </a:prstGeom>
          <a:solidFill>
            <a:srgbClr val="F4F6FA"/>
          </a:solidFill>
          <a:ln w="9525">
            <a:solidFill>
              <a:srgbClr val="D8DE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5623560"/>
            <a:ext cx="10543032" cy="502920"/>
          </a:xfrm>
          <a:prstGeom prst="rect">
            <a:avLst/>
          </a:prstGeom>
          <a:noFill/>
        </p:spPr>
        <p:txBody>
          <a:bodyPr wrap="square" lIns="0" tIns="0" rIns="0" bIns="0" anchor="ctr">
            <a:spAutoFit/>
          </a:bodyPr>
          <a:lstStyle/>
          <a:p>
            <a:r>
              <a:rPr sz="1300" b="1">
                <a:solidFill>
                  <a:srgbClr val="1E2761"/>
                </a:solidFill>
                <a:latin typeface="Calibri"/>
              </a:rPr>
              <a:t>Kernaussage:  Beide Speicherorte liegen auf dem Host – beim Bind Mount vergeben Sie den Pfad, beim Volume nur den Namen.</a:t>
            </a:r>
          </a:p>
        </p:txBody>
      </p:sp>
      <p:sp>
        <p:nvSpPr>
          <p:cNvPr id="2" name="Foliennummernplatzhalter 4"/>
          <p:cNvSpPr>
            <a:spLocks noGrp="1"/>
          </p:cNvSpPr>
          <p:nvPr>
            <p:ph type="sldNum" sz="quarter" idx="4"/>
          </p:nvPr>
        </p:nvSpPr>
        <p:spPr/>
        <p:txBody>
          <a:bodyPr/>
          <a:lstStyle/>
          <a:p>
            <a:fld id="{43A6DCFB-163F-4561-BF28-3CD1FE47EE20}" type="slidenum">
              <a:rPr lang="de-DE" smtClean="0"/>
              <a:pPr/>
              <a:t>3</a:t>
            </a:fld>
            <a:endParaRPr lang="de-DE"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534949"/>
            <a:ext cx="10953313" cy="1143000"/>
          </a:xfrm>
        </p:spPr>
        <p:txBody>
          <a:bodyPr/>
          <a:lstStyle/>
          <a:p>
            <a:r>
              <a:rPr lang="en-US" sz="2800" dirty="0"/>
              <a:t>Docker installieren</a:t>
            </a:r>
            <a:br>
              <a:rPr lang="en-US" sz="2000" dirty="0"/>
            </a:br>
            <a:br>
              <a:rPr lang="en-US" sz="2000" dirty="0"/>
            </a:br>
            <a:endParaRPr lang="de-DE" sz="1998" dirty="0"/>
          </a:p>
        </p:txBody>
      </p:sp>
      <p:sp>
        <p:nvSpPr>
          <p:cNvPr id="41" name="Shape 2">
            <a:extLst>
              <a:ext uri="{FF2B5EF4-FFF2-40B4-BE49-F238E27FC236}">
                <a16:creationId xmlns:a16="http://schemas.microsoft.com/office/drawing/2014/main" id="{38C067B0-3936-41B1-A465-6CF531D3A8B9}"/>
              </a:ext>
            </a:extLst>
          </p:cNvPr>
          <p:cNvSpPr/>
          <p:nvPr/>
        </p:nvSpPr>
        <p:spPr>
          <a:xfrm>
            <a:off x="815896" y="1897817"/>
            <a:ext cx="4819610" cy="2860437"/>
          </a:xfrm>
          <a:prstGeom prst="roundRect">
            <a:avLst>
              <a:gd name="adj" fmla="val 4329"/>
            </a:avLst>
          </a:prstGeom>
          <a:solidFill>
            <a:srgbClr val="1A222C"/>
          </a:solidFill>
          <a:ln w="6350">
            <a:solidFill>
              <a:srgbClr val="2A3540"/>
            </a:solidFill>
            <a:prstDash val="solid"/>
          </a:ln>
        </p:spPr>
      </p:sp>
      <p:sp>
        <p:nvSpPr>
          <p:cNvPr id="42" name="Text 3">
            <a:extLst>
              <a:ext uri="{FF2B5EF4-FFF2-40B4-BE49-F238E27FC236}">
                <a16:creationId xmlns:a16="http://schemas.microsoft.com/office/drawing/2014/main" id="{1AAB280A-C58B-4600-91C2-05E8E72EA5FA}"/>
              </a:ext>
            </a:extLst>
          </p:cNvPr>
          <p:cNvSpPr/>
          <p:nvPr/>
        </p:nvSpPr>
        <p:spPr>
          <a:xfrm>
            <a:off x="1074301" y="2337554"/>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9BA8B5"/>
                </a:solidFill>
                <a:latin typeface="Courier New" pitchFamily="34" charset="0"/>
                <a:ea typeface="Courier New" pitchFamily="34" charset="-122"/>
                <a:cs typeface="Courier New" pitchFamily="34" charset="-120"/>
              </a:rPr>
              <a:t>$ apt remove -y docker.io ...; true</a:t>
            </a:r>
            <a:endParaRPr lang="en-US" sz="1200" dirty="0"/>
          </a:p>
        </p:txBody>
      </p:sp>
      <p:sp>
        <p:nvSpPr>
          <p:cNvPr id="43" name="Text 4">
            <a:extLst>
              <a:ext uri="{FF2B5EF4-FFF2-40B4-BE49-F238E27FC236}">
                <a16:creationId xmlns:a16="http://schemas.microsoft.com/office/drawing/2014/main" id="{8AAEFDEB-D914-4800-867A-E1B2F3B52DA4}"/>
              </a:ext>
            </a:extLst>
          </p:cNvPr>
          <p:cNvSpPr/>
          <p:nvPr/>
        </p:nvSpPr>
        <p:spPr>
          <a:xfrm>
            <a:off x="1074301" y="2629614"/>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apt install -y ca-certificates curl</a:t>
            </a:r>
            <a:endParaRPr lang="en-US" sz="1200" dirty="0"/>
          </a:p>
        </p:txBody>
      </p:sp>
      <p:sp>
        <p:nvSpPr>
          <p:cNvPr id="44" name="Text 5">
            <a:extLst>
              <a:ext uri="{FF2B5EF4-FFF2-40B4-BE49-F238E27FC236}">
                <a16:creationId xmlns:a16="http://schemas.microsoft.com/office/drawing/2014/main" id="{D23E1F0C-757A-42E1-AD49-385B2705298C}"/>
              </a:ext>
            </a:extLst>
          </p:cNvPr>
          <p:cNvSpPr/>
          <p:nvPr/>
        </p:nvSpPr>
        <p:spPr>
          <a:xfrm>
            <a:off x="1074301" y="2921675"/>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curl -fsSL &lt;docker-gpg-url&gt; -o docker.asc</a:t>
            </a:r>
            <a:endParaRPr lang="en-US" sz="1200" dirty="0"/>
          </a:p>
        </p:txBody>
      </p:sp>
      <p:sp>
        <p:nvSpPr>
          <p:cNvPr id="45" name="Text 6">
            <a:extLst>
              <a:ext uri="{FF2B5EF4-FFF2-40B4-BE49-F238E27FC236}">
                <a16:creationId xmlns:a16="http://schemas.microsoft.com/office/drawing/2014/main" id="{FF804CF7-5F0A-4A1A-825E-C719AE6AB240}"/>
              </a:ext>
            </a:extLst>
          </p:cNvPr>
          <p:cNvSpPr/>
          <p:nvPr/>
        </p:nvSpPr>
        <p:spPr>
          <a:xfrm>
            <a:off x="1074301" y="3213735"/>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apt update</a:t>
            </a:r>
            <a:endParaRPr lang="en-US" sz="1200" dirty="0"/>
          </a:p>
        </p:txBody>
      </p:sp>
      <p:sp>
        <p:nvSpPr>
          <p:cNvPr id="46" name="Text 7">
            <a:extLst>
              <a:ext uri="{FF2B5EF4-FFF2-40B4-BE49-F238E27FC236}">
                <a16:creationId xmlns:a16="http://schemas.microsoft.com/office/drawing/2014/main" id="{24A663C8-1008-4A42-9F39-02CC281DFE5F}"/>
              </a:ext>
            </a:extLst>
          </p:cNvPr>
          <p:cNvSpPr/>
          <p:nvPr/>
        </p:nvSpPr>
        <p:spPr>
          <a:xfrm>
            <a:off x="1074301" y="3505795"/>
            <a:ext cx="4431884" cy="254000"/>
          </a:xfrm>
          <a:prstGeom prst="rect">
            <a:avLst/>
          </a:prstGeom>
          <a:noFill/>
          <a:ln/>
        </p:spPr>
        <p:txBody>
          <a:bodyPr wrap="square" lIns="0" tIns="0" rIns="0" bIns="0" rtlCol="0" anchor="t">
            <a:normAutofit/>
          </a:bodyPr>
          <a:lstStyle/>
          <a:p>
            <a:pPr marL="0" indent="0" algn="l">
              <a:lnSpc>
                <a:spcPts val="1800"/>
              </a:lnSpc>
              <a:buNone/>
            </a:pPr>
            <a:r>
              <a:rPr lang="en-US" sz="1200" b="1" dirty="0">
                <a:solidFill>
                  <a:srgbClr val="F2B84B"/>
                </a:solidFill>
                <a:latin typeface="Courier New" pitchFamily="34" charset="0"/>
                <a:ea typeface="Courier New" pitchFamily="34" charset="-122"/>
                <a:cs typeface="Courier New" pitchFamily="34" charset="-120"/>
              </a:rPr>
              <a:t>$ apt install -y docker-ce docker-ce-cli</a:t>
            </a:r>
            <a:endParaRPr lang="en-US" sz="1200" dirty="0"/>
          </a:p>
        </p:txBody>
      </p:sp>
      <p:sp>
        <p:nvSpPr>
          <p:cNvPr id="47" name="Text 8">
            <a:extLst>
              <a:ext uri="{FF2B5EF4-FFF2-40B4-BE49-F238E27FC236}">
                <a16:creationId xmlns:a16="http://schemas.microsoft.com/office/drawing/2014/main" id="{532CD5DA-7718-4A8E-8831-B62B02F6B3C1}"/>
              </a:ext>
            </a:extLst>
          </p:cNvPr>
          <p:cNvSpPr/>
          <p:nvPr/>
        </p:nvSpPr>
        <p:spPr>
          <a:xfrm>
            <a:off x="1074301" y="3797856"/>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docker version</a:t>
            </a:r>
            <a:endParaRPr lang="en-US" sz="1200" dirty="0"/>
          </a:p>
        </p:txBody>
      </p:sp>
      <p:sp>
        <p:nvSpPr>
          <p:cNvPr id="48" name="Text 9">
            <a:extLst>
              <a:ext uri="{FF2B5EF4-FFF2-40B4-BE49-F238E27FC236}">
                <a16:creationId xmlns:a16="http://schemas.microsoft.com/office/drawing/2014/main" id="{0FA88FCB-C79E-4161-BB07-82B54DE702AE}"/>
              </a:ext>
            </a:extLst>
          </p:cNvPr>
          <p:cNvSpPr/>
          <p:nvPr/>
        </p:nvSpPr>
        <p:spPr>
          <a:xfrm>
            <a:off x="1074301" y="4089916"/>
            <a:ext cx="4431884" cy="254000"/>
          </a:xfrm>
          <a:prstGeom prst="rect">
            <a:avLst/>
          </a:prstGeom>
          <a:noFill/>
          <a:ln/>
        </p:spPr>
        <p:txBody>
          <a:bodyPr wrap="square" lIns="0" tIns="0" rIns="0" bIns="0" rtlCol="0" anchor="t">
            <a:normAutofit/>
          </a:bodyPr>
          <a:lstStyle/>
          <a:p>
            <a:pPr marL="0" indent="0" algn="l">
              <a:lnSpc>
                <a:spcPts val="1800"/>
              </a:lnSpc>
              <a:buNone/>
            </a:pPr>
            <a:r>
              <a:rPr sz="1200" b="0">
                <a:solidFill>
                  <a:srgbClr val="F3F5F2"/>
                </a:solidFill>
                <a:latin typeface="Courier New"/>
              </a:rPr>
              <a:t>$ docker run --rm hello-world</a:t>
            </a:r>
            <a:endParaRPr lang="en-US" sz="1200" dirty="0"/>
          </a:p>
        </p:txBody>
      </p:sp>
      <p:sp>
        <p:nvSpPr>
          <p:cNvPr id="49" name="Shape 10">
            <a:extLst>
              <a:ext uri="{FF2B5EF4-FFF2-40B4-BE49-F238E27FC236}">
                <a16:creationId xmlns:a16="http://schemas.microsoft.com/office/drawing/2014/main" id="{8F857C7B-B20F-46F9-8EE1-DA98ED1AAE54}"/>
              </a:ext>
            </a:extLst>
          </p:cNvPr>
          <p:cNvSpPr/>
          <p:nvPr/>
        </p:nvSpPr>
        <p:spPr>
          <a:xfrm>
            <a:off x="5997377" y="2043906"/>
            <a:ext cx="349171" cy="349171"/>
          </a:xfrm>
          <a:prstGeom prst="roundRect">
            <a:avLst>
              <a:gd name="adj" fmla="val 50000"/>
            </a:avLst>
          </a:prstGeom>
          <a:solidFill>
            <a:srgbClr val="F2B84B">
              <a:alpha val="15000"/>
            </a:srgbClr>
          </a:solidFill>
          <a:ln w="6350">
            <a:solidFill>
              <a:srgbClr val="F2B84B"/>
            </a:solidFill>
            <a:prstDash val="solid"/>
          </a:ln>
        </p:spPr>
      </p:sp>
      <p:sp>
        <p:nvSpPr>
          <p:cNvPr id="50" name="Text 11">
            <a:extLst>
              <a:ext uri="{FF2B5EF4-FFF2-40B4-BE49-F238E27FC236}">
                <a16:creationId xmlns:a16="http://schemas.microsoft.com/office/drawing/2014/main" id="{1C8F9B9E-BF92-43F2-B472-F74A689D5FE6}"/>
              </a:ext>
            </a:extLst>
          </p:cNvPr>
          <p:cNvSpPr/>
          <p:nvPr/>
        </p:nvSpPr>
        <p:spPr>
          <a:xfrm>
            <a:off x="6122432" y="2094071"/>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1</a:t>
            </a:r>
            <a:endParaRPr lang="en-US" sz="1400" dirty="0"/>
          </a:p>
        </p:txBody>
      </p:sp>
      <p:sp>
        <p:nvSpPr>
          <p:cNvPr id="51" name="Text 12">
            <a:extLst>
              <a:ext uri="{FF2B5EF4-FFF2-40B4-BE49-F238E27FC236}">
                <a16:creationId xmlns:a16="http://schemas.microsoft.com/office/drawing/2014/main" id="{B9AA4CCF-E012-41F2-9846-BB357A6ADA52}"/>
              </a:ext>
            </a:extLst>
          </p:cNvPr>
          <p:cNvSpPr/>
          <p:nvPr/>
        </p:nvSpPr>
        <p:spPr>
          <a:xfrm>
            <a:off x="6502122" y="2040731"/>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Alte Pakete entfernen &amp; vorbereiten</a:t>
            </a:r>
            <a:endParaRPr lang="en-US" sz="1400" dirty="0"/>
          </a:p>
        </p:txBody>
      </p:sp>
      <p:sp>
        <p:nvSpPr>
          <p:cNvPr id="52" name="Text 13">
            <a:extLst>
              <a:ext uri="{FF2B5EF4-FFF2-40B4-BE49-F238E27FC236}">
                <a16:creationId xmlns:a16="http://schemas.microsoft.com/office/drawing/2014/main" id="{8294DD96-C001-49F2-8130-4C473B854ED3}"/>
              </a:ext>
            </a:extLst>
          </p:cNvPr>
          <p:cNvSpPr/>
          <p:nvPr/>
        </p:nvSpPr>
        <p:spPr>
          <a:xfrm>
            <a:off x="6502122" y="2292072"/>
            <a:ext cx="5023472" cy="621792"/>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docker.io/podman-docker deinstallieren, ca-certificates/curl installieren</a:t>
            </a:r>
            <a:endParaRPr lang="en-US" sz="1400" dirty="0"/>
          </a:p>
          <a:p>
            <a:r>
              <a:rPr sz="1000" i="1">
                <a:solidFill>
                  <a:srgbClr val="5B6472"/>
                </a:solidFill>
                <a:latin typeface="Arial"/>
              </a:rPr>
              <a:t>→ ca-certificates: TLS-Vertrauen für den HTTPS-Download des Docker-Repos</a:t>
            </a:r>
          </a:p>
        </p:txBody>
      </p:sp>
      <p:sp>
        <p:nvSpPr>
          <p:cNvPr id="53" name="Text 14">
            <a:extLst>
              <a:ext uri="{FF2B5EF4-FFF2-40B4-BE49-F238E27FC236}">
                <a16:creationId xmlns:a16="http://schemas.microsoft.com/office/drawing/2014/main" id="{763870ED-19DF-43FF-A66E-56694F219C40}"/>
              </a:ext>
            </a:extLst>
          </p:cNvPr>
          <p:cNvSpPr/>
          <p:nvPr/>
        </p:nvSpPr>
        <p:spPr>
          <a:xfrm>
            <a:off x="6502122" y="2962656"/>
            <a:ext cx="5023472" cy="215900"/>
          </a:xfrm>
          <a:prstGeom prst="rect">
            <a:avLst/>
          </a:prstGeom>
          <a:noFill/>
          <a:ln/>
        </p:spPr>
        <p:txBody>
          <a:bodyPr wrap="square" lIns="0" tIns="0" rIns="0" bIns="0" rtlCol="0" anchor="t">
            <a:normAutofit/>
          </a:bodyPr>
          <a:lstStyle/>
          <a:p>
            <a:pPr marL="0" indent="0" algn="l">
              <a:lnSpc>
                <a:spcPts val="1500"/>
              </a:lnSpc>
              <a:buNone/>
            </a:pPr>
            <a:r>
              <a:rPr lang="en-US" sz="1400" dirty="0">
                <a:ea typeface="Courier New" pitchFamily="34" charset="-122"/>
                <a:cs typeface="Courier New" pitchFamily="34" charset="-120"/>
              </a:rPr>
              <a:t>apt remove -y docker.io ... ; true</a:t>
            </a:r>
            <a:endParaRPr lang="en-US" sz="1400" dirty="0"/>
          </a:p>
        </p:txBody>
      </p:sp>
      <p:sp>
        <p:nvSpPr>
          <p:cNvPr id="54" name="Shape 15">
            <a:extLst>
              <a:ext uri="{FF2B5EF4-FFF2-40B4-BE49-F238E27FC236}">
                <a16:creationId xmlns:a16="http://schemas.microsoft.com/office/drawing/2014/main" id="{FDA7ADAD-64AE-483B-AB8D-DFEA2D20D6F4}"/>
              </a:ext>
            </a:extLst>
          </p:cNvPr>
          <p:cNvSpPr/>
          <p:nvPr/>
        </p:nvSpPr>
        <p:spPr>
          <a:xfrm>
            <a:off x="5997377" y="3355848"/>
            <a:ext cx="349171" cy="349171"/>
          </a:xfrm>
          <a:prstGeom prst="roundRect">
            <a:avLst>
              <a:gd name="adj" fmla="val 50000"/>
            </a:avLst>
          </a:prstGeom>
          <a:solidFill>
            <a:srgbClr val="F2B84B">
              <a:alpha val="15000"/>
            </a:srgbClr>
          </a:solidFill>
          <a:ln w="6350">
            <a:solidFill>
              <a:srgbClr val="F2B84B"/>
            </a:solidFill>
            <a:prstDash val="solid"/>
          </a:ln>
        </p:spPr>
      </p:sp>
      <p:sp>
        <p:nvSpPr>
          <p:cNvPr id="55" name="Text 16">
            <a:extLst>
              <a:ext uri="{FF2B5EF4-FFF2-40B4-BE49-F238E27FC236}">
                <a16:creationId xmlns:a16="http://schemas.microsoft.com/office/drawing/2014/main" id="{4164429F-9F1E-424F-AFE2-43B367F37BE9}"/>
              </a:ext>
            </a:extLst>
          </p:cNvPr>
          <p:cNvSpPr/>
          <p:nvPr/>
        </p:nvSpPr>
        <p:spPr>
          <a:xfrm>
            <a:off x="6122432" y="3401568"/>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2</a:t>
            </a:r>
            <a:endParaRPr lang="en-US" sz="1400" dirty="0"/>
          </a:p>
        </p:txBody>
      </p:sp>
      <p:sp>
        <p:nvSpPr>
          <p:cNvPr id="56" name="Text 17">
            <a:extLst>
              <a:ext uri="{FF2B5EF4-FFF2-40B4-BE49-F238E27FC236}">
                <a16:creationId xmlns:a16="http://schemas.microsoft.com/office/drawing/2014/main" id="{10AD6FAB-7B0B-43BD-A629-8F05EEBBED60}"/>
              </a:ext>
            </a:extLst>
          </p:cNvPr>
          <p:cNvSpPr/>
          <p:nvPr/>
        </p:nvSpPr>
        <p:spPr>
          <a:xfrm>
            <a:off x="6502122" y="3355848"/>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Docker-Repository einbinden</a:t>
            </a:r>
            <a:endParaRPr lang="en-US" sz="1400" dirty="0"/>
          </a:p>
        </p:txBody>
      </p:sp>
      <p:sp>
        <p:nvSpPr>
          <p:cNvPr id="57" name="Text 18">
            <a:extLst>
              <a:ext uri="{FF2B5EF4-FFF2-40B4-BE49-F238E27FC236}">
                <a16:creationId xmlns:a16="http://schemas.microsoft.com/office/drawing/2014/main" id="{C21BBB92-8131-4FF5-883C-DB37F1896D0C}"/>
              </a:ext>
            </a:extLst>
          </p:cNvPr>
          <p:cNvSpPr/>
          <p:nvPr/>
        </p:nvSpPr>
        <p:spPr>
          <a:xfrm>
            <a:off x="6502122" y="3602736"/>
            <a:ext cx="5023472" cy="621792"/>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GPG-Key laden, offizielles Repo in docker.list eintragen</a:t>
            </a:r>
            <a:endParaRPr lang="en-US" sz="1400" dirty="0"/>
          </a:p>
          <a:p>
            <a:r>
              <a:rPr sz="1000" i="1">
                <a:solidFill>
                  <a:srgbClr val="5B6472"/>
                </a:solidFill>
                <a:latin typeface="Arial"/>
              </a:rPr>
              <a:t>→ GPG-Key signiert die Pakete – apt installiert nur Pakete mit gültiger Signatur</a:t>
            </a:r>
          </a:p>
        </p:txBody>
      </p:sp>
      <p:sp>
        <p:nvSpPr>
          <p:cNvPr id="58" name="Shape 19">
            <a:extLst>
              <a:ext uri="{FF2B5EF4-FFF2-40B4-BE49-F238E27FC236}">
                <a16:creationId xmlns:a16="http://schemas.microsoft.com/office/drawing/2014/main" id="{21AAD443-ED9F-4532-835D-74575E2EFA63}"/>
              </a:ext>
            </a:extLst>
          </p:cNvPr>
          <p:cNvSpPr/>
          <p:nvPr/>
        </p:nvSpPr>
        <p:spPr>
          <a:xfrm>
            <a:off x="5997377" y="4398264"/>
            <a:ext cx="349171" cy="349171"/>
          </a:xfrm>
          <a:prstGeom prst="roundRect">
            <a:avLst>
              <a:gd name="adj" fmla="val 50000"/>
            </a:avLst>
          </a:prstGeom>
          <a:solidFill>
            <a:srgbClr val="F2B84B">
              <a:alpha val="15000"/>
            </a:srgbClr>
          </a:solidFill>
          <a:ln w="6350">
            <a:solidFill>
              <a:srgbClr val="F2B84B"/>
            </a:solidFill>
            <a:prstDash val="solid"/>
          </a:ln>
        </p:spPr>
      </p:sp>
      <p:sp>
        <p:nvSpPr>
          <p:cNvPr id="59" name="Text 20">
            <a:extLst>
              <a:ext uri="{FF2B5EF4-FFF2-40B4-BE49-F238E27FC236}">
                <a16:creationId xmlns:a16="http://schemas.microsoft.com/office/drawing/2014/main" id="{0F6A2A80-7820-4F44-8E7A-61751819FAFC}"/>
              </a:ext>
            </a:extLst>
          </p:cNvPr>
          <p:cNvSpPr/>
          <p:nvPr/>
        </p:nvSpPr>
        <p:spPr>
          <a:xfrm>
            <a:off x="6122432" y="4443984"/>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3</a:t>
            </a:r>
            <a:endParaRPr lang="en-US" sz="1400" dirty="0"/>
          </a:p>
        </p:txBody>
      </p:sp>
      <p:sp>
        <p:nvSpPr>
          <p:cNvPr id="60" name="Text 21">
            <a:extLst>
              <a:ext uri="{FF2B5EF4-FFF2-40B4-BE49-F238E27FC236}">
                <a16:creationId xmlns:a16="http://schemas.microsoft.com/office/drawing/2014/main" id="{477E6D75-3A3B-475F-8766-52DFA7645D93}"/>
              </a:ext>
            </a:extLst>
          </p:cNvPr>
          <p:cNvSpPr/>
          <p:nvPr/>
        </p:nvSpPr>
        <p:spPr>
          <a:xfrm>
            <a:off x="6502122" y="4398264"/>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Installieren &amp; prüfen</a:t>
            </a:r>
            <a:endParaRPr lang="en-US" sz="1400" dirty="0"/>
          </a:p>
        </p:txBody>
      </p:sp>
      <p:sp>
        <p:nvSpPr>
          <p:cNvPr id="61" name="Text 22">
            <a:extLst>
              <a:ext uri="{FF2B5EF4-FFF2-40B4-BE49-F238E27FC236}">
                <a16:creationId xmlns:a16="http://schemas.microsoft.com/office/drawing/2014/main" id="{3CE88406-4D3B-44C6-A32D-A5EF1D2984C7}"/>
              </a:ext>
            </a:extLst>
          </p:cNvPr>
          <p:cNvSpPr/>
          <p:nvPr/>
        </p:nvSpPr>
        <p:spPr>
          <a:xfrm>
            <a:off x="6502122" y="4645152"/>
            <a:ext cx="5023472" cy="2209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docker version</a:t>
            </a:r>
            <a:endParaRPr lang="en-US" sz="1400" dirty="0"/>
          </a:p>
        </p:txBody>
      </p:sp>
      <p:sp>
        <p:nvSpPr>
          <p:cNvPr id="62" name="Text 23">
            <a:extLst>
              <a:ext uri="{FF2B5EF4-FFF2-40B4-BE49-F238E27FC236}">
                <a16:creationId xmlns:a16="http://schemas.microsoft.com/office/drawing/2014/main" id="{797138DB-BC51-4397-BF84-450B27ADBDB3}"/>
              </a:ext>
            </a:extLst>
          </p:cNvPr>
          <p:cNvSpPr/>
          <p:nvPr/>
        </p:nvSpPr>
        <p:spPr>
          <a:xfrm>
            <a:off x="6502122" y="4882896"/>
            <a:ext cx="5023472" cy="2209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docker run --rm hello-world</a:t>
            </a:r>
            <a:endParaRPr lang="en-US" sz="1400" dirty="0"/>
          </a:p>
        </p:txBody>
      </p:sp>
      <p:sp>
        <p:nvSpPr>
          <p:cNvPr id="67" name="Text 27">
            <a:extLst>
              <a:ext uri="{FF2B5EF4-FFF2-40B4-BE49-F238E27FC236}">
                <a16:creationId xmlns:a16="http://schemas.microsoft.com/office/drawing/2014/main" id="{1A300C58-C33C-4563-9481-8813CF0D164F}"/>
              </a:ext>
            </a:extLst>
          </p:cNvPr>
          <p:cNvSpPr/>
          <p:nvPr/>
        </p:nvSpPr>
        <p:spPr>
          <a:xfrm>
            <a:off x="1511141" y="5934456"/>
            <a:ext cx="9928725" cy="223520"/>
          </a:xfrm>
          <a:prstGeom prst="rect">
            <a:avLst/>
          </a:prstGeom>
          <a:noFill/>
          <a:ln/>
        </p:spPr>
        <p:txBody>
          <a:bodyPr wrap="square" lIns="0" tIns="0" rIns="0" bIns="0" rtlCol="0" anchor="t">
            <a:normAutofit/>
          </a:bodyPr>
          <a:lstStyle/>
          <a:p>
            <a:pPr marL="0" indent="0" algn="l">
              <a:lnSpc>
                <a:spcPts val="1560"/>
              </a:lnSpc>
              <a:buNone/>
            </a:pPr>
            <a:r>
              <a:rPr lang="en-US" sz="1400" dirty="0">
                <a:latin typeface="Arial" pitchFamily="34" charset="0"/>
                <a:ea typeface="Arial" pitchFamily="34" charset="-122"/>
                <a:cs typeface="Arial" pitchFamily="34" charset="-120"/>
              </a:rPr>
              <a:t>ufw muss DEFAULT_FORWARD_POLICY=ACCEPT setzen – sonst können Container nicht nach außen kommunizieren.</a:t>
            </a:r>
            <a:endParaRPr lang="en-US" sz="1400" dirty="0"/>
          </a:p>
        </p:txBody>
      </p:sp>
      <p:pic>
        <p:nvPicPr>
          <p:cNvPr id="68" name="Grafik 67" descr="Ausrufezeichen mit einfarbiger Füllung">
            <a:extLst>
              <a:ext uri="{FF2B5EF4-FFF2-40B4-BE49-F238E27FC236}">
                <a16:creationId xmlns:a16="http://schemas.microsoft.com/office/drawing/2014/main" id="{0254A55C-46A4-4C6E-8348-4E04132019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6741" y="5477256"/>
            <a:ext cx="914400" cy="914400"/>
          </a:xfrm>
          <a:prstGeom prst="rect">
            <a:avLst/>
          </a:prstGeom>
        </p:spPr>
      </p:pic>
      <p:sp>
        <p:nvSpPr>
          <p:cNvPr id="69" name="TextBox 68"/>
          <p:cNvSpPr txBox="1"/>
          <p:nvPr/>
        </p:nvSpPr>
        <p:spPr>
          <a:xfrm>
            <a:off x="6501384" y="5120640"/>
            <a:ext cx="5020056" cy="173736"/>
          </a:xfrm>
          <a:prstGeom prst="rect">
            <a:avLst/>
          </a:prstGeom>
          <a:noFill/>
        </p:spPr>
        <p:txBody>
          <a:bodyPr wrap="square" lIns="0" tIns="0" rIns="0" bIns="0">
            <a:spAutoFit/>
          </a:bodyPr>
          <a:lstStyle/>
          <a:p>
            <a:pPr algn="l"/>
            <a:r>
              <a:rPr sz="900" b="0" i="1">
                <a:solidFill>
                  <a:srgbClr val="5B6472"/>
                </a:solidFill>
                <a:latin typeface="Arial"/>
              </a:rPr>
              <a:t>→ docker-ce: Engine/Daemon  ·  docker-ce-cli: CLI-Befehl „docker“</a:t>
            </a:r>
          </a:p>
        </p:txBody>
      </p:sp>
      <p:sp>
        <p:nvSpPr>
          <p:cNvPr id="70" name="TextBox 69"/>
          <p:cNvSpPr txBox="1"/>
          <p:nvPr/>
        </p:nvSpPr>
        <p:spPr>
          <a:xfrm>
            <a:off x="6501384" y="5294376"/>
            <a:ext cx="5020056" cy="173736"/>
          </a:xfrm>
          <a:prstGeom prst="rect">
            <a:avLst/>
          </a:prstGeom>
          <a:noFill/>
        </p:spPr>
        <p:txBody>
          <a:bodyPr wrap="square" lIns="0" tIns="0" rIns="0" bIns="0">
            <a:spAutoFit/>
          </a:bodyPr>
          <a:lstStyle/>
          <a:p>
            <a:pPr algn="l"/>
            <a:r>
              <a:rPr sz="900" b="0" i="1">
                <a:solidFill>
                  <a:srgbClr val="5B6472"/>
                </a:solidFill>
                <a:latin typeface="Arial"/>
              </a:rPr>
              <a:t>→ containerd.io: Laufzeit – automatisch als Abhängigkeit mitinstalliert</a:t>
            </a:r>
          </a:p>
        </p:txBody>
      </p:sp>
      <p:sp>
        <p:nvSpPr>
          <p:cNvPr id="5" name="Foliennummernplatzhalter 4"/>
          <p:cNvSpPr>
            <a:spLocks noGrp="1"/>
          </p:cNvSpPr>
          <p:nvPr>
            <p:ph type="sldNum" sz="quarter" idx="4"/>
          </p:nvPr>
        </p:nvSpPr>
        <p:spPr/>
        <p:txBody>
          <a:bodyPr/>
          <a:lstStyle/>
          <a:p>
            <a:fld id="{43A6DCFB-163F-4561-BF28-3CD1FE47EE20}" type="slidenum">
              <a:rPr lang="de-DE" smtClean="0"/>
              <a:pPr/>
              <a:t>4</a:t>
            </a:fld>
            <a:endParaRPr lang="de-DE"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01" y="274638"/>
            <a:ext cx="10953313" cy="1143000"/>
          </a:xfrm>
        </p:spPr>
        <p:txBody>
          <a:bodyPr/>
          <a:lstStyle/>
          <a:p>
            <a:r>
              <a:rPr lang="de-DE" sz="2400" dirty="0"/>
              <a:t>UFW und Docker: Netzwerkstruktur &amp; Firewall</a:t>
            </a:r>
            <a:endParaRPr sz="2400" dirty="0"/>
          </a:p>
        </p:txBody>
      </p:sp>
      <p:sp>
        <p:nvSpPr>
          <p:cNvPr id="5" name="Rounded Rectangle 4"/>
          <p:cNvSpPr/>
          <p:nvPr/>
        </p:nvSpPr>
        <p:spPr>
          <a:xfrm>
            <a:off x="822960" y="1417320"/>
            <a:ext cx="10149840" cy="347472"/>
          </a:xfrm>
          <a:prstGeom prst="roundRect">
            <a:avLst>
              <a:gd name="adj" fmla="val 10000"/>
            </a:avLst>
          </a:prstGeom>
          <a:solidFill>
            <a:srgbClr val="F5F5F5"/>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E2761"/>
                </a:solidFill>
                <a:latin typeface="Arial"/>
              </a:rPr>
              <a:t>Kernel-Routing-Entscheidung (vor jeder Firewall-Regel!)</a:t>
            </a:r>
          </a:p>
          <a:p>
            <a:pPr algn="ctr"/>
            <a:r>
              <a:rPr sz="1000" b="0">
                <a:solidFill>
                  <a:srgbClr val="5B6472"/>
                </a:solidFill>
                <a:latin typeface="Arial"/>
              </a:rPr>
              <a:t>Ziel-IP = eine Adresse des Hosts selbst?  →  lokale Zustellung  vs.  Weiterleitung</a:t>
            </a:r>
          </a:p>
        </p:txBody>
      </p:sp>
      <p:cxnSp>
        <p:nvCxnSpPr>
          <p:cNvPr id="6" name="Connector 5"/>
          <p:cNvCxnSpPr/>
          <p:nvPr/>
        </p:nvCxnSpPr>
        <p:spPr>
          <a:xfrm>
            <a:off x="2926080" y="1764792"/>
            <a:ext cx="0" cy="155448"/>
          </a:xfrm>
          <a:prstGeom prst="line">
            <a:avLst/>
          </a:prstGeom>
          <a:ln w="25400">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869680" y="1764792"/>
            <a:ext cx="0" cy="155448"/>
          </a:xfrm>
          <a:prstGeom prst="line">
            <a:avLst/>
          </a:prstGeom>
          <a:ln w="25400">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1920240"/>
            <a:ext cx="4572000" cy="274320"/>
          </a:xfrm>
          <a:prstGeom prst="rect">
            <a:avLst/>
          </a:prstGeom>
          <a:noFill/>
        </p:spPr>
        <p:txBody>
          <a:bodyPr wrap="square" lIns="0" tIns="0" rIns="0" bIns="0">
            <a:spAutoFit/>
          </a:bodyPr>
          <a:lstStyle/>
          <a:p>
            <a:pPr algn="l"/>
            <a:r>
              <a:rPr sz="1400" b="1" i="0">
                <a:solidFill>
                  <a:srgbClr val="005AA8"/>
                </a:solidFill>
                <a:latin typeface="Arial"/>
              </a:rPr>
              <a:t>Host-Dienste — z. B. SSH, Caddy</a:t>
            </a:r>
          </a:p>
        </p:txBody>
      </p:sp>
      <p:sp>
        <p:nvSpPr>
          <p:cNvPr id="9" name="TextBox 8"/>
          <p:cNvSpPr txBox="1"/>
          <p:nvPr/>
        </p:nvSpPr>
        <p:spPr>
          <a:xfrm>
            <a:off x="6766560" y="1920240"/>
            <a:ext cx="4572000" cy="274320"/>
          </a:xfrm>
          <a:prstGeom prst="rect">
            <a:avLst/>
          </a:prstGeom>
          <a:noFill/>
        </p:spPr>
        <p:txBody>
          <a:bodyPr wrap="square" lIns="0" tIns="0" rIns="0" bIns="0">
            <a:spAutoFit/>
          </a:bodyPr>
          <a:lstStyle/>
          <a:p>
            <a:pPr algn="l"/>
            <a:r>
              <a:rPr sz="1400" b="1" i="0">
                <a:solidFill>
                  <a:srgbClr val="F2B84B"/>
                </a:solidFill>
                <a:latin typeface="Arial"/>
              </a:rPr>
              <a:t>Docker-Container — published Ports</a:t>
            </a:r>
          </a:p>
        </p:txBody>
      </p:sp>
      <p:sp>
        <p:nvSpPr>
          <p:cNvPr id="10" name="Rounded Rectangle 9"/>
          <p:cNvSpPr/>
          <p:nvPr/>
        </p:nvSpPr>
        <p:spPr>
          <a:xfrm>
            <a:off x="822960" y="2286000"/>
            <a:ext cx="4206240" cy="685800"/>
          </a:xfrm>
          <a:prstGeom prst="roundRect">
            <a:avLst>
              <a:gd name="adj" fmla="val 10000"/>
            </a:avLst>
          </a:prstGeom>
          <a:solidFill>
            <a:srgbClr val="F5F5F5"/>
          </a:solidFill>
          <a:ln w="12700">
            <a:solidFill>
              <a:srgbClr val="005AA8"/>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Paketziel: Host-IP</a:t>
            </a:r>
          </a:p>
          <a:p>
            <a:pPr algn="ctr"/>
            <a:r>
              <a:rPr sz="1200" b="0">
                <a:solidFill>
                  <a:srgbClr val="1A1A1A"/>
                </a:solidFill>
                <a:latin typeface="Arial"/>
              </a:rPr>
              <a:t>→ INPUT Chain</a:t>
            </a:r>
          </a:p>
        </p:txBody>
      </p:sp>
      <p:cxnSp>
        <p:nvCxnSpPr>
          <p:cNvPr id="11" name="Connector 10"/>
          <p:cNvCxnSpPr/>
          <p:nvPr/>
        </p:nvCxnSpPr>
        <p:spPr>
          <a:xfrm>
            <a:off x="2926080" y="2971800"/>
            <a:ext cx="0" cy="274320"/>
          </a:xfrm>
          <a:prstGeom prst="line">
            <a:avLst/>
          </a:prstGeom>
          <a:ln w="25400">
            <a:solidFill>
              <a:srgbClr val="005A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22960" y="3246120"/>
            <a:ext cx="4206240" cy="685800"/>
          </a:xfrm>
          <a:prstGeom prst="roundRect">
            <a:avLst>
              <a:gd name="adj" fmla="val 10000"/>
            </a:avLst>
          </a:prstGeom>
          <a:solidFill>
            <a:srgbClr val="F5F5F5"/>
          </a:solidFill>
          <a:ln w="12700">
            <a:solidFill>
              <a:srgbClr val="005AA8"/>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ufw-Regeln (INPUT)</a:t>
            </a:r>
          </a:p>
          <a:p>
            <a:pPr algn="ctr"/>
            <a:r>
              <a:rPr sz="1100" b="0">
                <a:solidFill>
                  <a:srgbClr val="1A1A1A"/>
                </a:solidFill>
                <a:latin typeface="Arial"/>
              </a:rPr>
              <a:t>allow ssh / http / https …</a:t>
            </a:r>
          </a:p>
        </p:txBody>
      </p:sp>
      <p:cxnSp>
        <p:nvCxnSpPr>
          <p:cNvPr id="13" name="Connector 12"/>
          <p:cNvCxnSpPr/>
          <p:nvPr/>
        </p:nvCxnSpPr>
        <p:spPr>
          <a:xfrm>
            <a:off x="2926080" y="3931920"/>
            <a:ext cx="0" cy="256032"/>
          </a:xfrm>
          <a:prstGeom prst="line">
            <a:avLst/>
          </a:prstGeom>
          <a:ln w="25400">
            <a:solidFill>
              <a:srgbClr val="005A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2960" y="4187952"/>
            <a:ext cx="4206240" cy="685800"/>
          </a:xfrm>
          <a:prstGeom prst="roundRect">
            <a:avLst>
              <a:gd name="adj" fmla="val 10000"/>
            </a:avLst>
          </a:prstGeom>
          <a:solidFill>
            <a:srgbClr val="E7F1EA"/>
          </a:solidFill>
          <a:ln w="12700">
            <a:solidFill>
              <a:srgbClr val="1E6B3C"/>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Host-Prozess erreicht</a:t>
            </a:r>
          </a:p>
          <a:p>
            <a:pPr algn="ctr"/>
            <a:r>
              <a:rPr sz="1100" b="0">
                <a:solidFill>
                  <a:srgbClr val="1A1A1A"/>
                </a:solidFill>
                <a:latin typeface="Arial"/>
              </a:rPr>
              <a:t>ufw entscheidet direkt (INPUT)</a:t>
            </a:r>
          </a:p>
        </p:txBody>
      </p:sp>
      <p:sp>
        <p:nvSpPr>
          <p:cNvPr id="15" name="Rounded Rectangle 14"/>
          <p:cNvSpPr/>
          <p:nvPr/>
        </p:nvSpPr>
        <p:spPr>
          <a:xfrm>
            <a:off x="6766560" y="2286000"/>
            <a:ext cx="4206240" cy="685800"/>
          </a:xfrm>
          <a:prstGeom prst="roundRect">
            <a:avLst>
              <a:gd name="adj" fmla="val 10000"/>
            </a:avLst>
          </a:prstGeom>
          <a:solidFill>
            <a:srgbClr val="F5F5F5"/>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Paketziel: Container-IP</a:t>
            </a:r>
          </a:p>
          <a:p>
            <a:pPr algn="ctr"/>
            <a:r>
              <a:rPr sz="1200" b="0">
                <a:solidFill>
                  <a:srgbClr val="1A1A1A"/>
                </a:solidFill>
                <a:latin typeface="Arial"/>
              </a:rPr>
              <a:t>→ FORWARD Chain</a:t>
            </a:r>
          </a:p>
        </p:txBody>
      </p:sp>
      <p:cxnSp>
        <p:nvCxnSpPr>
          <p:cNvPr id="16" name="Connector 15"/>
          <p:cNvCxnSpPr/>
          <p:nvPr/>
        </p:nvCxnSpPr>
        <p:spPr>
          <a:xfrm>
            <a:off x="8869680" y="2971800"/>
            <a:ext cx="0" cy="274320"/>
          </a:xfrm>
          <a:prstGeom prst="line">
            <a:avLst/>
          </a:prstGeom>
          <a:ln w="25400">
            <a:solidFill>
              <a:srgbClr val="C99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766560" y="3246120"/>
            <a:ext cx="4206240" cy="868680"/>
          </a:xfrm>
          <a:prstGeom prst="roundRect">
            <a:avLst>
              <a:gd name="adj" fmla="val 10000"/>
            </a:avLst>
          </a:prstGeom>
          <a:solidFill>
            <a:srgbClr val="FBE7E4"/>
          </a:solidFill>
          <a:ln w="12700">
            <a:solidFill>
              <a:srgbClr val="B03A2E"/>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DOCKER-USER (zuerst!)</a:t>
            </a:r>
          </a:p>
          <a:p>
            <a:pPr algn="ctr"/>
            <a:r>
              <a:rPr sz="1000" b="0">
                <a:solidFill>
                  <a:srgbClr val="1A1A1A"/>
                </a:solidFill>
                <a:latin typeface="Arial"/>
              </a:rPr>
              <a:t>standardmäßig leer – nur Durchlaufpunkt</a:t>
            </a:r>
          </a:p>
          <a:p>
            <a:pPr algn="ctr"/>
            <a:r>
              <a:rPr sz="900" b="0">
                <a:solidFill>
                  <a:srgbClr val="5B6472"/>
                </a:solidFill>
                <a:latin typeface="Arial"/>
              </a:rPr>
              <a:t>→ eigentliche Regel folgt in der DOCKER-Chain</a:t>
            </a:r>
          </a:p>
        </p:txBody>
      </p:sp>
      <p:cxnSp>
        <p:nvCxnSpPr>
          <p:cNvPr id="18" name="Connector 17"/>
          <p:cNvCxnSpPr/>
          <p:nvPr/>
        </p:nvCxnSpPr>
        <p:spPr>
          <a:xfrm>
            <a:off x="8869680" y="4114800"/>
            <a:ext cx="0" cy="237744"/>
          </a:xfrm>
          <a:prstGeom prst="line">
            <a:avLst/>
          </a:prstGeom>
          <a:ln w="25400">
            <a:solidFill>
              <a:srgbClr val="B03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766560" y="4352544"/>
            <a:ext cx="4206240" cy="685800"/>
          </a:xfrm>
          <a:prstGeom prst="roundRect">
            <a:avLst>
              <a:gd name="adj" fmla="val 10000"/>
            </a:avLst>
          </a:prstGeom>
          <a:solidFill>
            <a:srgbClr val="F5F5F5"/>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Container erreicht</a:t>
            </a:r>
          </a:p>
          <a:p>
            <a:pPr algn="ctr"/>
            <a:r>
              <a:rPr sz="1100" b="0">
                <a:solidFill>
                  <a:srgbClr val="1A1A1A"/>
                </a:solidFill>
                <a:latin typeface="Arial"/>
              </a:rPr>
              <a:t>→ ufw (FORWARD) hat keinen Einfluss mehr</a:t>
            </a:r>
          </a:p>
        </p:txBody>
      </p:sp>
      <p:sp>
        <p:nvSpPr>
          <p:cNvPr id="20" name="Rounded Rectangle 19"/>
          <p:cNvSpPr/>
          <p:nvPr/>
        </p:nvSpPr>
        <p:spPr>
          <a:xfrm>
            <a:off x="548640" y="5193792"/>
            <a:ext cx="11091672" cy="502920"/>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200" b="1">
                <a:solidFill>
                  <a:srgbClr val="1A1A1A"/>
                </a:solidFill>
                <a:latin typeface="Arial"/>
              </a:rPr>
              <a:t>DEFAULT_FORWARD_POLICY (/etc/default/ufw):</a:t>
            </a:r>
          </a:p>
          <a:p>
            <a:pPr algn="l"/>
            <a:r>
              <a:rPr sz="1100" b="0">
                <a:solidFill>
                  <a:srgbClr val="1A1A1A"/>
                </a:solidFill>
                <a:latin typeface="Arial"/>
              </a:rPr>
              <a:t>Standard-Ziel der FORWARD-Chain ohne Regeltreffer – muss ACCEPT sein, sonst kein Container-Traffic nach außen.</a:t>
            </a:r>
          </a:p>
        </p:txBody>
      </p:sp>
      <p:sp>
        <p:nvSpPr>
          <p:cNvPr id="21" name="Rounded Rectangle 20"/>
          <p:cNvSpPr/>
          <p:nvPr/>
        </p:nvSpPr>
        <p:spPr>
          <a:xfrm>
            <a:off x="548640" y="5788152"/>
            <a:ext cx="11091672" cy="502920"/>
          </a:xfrm>
          <a:prstGeom prst="roundRect">
            <a:avLst>
              <a:gd name="adj" fmla="val 19231"/>
            </a:avLst>
          </a:prstGeom>
          <a:solidFill>
            <a:srgbClr val="F4F6FA"/>
          </a:solidFill>
          <a:ln w="9525">
            <a:solidFill>
              <a:srgbClr val="D8DE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59" y="5788152"/>
            <a:ext cx="10543032" cy="502920"/>
          </a:xfrm>
          <a:prstGeom prst="rect">
            <a:avLst/>
          </a:prstGeom>
          <a:noFill/>
        </p:spPr>
        <p:txBody>
          <a:bodyPr wrap="square" lIns="0" tIns="0" rIns="0" bIns="0" anchor="ctr">
            <a:spAutoFit/>
          </a:bodyPr>
          <a:lstStyle/>
          <a:p>
            <a:r>
              <a:rPr sz="1300" b="1">
                <a:solidFill>
                  <a:srgbClr val="1E2761"/>
                </a:solidFill>
                <a:latin typeface="Calibri"/>
              </a:rPr>
              <a:t>Kernaussage:  ufw filtert nur die INPUT-Chain – Container-Traffic läuft über FORWARD, wo DOCKER-USER vor ufw greift.</a:t>
            </a:r>
          </a:p>
        </p:txBody>
      </p:sp>
      <p:sp>
        <p:nvSpPr>
          <p:cNvPr id="2" name="Foliennummernplatzhalter 4"/>
          <p:cNvSpPr>
            <a:spLocks noGrp="1"/>
          </p:cNvSpPr>
          <p:nvPr>
            <p:ph type="sldNum" sz="quarter" idx="4"/>
          </p:nvPr>
        </p:nvSpPr>
        <p:spPr/>
        <p:txBody>
          <a:bodyPr/>
          <a:lstStyle/>
          <a:p>
            <a:fld id="{43A6DCFB-163F-4561-BF28-3CD1FE47EE20}" type="slidenum">
              <a:rPr lang="de-DE" smtClean="0"/>
              <a:pPr/>
              <a:t>5</a:t>
            </a:fld>
            <a:endParaRPr lang="de-DE"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01" y="274638"/>
            <a:ext cx="10953313" cy="1143000"/>
          </a:xfrm>
        </p:spPr>
        <p:txBody>
          <a:bodyPr/>
          <a:lstStyle/>
          <a:p>
            <a:r>
              <a:rPr lang="de-DE" sz="2400" dirty="0"/>
              <a:t>Die DOCKER-USER-Falle: Ports und ufw</a:t>
            </a:r>
            <a:endParaRPr sz="2400" dirty="0"/>
          </a:p>
        </p:txBody>
      </p:sp>
      <p:sp>
        <p:nvSpPr>
          <p:cNvPr id="5" name="Rounded Rectangle 4"/>
          <p:cNvSpPr/>
          <p:nvPr/>
        </p:nvSpPr>
        <p:spPr>
          <a:xfrm>
            <a:off x="822960" y="1783080"/>
            <a:ext cx="1828800" cy="384048"/>
          </a:xfrm>
          <a:prstGeom prst="roundRect">
            <a:avLst>
              <a:gd name="adj" fmla="val 50000"/>
            </a:avLst>
          </a:prstGeom>
          <a:solidFill>
            <a:srgbClr val="FBE7E4"/>
          </a:solidFill>
          <a:ln w="12700">
            <a:solidFill>
              <a:srgbClr val="B03A2E"/>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B03A2E"/>
                </a:solidFill>
                <a:latin typeface="Arial"/>
              </a:rPr>
              <a:t>UNSICHER</a:t>
            </a:r>
          </a:p>
        </p:txBody>
      </p:sp>
      <p:sp>
        <p:nvSpPr>
          <p:cNvPr id="6" name="Rounded Rectangle 5"/>
          <p:cNvSpPr/>
          <p:nvPr/>
        </p:nvSpPr>
        <p:spPr>
          <a:xfrm>
            <a:off x="822960" y="2331720"/>
            <a:ext cx="4572000" cy="640080"/>
          </a:xfrm>
          <a:prstGeom prst="roundRect">
            <a:avLst>
              <a:gd name="adj" fmla="val 10000"/>
            </a:avLst>
          </a:prstGeom>
          <a:solidFill>
            <a:srgbClr val="F5F5F5"/>
          </a:solidFill>
          <a:ln w="12700">
            <a:solidFill>
              <a:srgbClr val="B03A2E"/>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0">
                <a:solidFill>
                  <a:srgbClr val="1A1A1A"/>
                </a:solidFill>
                <a:latin typeface="Courier New"/>
              </a:rPr>
              <a:t>-p 8080:80</a:t>
            </a:r>
          </a:p>
        </p:txBody>
      </p:sp>
      <p:cxnSp>
        <p:nvCxnSpPr>
          <p:cNvPr id="7" name="Connector 6"/>
          <p:cNvCxnSpPr/>
          <p:nvPr/>
        </p:nvCxnSpPr>
        <p:spPr>
          <a:xfrm>
            <a:off x="3108960" y="2971800"/>
            <a:ext cx="0" cy="457200"/>
          </a:xfrm>
          <a:prstGeom prst="line">
            <a:avLst/>
          </a:prstGeom>
          <a:ln w="25400">
            <a:solidFill>
              <a:srgbClr val="B03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22960" y="3429000"/>
            <a:ext cx="4572000" cy="777240"/>
          </a:xfrm>
          <a:prstGeom prst="roundRect">
            <a:avLst>
              <a:gd name="adj" fmla="val 10000"/>
            </a:avLst>
          </a:prstGeom>
          <a:solidFill>
            <a:srgbClr val="FBE7E4"/>
          </a:solidFill>
          <a:ln w="12700">
            <a:solidFill>
              <a:srgbClr val="B03A2E"/>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Bindung: 0.0.0.0</a:t>
            </a:r>
          </a:p>
          <a:p>
            <a:pPr algn="ctr"/>
            <a:r>
              <a:rPr sz="1100" b="0">
                <a:solidFill>
                  <a:srgbClr val="1A1A1A"/>
                </a:solidFill>
                <a:latin typeface="Arial"/>
              </a:rPr>
              <a:t>alle Netzwerkschnittstellen</a:t>
            </a:r>
          </a:p>
        </p:txBody>
      </p:sp>
      <p:cxnSp>
        <p:nvCxnSpPr>
          <p:cNvPr id="9" name="Connector 8"/>
          <p:cNvCxnSpPr/>
          <p:nvPr/>
        </p:nvCxnSpPr>
        <p:spPr>
          <a:xfrm>
            <a:off x="3108960" y="4206240"/>
            <a:ext cx="0" cy="457200"/>
          </a:xfrm>
          <a:prstGeom prst="line">
            <a:avLst/>
          </a:prstGeom>
          <a:ln w="25400">
            <a:solidFill>
              <a:srgbClr val="B03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2960" y="4663440"/>
            <a:ext cx="4572000" cy="1051560"/>
          </a:xfrm>
          <a:prstGeom prst="roundRect">
            <a:avLst>
              <a:gd name="adj" fmla="val 10000"/>
            </a:avLst>
          </a:prstGeom>
          <a:solidFill>
            <a:srgbClr val="FBE7E4"/>
          </a:solidFill>
          <a:ln w="12700">
            <a:solidFill>
              <a:srgbClr val="B03A2E"/>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Internet</a:t>
            </a:r>
          </a:p>
          <a:p>
            <a:pPr algn="ctr"/>
            <a:r>
              <a:rPr sz="1100" b="0">
                <a:solidFill>
                  <a:srgbClr val="1A1A1A"/>
                </a:solidFill>
                <a:latin typeface="Arial"/>
              </a:rPr>
              <a:t>direkt erreichbar –</a:t>
            </a:r>
          </a:p>
          <a:p>
            <a:pPr algn="ctr"/>
            <a:r>
              <a:rPr sz="1100" b="0">
                <a:solidFill>
                  <a:srgbClr val="1A1A1A"/>
                </a:solidFill>
                <a:latin typeface="Arial"/>
              </a:rPr>
              <a:t>ufw sieht diesen Traffic nicht</a:t>
            </a:r>
          </a:p>
        </p:txBody>
      </p:sp>
      <p:sp>
        <p:nvSpPr>
          <p:cNvPr id="11" name="Rounded Rectangle 10"/>
          <p:cNvSpPr/>
          <p:nvPr/>
        </p:nvSpPr>
        <p:spPr>
          <a:xfrm>
            <a:off x="6766560" y="1783080"/>
            <a:ext cx="1828800" cy="384048"/>
          </a:xfrm>
          <a:prstGeom prst="roundRect">
            <a:avLst>
              <a:gd name="adj" fmla="val 50000"/>
            </a:avLst>
          </a:prstGeom>
          <a:solidFill>
            <a:srgbClr val="E7F1EA"/>
          </a:solidFill>
          <a:ln w="12700">
            <a:solidFill>
              <a:srgbClr val="1E6B3C"/>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E6B3C"/>
                </a:solidFill>
                <a:latin typeface="Arial"/>
              </a:rPr>
              <a:t>SICHER</a:t>
            </a:r>
          </a:p>
        </p:txBody>
      </p:sp>
      <p:sp>
        <p:nvSpPr>
          <p:cNvPr id="12" name="Rounded Rectangle 11"/>
          <p:cNvSpPr/>
          <p:nvPr/>
        </p:nvSpPr>
        <p:spPr>
          <a:xfrm>
            <a:off x="6766560" y="2331720"/>
            <a:ext cx="4572000" cy="640080"/>
          </a:xfrm>
          <a:prstGeom prst="roundRect">
            <a:avLst>
              <a:gd name="adj" fmla="val 10000"/>
            </a:avLst>
          </a:prstGeom>
          <a:solidFill>
            <a:srgbClr val="F5F5F5"/>
          </a:solidFill>
          <a:ln w="12700">
            <a:solidFill>
              <a:srgbClr val="1E6B3C"/>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0">
                <a:solidFill>
                  <a:srgbClr val="1A1A1A"/>
                </a:solidFill>
                <a:latin typeface="Courier New"/>
              </a:rPr>
              <a:t>-p 127.0.0.1:8080:80</a:t>
            </a:r>
          </a:p>
        </p:txBody>
      </p:sp>
      <p:cxnSp>
        <p:nvCxnSpPr>
          <p:cNvPr id="13" name="Connector 12"/>
          <p:cNvCxnSpPr/>
          <p:nvPr/>
        </p:nvCxnSpPr>
        <p:spPr>
          <a:xfrm>
            <a:off x="9052560" y="2971800"/>
            <a:ext cx="0" cy="457200"/>
          </a:xfrm>
          <a:prstGeom prst="line">
            <a:avLst/>
          </a:prstGeom>
          <a:ln w="25400">
            <a:solidFill>
              <a:srgbClr val="1E6B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766560" y="3429000"/>
            <a:ext cx="4572000" cy="777240"/>
          </a:xfrm>
          <a:prstGeom prst="roundRect">
            <a:avLst>
              <a:gd name="adj" fmla="val 10000"/>
            </a:avLst>
          </a:prstGeom>
          <a:solidFill>
            <a:srgbClr val="E7F1EA"/>
          </a:solidFill>
          <a:ln w="12700">
            <a:solidFill>
              <a:srgbClr val="1E6B3C"/>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Bindung: nur localhost</a:t>
            </a:r>
          </a:p>
          <a:p>
            <a:pPr algn="ctr"/>
            <a:r>
              <a:rPr sz="1100" b="0">
                <a:solidFill>
                  <a:srgbClr val="1A1A1A"/>
                </a:solidFill>
                <a:latin typeface="Arial"/>
              </a:rPr>
              <a:t>Loopback-Schnittstelle 127.0.0.1</a:t>
            </a:r>
          </a:p>
        </p:txBody>
      </p:sp>
      <p:cxnSp>
        <p:nvCxnSpPr>
          <p:cNvPr id="15" name="Connector 14"/>
          <p:cNvCxnSpPr/>
          <p:nvPr/>
        </p:nvCxnSpPr>
        <p:spPr>
          <a:xfrm>
            <a:off x="9052560" y="4206240"/>
            <a:ext cx="0" cy="457200"/>
          </a:xfrm>
          <a:prstGeom prst="line">
            <a:avLst/>
          </a:prstGeom>
          <a:ln w="25400">
            <a:solidFill>
              <a:srgbClr val="1E6B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766560" y="4663440"/>
            <a:ext cx="4572000" cy="1051560"/>
          </a:xfrm>
          <a:prstGeom prst="roundRect">
            <a:avLst>
              <a:gd name="adj" fmla="val 10000"/>
            </a:avLst>
          </a:prstGeom>
          <a:solidFill>
            <a:srgbClr val="E7F1EA"/>
          </a:solidFill>
          <a:ln w="12700">
            <a:solidFill>
              <a:srgbClr val="1E6B3C"/>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Nur Caddy (localhost)</a:t>
            </a:r>
          </a:p>
          <a:p>
            <a:pPr algn="ctr"/>
            <a:r>
              <a:rPr sz="1100" b="0">
                <a:solidFill>
                  <a:srgbClr val="1A1A1A"/>
                </a:solidFill>
                <a:latin typeface="Arial"/>
              </a:rPr>
              <a:t>erreicht den Container –</a:t>
            </a:r>
          </a:p>
          <a:p>
            <a:pPr algn="ctr"/>
            <a:r>
              <a:rPr sz="1100" b="0">
                <a:solidFill>
                  <a:srgbClr val="1A1A1A"/>
                </a:solidFill>
                <a:latin typeface="Arial"/>
              </a:rPr>
              <a:t>von außen kein Zugriff</a:t>
            </a:r>
          </a:p>
        </p:txBody>
      </p:sp>
      <p:sp>
        <p:nvSpPr>
          <p:cNvPr id="17" name="Rounded Rectangle 16"/>
          <p:cNvSpPr/>
          <p:nvPr/>
        </p:nvSpPr>
        <p:spPr>
          <a:xfrm>
            <a:off x="548640" y="5742432"/>
            <a:ext cx="11091672" cy="594360"/>
          </a:xfrm>
          <a:prstGeom prst="roundRect">
            <a:avLst>
              <a:gd name="adj" fmla="val 19231"/>
            </a:avLst>
          </a:prstGeom>
          <a:solidFill>
            <a:srgbClr val="F4F6FA"/>
          </a:solidFill>
          <a:ln w="9525">
            <a:solidFill>
              <a:srgbClr val="D8DE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09601" y="5939584"/>
            <a:ext cx="10756390" cy="200055"/>
          </a:xfrm>
          <a:prstGeom prst="rect">
            <a:avLst/>
          </a:prstGeom>
          <a:noFill/>
        </p:spPr>
        <p:txBody>
          <a:bodyPr wrap="square" lIns="0" tIns="0" rIns="0" bIns="0" anchor="ctr">
            <a:spAutoFit/>
          </a:bodyPr>
          <a:lstStyle/>
          <a:p>
            <a:r>
              <a:rPr sz="1300" b="1" dirty="0" err="1">
                <a:solidFill>
                  <a:srgbClr val="1E2761"/>
                </a:solidFill>
                <a:latin typeface="Calibri"/>
              </a:rPr>
              <a:t>Kernaussage</a:t>
            </a:r>
            <a:r>
              <a:rPr sz="1300" b="1" dirty="0">
                <a:solidFill>
                  <a:srgbClr val="1E2761"/>
                </a:solidFill>
                <a:latin typeface="Calibri"/>
              </a:rPr>
              <a:t>:  Traffic </a:t>
            </a:r>
            <a:r>
              <a:rPr sz="1300" b="1" dirty="0" err="1">
                <a:solidFill>
                  <a:srgbClr val="1E2761"/>
                </a:solidFill>
                <a:latin typeface="Calibri"/>
              </a:rPr>
              <a:t>durchläuft</a:t>
            </a:r>
            <a:r>
              <a:rPr sz="1300" b="1" dirty="0">
                <a:solidFill>
                  <a:srgbClr val="1E2761"/>
                </a:solidFill>
                <a:latin typeface="Calibri"/>
              </a:rPr>
              <a:t> </a:t>
            </a:r>
            <a:r>
              <a:rPr sz="1300" b="1" dirty="0" err="1">
                <a:solidFill>
                  <a:srgbClr val="1E2761"/>
                </a:solidFill>
                <a:latin typeface="Calibri"/>
              </a:rPr>
              <a:t>zuerst</a:t>
            </a:r>
            <a:r>
              <a:rPr sz="1300" b="1" dirty="0">
                <a:solidFill>
                  <a:srgbClr val="1E2761"/>
                </a:solidFill>
                <a:latin typeface="Calibri"/>
              </a:rPr>
              <a:t> die </a:t>
            </a:r>
            <a:r>
              <a:rPr sz="1300" b="1" dirty="0" err="1">
                <a:solidFill>
                  <a:srgbClr val="1E2761"/>
                </a:solidFill>
                <a:latin typeface="Calibri"/>
              </a:rPr>
              <a:t>leere</a:t>
            </a:r>
            <a:r>
              <a:rPr sz="1300" b="1" dirty="0">
                <a:solidFill>
                  <a:srgbClr val="1E2761"/>
                </a:solidFill>
                <a:latin typeface="Calibri"/>
              </a:rPr>
              <a:t> DOCKER-USER-Chain, </a:t>
            </a:r>
            <a:r>
              <a:rPr sz="1300" b="1" dirty="0" err="1">
                <a:solidFill>
                  <a:srgbClr val="1E2761"/>
                </a:solidFill>
                <a:latin typeface="Calibri"/>
              </a:rPr>
              <a:t>dann</a:t>
            </a:r>
            <a:r>
              <a:rPr sz="1300" b="1" dirty="0">
                <a:solidFill>
                  <a:srgbClr val="1E2761"/>
                </a:solidFill>
                <a:latin typeface="Calibri"/>
              </a:rPr>
              <a:t> die DOCKER-Chain </a:t>
            </a:r>
            <a:r>
              <a:rPr sz="1300" b="1" dirty="0" err="1">
                <a:solidFill>
                  <a:srgbClr val="1E2761"/>
                </a:solidFill>
                <a:latin typeface="Calibri"/>
              </a:rPr>
              <a:t>mit</a:t>
            </a:r>
            <a:r>
              <a:rPr sz="1300" b="1" dirty="0">
                <a:solidFill>
                  <a:srgbClr val="1E2761"/>
                </a:solidFill>
                <a:latin typeface="Calibri"/>
              </a:rPr>
              <a:t> Dockers </a:t>
            </a:r>
            <a:r>
              <a:rPr sz="1300" b="1" dirty="0" err="1">
                <a:solidFill>
                  <a:srgbClr val="1E2761"/>
                </a:solidFill>
                <a:latin typeface="Calibri"/>
              </a:rPr>
              <a:t>eigenen</a:t>
            </a:r>
            <a:r>
              <a:rPr sz="1300" b="1" dirty="0">
                <a:solidFill>
                  <a:srgbClr val="1E2761"/>
                </a:solidFill>
                <a:latin typeface="Calibri"/>
              </a:rPr>
              <a:t> </a:t>
            </a:r>
            <a:r>
              <a:rPr sz="1300" b="1" dirty="0" err="1">
                <a:solidFill>
                  <a:srgbClr val="1E2761"/>
                </a:solidFill>
                <a:latin typeface="Calibri"/>
              </a:rPr>
              <a:t>Regeln</a:t>
            </a:r>
            <a:r>
              <a:rPr sz="1300" b="1" dirty="0">
                <a:solidFill>
                  <a:srgbClr val="1E2761"/>
                </a:solidFill>
                <a:latin typeface="Calibri"/>
              </a:rPr>
              <a:t> – </a:t>
            </a:r>
            <a:r>
              <a:rPr sz="1300" b="1" dirty="0" err="1">
                <a:solidFill>
                  <a:srgbClr val="1E2761"/>
                </a:solidFill>
                <a:latin typeface="Calibri"/>
              </a:rPr>
              <a:t>ufw</a:t>
            </a:r>
            <a:r>
              <a:rPr sz="1300" b="1" dirty="0">
                <a:solidFill>
                  <a:srgbClr val="1E2761"/>
                </a:solidFill>
                <a:latin typeface="Calibri"/>
              </a:rPr>
              <a:t> (INPUT) </a:t>
            </a:r>
            <a:r>
              <a:rPr sz="1300" b="1" dirty="0" err="1">
                <a:solidFill>
                  <a:srgbClr val="1E2761"/>
                </a:solidFill>
                <a:latin typeface="Calibri"/>
              </a:rPr>
              <a:t>sieht</a:t>
            </a:r>
            <a:r>
              <a:rPr sz="1300" b="1" dirty="0">
                <a:solidFill>
                  <a:srgbClr val="1E2761"/>
                </a:solidFill>
                <a:latin typeface="Calibri"/>
              </a:rPr>
              <a:t> </a:t>
            </a:r>
            <a:r>
              <a:rPr sz="1300" b="1" dirty="0" err="1">
                <a:solidFill>
                  <a:srgbClr val="1E2761"/>
                </a:solidFill>
                <a:latin typeface="Calibri"/>
              </a:rPr>
              <a:t>nichts</a:t>
            </a:r>
            <a:r>
              <a:rPr sz="1300" b="1" dirty="0">
                <a:solidFill>
                  <a:srgbClr val="1E2761"/>
                </a:solidFill>
                <a:latin typeface="Calibri"/>
              </a:rPr>
              <a:t> </a:t>
            </a:r>
            <a:r>
              <a:rPr sz="1300" b="1" dirty="0" err="1">
                <a:solidFill>
                  <a:srgbClr val="1E2761"/>
                </a:solidFill>
                <a:latin typeface="Calibri"/>
              </a:rPr>
              <a:t>davon</a:t>
            </a:r>
            <a:r>
              <a:rPr sz="1300" b="1" dirty="0">
                <a:solidFill>
                  <a:srgbClr val="1E2761"/>
                </a:solidFill>
                <a:latin typeface="Calibri"/>
              </a:rPr>
              <a:t>.</a:t>
            </a:r>
          </a:p>
        </p:txBody>
      </p:sp>
      <p:sp>
        <p:nvSpPr>
          <p:cNvPr id="2" name="Foliennummernplatzhalter 4"/>
          <p:cNvSpPr>
            <a:spLocks noGrp="1"/>
          </p:cNvSpPr>
          <p:nvPr>
            <p:ph type="sldNum" sz="quarter" idx="4"/>
          </p:nvPr>
        </p:nvSpPr>
        <p:spPr/>
        <p:txBody>
          <a:bodyPr/>
          <a:lstStyle/>
          <a:p>
            <a:fld id="{43A6DCFB-163F-4561-BF28-3CD1FE47EE20}" type="slidenum">
              <a:rPr lang="de-DE" smtClean="0"/>
              <a:pPr/>
              <a:t>6</a:t>
            </a:fld>
            <a:endParaRPr lang="de-DE"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01" y="274638"/>
            <a:ext cx="10953313" cy="1143000"/>
          </a:xfrm>
        </p:spPr>
        <p:txBody>
          <a:bodyPr/>
          <a:lstStyle/>
          <a:p>
            <a:r>
              <a:rPr lang="de-DE" sz="2400" dirty="0"/>
              <a:t>Namensauflösung bis zur Container-IP</a:t>
            </a:r>
            <a:endParaRPr sz="2400" dirty="0"/>
          </a:p>
        </p:txBody>
      </p:sp>
      <p:sp>
        <p:nvSpPr>
          <p:cNvPr id="5" name="TextBox 4"/>
          <p:cNvSpPr txBox="1"/>
          <p:nvPr/>
        </p:nvSpPr>
        <p:spPr>
          <a:xfrm>
            <a:off x="548640" y="1691640"/>
            <a:ext cx="11091672" cy="256032"/>
          </a:xfrm>
          <a:prstGeom prst="rect">
            <a:avLst/>
          </a:prstGeom>
          <a:noFill/>
        </p:spPr>
        <p:txBody>
          <a:bodyPr wrap="square" lIns="0" tIns="0" rIns="0" bIns="0">
            <a:spAutoFit/>
          </a:bodyPr>
          <a:lstStyle/>
          <a:p>
            <a:pPr algn="ctr"/>
            <a:r>
              <a:rPr sz="1300" b="1" i="0">
                <a:solidFill>
                  <a:srgbClr val="1E2761"/>
                </a:solidFill>
                <a:latin typeface="Arial"/>
              </a:rPr>
              <a:t>Beispiel: Aufruf von www.&lt;IHRE-DOMAIN&gt;  (Dienst nginx-web) — Topologie links nach rechts</a:t>
            </a:r>
          </a:p>
        </p:txBody>
      </p:sp>
      <p:sp>
        <p:nvSpPr>
          <p:cNvPr id="6" name="Rounded Rectangle 5"/>
          <p:cNvSpPr/>
          <p:nvPr/>
        </p:nvSpPr>
        <p:spPr>
          <a:xfrm>
            <a:off x="548640" y="2240280"/>
            <a:ext cx="1645920" cy="1508760"/>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Client</a:t>
            </a:r>
          </a:p>
          <a:p>
            <a:pPr algn="ctr"/>
            <a:r>
              <a:rPr sz="1000" b="0">
                <a:solidFill>
                  <a:srgbClr val="1A1A1A"/>
                </a:solidFill>
                <a:latin typeface="Arial"/>
              </a:rPr>
              <a:t>(Internet)</a:t>
            </a:r>
          </a:p>
          <a:p>
            <a:pPr algn="ctr"/>
            <a:r>
              <a:rPr sz="900" b="0">
                <a:solidFill>
                  <a:srgbClr val="5B6472"/>
                </a:solidFill>
                <a:latin typeface="Arial"/>
              </a:rPr>
              <a:t>ruft auf: www.&lt;…&gt;</a:t>
            </a:r>
          </a:p>
        </p:txBody>
      </p:sp>
      <p:sp>
        <p:nvSpPr>
          <p:cNvPr id="7" name="Rounded Rectangle 6"/>
          <p:cNvSpPr/>
          <p:nvPr/>
        </p:nvSpPr>
        <p:spPr>
          <a:xfrm>
            <a:off x="2437790" y="2240280"/>
            <a:ext cx="1645920" cy="1508760"/>
          </a:xfrm>
          <a:prstGeom prst="roundRect">
            <a:avLst>
              <a:gd name="adj" fmla="val 10000"/>
            </a:avLst>
          </a:prstGeom>
          <a:solidFill>
            <a:srgbClr val="F5F5F5"/>
          </a:solidFill>
          <a:ln w="12700">
            <a:solidFill>
              <a:srgbClr val="005AA8"/>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Host: Caddy</a:t>
            </a:r>
          </a:p>
          <a:p>
            <a:pPr algn="ctr"/>
            <a:r>
              <a:rPr sz="1000" b="0">
                <a:solidFill>
                  <a:srgbClr val="1A1A1A"/>
                </a:solidFill>
                <a:latin typeface="Arial"/>
              </a:rPr>
              <a:t>(Reverse Proxy)</a:t>
            </a:r>
          </a:p>
          <a:p>
            <a:pPr algn="ctr"/>
            <a:r>
              <a:rPr sz="900" b="0">
                <a:solidFill>
                  <a:srgbClr val="5B6472"/>
                </a:solidFill>
                <a:latin typeface="Arial"/>
              </a:rPr>
              <a:t>443 → 127.0.0.1:8080</a:t>
            </a:r>
          </a:p>
        </p:txBody>
      </p:sp>
      <p:sp>
        <p:nvSpPr>
          <p:cNvPr id="8" name="Rounded Rectangle 7"/>
          <p:cNvSpPr/>
          <p:nvPr/>
        </p:nvSpPr>
        <p:spPr>
          <a:xfrm>
            <a:off x="4326940" y="2240280"/>
            <a:ext cx="1645920" cy="1508760"/>
          </a:xfrm>
          <a:prstGeom prst="roundRect">
            <a:avLst>
              <a:gd name="adj" fmla="val 10000"/>
            </a:avLst>
          </a:prstGeom>
          <a:solidFill>
            <a:srgbClr val="F5F5F5"/>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DOCKER-USER</a:t>
            </a:r>
          </a:p>
          <a:p>
            <a:pPr algn="ctr"/>
            <a:r>
              <a:rPr sz="1000" b="0">
                <a:solidFill>
                  <a:srgbClr val="1A1A1A"/>
                </a:solidFill>
                <a:latin typeface="Arial"/>
              </a:rPr>
              <a:t>(FORWARD, zuerst)</a:t>
            </a:r>
          </a:p>
          <a:p>
            <a:pPr algn="ctr"/>
            <a:r>
              <a:rPr sz="900" b="0">
                <a:solidFill>
                  <a:srgbClr val="5B6472"/>
                </a:solidFill>
                <a:latin typeface="Arial"/>
              </a:rPr>
              <a:t>leer – Durchlaufpunkt</a:t>
            </a:r>
          </a:p>
        </p:txBody>
      </p:sp>
      <p:sp>
        <p:nvSpPr>
          <p:cNvPr id="9" name="Rounded Rectangle 8"/>
          <p:cNvSpPr/>
          <p:nvPr/>
        </p:nvSpPr>
        <p:spPr>
          <a:xfrm>
            <a:off x="6216091" y="2240280"/>
            <a:ext cx="1645920" cy="1508760"/>
          </a:xfrm>
          <a:prstGeom prst="roundRect">
            <a:avLst>
              <a:gd name="adj" fmla="val 10000"/>
            </a:avLst>
          </a:prstGeom>
          <a:solidFill>
            <a:srgbClr val="FBE7E4"/>
          </a:solidFill>
          <a:ln w="12700">
            <a:solidFill>
              <a:srgbClr val="B03A2E"/>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DOCKER-Chain</a:t>
            </a:r>
          </a:p>
          <a:p>
            <a:pPr algn="ctr"/>
            <a:r>
              <a:rPr sz="1000" b="0">
                <a:solidFill>
                  <a:srgbClr val="1A1A1A"/>
                </a:solidFill>
                <a:latin typeface="Arial"/>
              </a:rPr>
              <a:t>(DNAT-Regel)</a:t>
            </a:r>
          </a:p>
          <a:p>
            <a:pPr algn="ctr"/>
            <a:r>
              <a:rPr sz="900" b="0">
                <a:solidFill>
                  <a:srgbClr val="5B6472"/>
                </a:solidFill>
                <a:latin typeface="Arial"/>
              </a:rPr>
              <a:t>→ 172.17.0.2 : 80</a:t>
            </a:r>
          </a:p>
        </p:txBody>
      </p:sp>
      <p:sp>
        <p:nvSpPr>
          <p:cNvPr id="10" name="Rounded Rectangle 9"/>
          <p:cNvSpPr/>
          <p:nvPr/>
        </p:nvSpPr>
        <p:spPr>
          <a:xfrm>
            <a:off x="8105241" y="2240280"/>
            <a:ext cx="1645920" cy="1508760"/>
          </a:xfrm>
          <a:prstGeom prst="roundRect">
            <a:avLst>
              <a:gd name="adj" fmla="val 10000"/>
            </a:avLst>
          </a:prstGeom>
          <a:solidFill>
            <a:srgbClr val="F5F5F5"/>
          </a:solidFill>
          <a:ln w="12700">
            <a:solidFill>
              <a:srgbClr val="F2B84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docker0-Bridge</a:t>
            </a:r>
          </a:p>
          <a:p>
            <a:pPr algn="ctr"/>
            <a:r>
              <a:rPr sz="1000" b="0">
                <a:solidFill>
                  <a:srgbClr val="1A1A1A"/>
                </a:solidFill>
                <a:latin typeface="Arial"/>
              </a:rPr>
              <a:t>(Standardnetz)</a:t>
            </a:r>
          </a:p>
          <a:p>
            <a:pPr algn="ctr"/>
            <a:r>
              <a:rPr sz="900" b="0">
                <a:solidFill>
                  <a:srgbClr val="5B6472"/>
                </a:solidFill>
                <a:latin typeface="Arial"/>
              </a:rPr>
              <a:t>172.17.0.0/16</a:t>
            </a:r>
          </a:p>
        </p:txBody>
      </p:sp>
      <p:sp>
        <p:nvSpPr>
          <p:cNvPr id="11" name="Rounded Rectangle 10"/>
          <p:cNvSpPr/>
          <p:nvPr/>
        </p:nvSpPr>
        <p:spPr>
          <a:xfrm>
            <a:off x="9994391" y="2240280"/>
            <a:ext cx="1645920" cy="1508760"/>
          </a:xfrm>
          <a:prstGeom prst="roundRect">
            <a:avLst>
              <a:gd name="adj" fmla="val 10000"/>
            </a:avLst>
          </a:prstGeom>
          <a:solidFill>
            <a:srgbClr val="E7F1EA"/>
          </a:solidFill>
          <a:ln w="12700">
            <a:solidFill>
              <a:srgbClr val="1E6B3C"/>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300" b="1">
                <a:solidFill>
                  <a:srgbClr val="1A1A1A"/>
                </a:solidFill>
                <a:latin typeface="Arial"/>
              </a:rPr>
              <a:t>Container</a:t>
            </a:r>
          </a:p>
          <a:p>
            <a:pPr algn="ctr"/>
            <a:r>
              <a:rPr sz="1100" b="0">
                <a:solidFill>
                  <a:srgbClr val="1A1A1A"/>
                </a:solidFill>
                <a:latin typeface="Arial"/>
              </a:rPr>
              <a:t>nginx-web</a:t>
            </a:r>
          </a:p>
          <a:p>
            <a:pPr algn="ctr"/>
            <a:r>
              <a:rPr sz="900" b="0">
                <a:solidFill>
                  <a:srgbClr val="5B6472"/>
                </a:solidFill>
                <a:latin typeface="Arial"/>
              </a:rPr>
              <a:t>172.17.0.2 : 80</a:t>
            </a:r>
          </a:p>
        </p:txBody>
      </p:sp>
      <p:cxnSp>
        <p:nvCxnSpPr>
          <p:cNvPr id="12" name="Connector 11"/>
          <p:cNvCxnSpPr/>
          <p:nvPr/>
        </p:nvCxnSpPr>
        <p:spPr>
          <a:xfrm>
            <a:off x="2194560" y="2994660"/>
            <a:ext cx="243230" cy="0"/>
          </a:xfrm>
          <a:prstGeom prst="line">
            <a:avLst/>
          </a:prstGeom>
          <a:ln w="31750">
            <a:solidFill>
              <a:srgbClr val="005AA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47495" y="3895344"/>
            <a:ext cx="1737360" cy="411480"/>
          </a:xfrm>
          <a:prstGeom prst="rect">
            <a:avLst/>
          </a:prstGeom>
          <a:noFill/>
        </p:spPr>
        <p:txBody>
          <a:bodyPr wrap="square" lIns="0" tIns="0" rIns="0" bIns="0">
            <a:spAutoFit/>
          </a:bodyPr>
          <a:lstStyle/>
          <a:p>
            <a:pPr algn="ctr"/>
            <a:r>
              <a:rPr sz="900" b="1" i="0">
                <a:solidFill>
                  <a:srgbClr val="005AA8"/>
                </a:solidFill>
                <a:latin typeface="Arial"/>
              </a:rPr>
              <a:t>INPUT (ufw)</a:t>
            </a:r>
          </a:p>
        </p:txBody>
      </p:sp>
      <p:cxnSp>
        <p:nvCxnSpPr>
          <p:cNvPr id="14" name="Connector 13"/>
          <p:cNvCxnSpPr/>
          <p:nvPr/>
        </p:nvCxnSpPr>
        <p:spPr>
          <a:xfrm>
            <a:off x="4083710" y="2994660"/>
            <a:ext cx="243230" cy="0"/>
          </a:xfrm>
          <a:prstGeom prst="line">
            <a:avLst/>
          </a:prstGeom>
          <a:ln w="31750">
            <a:solidFill>
              <a:srgbClr val="5B647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336645" y="3895344"/>
            <a:ext cx="1737360" cy="411480"/>
          </a:xfrm>
          <a:prstGeom prst="rect">
            <a:avLst/>
          </a:prstGeom>
          <a:noFill/>
        </p:spPr>
        <p:txBody>
          <a:bodyPr wrap="square" lIns="0" tIns="0" rIns="0" bIns="0">
            <a:spAutoFit/>
          </a:bodyPr>
          <a:lstStyle/>
          <a:p>
            <a:pPr algn="ctr"/>
            <a:r>
              <a:rPr sz="900" b="1" i="0">
                <a:solidFill>
                  <a:srgbClr val="5B6472"/>
                </a:solidFill>
                <a:latin typeface="Arial"/>
              </a:rPr>
              <a:t>FORWARD betreten</a:t>
            </a:r>
          </a:p>
        </p:txBody>
      </p:sp>
      <p:cxnSp>
        <p:nvCxnSpPr>
          <p:cNvPr id="16" name="Connector 15"/>
          <p:cNvCxnSpPr/>
          <p:nvPr/>
        </p:nvCxnSpPr>
        <p:spPr>
          <a:xfrm>
            <a:off x="5972860" y="2994660"/>
            <a:ext cx="243231" cy="0"/>
          </a:xfrm>
          <a:prstGeom prst="line">
            <a:avLst/>
          </a:prstGeom>
          <a:ln w="31750">
            <a:solidFill>
              <a:srgbClr val="B03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25795" y="3895344"/>
            <a:ext cx="1737360" cy="411480"/>
          </a:xfrm>
          <a:prstGeom prst="rect">
            <a:avLst/>
          </a:prstGeom>
          <a:noFill/>
        </p:spPr>
        <p:txBody>
          <a:bodyPr wrap="square" lIns="0" tIns="0" rIns="0" bIns="0">
            <a:spAutoFit/>
          </a:bodyPr>
          <a:lstStyle/>
          <a:p>
            <a:pPr algn="ctr"/>
            <a:r>
              <a:rPr sz="900" b="1" i="0">
                <a:solidFill>
                  <a:srgbClr val="B03A2E"/>
                </a:solidFill>
                <a:latin typeface="Arial"/>
              </a:rPr>
              <a:t>DNAT-Regel greift</a:t>
            </a:r>
          </a:p>
        </p:txBody>
      </p:sp>
      <p:cxnSp>
        <p:nvCxnSpPr>
          <p:cNvPr id="18" name="Connector 17"/>
          <p:cNvCxnSpPr/>
          <p:nvPr/>
        </p:nvCxnSpPr>
        <p:spPr>
          <a:xfrm>
            <a:off x="7862011" y="2994660"/>
            <a:ext cx="243230" cy="0"/>
          </a:xfrm>
          <a:prstGeom prst="line">
            <a:avLst/>
          </a:prstGeom>
          <a:ln w="31750">
            <a:solidFill>
              <a:srgbClr val="C99A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4946" y="3895344"/>
            <a:ext cx="1737360" cy="411480"/>
          </a:xfrm>
          <a:prstGeom prst="rect">
            <a:avLst/>
          </a:prstGeom>
          <a:noFill/>
        </p:spPr>
        <p:txBody>
          <a:bodyPr wrap="square" lIns="0" tIns="0" rIns="0" bIns="0">
            <a:spAutoFit/>
          </a:bodyPr>
          <a:lstStyle/>
          <a:p>
            <a:pPr algn="ctr"/>
            <a:r>
              <a:rPr sz="900" b="1" i="0">
                <a:solidFill>
                  <a:srgbClr val="8A6D1F"/>
                </a:solidFill>
                <a:latin typeface="Arial"/>
              </a:rPr>
              <a:t>Docker-intern</a:t>
            </a:r>
          </a:p>
        </p:txBody>
      </p:sp>
      <p:cxnSp>
        <p:nvCxnSpPr>
          <p:cNvPr id="20" name="Connector 19"/>
          <p:cNvCxnSpPr/>
          <p:nvPr/>
        </p:nvCxnSpPr>
        <p:spPr>
          <a:xfrm>
            <a:off x="9751161" y="2994660"/>
            <a:ext cx="243230" cy="0"/>
          </a:xfrm>
          <a:prstGeom prst="line">
            <a:avLst/>
          </a:prstGeom>
          <a:ln w="31750">
            <a:solidFill>
              <a:srgbClr val="1E6B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004096" y="3895344"/>
            <a:ext cx="1737360" cy="411480"/>
          </a:xfrm>
          <a:prstGeom prst="rect">
            <a:avLst/>
          </a:prstGeom>
          <a:noFill/>
        </p:spPr>
        <p:txBody>
          <a:bodyPr wrap="square" lIns="0" tIns="0" rIns="0" bIns="0">
            <a:spAutoFit/>
          </a:bodyPr>
          <a:lstStyle/>
          <a:p>
            <a:pPr algn="ctr"/>
            <a:r>
              <a:rPr sz="900" b="1" i="0">
                <a:solidFill>
                  <a:srgbClr val="1E6B3C"/>
                </a:solidFill>
                <a:latin typeface="Arial"/>
              </a:rPr>
              <a:t>Bridge</a:t>
            </a:r>
          </a:p>
        </p:txBody>
      </p:sp>
      <p:sp>
        <p:nvSpPr>
          <p:cNvPr id="22" name="Rounded Rectangle 21"/>
          <p:cNvSpPr/>
          <p:nvPr/>
        </p:nvSpPr>
        <p:spPr>
          <a:xfrm>
            <a:off x="548640" y="4389120"/>
            <a:ext cx="11091672" cy="658368"/>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300" b="1">
                <a:solidFill>
                  <a:srgbClr val="1A1A1A"/>
                </a:solidFill>
                <a:latin typeface="Arial"/>
              </a:rPr>
              <a:t>Korrelation zu den Filter-Chains (vgl. vorherige Folie):</a:t>
            </a:r>
          </a:p>
          <a:p>
            <a:pPr algn="l"/>
            <a:r>
              <a:rPr sz="1100" b="0">
                <a:solidFill>
                  <a:srgbClr val="1A1A1A"/>
                </a:solidFill>
                <a:latin typeface="Arial"/>
              </a:rPr>
              <a:t>Nur Hop 1 (Client → Host:443) läuft durch ufw (INPUT). Ab Hop 2 durchläuft der Traffic die FORWARD-Chain: zuerst DOCKER-USER (leer), dann die DOCKER-Chain mit der eigentlichen DNAT-Regel.</a:t>
            </a:r>
          </a:p>
        </p:txBody>
      </p:sp>
      <p:sp>
        <p:nvSpPr>
          <p:cNvPr id="23" name="TextBox 22"/>
          <p:cNvSpPr txBox="1"/>
          <p:nvPr/>
        </p:nvSpPr>
        <p:spPr>
          <a:xfrm>
            <a:off x="548640" y="5166359"/>
            <a:ext cx="11091672" cy="274320"/>
          </a:xfrm>
          <a:prstGeom prst="rect">
            <a:avLst/>
          </a:prstGeom>
          <a:noFill/>
        </p:spPr>
        <p:txBody>
          <a:bodyPr wrap="square" lIns="0" tIns="0" rIns="0" bIns="0">
            <a:spAutoFit/>
          </a:bodyPr>
          <a:lstStyle/>
          <a:p>
            <a:pPr algn="ctr"/>
            <a:r>
              <a:rPr sz="1100" b="0" i="1">
                <a:solidFill>
                  <a:srgbClr val="5B6472"/>
                </a:solidFill>
                <a:latin typeface="Arial"/>
              </a:rPr>
              <a:t>Analog: dashboard.&lt;IHRE-DOMAIN&gt; → 127.0.0.1:1880 → 172.17.0.3:1880 → Container nodered (identischer Mechanismus)</a:t>
            </a:r>
          </a:p>
        </p:txBody>
      </p:sp>
      <p:sp>
        <p:nvSpPr>
          <p:cNvPr id="24" name="Rounded Rectangle 23"/>
          <p:cNvSpPr/>
          <p:nvPr/>
        </p:nvSpPr>
        <p:spPr>
          <a:xfrm>
            <a:off x="548640" y="5577840"/>
            <a:ext cx="11091672" cy="594360"/>
          </a:xfrm>
          <a:prstGeom prst="roundRect">
            <a:avLst>
              <a:gd name="adj" fmla="val 19231"/>
            </a:avLst>
          </a:prstGeom>
          <a:solidFill>
            <a:srgbClr val="F4F6FA"/>
          </a:solidFill>
          <a:ln w="9525">
            <a:solidFill>
              <a:srgbClr val="D8DE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59" y="5577840"/>
            <a:ext cx="10543032" cy="594360"/>
          </a:xfrm>
          <a:prstGeom prst="rect">
            <a:avLst/>
          </a:prstGeom>
          <a:noFill/>
        </p:spPr>
        <p:txBody>
          <a:bodyPr wrap="square" lIns="0" tIns="0" rIns="0" bIns="0" anchor="ctr">
            <a:spAutoFit/>
          </a:bodyPr>
          <a:lstStyle/>
          <a:p>
            <a:r>
              <a:rPr sz="1300" b="1">
                <a:solidFill>
                  <a:srgbClr val="1E2761"/>
                </a:solidFill>
                <a:latin typeface="Calibri"/>
              </a:rPr>
              <a:t>Kernaussage:  Der Weg zum Container quert zwei Filter-Punkte – INPUT für den Host-Port, FORWARD mit DOCKER-USER (leer) → DOCKER-Chain (DNAT-Regel) für den Container-Port.</a:t>
            </a:r>
          </a:p>
        </p:txBody>
      </p:sp>
      <p:sp>
        <p:nvSpPr>
          <p:cNvPr id="2" name="Foliennummernplatzhalter 4"/>
          <p:cNvSpPr>
            <a:spLocks noGrp="1"/>
          </p:cNvSpPr>
          <p:nvPr>
            <p:ph type="sldNum" sz="quarter" idx="4"/>
          </p:nvPr>
        </p:nvSpPr>
        <p:spPr/>
        <p:txBody>
          <a:bodyPr/>
          <a:lstStyle/>
          <a:p>
            <a:fld id="{43A6DCFB-163F-4561-BF28-3CD1FE47EE20}" type="slidenum">
              <a:rPr lang="de-DE" smtClean="0"/>
              <a:pPr/>
              <a:t>7</a:t>
            </a:fld>
            <a:endParaRPr lang="de-DE"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534949"/>
            <a:ext cx="10953313" cy="1143000"/>
          </a:xfrm>
        </p:spPr>
        <p:txBody>
          <a:bodyPr/>
          <a:lstStyle/>
          <a:p>
            <a:r>
              <a:rPr lang="en-US" sz="2000" dirty="0"/>
              <a:t>nginx-Container mit Bind Mount</a:t>
            </a:r>
            <a:br>
              <a:rPr lang="en-US" sz="2000" dirty="0"/>
            </a:br>
            <a:br>
              <a:rPr lang="en-US" sz="2000" dirty="0"/>
            </a:br>
            <a:endParaRPr lang="de-DE" sz="1998" dirty="0"/>
          </a:p>
        </p:txBody>
      </p:sp>
      <p:sp>
        <p:nvSpPr>
          <p:cNvPr id="5" name="Foliennummernplatzhalter 4"/>
          <p:cNvSpPr>
            <a:spLocks noGrp="1"/>
          </p:cNvSpPr>
          <p:nvPr>
            <p:ph type="sldNum" sz="quarter" idx="4"/>
          </p:nvPr>
        </p:nvSpPr>
        <p:spPr/>
        <p:txBody>
          <a:bodyPr/>
          <a:lstStyle/>
          <a:p>
            <a:fld id="{43A6DCFB-163F-4561-BF28-3CD1FE47EE20}" type="slidenum">
              <a:rPr lang="de-DE" smtClean="0"/>
              <a:pPr/>
              <a:t>8</a:t>
            </a:fld>
            <a:endParaRPr lang="de-DE" dirty="0"/>
          </a:p>
        </p:txBody>
      </p:sp>
      <p:sp>
        <p:nvSpPr>
          <p:cNvPr id="41" name="Shape 2">
            <a:extLst>
              <a:ext uri="{FF2B5EF4-FFF2-40B4-BE49-F238E27FC236}">
                <a16:creationId xmlns:a16="http://schemas.microsoft.com/office/drawing/2014/main" id="{38C067B0-3936-41B1-A465-6CF531D3A8B9}"/>
              </a:ext>
            </a:extLst>
          </p:cNvPr>
          <p:cNvSpPr/>
          <p:nvPr/>
        </p:nvSpPr>
        <p:spPr>
          <a:xfrm>
            <a:off x="815896" y="1897817"/>
            <a:ext cx="4819610" cy="2860437"/>
          </a:xfrm>
          <a:prstGeom prst="roundRect">
            <a:avLst>
              <a:gd name="adj" fmla="val 4329"/>
            </a:avLst>
          </a:prstGeom>
          <a:solidFill>
            <a:srgbClr val="1A222C"/>
          </a:solidFill>
          <a:ln w="6350">
            <a:solidFill>
              <a:srgbClr val="2A3540"/>
            </a:solidFill>
            <a:prstDash val="solid"/>
          </a:ln>
        </p:spPr>
      </p:sp>
      <p:sp>
        <p:nvSpPr>
          <p:cNvPr id="42" name="Text 3">
            <a:extLst>
              <a:ext uri="{FF2B5EF4-FFF2-40B4-BE49-F238E27FC236}">
                <a16:creationId xmlns:a16="http://schemas.microsoft.com/office/drawing/2014/main" id="{1AAB280A-C58B-4600-91C2-05E8E72EA5FA}"/>
              </a:ext>
            </a:extLst>
          </p:cNvPr>
          <p:cNvSpPr/>
          <p:nvPr/>
        </p:nvSpPr>
        <p:spPr>
          <a:xfrm>
            <a:off x="1074301" y="2337554"/>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9BA8B5"/>
                </a:solidFill>
                <a:latin typeface="Courier New" pitchFamily="34" charset="0"/>
                <a:ea typeface="Courier New" pitchFamily="34" charset="-122"/>
                <a:cs typeface="Courier New" pitchFamily="34" charset="-120"/>
              </a:rPr>
              <a:t>$ mkdir -p /srv/www</a:t>
            </a:r>
            <a:endParaRPr lang="en-US" sz="1200" dirty="0"/>
          </a:p>
        </p:txBody>
      </p:sp>
      <p:sp>
        <p:nvSpPr>
          <p:cNvPr id="43" name="Text 4">
            <a:extLst>
              <a:ext uri="{FF2B5EF4-FFF2-40B4-BE49-F238E27FC236}">
                <a16:creationId xmlns:a16="http://schemas.microsoft.com/office/drawing/2014/main" id="{8AAEFDEB-D914-4800-867A-E1B2F3B52DA4}"/>
              </a:ext>
            </a:extLst>
          </p:cNvPr>
          <p:cNvSpPr/>
          <p:nvPr/>
        </p:nvSpPr>
        <p:spPr>
          <a:xfrm>
            <a:off x="1074301" y="2629614"/>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nano /srv/www/index.html</a:t>
            </a:r>
            <a:endParaRPr lang="en-US" sz="1200" dirty="0"/>
          </a:p>
        </p:txBody>
      </p:sp>
      <p:sp>
        <p:nvSpPr>
          <p:cNvPr id="44" name="Text 5">
            <a:extLst>
              <a:ext uri="{FF2B5EF4-FFF2-40B4-BE49-F238E27FC236}">
                <a16:creationId xmlns:a16="http://schemas.microsoft.com/office/drawing/2014/main" id="{D23E1F0C-757A-42E1-AD49-385B2705298C}"/>
              </a:ext>
            </a:extLst>
          </p:cNvPr>
          <p:cNvSpPr/>
          <p:nvPr/>
        </p:nvSpPr>
        <p:spPr>
          <a:xfrm>
            <a:off x="1074301" y="2921675"/>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docker run -d --name nginx-web \</a:t>
            </a:r>
            <a:endParaRPr lang="en-US" sz="1200" dirty="0"/>
          </a:p>
        </p:txBody>
      </p:sp>
      <p:sp>
        <p:nvSpPr>
          <p:cNvPr id="45" name="Text 6">
            <a:extLst>
              <a:ext uri="{FF2B5EF4-FFF2-40B4-BE49-F238E27FC236}">
                <a16:creationId xmlns:a16="http://schemas.microsoft.com/office/drawing/2014/main" id="{FF804CF7-5F0A-4A1A-825E-C719AE6AB240}"/>
              </a:ext>
            </a:extLst>
          </p:cNvPr>
          <p:cNvSpPr/>
          <p:nvPr/>
        </p:nvSpPr>
        <p:spPr>
          <a:xfrm>
            <a:off x="1074301" y="3213735"/>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--restart unless-stopped \</a:t>
            </a:r>
            <a:endParaRPr lang="en-US" sz="1200" dirty="0"/>
          </a:p>
        </p:txBody>
      </p:sp>
      <p:sp>
        <p:nvSpPr>
          <p:cNvPr id="46" name="Text 7">
            <a:extLst>
              <a:ext uri="{FF2B5EF4-FFF2-40B4-BE49-F238E27FC236}">
                <a16:creationId xmlns:a16="http://schemas.microsoft.com/office/drawing/2014/main" id="{24A663C8-1008-4A42-9F39-02CC281DFE5F}"/>
              </a:ext>
            </a:extLst>
          </p:cNvPr>
          <p:cNvSpPr/>
          <p:nvPr/>
        </p:nvSpPr>
        <p:spPr>
          <a:xfrm>
            <a:off x="1074301" y="3505795"/>
            <a:ext cx="4431884" cy="254000"/>
          </a:xfrm>
          <a:prstGeom prst="rect">
            <a:avLst/>
          </a:prstGeom>
          <a:noFill/>
          <a:ln/>
        </p:spPr>
        <p:txBody>
          <a:bodyPr wrap="square" lIns="0" tIns="0" rIns="0" bIns="0" rtlCol="0" anchor="t">
            <a:normAutofit/>
          </a:bodyPr>
          <a:lstStyle/>
          <a:p>
            <a:pPr marL="0" indent="0" algn="l">
              <a:lnSpc>
                <a:spcPts val="1800"/>
              </a:lnSpc>
              <a:buNone/>
            </a:pPr>
            <a:r>
              <a:rPr lang="en-US" sz="1200" b="1" dirty="0">
                <a:solidFill>
                  <a:srgbClr val="F2B84B"/>
                </a:solidFill>
                <a:latin typeface="Courier New" pitchFamily="34" charset="0"/>
                <a:ea typeface="Courier New" pitchFamily="34" charset="-122"/>
                <a:cs typeface="Courier New" pitchFamily="34" charset="-120"/>
              </a:rPr>
              <a:t>    -p 127.0.0.1:8080:80 \</a:t>
            </a:r>
            <a:endParaRPr lang="en-US" sz="1200" dirty="0"/>
          </a:p>
        </p:txBody>
      </p:sp>
      <p:sp>
        <p:nvSpPr>
          <p:cNvPr id="47" name="Text 8">
            <a:extLst>
              <a:ext uri="{FF2B5EF4-FFF2-40B4-BE49-F238E27FC236}">
                <a16:creationId xmlns:a16="http://schemas.microsoft.com/office/drawing/2014/main" id="{532CD5DA-7718-4A8E-8831-B62B02F6B3C1}"/>
              </a:ext>
            </a:extLst>
          </p:cNvPr>
          <p:cNvSpPr/>
          <p:nvPr/>
        </p:nvSpPr>
        <p:spPr>
          <a:xfrm>
            <a:off x="1074301" y="3797856"/>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-v /srv/www:/usr/share/nginx/html:ro nginx</a:t>
            </a:r>
            <a:endParaRPr lang="en-US" sz="1200" dirty="0"/>
          </a:p>
        </p:txBody>
      </p:sp>
      <p:sp>
        <p:nvSpPr>
          <p:cNvPr id="48" name="Text 9">
            <a:extLst>
              <a:ext uri="{FF2B5EF4-FFF2-40B4-BE49-F238E27FC236}">
                <a16:creationId xmlns:a16="http://schemas.microsoft.com/office/drawing/2014/main" id="{0FA88FCB-C79E-4161-BB07-82B54DE702AE}"/>
              </a:ext>
            </a:extLst>
          </p:cNvPr>
          <p:cNvSpPr/>
          <p:nvPr/>
        </p:nvSpPr>
        <p:spPr>
          <a:xfrm>
            <a:off x="1074301" y="4089916"/>
            <a:ext cx="4431884" cy="254000"/>
          </a:xfrm>
          <a:prstGeom prst="rect">
            <a:avLst/>
          </a:prstGeom>
          <a:noFill/>
          <a:ln/>
        </p:spPr>
        <p:txBody>
          <a:bodyPr wrap="square" lIns="0" tIns="0" rIns="0" bIns="0" rtlCol="0" anchor="t">
            <a:normAutofit/>
          </a:bodyPr>
          <a:lstStyle/>
          <a:p>
            <a:pPr marL="0" indent="0" algn="l">
              <a:lnSpc>
                <a:spcPts val="1800"/>
              </a:lnSpc>
              <a:buNone/>
            </a:pPr>
            <a:r>
              <a:rPr sz="1200" b="0">
                <a:solidFill>
                  <a:srgbClr val="F3F5F2"/>
                </a:solidFill>
                <a:latin typeface="Courier New"/>
              </a:rPr>
              <a:t>$ curl http://localhost:8080</a:t>
            </a:r>
            <a:endParaRPr lang="en-US" sz="1200" dirty="0"/>
          </a:p>
        </p:txBody>
      </p:sp>
      <p:sp>
        <p:nvSpPr>
          <p:cNvPr id="49" name="Shape 10">
            <a:extLst>
              <a:ext uri="{FF2B5EF4-FFF2-40B4-BE49-F238E27FC236}">
                <a16:creationId xmlns:a16="http://schemas.microsoft.com/office/drawing/2014/main" id="{8F857C7B-B20F-46F9-8EE1-DA98ED1AAE54}"/>
              </a:ext>
            </a:extLst>
          </p:cNvPr>
          <p:cNvSpPr/>
          <p:nvPr/>
        </p:nvSpPr>
        <p:spPr>
          <a:xfrm>
            <a:off x="5997377" y="2043906"/>
            <a:ext cx="349171" cy="349171"/>
          </a:xfrm>
          <a:prstGeom prst="roundRect">
            <a:avLst>
              <a:gd name="adj" fmla="val 50000"/>
            </a:avLst>
          </a:prstGeom>
          <a:solidFill>
            <a:srgbClr val="F2B84B">
              <a:alpha val="15000"/>
            </a:srgbClr>
          </a:solidFill>
          <a:ln w="6350">
            <a:solidFill>
              <a:srgbClr val="F2B84B"/>
            </a:solidFill>
            <a:prstDash val="solid"/>
          </a:ln>
        </p:spPr>
      </p:sp>
      <p:sp>
        <p:nvSpPr>
          <p:cNvPr id="50" name="Text 11">
            <a:extLst>
              <a:ext uri="{FF2B5EF4-FFF2-40B4-BE49-F238E27FC236}">
                <a16:creationId xmlns:a16="http://schemas.microsoft.com/office/drawing/2014/main" id="{1C8F9B9E-BF92-43F2-B472-F74A689D5FE6}"/>
              </a:ext>
            </a:extLst>
          </p:cNvPr>
          <p:cNvSpPr/>
          <p:nvPr/>
        </p:nvSpPr>
        <p:spPr>
          <a:xfrm>
            <a:off x="6122432" y="2094071"/>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1</a:t>
            </a:r>
            <a:endParaRPr lang="en-US" sz="1400" dirty="0"/>
          </a:p>
        </p:txBody>
      </p:sp>
      <p:sp>
        <p:nvSpPr>
          <p:cNvPr id="51" name="Text 12">
            <a:extLst>
              <a:ext uri="{FF2B5EF4-FFF2-40B4-BE49-F238E27FC236}">
                <a16:creationId xmlns:a16="http://schemas.microsoft.com/office/drawing/2014/main" id="{B9AA4CCF-E012-41F2-9846-BB357A6ADA52}"/>
              </a:ext>
            </a:extLst>
          </p:cNvPr>
          <p:cNvSpPr/>
          <p:nvPr/>
        </p:nvSpPr>
        <p:spPr>
          <a:xfrm>
            <a:off x="6502122" y="2040731"/>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Webinhalte vorbereiten</a:t>
            </a:r>
            <a:endParaRPr lang="en-US" sz="1400" dirty="0"/>
          </a:p>
        </p:txBody>
      </p:sp>
      <p:sp>
        <p:nvSpPr>
          <p:cNvPr id="52" name="Text 13">
            <a:extLst>
              <a:ext uri="{FF2B5EF4-FFF2-40B4-BE49-F238E27FC236}">
                <a16:creationId xmlns:a16="http://schemas.microsoft.com/office/drawing/2014/main" id="{8294DD96-C001-49F2-8130-4C473B854ED3}"/>
              </a:ext>
            </a:extLst>
          </p:cNvPr>
          <p:cNvSpPr/>
          <p:nvPr/>
        </p:nvSpPr>
        <p:spPr>
          <a:xfrm>
            <a:off x="6502122" y="2292072"/>
            <a:ext cx="5023472" cy="4164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index.html im Host-Verzeichnis /srv/www anlegen</a:t>
            </a:r>
            <a:endParaRPr lang="en-US" sz="1400" dirty="0"/>
          </a:p>
        </p:txBody>
      </p:sp>
      <p:sp>
        <p:nvSpPr>
          <p:cNvPr id="53" name="Text 14">
            <a:extLst>
              <a:ext uri="{FF2B5EF4-FFF2-40B4-BE49-F238E27FC236}">
                <a16:creationId xmlns:a16="http://schemas.microsoft.com/office/drawing/2014/main" id="{763870ED-19DF-43FF-A66E-56694F219C40}"/>
              </a:ext>
            </a:extLst>
          </p:cNvPr>
          <p:cNvSpPr/>
          <p:nvPr/>
        </p:nvSpPr>
        <p:spPr>
          <a:xfrm>
            <a:off x="6502122" y="2721174"/>
            <a:ext cx="5023472" cy="215900"/>
          </a:xfrm>
          <a:prstGeom prst="rect">
            <a:avLst/>
          </a:prstGeom>
          <a:noFill/>
          <a:ln/>
        </p:spPr>
        <p:txBody>
          <a:bodyPr wrap="square" lIns="0" tIns="0" rIns="0" bIns="0" rtlCol="0" anchor="t">
            <a:normAutofit/>
          </a:bodyPr>
          <a:lstStyle/>
          <a:p>
            <a:pPr marL="0" indent="0" algn="l">
              <a:lnSpc>
                <a:spcPts val="1500"/>
              </a:lnSpc>
              <a:buNone/>
            </a:pPr>
            <a:r>
              <a:rPr lang="en-US" sz="1400" dirty="0">
                <a:ea typeface="Courier New" pitchFamily="34" charset="-122"/>
                <a:cs typeface="Courier New" pitchFamily="34" charset="-120"/>
              </a:rPr>
              <a:t>mkdir -p /srv/www</a:t>
            </a:r>
            <a:endParaRPr lang="en-US" sz="1400" dirty="0"/>
          </a:p>
        </p:txBody>
      </p:sp>
      <p:sp>
        <p:nvSpPr>
          <p:cNvPr id="54" name="Shape 15">
            <a:extLst>
              <a:ext uri="{FF2B5EF4-FFF2-40B4-BE49-F238E27FC236}">
                <a16:creationId xmlns:a16="http://schemas.microsoft.com/office/drawing/2014/main" id="{FDA7ADAD-64AE-483B-AB8D-DFEA2D20D6F4}"/>
              </a:ext>
            </a:extLst>
          </p:cNvPr>
          <p:cNvSpPr/>
          <p:nvPr/>
        </p:nvSpPr>
        <p:spPr>
          <a:xfrm>
            <a:off x="5997377" y="3117969"/>
            <a:ext cx="349171" cy="349171"/>
          </a:xfrm>
          <a:prstGeom prst="roundRect">
            <a:avLst>
              <a:gd name="adj" fmla="val 50000"/>
            </a:avLst>
          </a:prstGeom>
          <a:solidFill>
            <a:srgbClr val="F2B84B">
              <a:alpha val="15000"/>
            </a:srgbClr>
          </a:solidFill>
          <a:ln w="6350">
            <a:solidFill>
              <a:srgbClr val="F2B84B"/>
            </a:solidFill>
            <a:prstDash val="solid"/>
          </a:ln>
        </p:spPr>
      </p:sp>
      <p:sp>
        <p:nvSpPr>
          <p:cNvPr id="55" name="Text 16">
            <a:extLst>
              <a:ext uri="{FF2B5EF4-FFF2-40B4-BE49-F238E27FC236}">
                <a16:creationId xmlns:a16="http://schemas.microsoft.com/office/drawing/2014/main" id="{4164429F-9F1E-424F-AFE2-43B367F37BE9}"/>
              </a:ext>
            </a:extLst>
          </p:cNvPr>
          <p:cNvSpPr/>
          <p:nvPr/>
        </p:nvSpPr>
        <p:spPr>
          <a:xfrm>
            <a:off x="6122432" y="3168134"/>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2</a:t>
            </a:r>
            <a:endParaRPr lang="en-US" sz="1400" dirty="0"/>
          </a:p>
        </p:txBody>
      </p:sp>
      <p:sp>
        <p:nvSpPr>
          <p:cNvPr id="56" name="Text 17">
            <a:extLst>
              <a:ext uri="{FF2B5EF4-FFF2-40B4-BE49-F238E27FC236}">
                <a16:creationId xmlns:a16="http://schemas.microsoft.com/office/drawing/2014/main" id="{10AD6FAB-7B0B-43BD-A629-8F05EEBBED60}"/>
              </a:ext>
            </a:extLst>
          </p:cNvPr>
          <p:cNvSpPr/>
          <p:nvPr/>
        </p:nvSpPr>
        <p:spPr>
          <a:xfrm>
            <a:off x="6502122" y="3114794"/>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Bind Mount verstehen</a:t>
            </a:r>
            <a:endParaRPr lang="en-US" sz="1400" dirty="0"/>
          </a:p>
        </p:txBody>
      </p:sp>
      <p:sp>
        <p:nvSpPr>
          <p:cNvPr id="57" name="Text 18">
            <a:extLst>
              <a:ext uri="{FF2B5EF4-FFF2-40B4-BE49-F238E27FC236}">
                <a16:creationId xmlns:a16="http://schemas.microsoft.com/office/drawing/2014/main" id="{C21BBB92-8131-4FF5-883C-DB37F1896D0C}"/>
              </a:ext>
            </a:extLst>
          </p:cNvPr>
          <p:cNvSpPr/>
          <p:nvPr/>
        </p:nvSpPr>
        <p:spPr>
          <a:xfrm>
            <a:off x="6502122" y="3366135"/>
            <a:ext cx="5023472" cy="4164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Sie bestimmen den Host-Pfad – Docker verwaltet ihn nicht</a:t>
            </a:r>
            <a:endParaRPr lang="en-US" sz="1400" dirty="0"/>
          </a:p>
        </p:txBody>
      </p:sp>
      <p:sp>
        <p:nvSpPr>
          <p:cNvPr id="58" name="Shape 19">
            <a:extLst>
              <a:ext uri="{FF2B5EF4-FFF2-40B4-BE49-F238E27FC236}">
                <a16:creationId xmlns:a16="http://schemas.microsoft.com/office/drawing/2014/main" id="{21AAD443-ED9F-4532-835D-74575E2EFA63}"/>
              </a:ext>
            </a:extLst>
          </p:cNvPr>
          <p:cNvSpPr/>
          <p:nvPr/>
        </p:nvSpPr>
        <p:spPr>
          <a:xfrm>
            <a:off x="5997377" y="3963432"/>
            <a:ext cx="349171" cy="349171"/>
          </a:xfrm>
          <a:prstGeom prst="roundRect">
            <a:avLst>
              <a:gd name="adj" fmla="val 50000"/>
            </a:avLst>
          </a:prstGeom>
          <a:solidFill>
            <a:srgbClr val="F2B84B">
              <a:alpha val="15000"/>
            </a:srgbClr>
          </a:solidFill>
          <a:ln w="6350">
            <a:solidFill>
              <a:srgbClr val="F2B84B"/>
            </a:solidFill>
            <a:prstDash val="solid"/>
          </a:ln>
        </p:spPr>
      </p:sp>
      <p:sp>
        <p:nvSpPr>
          <p:cNvPr id="59" name="Text 20">
            <a:extLst>
              <a:ext uri="{FF2B5EF4-FFF2-40B4-BE49-F238E27FC236}">
                <a16:creationId xmlns:a16="http://schemas.microsoft.com/office/drawing/2014/main" id="{0F6A2A80-7820-4F44-8E7A-61751819FAFC}"/>
              </a:ext>
            </a:extLst>
          </p:cNvPr>
          <p:cNvSpPr/>
          <p:nvPr/>
        </p:nvSpPr>
        <p:spPr>
          <a:xfrm>
            <a:off x="6122432" y="4013597"/>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3</a:t>
            </a:r>
            <a:endParaRPr lang="en-US" sz="1400" dirty="0"/>
          </a:p>
        </p:txBody>
      </p:sp>
      <p:sp>
        <p:nvSpPr>
          <p:cNvPr id="60" name="Text 21">
            <a:extLst>
              <a:ext uri="{FF2B5EF4-FFF2-40B4-BE49-F238E27FC236}">
                <a16:creationId xmlns:a16="http://schemas.microsoft.com/office/drawing/2014/main" id="{477E6D75-3A3B-475F-8766-52DFA7645D93}"/>
              </a:ext>
            </a:extLst>
          </p:cNvPr>
          <p:cNvSpPr/>
          <p:nvPr/>
        </p:nvSpPr>
        <p:spPr>
          <a:xfrm>
            <a:off x="6502122" y="3960257"/>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Container starten &amp; testen</a:t>
            </a:r>
            <a:endParaRPr lang="en-US" sz="1400" dirty="0"/>
          </a:p>
        </p:txBody>
      </p:sp>
      <p:sp>
        <p:nvSpPr>
          <p:cNvPr id="61" name="Text 22">
            <a:extLst>
              <a:ext uri="{FF2B5EF4-FFF2-40B4-BE49-F238E27FC236}">
                <a16:creationId xmlns:a16="http://schemas.microsoft.com/office/drawing/2014/main" id="{3CE88406-4D3B-44C6-A32D-A5EF1D2984C7}"/>
              </a:ext>
            </a:extLst>
          </p:cNvPr>
          <p:cNvSpPr/>
          <p:nvPr/>
        </p:nvSpPr>
        <p:spPr>
          <a:xfrm>
            <a:off x="6502122" y="4198858"/>
            <a:ext cx="5023472" cy="2209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-v /srv/www:/usr/share/nginx/html:ro</a:t>
            </a:r>
            <a:endParaRPr lang="en-US" sz="1400" dirty="0"/>
          </a:p>
        </p:txBody>
      </p:sp>
      <p:sp>
        <p:nvSpPr>
          <p:cNvPr id="62" name="Text 23">
            <a:extLst>
              <a:ext uri="{FF2B5EF4-FFF2-40B4-BE49-F238E27FC236}">
                <a16:creationId xmlns:a16="http://schemas.microsoft.com/office/drawing/2014/main" id="{797138DB-BC51-4397-BF84-450B27ADBDB3}"/>
              </a:ext>
            </a:extLst>
          </p:cNvPr>
          <p:cNvSpPr/>
          <p:nvPr/>
        </p:nvSpPr>
        <p:spPr>
          <a:xfrm>
            <a:off x="6502122" y="4419719"/>
            <a:ext cx="5023472" cy="2209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curl http://localhost:8080</a:t>
            </a:r>
            <a:endParaRPr lang="en-US" sz="1400" dirty="0"/>
          </a:p>
        </p:txBody>
      </p:sp>
      <p:sp>
        <p:nvSpPr>
          <p:cNvPr id="67" name="Text 27">
            <a:extLst>
              <a:ext uri="{FF2B5EF4-FFF2-40B4-BE49-F238E27FC236}">
                <a16:creationId xmlns:a16="http://schemas.microsoft.com/office/drawing/2014/main" id="{1A300C58-C33C-4563-9481-8813CF0D164F}"/>
              </a:ext>
            </a:extLst>
          </p:cNvPr>
          <p:cNvSpPr/>
          <p:nvPr/>
        </p:nvSpPr>
        <p:spPr>
          <a:xfrm>
            <a:off x="1511141" y="5466160"/>
            <a:ext cx="9928725" cy="223520"/>
          </a:xfrm>
          <a:prstGeom prst="rect">
            <a:avLst/>
          </a:prstGeom>
          <a:noFill/>
          <a:ln/>
        </p:spPr>
        <p:txBody>
          <a:bodyPr wrap="square" lIns="0" tIns="0" rIns="0" bIns="0" rtlCol="0" anchor="t">
            <a:normAutofit/>
          </a:bodyPr>
          <a:lstStyle/>
          <a:p>
            <a:pPr marL="0" indent="0" algn="l">
              <a:lnSpc>
                <a:spcPts val="1560"/>
              </a:lnSpc>
              <a:buNone/>
            </a:pPr>
            <a:r>
              <a:rPr lang="en-US" sz="1400" dirty="0">
                <a:latin typeface="Arial" pitchFamily="34" charset="0"/>
                <a:ea typeface="Arial" pitchFamily="34" charset="-122"/>
                <a:cs typeface="Arial" pitchFamily="34" charset="-120"/>
              </a:rPr>
              <a:t>Bind Mount überschreibt die nginx-Standardseite vollständig – Verzeichnis vorher anlegen und befüllen.</a:t>
            </a:r>
            <a:endParaRPr lang="en-US" sz="1400" dirty="0"/>
          </a:p>
        </p:txBody>
      </p:sp>
      <p:pic>
        <p:nvPicPr>
          <p:cNvPr id="68" name="Grafik 67" descr="Ausrufezeichen mit einfarbiger Füllung">
            <a:extLst>
              <a:ext uri="{FF2B5EF4-FFF2-40B4-BE49-F238E27FC236}">
                <a16:creationId xmlns:a16="http://schemas.microsoft.com/office/drawing/2014/main" id="{0254A55C-46A4-4C6E-8348-4E04132019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6741" y="5008960"/>
            <a:ext cx="914400" cy="914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534949"/>
            <a:ext cx="10953313" cy="1143000"/>
          </a:xfrm>
        </p:spPr>
        <p:txBody>
          <a:bodyPr/>
          <a:lstStyle/>
          <a:p>
            <a:r>
              <a:rPr lang="en-US" sz="2000" dirty="0"/>
              <a:t>Node-RED-Container mit benanntem Volume</a:t>
            </a:r>
            <a:br>
              <a:rPr lang="en-US" sz="2000" dirty="0"/>
            </a:br>
            <a:br>
              <a:rPr lang="en-US" sz="2000" dirty="0"/>
            </a:br>
            <a:endParaRPr lang="de-DE" sz="1998" dirty="0"/>
          </a:p>
        </p:txBody>
      </p:sp>
      <p:sp>
        <p:nvSpPr>
          <p:cNvPr id="5" name="Foliennummernplatzhalter 4"/>
          <p:cNvSpPr>
            <a:spLocks noGrp="1"/>
          </p:cNvSpPr>
          <p:nvPr>
            <p:ph type="sldNum" sz="quarter" idx="4"/>
          </p:nvPr>
        </p:nvSpPr>
        <p:spPr/>
        <p:txBody>
          <a:bodyPr/>
          <a:lstStyle/>
          <a:p>
            <a:fld id="{43A6DCFB-163F-4561-BF28-3CD1FE47EE20}" type="slidenum">
              <a:rPr lang="de-DE" smtClean="0"/>
              <a:pPr/>
              <a:t>9</a:t>
            </a:fld>
            <a:endParaRPr lang="de-DE" dirty="0"/>
          </a:p>
        </p:txBody>
      </p:sp>
      <p:sp>
        <p:nvSpPr>
          <p:cNvPr id="41" name="Shape 2">
            <a:extLst>
              <a:ext uri="{FF2B5EF4-FFF2-40B4-BE49-F238E27FC236}">
                <a16:creationId xmlns:a16="http://schemas.microsoft.com/office/drawing/2014/main" id="{38C067B0-3936-41B1-A465-6CF531D3A8B9}"/>
              </a:ext>
            </a:extLst>
          </p:cNvPr>
          <p:cNvSpPr/>
          <p:nvPr/>
        </p:nvSpPr>
        <p:spPr>
          <a:xfrm>
            <a:off x="815896" y="1897817"/>
            <a:ext cx="4819610" cy="2860437"/>
          </a:xfrm>
          <a:prstGeom prst="roundRect">
            <a:avLst>
              <a:gd name="adj" fmla="val 4329"/>
            </a:avLst>
          </a:prstGeom>
          <a:solidFill>
            <a:srgbClr val="1A222C"/>
          </a:solidFill>
          <a:ln w="6350">
            <a:solidFill>
              <a:srgbClr val="2A3540"/>
            </a:solidFill>
            <a:prstDash val="solid"/>
          </a:ln>
        </p:spPr>
      </p:sp>
      <p:sp>
        <p:nvSpPr>
          <p:cNvPr id="42" name="Text 3">
            <a:extLst>
              <a:ext uri="{FF2B5EF4-FFF2-40B4-BE49-F238E27FC236}">
                <a16:creationId xmlns:a16="http://schemas.microsoft.com/office/drawing/2014/main" id="{1AAB280A-C58B-4600-91C2-05E8E72EA5FA}"/>
              </a:ext>
            </a:extLst>
          </p:cNvPr>
          <p:cNvSpPr/>
          <p:nvPr/>
        </p:nvSpPr>
        <p:spPr>
          <a:xfrm>
            <a:off x="1074301" y="2337554"/>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9BA8B5"/>
                </a:solidFill>
                <a:latin typeface="Courier New" pitchFamily="34" charset="0"/>
                <a:ea typeface="Courier New" pitchFamily="34" charset="-122"/>
                <a:cs typeface="Courier New" pitchFamily="34" charset="-120"/>
              </a:rPr>
              <a:t>$ docker run -d --name nodered \</a:t>
            </a:r>
            <a:endParaRPr lang="en-US" sz="1200" dirty="0"/>
          </a:p>
        </p:txBody>
      </p:sp>
      <p:sp>
        <p:nvSpPr>
          <p:cNvPr id="43" name="Text 4">
            <a:extLst>
              <a:ext uri="{FF2B5EF4-FFF2-40B4-BE49-F238E27FC236}">
                <a16:creationId xmlns:a16="http://schemas.microsoft.com/office/drawing/2014/main" id="{8AAEFDEB-D914-4800-867A-E1B2F3B52DA4}"/>
              </a:ext>
            </a:extLst>
          </p:cNvPr>
          <p:cNvSpPr/>
          <p:nvPr/>
        </p:nvSpPr>
        <p:spPr>
          <a:xfrm>
            <a:off x="1074301" y="2629614"/>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--restart unless-stopped \</a:t>
            </a:r>
            <a:endParaRPr lang="en-US" sz="1200" dirty="0"/>
          </a:p>
        </p:txBody>
      </p:sp>
      <p:sp>
        <p:nvSpPr>
          <p:cNvPr id="44" name="Text 5">
            <a:extLst>
              <a:ext uri="{FF2B5EF4-FFF2-40B4-BE49-F238E27FC236}">
                <a16:creationId xmlns:a16="http://schemas.microsoft.com/office/drawing/2014/main" id="{D23E1F0C-757A-42E1-AD49-385B2705298C}"/>
              </a:ext>
            </a:extLst>
          </p:cNvPr>
          <p:cNvSpPr/>
          <p:nvPr/>
        </p:nvSpPr>
        <p:spPr>
          <a:xfrm>
            <a:off x="1074301" y="2921675"/>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-p 127.0.0.1:1880:1880 \</a:t>
            </a:r>
            <a:endParaRPr lang="en-US" sz="1200" dirty="0"/>
          </a:p>
        </p:txBody>
      </p:sp>
      <p:sp>
        <p:nvSpPr>
          <p:cNvPr id="45" name="Text 6">
            <a:extLst>
              <a:ext uri="{FF2B5EF4-FFF2-40B4-BE49-F238E27FC236}">
                <a16:creationId xmlns:a16="http://schemas.microsoft.com/office/drawing/2014/main" id="{FF804CF7-5F0A-4A1A-825E-C719AE6AB240}"/>
              </a:ext>
            </a:extLst>
          </p:cNvPr>
          <p:cNvSpPr/>
          <p:nvPr/>
        </p:nvSpPr>
        <p:spPr>
          <a:xfrm>
            <a:off x="1074301" y="3213735"/>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-v nodered-data:/data nodered/node-red</a:t>
            </a:r>
            <a:endParaRPr lang="en-US" sz="1200" dirty="0"/>
          </a:p>
        </p:txBody>
      </p:sp>
      <p:sp>
        <p:nvSpPr>
          <p:cNvPr id="46" name="Text 7">
            <a:extLst>
              <a:ext uri="{FF2B5EF4-FFF2-40B4-BE49-F238E27FC236}">
                <a16:creationId xmlns:a16="http://schemas.microsoft.com/office/drawing/2014/main" id="{24A663C8-1008-4A42-9F39-02CC281DFE5F}"/>
              </a:ext>
            </a:extLst>
          </p:cNvPr>
          <p:cNvSpPr/>
          <p:nvPr/>
        </p:nvSpPr>
        <p:spPr>
          <a:xfrm>
            <a:off x="1074301" y="3505795"/>
            <a:ext cx="4431884" cy="254000"/>
          </a:xfrm>
          <a:prstGeom prst="rect">
            <a:avLst/>
          </a:prstGeom>
          <a:noFill/>
          <a:ln/>
        </p:spPr>
        <p:txBody>
          <a:bodyPr wrap="square" lIns="0" tIns="0" rIns="0" bIns="0" rtlCol="0" anchor="t">
            <a:normAutofit/>
          </a:bodyPr>
          <a:lstStyle/>
          <a:p>
            <a:pPr marL="0" indent="0" algn="l">
              <a:lnSpc>
                <a:spcPts val="1800"/>
              </a:lnSpc>
              <a:buNone/>
            </a:pPr>
            <a:r>
              <a:rPr lang="en-US" sz="1200" b="1" dirty="0">
                <a:solidFill>
                  <a:srgbClr val="F2B84B"/>
                </a:solidFill>
                <a:latin typeface="Courier New" pitchFamily="34" charset="0"/>
                <a:ea typeface="Courier New" pitchFamily="34" charset="-122"/>
                <a:cs typeface="Courier New" pitchFamily="34" charset="-120"/>
              </a:rPr>
              <a:t>$ docker volume inspect nodered-data</a:t>
            </a:r>
            <a:endParaRPr lang="en-US" sz="1200" dirty="0"/>
          </a:p>
        </p:txBody>
      </p:sp>
      <p:sp>
        <p:nvSpPr>
          <p:cNvPr id="47" name="Text 8">
            <a:extLst>
              <a:ext uri="{FF2B5EF4-FFF2-40B4-BE49-F238E27FC236}">
                <a16:creationId xmlns:a16="http://schemas.microsoft.com/office/drawing/2014/main" id="{532CD5DA-7718-4A8E-8831-B62B02F6B3C1}"/>
              </a:ext>
            </a:extLst>
          </p:cNvPr>
          <p:cNvSpPr/>
          <p:nvPr/>
        </p:nvSpPr>
        <p:spPr>
          <a:xfrm>
            <a:off x="1074301" y="3797856"/>
            <a:ext cx="4431884" cy="2540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F3F5F2"/>
                </a:solidFill>
                <a:latin typeface="Courier New" pitchFamily="34" charset="0"/>
                <a:ea typeface="Courier New" pitchFamily="34" charset="-122"/>
                <a:cs typeface="Courier New" pitchFamily="34" charset="-120"/>
              </a:rPr>
              <a:t>$ docker exec -it nodered \</a:t>
            </a:r>
            <a:endParaRPr lang="en-US" sz="1200" dirty="0"/>
          </a:p>
        </p:txBody>
      </p:sp>
      <p:sp>
        <p:nvSpPr>
          <p:cNvPr id="48" name="Text 9">
            <a:extLst>
              <a:ext uri="{FF2B5EF4-FFF2-40B4-BE49-F238E27FC236}">
                <a16:creationId xmlns:a16="http://schemas.microsoft.com/office/drawing/2014/main" id="{0FA88FCB-C79E-4161-BB07-82B54DE702AE}"/>
              </a:ext>
            </a:extLst>
          </p:cNvPr>
          <p:cNvSpPr/>
          <p:nvPr/>
        </p:nvSpPr>
        <p:spPr>
          <a:xfrm>
            <a:off x="1074301" y="4089916"/>
            <a:ext cx="4431884" cy="254000"/>
          </a:xfrm>
          <a:prstGeom prst="rect">
            <a:avLst/>
          </a:prstGeom>
          <a:noFill/>
          <a:ln/>
        </p:spPr>
        <p:txBody>
          <a:bodyPr wrap="square" lIns="0" tIns="0" rIns="0" bIns="0" rtlCol="0" anchor="t">
            <a:normAutofit/>
          </a:bodyPr>
          <a:lstStyle/>
          <a:p>
            <a:pPr marL="0" indent="0" algn="l">
              <a:lnSpc>
                <a:spcPts val="1800"/>
              </a:lnSpc>
              <a:buNone/>
            </a:pPr>
            <a:r>
              <a:rPr sz="1200" b="0">
                <a:solidFill>
                  <a:srgbClr val="F3F5F2"/>
                </a:solidFill>
                <a:latin typeface="Courier New"/>
              </a:rPr>
              <a:t>    node-red admin hash-pw</a:t>
            </a:r>
            <a:endParaRPr lang="en-US" sz="1200" dirty="0"/>
          </a:p>
        </p:txBody>
      </p:sp>
      <p:sp>
        <p:nvSpPr>
          <p:cNvPr id="49" name="Shape 10">
            <a:extLst>
              <a:ext uri="{FF2B5EF4-FFF2-40B4-BE49-F238E27FC236}">
                <a16:creationId xmlns:a16="http://schemas.microsoft.com/office/drawing/2014/main" id="{8F857C7B-B20F-46F9-8EE1-DA98ED1AAE54}"/>
              </a:ext>
            </a:extLst>
          </p:cNvPr>
          <p:cNvSpPr/>
          <p:nvPr/>
        </p:nvSpPr>
        <p:spPr>
          <a:xfrm>
            <a:off x="5997377" y="2043906"/>
            <a:ext cx="349171" cy="349171"/>
          </a:xfrm>
          <a:prstGeom prst="roundRect">
            <a:avLst>
              <a:gd name="adj" fmla="val 50000"/>
            </a:avLst>
          </a:prstGeom>
          <a:solidFill>
            <a:srgbClr val="F2B84B">
              <a:alpha val="15000"/>
            </a:srgbClr>
          </a:solidFill>
          <a:ln w="6350">
            <a:solidFill>
              <a:srgbClr val="F2B84B"/>
            </a:solidFill>
            <a:prstDash val="solid"/>
          </a:ln>
        </p:spPr>
      </p:sp>
      <p:sp>
        <p:nvSpPr>
          <p:cNvPr id="50" name="Text 11">
            <a:extLst>
              <a:ext uri="{FF2B5EF4-FFF2-40B4-BE49-F238E27FC236}">
                <a16:creationId xmlns:a16="http://schemas.microsoft.com/office/drawing/2014/main" id="{1C8F9B9E-BF92-43F2-B472-F74A689D5FE6}"/>
              </a:ext>
            </a:extLst>
          </p:cNvPr>
          <p:cNvSpPr/>
          <p:nvPr/>
        </p:nvSpPr>
        <p:spPr>
          <a:xfrm>
            <a:off x="6122432" y="2094071"/>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1</a:t>
            </a:r>
            <a:endParaRPr lang="en-US" sz="1400" dirty="0"/>
          </a:p>
        </p:txBody>
      </p:sp>
      <p:sp>
        <p:nvSpPr>
          <p:cNvPr id="51" name="Text 12">
            <a:extLst>
              <a:ext uri="{FF2B5EF4-FFF2-40B4-BE49-F238E27FC236}">
                <a16:creationId xmlns:a16="http://schemas.microsoft.com/office/drawing/2014/main" id="{B9AA4CCF-E012-41F2-9846-BB357A6ADA52}"/>
              </a:ext>
            </a:extLst>
          </p:cNvPr>
          <p:cNvSpPr/>
          <p:nvPr/>
        </p:nvSpPr>
        <p:spPr>
          <a:xfrm>
            <a:off x="6502122" y="2040731"/>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Benanntes Volume starten</a:t>
            </a:r>
            <a:endParaRPr lang="en-US" sz="1400" dirty="0"/>
          </a:p>
        </p:txBody>
      </p:sp>
      <p:sp>
        <p:nvSpPr>
          <p:cNvPr id="52" name="Text 13">
            <a:extLst>
              <a:ext uri="{FF2B5EF4-FFF2-40B4-BE49-F238E27FC236}">
                <a16:creationId xmlns:a16="http://schemas.microsoft.com/office/drawing/2014/main" id="{8294DD96-C001-49F2-8130-4C473B854ED3}"/>
              </a:ext>
            </a:extLst>
          </p:cNvPr>
          <p:cNvSpPr/>
          <p:nvPr/>
        </p:nvSpPr>
        <p:spPr>
          <a:xfrm>
            <a:off x="6502122" y="2292072"/>
            <a:ext cx="5023472" cy="4164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Docker legt nodered-data beim ersten Start automatisch an</a:t>
            </a:r>
            <a:endParaRPr lang="en-US" sz="1400" dirty="0"/>
          </a:p>
        </p:txBody>
      </p:sp>
      <p:sp>
        <p:nvSpPr>
          <p:cNvPr id="53" name="Text 14">
            <a:extLst>
              <a:ext uri="{FF2B5EF4-FFF2-40B4-BE49-F238E27FC236}">
                <a16:creationId xmlns:a16="http://schemas.microsoft.com/office/drawing/2014/main" id="{763870ED-19DF-43FF-A66E-56694F219C40}"/>
              </a:ext>
            </a:extLst>
          </p:cNvPr>
          <p:cNvSpPr/>
          <p:nvPr/>
        </p:nvSpPr>
        <p:spPr>
          <a:xfrm>
            <a:off x="6502122" y="2721174"/>
            <a:ext cx="5023472" cy="215900"/>
          </a:xfrm>
          <a:prstGeom prst="rect">
            <a:avLst/>
          </a:prstGeom>
          <a:noFill/>
          <a:ln/>
        </p:spPr>
        <p:txBody>
          <a:bodyPr wrap="square" lIns="0" tIns="0" rIns="0" bIns="0" rtlCol="0" anchor="t">
            <a:normAutofit/>
          </a:bodyPr>
          <a:lstStyle/>
          <a:p>
            <a:pPr marL="0" indent="0" algn="l">
              <a:lnSpc>
                <a:spcPts val="1500"/>
              </a:lnSpc>
              <a:buNone/>
            </a:pPr>
            <a:r>
              <a:rPr lang="en-US" sz="1400" dirty="0">
                <a:ea typeface="Courier New" pitchFamily="34" charset="-122"/>
                <a:cs typeface="Courier New" pitchFamily="34" charset="-120"/>
              </a:rPr>
              <a:t>-v nodered-data:/data</a:t>
            </a:r>
            <a:endParaRPr lang="en-US" sz="1400" dirty="0"/>
          </a:p>
        </p:txBody>
      </p:sp>
      <p:sp>
        <p:nvSpPr>
          <p:cNvPr id="54" name="Shape 15">
            <a:extLst>
              <a:ext uri="{FF2B5EF4-FFF2-40B4-BE49-F238E27FC236}">
                <a16:creationId xmlns:a16="http://schemas.microsoft.com/office/drawing/2014/main" id="{FDA7ADAD-64AE-483B-AB8D-DFEA2D20D6F4}"/>
              </a:ext>
            </a:extLst>
          </p:cNvPr>
          <p:cNvSpPr/>
          <p:nvPr/>
        </p:nvSpPr>
        <p:spPr>
          <a:xfrm>
            <a:off x="5997377" y="3117969"/>
            <a:ext cx="349171" cy="349171"/>
          </a:xfrm>
          <a:prstGeom prst="roundRect">
            <a:avLst>
              <a:gd name="adj" fmla="val 50000"/>
            </a:avLst>
          </a:prstGeom>
          <a:solidFill>
            <a:srgbClr val="F2B84B">
              <a:alpha val="15000"/>
            </a:srgbClr>
          </a:solidFill>
          <a:ln w="6350">
            <a:solidFill>
              <a:srgbClr val="F2B84B"/>
            </a:solidFill>
            <a:prstDash val="solid"/>
          </a:ln>
        </p:spPr>
      </p:sp>
      <p:sp>
        <p:nvSpPr>
          <p:cNvPr id="55" name="Text 16">
            <a:extLst>
              <a:ext uri="{FF2B5EF4-FFF2-40B4-BE49-F238E27FC236}">
                <a16:creationId xmlns:a16="http://schemas.microsoft.com/office/drawing/2014/main" id="{4164429F-9F1E-424F-AFE2-43B367F37BE9}"/>
              </a:ext>
            </a:extLst>
          </p:cNvPr>
          <p:cNvSpPr/>
          <p:nvPr/>
        </p:nvSpPr>
        <p:spPr>
          <a:xfrm>
            <a:off x="6122432" y="3168134"/>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2</a:t>
            </a:r>
            <a:endParaRPr lang="en-US" sz="1400" dirty="0"/>
          </a:p>
        </p:txBody>
      </p:sp>
      <p:sp>
        <p:nvSpPr>
          <p:cNvPr id="56" name="Text 17">
            <a:extLst>
              <a:ext uri="{FF2B5EF4-FFF2-40B4-BE49-F238E27FC236}">
                <a16:creationId xmlns:a16="http://schemas.microsoft.com/office/drawing/2014/main" id="{10AD6FAB-7B0B-43BD-A629-8F05EEBBED60}"/>
              </a:ext>
            </a:extLst>
          </p:cNvPr>
          <p:cNvSpPr/>
          <p:nvPr/>
        </p:nvSpPr>
        <p:spPr>
          <a:xfrm>
            <a:off x="6502122" y="3114794"/>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Volume prüfen</a:t>
            </a:r>
            <a:endParaRPr lang="en-US" sz="1400" dirty="0"/>
          </a:p>
        </p:txBody>
      </p:sp>
      <p:sp>
        <p:nvSpPr>
          <p:cNvPr id="57" name="Text 18">
            <a:extLst>
              <a:ext uri="{FF2B5EF4-FFF2-40B4-BE49-F238E27FC236}">
                <a16:creationId xmlns:a16="http://schemas.microsoft.com/office/drawing/2014/main" id="{C21BBB92-8131-4FF5-883C-DB37F1896D0C}"/>
              </a:ext>
            </a:extLst>
          </p:cNvPr>
          <p:cNvSpPr/>
          <p:nvPr/>
        </p:nvSpPr>
        <p:spPr>
          <a:xfrm>
            <a:off x="6502122" y="3366135"/>
            <a:ext cx="5023472" cy="4164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Mountpoint zeigt den tatsächlichen Speicherort auf dem Host</a:t>
            </a:r>
            <a:endParaRPr lang="en-US" sz="1400" dirty="0"/>
          </a:p>
        </p:txBody>
      </p:sp>
      <p:sp>
        <p:nvSpPr>
          <p:cNvPr id="58" name="Shape 19">
            <a:extLst>
              <a:ext uri="{FF2B5EF4-FFF2-40B4-BE49-F238E27FC236}">
                <a16:creationId xmlns:a16="http://schemas.microsoft.com/office/drawing/2014/main" id="{21AAD443-ED9F-4532-835D-74575E2EFA63}"/>
              </a:ext>
            </a:extLst>
          </p:cNvPr>
          <p:cNvSpPr/>
          <p:nvPr/>
        </p:nvSpPr>
        <p:spPr>
          <a:xfrm>
            <a:off x="5997377" y="3963432"/>
            <a:ext cx="349171" cy="349171"/>
          </a:xfrm>
          <a:prstGeom prst="roundRect">
            <a:avLst>
              <a:gd name="adj" fmla="val 50000"/>
            </a:avLst>
          </a:prstGeom>
          <a:solidFill>
            <a:srgbClr val="F2B84B">
              <a:alpha val="15000"/>
            </a:srgbClr>
          </a:solidFill>
          <a:ln w="6350">
            <a:solidFill>
              <a:srgbClr val="F2B84B"/>
            </a:solidFill>
            <a:prstDash val="solid"/>
          </a:ln>
        </p:spPr>
      </p:sp>
      <p:sp>
        <p:nvSpPr>
          <p:cNvPr id="59" name="Text 20">
            <a:extLst>
              <a:ext uri="{FF2B5EF4-FFF2-40B4-BE49-F238E27FC236}">
                <a16:creationId xmlns:a16="http://schemas.microsoft.com/office/drawing/2014/main" id="{0F6A2A80-7820-4F44-8E7A-61751819FAFC}"/>
              </a:ext>
            </a:extLst>
          </p:cNvPr>
          <p:cNvSpPr/>
          <p:nvPr/>
        </p:nvSpPr>
        <p:spPr>
          <a:xfrm>
            <a:off x="6122432" y="4013597"/>
            <a:ext cx="14974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B84B"/>
                </a:solidFill>
                <a:latin typeface="Arial" pitchFamily="34" charset="0"/>
                <a:ea typeface="Arial" pitchFamily="34" charset="-122"/>
                <a:cs typeface="Arial" pitchFamily="34" charset="-120"/>
              </a:rPr>
              <a:t>3</a:t>
            </a:r>
            <a:endParaRPr lang="en-US" sz="1400" dirty="0"/>
          </a:p>
        </p:txBody>
      </p:sp>
      <p:sp>
        <p:nvSpPr>
          <p:cNvPr id="60" name="Text 21">
            <a:extLst>
              <a:ext uri="{FF2B5EF4-FFF2-40B4-BE49-F238E27FC236}">
                <a16:creationId xmlns:a16="http://schemas.microsoft.com/office/drawing/2014/main" id="{477E6D75-3A3B-475F-8766-52DFA7645D93}"/>
              </a:ext>
            </a:extLst>
          </p:cNvPr>
          <p:cNvSpPr/>
          <p:nvPr/>
        </p:nvSpPr>
        <p:spPr>
          <a:xfrm>
            <a:off x="6502122" y="3960257"/>
            <a:ext cx="5023472"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Editor mit adminAuth absichern</a:t>
            </a:r>
            <a:endParaRPr lang="en-US" sz="1400" dirty="0"/>
          </a:p>
        </p:txBody>
      </p:sp>
      <p:sp>
        <p:nvSpPr>
          <p:cNvPr id="61" name="Text 22">
            <a:extLst>
              <a:ext uri="{FF2B5EF4-FFF2-40B4-BE49-F238E27FC236}">
                <a16:creationId xmlns:a16="http://schemas.microsoft.com/office/drawing/2014/main" id="{3CE88406-4D3B-44C6-A32D-A5EF1D2984C7}"/>
              </a:ext>
            </a:extLst>
          </p:cNvPr>
          <p:cNvSpPr/>
          <p:nvPr/>
        </p:nvSpPr>
        <p:spPr>
          <a:xfrm>
            <a:off x="6502122" y="4198858"/>
            <a:ext cx="5023472" cy="2209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bcrypt-Hash erzeugen, settings.js aktivieren</a:t>
            </a:r>
            <a:endParaRPr lang="en-US" sz="1400" dirty="0"/>
          </a:p>
        </p:txBody>
      </p:sp>
      <p:sp>
        <p:nvSpPr>
          <p:cNvPr id="62" name="Text 23">
            <a:extLst>
              <a:ext uri="{FF2B5EF4-FFF2-40B4-BE49-F238E27FC236}">
                <a16:creationId xmlns:a16="http://schemas.microsoft.com/office/drawing/2014/main" id="{797138DB-BC51-4397-BF84-450B27ADBDB3}"/>
              </a:ext>
            </a:extLst>
          </p:cNvPr>
          <p:cNvSpPr/>
          <p:nvPr/>
        </p:nvSpPr>
        <p:spPr>
          <a:xfrm>
            <a:off x="6502122" y="4419719"/>
            <a:ext cx="5023472" cy="220901"/>
          </a:xfrm>
          <a:prstGeom prst="rect">
            <a:avLst/>
          </a:prstGeom>
          <a:noFill/>
          <a:ln/>
        </p:spPr>
        <p:txBody>
          <a:bodyPr wrap="square" lIns="0" tIns="0" rIns="0" bIns="0" rtlCol="0" anchor="t">
            <a:normAutofit/>
          </a:bodyPr>
          <a:lstStyle/>
          <a:p>
            <a:pPr marL="0" indent="0" algn="l">
              <a:lnSpc>
                <a:spcPts val="1540"/>
              </a:lnSpc>
              <a:buNone/>
            </a:pPr>
            <a:r>
              <a:rPr lang="en-US" sz="1400" dirty="0">
                <a:ea typeface="Arial" pitchFamily="34" charset="-122"/>
                <a:cs typeface="Arial" pitchFamily="34" charset="-120"/>
              </a:rPr>
              <a:t>docker restart nodered</a:t>
            </a:r>
            <a:endParaRPr lang="en-US" sz="1400" dirty="0"/>
          </a:p>
        </p:txBody>
      </p:sp>
      <p:sp>
        <p:nvSpPr>
          <p:cNvPr id="67" name="Text 27">
            <a:extLst>
              <a:ext uri="{FF2B5EF4-FFF2-40B4-BE49-F238E27FC236}">
                <a16:creationId xmlns:a16="http://schemas.microsoft.com/office/drawing/2014/main" id="{1A300C58-C33C-4563-9481-8813CF0D164F}"/>
              </a:ext>
            </a:extLst>
          </p:cNvPr>
          <p:cNvSpPr/>
          <p:nvPr/>
        </p:nvSpPr>
        <p:spPr>
          <a:xfrm>
            <a:off x="1511141" y="5466160"/>
            <a:ext cx="9928725" cy="223520"/>
          </a:xfrm>
          <a:prstGeom prst="rect">
            <a:avLst/>
          </a:prstGeom>
          <a:noFill/>
          <a:ln/>
        </p:spPr>
        <p:txBody>
          <a:bodyPr wrap="square" lIns="0" tIns="0" rIns="0" bIns="0" rtlCol="0" anchor="t">
            <a:normAutofit/>
          </a:bodyPr>
          <a:lstStyle/>
          <a:p>
            <a:pPr marL="0" indent="0" algn="l">
              <a:lnSpc>
                <a:spcPts val="1560"/>
              </a:lnSpc>
              <a:buNone/>
            </a:pPr>
            <a:r>
              <a:rPr lang="en-US" sz="1400" dirty="0">
                <a:latin typeface="Arial" pitchFamily="34" charset="0"/>
                <a:ea typeface="Arial" pitchFamily="34" charset="-122"/>
                <a:cs typeface="Arial" pitchFamily="34" charset="-120"/>
              </a:rPr>
              <a:t>Ohne adminAuth kann jeder mit Zugriff auf den Editor über exec-Nodes beliebigen Code ausführen.</a:t>
            </a:r>
            <a:endParaRPr lang="en-US" sz="1400" dirty="0"/>
          </a:p>
        </p:txBody>
      </p:sp>
      <p:pic>
        <p:nvPicPr>
          <p:cNvPr id="68" name="Grafik 67" descr="Ausrufezeichen mit einfarbiger Füllung">
            <a:extLst>
              <a:ext uri="{FF2B5EF4-FFF2-40B4-BE49-F238E27FC236}">
                <a16:creationId xmlns:a16="http://schemas.microsoft.com/office/drawing/2014/main" id="{0254A55C-46A4-4C6E-8348-4E041320194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6741" y="5008960"/>
            <a:ext cx="914400" cy="914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3955" y="331336"/>
            <a:ext cx="10953313" cy="1143000"/>
          </a:xfrm>
        </p:spPr>
        <p:txBody>
          <a:bodyPr/>
          <a:lstStyle/>
          <a:p>
            <a:r>
              <a:rPr lang="de-DE" sz="2400" dirty="0"/>
              <a:t>Caddyfile erweitern: www &amp; dashboard</a:t>
            </a:r>
            <a:endParaRPr sz="2400" dirty="0"/>
          </a:p>
        </p:txBody>
      </p:sp>
      <p:sp>
        <p:nvSpPr>
          <p:cNvPr id="5" name="Rounded Rectangle 4"/>
          <p:cNvSpPr/>
          <p:nvPr/>
        </p:nvSpPr>
        <p:spPr>
          <a:xfrm>
            <a:off x="548640" y="2761488"/>
            <a:ext cx="1554480" cy="914400"/>
          </a:xfrm>
          <a:prstGeom prst="roundRect">
            <a:avLst>
              <a:gd name="adj" fmla="val 10000"/>
            </a:avLst>
          </a:prstGeom>
          <a:solidFill>
            <a:srgbClr val="1E2761"/>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400" b="1">
                <a:solidFill>
                  <a:srgbClr val="FFFFFF"/>
                </a:solidFill>
                <a:latin typeface="Arial"/>
              </a:rPr>
              <a:t>Caddy</a:t>
            </a:r>
          </a:p>
          <a:p>
            <a:pPr algn="ctr"/>
            <a:r>
              <a:rPr sz="900" b="0">
                <a:solidFill>
                  <a:srgbClr val="FFFFFF"/>
                </a:solidFill>
                <a:latin typeface="Arial"/>
              </a:rPr>
              <a:t>Port 443</a:t>
            </a:r>
          </a:p>
        </p:txBody>
      </p:sp>
      <p:sp>
        <p:nvSpPr>
          <p:cNvPr id="6" name="Rounded Rectangle 5"/>
          <p:cNvSpPr/>
          <p:nvPr/>
        </p:nvSpPr>
        <p:spPr>
          <a:xfrm>
            <a:off x="2514600" y="2340864"/>
            <a:ext cx="2788920" cy="749808"/>
          </a:xfrm>
          <a:prstGeom prst="roundRect">
            <a:avLst>
              <a:gd name="adj" fmla="val 10000"/>
            </a:avLst>
          </a:prstGeom>
          <a:solidFill>
            <a:srgbClr val="F5F5F5"/>
          </a:solidFill>
          <a:ln w="12700">
            <a:solidFill>
              <a:srgbClr val="005AA8"/>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www</a:t>
            </a:r>
          </a:p>
          <a:p>
            <a:pPr algn="ctr"/>
            <a:r>
              <a:rPr sz="1200" b="1">
                <a:solidFill>
                  <a:srgbClr val="1A1A1A"/>
                </a:solidFill>
                <a:latin typeface="Arial"/>
              </a:rPr>
              <a:t>localhost:8080</a:t>
            </a:r>
          </a:p>
        </p:txBody>
      </p:sp>
      <p:sp>
        <p:nvSpPr>
          <p:cNvPr id="7" name="Rounded Rectangle 6"/>
          <p:cNvSpPr/>
          <p:nvPr/>
        </p:nvSpPr>
        <p:spPr>
          <a:xfrm>
            <a:off x="2514600" y="3346704"/>
            <a:ext cx="2788920" cy="749808"/>
          </a:xfrm>
          <a:prstGeom prst="roundRect">
            <a:avLst>
              <a:gd name="adj" fmla="val 10000"/>
            </a:avLst>
          </a:prstGeom>
          <a:solidFill>
            <a:srgbClr val="F5F5F5"/>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200" b="1">
                <a:solidFill>
                  <a:srgbClr val="1A1A1A"/>
                </a:solidFill>
                <a:latin typeface="Arial"/>
              </a:rPr>
              <a:t>dashboard</a:t>
            </a:r>
          </a:p>
          <a:p>
            <a:pPr algn="ctr"/>
            <a:r>
              <a:rPr sz="1200" b="1">
                <a:solidFill>
                  <a:srgbClr val="1A1A1A"/>
                </a:solidFill>
                <a:latin typeface="Arial"/>
              </a:rPr>
              <a:t>localhost:1880</a:t>
            </a:r>
          </a:p>
        </p:txBody>
      </p:sp>
      <p:sp>
        <p:nvSpPr>
          <p:cNvPr id="12" name="Rounded Rectangle 11"/>
          <p:cNvSpPr/>
          <p:nvPr/>
        </p:nvSpPr>
        <p:spPr>
          <a:xfrm>
            <a:off x="5806440" y="1783080"/>
            <a:ext cx="5833872" cy="4251960"/>
          </a:xfrm>
          <a:prstGeom prst="roundRect">
            <a:avLst>
              <a:gd name="adj" fmla="val 10000"/>
            </a:avLst>
          </a:prstGeom>
          <a:solidFill>
            <a:srgbClr val="F5F5F5"/>
          </a:solidFill>
          <a:ln w="12700">
            <a:solidFill>
              <a:srgbClr val="D1D5DB"/>
            </a:solidFill>
          </a:ln>
          <a:effectLst/>
        </p:spPr>
        <p:style>
          <a:lnRef idx="1">
            <a:schemeClr val="accent1"/>
          </a:lnRef>
          <a:fillRef idx="3">
            <a:schemeClr val="accent1"/>
          </a:fillRef>
          <a:effectRef idx="2">
            <a:schemeClr val="accent1"/>
          </a:effectRef>
          <a:fontRef idx="minor">
            <a:schemeClr val="lt1"/>
          </a:fontRef>
        </p:style>
        <p:txBody>
          <a:bodyPr wrap="square" lIns="320040" tIns="109728" bIns="36576" rtlCol="0" anchor="t"/>
          <a:lstStyle/>
          <a:p>
            <a:pPr algn="l">
              <a:lnSpc>
                <a:spcPts val="1500"/>
              </a:lnSpc>
            </a:pPr>
            <a:r>
              <a:rPr sz="1100" b="1">
                <a:solidFill>
                  <a:srgbClr val="005AA8"/>
                </a:solidFill>
                <a:latin typeface="Courier New"/>
              </a:rPr>
              <a:t>www.&lt;IHRE-DOMAIN&gt; {</a:t>
            </a:r>
          </a:p>
          <a:p>
            <a:pPr algn="l">
              <a:lnSpc>
                <a:spcPts val="1500"/>
              </a:lnSpc>
            </a:pPr>
            <a:r>
              <a:rPr sz="1100" b="0">
                <a:solidFill>
                  <a:srgbClr val="1A1A1A"/>
                </a:solidFill>
                <a:latin typeface="Courier New"/>
              </a:rPr>
              <a:t>    reverse_proxy localhost:8080</a:t>
            </a:r>
          </a:p>
          <a:p>
            <a:pPr algn="l">
              <a:lnSpc>
                <a:spcPts val="1500"/>
              </a:lnSpc>
            </a:pPr>
            <a:r>
              <a:rPr sz="1100" b="0">
                <a:solidFill>
                  <a:srgbClr val="1A1A1A"/>
                </a:solidFill>
                <a:latin typeface="Courier New"/>
              </a:rPr>
              <a:t>}</a:t>
            </a:r>
          </a:p>
          <a:p>
            <a:pPr algn="l">
              <a:lnSpc>
                <a:spcPts val="1500"/>
              </a:lnSpc>
            </a:pPr>
            <a:r>
              <a:rPr sz="1100" b="0">
                <a:solidFill>
                  <a:srgbClr val="1A1A1A"/>
                </a:solidFill>
                <a:latin typeface="Courier New"/>
              </a:rPr>
              <a:t> </a:t>
            </a:r>
          </a:p>
          <a:p>
            <a:pPr algn="l">
              <a:lnSpc>
                <a:spcPts val="1500"/>
              </a:lnSpc>
            </a:pPr>
            <a:r>
              <a:rPr sz="1100" b="1">
                <a:solidFill>
                  <a:srgbClr val="F2B84B"/>
                </a:solidFill>
                <a:latin typeface="Courier New"/>
              </a:rPr>
              <a:t>dashboard.&lt;IHRE-DOMAIN&gt; {</a:t>
            </a:r>
          </a:p>
          <a:p>
            <a:pPr algn="l">
              <a:lnSpc>
                <a:spcPts val="1500"/>
              </a:lnSpc>
            </a:pPr>
            <a:r>
              <a:rPr sz="1100" b="0">
                <a:solidFill>
                  <a:srgbClr val="1A1A1A"/>
                </a:solidFill>
                <a:latin typeface="Courier New"/>
              </a:rPr>
              <a:t>    reverse_proxy localhost:1880</a:t>
            </a:r>
          </a:p>
          <a:p>
            <a:pPr algn="l">
              <a:lnSpc>
                <a:spcPts val="1500"/>
              </a:lnSpc>
            </a:pPr>
            <a:r>
              <a:rPr sz="1100" b="0">
                <a:solidFill>
                  <a:srgbClr val="1A1A1A"/>
                </a:solidFill>
                <a:latin typeface="Courier New"/>
              </a:rPr>
              <a:t>}</a:t>
            </a:r>
          </a:p>
        </p:txBody>
      </p:sp>
      <p:sp>
        <p:nvSpPr>
          <p:cNvPr id="13" name="Rectangle 12"/>
          <p:cNvSpPr/>
          <p:nvPr/>
        </p:nvSpPr>
        <p:spPr>
          <a:xfrm>
            <a:off x="5916168" y="1911096"/>
            <a:ext cx="54864" cy="571500"/>
          </a:xfrm>
          <a:prstGeom prst="rect">
            <a:avLst/>
          </a:prstGeom>
          <a:solidFill>
            <a:srgbClr val="005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916168" y="2673096"/>
            <a:ext cx="54864" cy="571500"/>
          </a:xfrm>
          <a:prstGeom prst="rect">
            <a:avLst/>
          </a:prstGeom>
          <a:solidFill>
            <a:srgbClr val="F2B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V="1">
            <a:off x="2103120" y="2715768"/>
            <a:ext cx="411480" cy="502920"/>
          </a:xfrm>
          <a:prstGeom prst="line">
            <a:avLst/>
          </a:prstGeom>
          <a:ln w="19050">
            <a:solidFill>
              <a:srgbClr val="005A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103120" y="3218688"/>
            <a:ext cx="411480" cy="502920"/>
          </a:xfrm>
          <a:prstGeom prst="line">
            <a:avLst/>
          </a:prstGeom>
          <a:ln w="19050">
            <a:solidFill>
              <a:srgbClr val="F2B8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 name="Foliennummernplatzhalter 4"/>
          <p:cNvSpPr>
            <a:spLocks noGrp="1"/>
          </p:cNvSpPr>
          <p:nvPr>
            <p:ph type="sldNum" sz="quarter" idx="4"/>
          </p:nvPr>
        </p:nvSpPr>
        <p:spPr/>
        <p:txBody>
          <a:bodyPr/>
          <a:lstStyle/>
          <a:p>
            <a:fld id="{43A6DCFB-163F-4561-BF28-3CD1FE47EE20}" type="slidenum">
              <a:rPr lang="de-DE" smtClean="0"/>
              <a:pPr/>
              <a:t>10</a:t>
            </a:fld>
            <a:endParaRPr lang="de-DE"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8F102084-4CA6-40E8-879C-5BE2D257AA1C}"/>
              </a:ext>
            </a:extLst>
          </p:cNvPr>
          <p:cNvSpPr>
            <a:spLocks noGrp="1"/>
          </p:cNvSpPr>
          <p:nvPr>
            <p:ph type="title"/>
          </p:nvPr>
        </p:nvSpPr>
        <p:spPr/>
        <p:txBody>
          <a:bodyPr/>
          <a:lstStyle/>
          <a:p>
            <a:r>
              <a:rPr lang="de-DE" dirty="0"/>
              <a:t>DNS-Voraussetzungen für die neuen Subdomains</a:t>
            </a:r>
          </a:p>
        </p:txBody>
      </p:sp>
      <p:sp>
        <p:nvSpPr>
          <p:cNvPr id="6" name="Foliennummernplatzhalter 5">
            <a:extLst>
              <a:ext uri="{FF2B5EF4-FFF2-40B4-BE49-F238E27FC236}">
                <a16:creationId xmlns:a16="http://schemas.microsoft.com/office/drawing/2014/main" id="{536FD45C-CF83-4995-92CB-AB2759D5A9E5}"/>
              </a:ext>
            </a:extLst>
          </p:cNvPr>
          <p:cNvSpPr>
            <a:spLocks noGrp="1"/>
          </p:cNvSpPr>
          <p:nvPr>
            <p:ph type="sldNum" sz="quarter" idx="4"/>
          </p:nvPr>
        </p:nvSpPr>
        <p:spPr/>
        <p:txBody>
          <a:bodyPr/>
          <a:lstStyle/>
          <a:p>
            <a:fld id="{43A6DCFB-163F-4561-BF28-3CD1FE47EE20}" type="slidenum">
              <a:rPr lang="de-DE" smtClean="0"/>
              <a:pPr/>
              <a:t>11</a:t>
            </a:fld>
            <a:endParaRPr lang="de-DE" dirty="0"/>
          </a:p>
        </p:txBody>
      </p:sp>
      <p:sp>
        <p:nvSpPr>
          <p:cNvPr id="7" name="Shape 2">
            <a:extLst>
              <a:ext uri="{FF2B5EF4-FFF2-40B4-BE49-F238E27FC236}">
                <a16:creationId xmlns:a16="http://schemas.microsoft.com/office/drawing/2014/main" id="{7A90ADDA-0FAA-4B88-AF4D-A3FAA575490A}"/>
              </a:ext>
            </a:extLst>
          </p:cNvPr>
          <p:cNvSpPr/>
          <p:nvPr/>
        </p:nvSpPr>
        <p:spPr>
          <a:xfrm>
            <a:off x="483476" y="1930797"/>
            <a:ext cx="5152030" cy="3908068"/>
          </a:xfrm>
          <a:prstGeom prst="roundRect">
            <a:avLst>
              <a:gd name="adj" fmla="val 3168"/>
            </a:avLst>
          </a:prstGeom>
          <a:solidFill>
            <a:srgbClr val="F5F5F5"/>
          </a:solidFill>
          <a:ln w="6350">
            <a:solidFill>
              <a:srgbClr val="D1D5DB"/>
            </a:solidFill>
            <a:prstDash val="solid"/>
          </a:ln>
        </p:spPr>
      </p:sp>
      <p:sp>
        <p:nvSpPr>
          <p:cNvPr id="8" name="Text 3">
            <a:extLst>
              <a:ext uri="{FF2B5EF4-FFF2-40B4-BE49-F238E27FC236}">
                <a16:creationId xmlns:a16="http://schemas.microsoft.com/office/drawing/2014/main" id="{DAF2E98A-AEEF-4413-B440-EA30D5C4071D}"/>
              </a:ext>
            </a:extLst>
          </p:cNvPr>
          <p:cNvSpPr/>
          <p:nvPr/>
        </p:nvSpPr>
        <p:spPr>
          <a:xfrm>
            <a:off x="749694" y="2201019"/>
            <a:ext cx="4431884"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Benötigte A-Records</a:t>
            </a:r>
            <a:endParaRPr lang="en-US" sz="1400" dirty="0"/>
          </a:p>
        </p:txBody>
      </p:sp>
      <p:graphicFrame>
        <p:nvGraphicFramePr>
          <p:cNvPr id="9" name="Table 0">
            <a:extLst>
              <a:ext uri="{FF2B5EF4-FFF2-40B4-BE49-F238E27FC236}">
                <a16:creationId xmlns:a16="http://schemas.microsoft.com/office/drawing/2014/main" id="{6E51F3E8-3C73-473A-B2AF-4DE577FC8245}"/>
              </a:ext>
            </a:extLst>
          </p:cNvPr>
          <p:cNvGraphicFramePr>
            <a:graphicFrameLocks noGrp="1"/>
          </p:cNvGraphicFramePr>
          <p:nvPr>
            <p:extLst>
              <p:ext uri="{D42A27DB-BD31-4B8C-83A1-F6EECF244321}">
                <p14:modId xmlns:p14="http://schemas.microsoft.com/office/powerpoint/2010/main" val="4053979559"/>
              </p:ext>
            </p:extLst>
          </p:nvPr>
        </p:nvGraphicFramePr>
        <p:xfrm>
          <a:off x="749694" y="2554843"/>
          <a:ext cx="4697099" cy="1064483"/>
        </p:xfrm>
        <a:graphic>
          <a:graphicData uri="http://schemas.openxmlformats.org/drawingml/2006/table">
            <a:tbl>
              <a:tblPr/>
              <a:tblGrid>
                <a:gridCol w="1784898">
                  <a:extLst>
                    <a:ext uri="{9D8B030D-6E8A-4147-A177-3AD203B41FA5}">
                      <a16:colId xmlns:a16="http://schemas.microsoft.com/office/drawing/2014/main" val="20000"/>
                    </a:ext>
                  </a:extLst>
                </a:gridCol>
                <a:gridCol w="2912201">
                  <a:extLst>
                    <a:ext uri="{9D8B030D-6E8A-4147-A177-3AD203B41FA5}">
                      <a16:colId xmlns:a16="http://schemas.microsoft.com/office/drawing/2014/main" val="20001"/>
                    </a:ext>
                  </a:extLst>
                </a:gridCol>
              </a:tblGrid>
              <a:tr h="300752">
                <a:tc>
                  <a:txBody>
                    <a:bodyPr/>
                    <a:lstStyle/>
                    <a:p>
                      <a:pPr marL="0" indent="0">
                        <a:lnSpc>
                          <a:spcPts val="1540"/>
                        </a:lnSpc>
                        <a:buNone/>
                      </a:pPr>
                      <a:r>
                        <a:rPr lang="en-US" sz="1100" b="1" dirty="0">
                          <a:solidFill>
                            <a:srgbClr val="1A1A1A"/>
                          </a:solidFill>
                          <a:latin typeface="Arial" pitchFamily="34" charset="0"/>
                          <a:ea typeface="Arial" pitchFamily="34" charset="-122"/>
                          <a:cs typeface="Arial" pitchFamily="34" charset="-120"/>
                        </a:rPr>
                        <a:t>Hostname</a:t>
                      </a:r>
                      <a:endParaRPr lang="en-US" sz="1100" dirty="0">
                        <a:latin typeface="Arial" charset="0"/>
                        <a:ea typeface="Arial" charset="0"/>
                        <a:cs typeface="Arial" charset="0"/>
                      </a:endParaRPr>
                    </a:p>
                  </a:txBody>
                  <a:tcPr marL="48895" marR="48895" marT="48895" marB="48895">
                    <a:lnL w="12700" cap="flat" cmpd="sng" algn="ctr">
                      <a:solidFill>
                        <a:srgbClr val="CDCDCD"/>
                      </a:solidFill>
                      <a:prstDash val="solid"/>
                      <a:round/>
                      <a:headEnd type="none" w="med" len="med"/>
                      <a:tailEnd type="none" w="med" len="med"/>
                    </a:lnL>
                    <a:lnR w="12700" cap="flat" cmpd="sng" algn="ctr">
                      <a:solidFill>
                        <a:srgbClr val="CDCDCD"/>
                      </a:solidFill>
                      <a:prstDash val="solid"/>
                      <a:round/>
                      <a:headEnd type="none" w="med" len="med"/>
                      <a:tailEnd type="none" w="med" len="med"/>
                    </a:lnR>
                    <a:lnT w="12700" cap="flat" cmpd="sng" algn="ctr">
                      <a:solidFill>
                        <a:srgbClr val="CDCDCD"/>
                      </a:solidFill>
                      <a:prstDash val="solid"/>
                      <a:round/>
                      <a:headEnd type="none" w="med" len="med"/>
                      <a:tailEnd type="none" w="med" len="med"/>
                    </a:lnT>
                    <a:lnB w="12700" cap="flat" cmpd="sng" algn="ctr">
                      <a:solidFill>
                        <a:srgbClr val="CDCDCD"/>
                      </a:solidFill>
                      <a:prstDash val="solid"/>
                      <a:round/>
                      <a:headEnd type="none" w="med" len="med"/>
                      <a:tailEnd type="none" w="med" len="med"/>
                    </a:lnB>
                    <a:solidFill>
                      <a:srgbClr val="E5E7EB"/>
                    </a:solidFill>
                  </a:tcPr>
                </a:tc>
                <a:tc>
                  <a:txBody>
                    <a:bodyPr/>
                    <a:lstStyle/>
                    <a:p>
                      <a:pPr marL="0" indent="0">
                        <a:lnSpc>
                          <a:spcPts val="1540"/>
                        </a:lnSpc>
                        <a:buNone/>
                      </a:pPr>
                      <a:r>
                        <a:rPr lang="en-US" sz="1100" b="1" dirty="0">
                          <a:solidFill>
                            <a:srgbClr val="1A1A1A"/>
                          </a:solidFill>
                          <a:latin typeface="Arial" pitchFamily="34" charset="0"/>
                          <a:ea typeface="Arial" pitchFamily="34" charset="-122"/>
                          <a:cs typeface="Arial" pitchFamily="34" charset="-120"/>
                        </a:rPr>
                        <a:t>Ziel</a:t>
                      </a:r>
                      <a:endParaRPr lang="en-US" sz="1100" dirty="0">
                        <a:latin typeface="Arial" charset="0"/>
                        <a:ea typeface="Arial" charset="0"/>
                        <a:cs typeface="Arial" charset="0"/>
                      </a:endParaRPr>
                    </a:p>
                  </a:txBody>
                  <a:tcPr marL="48895" marR="48895" marT="48895" marB="48895">
                    <a:lnL w="12700" cap="flat" cmpd="sng" algn="ctr">
                      <a:solidFill>
                        <a:srgbClr val="CDCDCD"/>
                      </a:solidFill>
                      <a:prstDash val="solid"/>
                      <a:round/>
                      <a:headEnd type="none" w="med" len="med"/>
                      <a:tailEnd type="none" w="med" len="med"/>
                    </a:lnL>
                    <a:lnR w="12700" cap="flat" cmpd="sng" algn="ctr">
                      <a:solidFill>
                        <a:srgbClr val="CDCDCD"/>
                      </a:solidFill>
                      <a:prstDash val="solid"/>
                      <a:round/>
                      <a:headEnd type="none" w="med" len="med"/>
                      <a:tailEnd type="none" w="med" len="med"/>
                    </a:lnR>
                    <a:lnT w="12700" cap="flat" cmpd="sng" algn="ctr">
                      <a:solidFill>
                        <a:srgbClr val="CDCDCD"/>
                      </a:solidFill>
                      <a:prstDash val="solid"/>
                      <a:round/>
                      <a:headEnd type="none" w="med" len="med"/>
                      <a:tailEnd type="none" w="med" len="med"/>
                    </a:lnT>
                    <a:lnB w="12700" cap="flat" cmpd="sng" algn="ctr">
                      <a:solidFill>
                        <a:srgbClr val="CDCDCD"/>
                      </a:solidFill>
                      <a:prstDash val="solid"/>
                      <a:round/>
                      <a:headEnd type="none" w="med" len="med"/>
                      <a:tailEnd type="none" w="med" len="med"/>
                    </a:lnB>
                    <a:solidFill>
                      <a:srgbClr val="E5E7EB"/>
                    </a:solidFill>
                  </a:tcPr>
                </a:tc>
                <a:extLst>
                  <a:ext uri="{0D108BD9-81ED-4DB2-BD59-A6C34878D82A}">
                    <a16:rowId xmlns:a16="http://schemas.microsoft.com/office/drawing/2014/main" val="10000"/>
                  </a:ext>
                </a:extLst>
              </a:tr>
              <a:tr h="300752">
                <a:tc>
                  <a:txBody>
                    <a:bodyPr/>
                    <a:lstStyle/>
                    <a:p>
                      <a:pPr marL="0" indent="0">
                        <a:lnSpc>
                          <a:spcPts val="1540"/>
                        </a:lnSpc>
                        <a:buNone/>
                      </a:pPr>
                      <a:r>
                        <a:rPr lang="en-US" sz="1100" dirty="0">
                          <a:solidFill>
                            <a:srgbClr val="1A1A1A"/>
                          </a:solidFill>
                          <a:latin typeface="Arial" pitchFamily="34" charset="0"/>
                          <a:ea typeface="Arial" pitchFamily="34" charset="-122"/>
                          <a:cs typeface="Arial" pitchFamily="34" charset="-120"/>
                        </a:rPr>
                        <a:t>www.&lt;IHRE-DOMAIN&gt;</a:t>
                      </a:r>
                      <a:endParaRPr lang="en-US" sz="1100" dirty="0">
                        <a:latin typeface="Arial" charset="0"/>
                        <a:ea typeface="Arial" charset="0"/>
                        <a:cs typeface="Arial" charset="0"/>
                      </a:endParaRPr>
                    </a:p>
                  </a:txBody>
                  <a:tcPr marL="48895" marR="48895" marT="48895" marB="48895">
                    <a:lnL w="12700" cap="flat" cmpd="sng" algn="ctr">
                      <a:solidFill>
                        <a:srgbClr val="CDCDCD"/>
                      </a:solidFill>
                      <a:prstDash val="solid"/>
                      <a:round/>
                      <a:headEnd type="none" w="med" len="med"/>
                      <a:tailEnd type="none" w="med" len="med"/>
                    </a:lnL>
                    <a:lnR w="12700" cap="flat" cmpd="sng" algn="ctr">
                      <a:solidFill>
                        <a:srgbClr val="CDCDCD"/>
                      </a:solidFill>
                      <a:prstDash val="solid"/>
                      <a:round/>
                      <a:headEnd type="none" w="med" len="med"/>
                      <a:tailEnd type="none" w="med" len="med"/>
                    </a:lnR>
                    <a:lnT w="12700" cap="flat" cmpd="sng" algn="ctr">
                      <a:solidFill>
                        <a:srgbClr val="CDCDCD"/>
                      </a:solidFill>
                      <a:prstDash val="solid"/>
                      <a:round/>
                      <a:headEnd type="none" w="med" len="med"/>
                      <a:tailEnd type="none" w="med" len="med"/>
                    </a:lnT>
                    <a:lnB w="12700" cap="flat" cmpd="sng" algn="ctr">
                      <a:solidFill>
                        <a:srgbClr val="CDCDCD"/>
                      </a:solidFill>
                      <a:prstDash val="solid"/>
                      <a:round/>
                      <a:headEnd type="none" w="med" len="med"/>
                      <a:tailEnd type="none" w="med" len="med"/>
                    </a:lnB>
                  </a:tcPr>
                </a:tc>
                <a:tc>
                  <a:txBody>
                    <a:bodyPr/>
                    <a:lstStyle/>
                    <a:p>
                      <a:pPr marL="0" indent="0">
                        <a:lnSpc>
                          <a:spcPts val="1540"/>
                        </a:lnSpc>
                        <a:buNone/>
                      </a:pPr>
                      <a:r>
                        <a:rPr lang="en-US" sz="1100" dirty="0">
                          <a:solidFill>
                            <a:srgbClr val="1A1A1A"/>
                          </a:solidFill>
                          <a:latin typeface="Arial" pitchFamily="34" charset="0"/>
                          <a:ea typeface="Arial" pitchFamily="34" charset="-122"/>
                          <a:cs typeface="Arial" pitchFamily="34" charset="-120"/>
                        </a:rPr>
                        <a:t>&lt;IPv4 des Servers&gt;</a:t>
                      </a:r>
                      <a:endParaRPr lang="en-US" sz="1100" dirty="0">
                        <a:latin typeface="Arial" charset="0"/>
                        <a:ea typeface="Arial" charset="0"/>
                        <a:cs typeface="Arial" charset="0"/>
                      </a:endParaRPr>
                    </a:p>
                  </a:txBody>
                  <a:tcPr marL="48895" marR="48895" marT="48895" marB="48895">
                    <a:lnL w="12700" cap="flat" cmpd="sng" algn="ctr">
                      <a:solidFill>
                        <a:srgbClr val="CDCDCD"/>
                      </a:solidFill>
                      <a:prstDash val="solid"/>
                      <a:round/>
                      <a:headEnd type="none" w="med" len="med"/>
                      <a:tailEnd type="none" w="med" len="med"/>
                    </a:lnL>
                    <a:lnR w="12700" cap="flat" cmpd="sng" algn="ctr">
                      <a:solidFill>
                        <a:srgbClr val="CDCDCD"/>
                      </a:solidFill>
                      <a:prstDash val="solid"/>
                      <a:round/>
                      <a:headEnd type="none" w="med" len="med"/>
                      <a:tailEnd type="none" w="med" len="med"/>
                    </a:lnR>
                    <a:lnT w="12700" cap="flat" cmpd="sng" algn="ctr">
                      <a:solidFill>
                        <a:srgbClr val="CDCDCD"/>
                      </a:solidFill>
                      <a:prstDash val="solid"/>
                      <a:round/>
                      <a:headEnd type="none" w="med" len="med"/>
                      <a:tailEnd type="none" w="med" len="med"/>
                    </a:lnT>
                    <a:lnB w="12700" cap="flat" cmpd="sng" algn="ctr">
                      <a:solidFill>
                        <a:srgbClr val="CDCDCD"/>
                      </a:solidFill>
                      <a:prstDash val="solid"/>
                      <a:round/>
                      <a:headEnd type="none" w="med" len="med"/>
                      <a:tailEnd type="none" w="med" len="med"/>
                    </a:lnB>
                  </a:tcPr>
                </a:tc>
                <a:extLst>
                  <a:ext uri="{0D108BD9-81ED-4DB2-BD59-A6C34878D82A}">
                    <a16:rowId xmlns:a16="http://schemas.microsoft.com/office/drawing/2014/main" val="10001"/>
                  </a:ext>
                </a:extLst>
              </a:tr>
              <a:tr h="300752">
                <a:tc>
                  <a:txBody>
                    <a:bodyPr/>
                    <a:lstStyle/>
                    <a:p>
                      <a:pPr marL="0" indent="0">
                        <a:lnSpc>
                          <a:spcPts val="1540"/>
                        </a:lnSpc>
                        <a:buNone/>
                      </a:pPr>
                      <a:r>
                        <a:rPr lang="en-US" sz="1100" dirty="0">
                          <a:solidFill>
                            <a:srgbClr val="1A1A1A"/>
                          </a:solidFill>
                          <a:latin typeface="Arial" pitchFamily="34" charset="0"/>
                          <a:ea typeface="Arial" pitchFamily="34" charset="-122"/>
                          <a:cs typeface="Arial" pitchFamily="34" charset="-120"/>
                        </a:rPr>
                        <a:t>dashboard.&lt;IHRE-DOMAIN&gt;</a:t>
                      </a:r>
                      <a:endParaRPr lang="en-US" sz="1100" dirty="0">
                        <a:latin typeface="Arial" charset="0"/>
                        <a:ea typeface="Arial" charset="0"/>
                        <a:cs typeface="Arial" charset="0"/>
                      </a:endParaRPr>
                    </a:p>
                  </a:txBody>
                  <a:tcPr marL="48895" marR="48895" marT="48895" marB="48895">
                    <a:lnL w="12700" cap="flat" cmpd="sng" algn="ctr">
                      <a:solidFill>
                        <a:srgbClr val="CDCDCD"/>
                      </a:solidFill>
                      <a:prstDash val="solid"/>
                      <a:round/>
                      <a:headEnd type="none" w="med" len="med"/>
                      <a:tailEnd type="none" w="med" len="med"/>
                    </a:lnL>
                    <a:lnR w="12700" cap="flat" cmpd="sng" algn="ctr">
                      <a:solidFill>
                        <a:srgbClr val="CDCDCD"/>
                      </a:solidFill>
                      <a:prstDash val="solid"/>
                      <a:round/>
                      <a:headEnd type="none" w="med" len="med"/>
                      <a:tailEnd type="none" w="med" len="med"/>
                    </a:lnR>
                    <a:lnT w="12700" cap="flat" cmpd="sng" algn="ctr">
                      <a:solidFill>
                        <a:srgbClr val="CDCDCD"/>
                      </a:solidFill>
                      <a:prstDash val="solid"/>
                      <a:round/>
                      <a:headEnd type="none" w="med" len="med"/>
                      <a:tailEnd type="none" w="med" len="med"/>
                    </a:lnT>
                    <a:lnB w="12700" cap="flat" cmpd="sng" algn="ctr">
                      <a:solidFill>
                        <a:srgbClr val="CDCDCD"/>
                      </a:solidFill>
                      <a:prstDash val="solid"/>
                      <a:round/>
                      <a:headEnd type="none" w="med" len="med"/>
                      <a:tailEnd type="none" w="med" len="med"/>
                    </a:lnB>
                    <a:solidFill>
                      <a:srgbClr val="EDEDED"/>
                    </a:solidFill>
                  </a:tcPr>
                </a:tc>
                <a:tc>
                  <a:txBody>
                    <a:bodyPr/>
                    <a:lstStyle/>
                    <a:p>
                      <a:pPr marL="0" indent="0">
                        <a:lnSpc>
                          <a:spcPts val="1540"/>
                        </a:lnSpc>
                        <a:buNone/>
                      </a:pPr>
                      <a:r>
                        <a:rPr lang="en-US" sz="1100" dirty="0">
                          <a:solidFill>
                            <a:srgbClr val="1A1A1A"/>
                          </a:solidFill>
                          <a:latin typeface="Arial" pitchFamily="34" charset="0"/>
                          <a:ea typeface="Arial" pitchFamily="34" charset="-122"/>
                          <a:cs typeface="Arial" pitchFamily="34" charset="-120"/>
                        </a:rPr>
                        <a:t>&lt;IPv4 des Servers&gt;</a:t>
                      </a:r>
                      <a:endParaRPr lang="en-US" sz="1100" dirty="0">
                        <a:latin typeface="Arial" charset="0"/>
                        <a:ea typeface="Arial" charset="0"/>
                        <a:cs typeface="Arial" charset="0"/>
                      </a:endParaRPr>
                    </a:p>
                  </a:txBody>
                  <a:tcPr marL="48895" marR="48895" marT="48895" marB="48895">
                    <a:lnL w="12700" cap="flat" cmpd="sng" algn="ctr">
                      <a:solidFill>
                        <a:srgbClr val="CDCDCD"/>
                      </a:solidFill>
                      <a:prstDash val="solid"/>
                      <a:round/>
                      <a:headEnd type="none" w="med" len="med"/>
                      <a:tailEnd type="none" w="med" len="med"/>
                    </a:lnL>
                    <a:lnR w="12700" cap="flat" cmpd="sng" algn="ctr">
                      <a:solidFill>
                        <a:srgbClr val="CDCDCD"/>
                      </a:solidFill>
                      <a:prstDash val="solid"/>
                      <a:round/>
                      <a:headEnd type="none" w="med" len="med"/>
                      <a:tailEnd type="none" w="med" len="med"/>
                    </a:lnR>
                    <a:lnT w="12700" cap="flat" cmpd="sng" algn="ctr">
                      <a:solidFill>
                        <a:srgbClr val="CDCDCD"/>
                      </a:solidFill>
                      <a:prstDash val="solid"/>
                      <a:round/>
                      <a:headEnd type="none" w="med" len="med"/>
                      <a:tailEnd type="none" w="med" len="med"/>
                    </a:lnT>
                    <a:lnB w="12700" cap="flat" cmpd="sng" algn="ctr">
                      <a:solidFill>
                        <a:srgbClr val="CDCDCD"/>
                      </a:solidFill>
                      <a:prstDash val="solid"/>
                      <a:round/>
                      <a:headEnd type="none" w="med" len="med"/>
                      <a:tailEnd type="none" w="med" len="med"/>
                    </a:lnB>
                    <a:solidFill>
                      <a:srgbClr val="EDEDED"/>
                    </a:solidFill>
                  </a:tcPr>
                </a:tc>
                <a:extLst>
                  <a:ext uri="{0D108BD9-81ED-4DB2-BD59-A6C34878D82A}">
                    <a16:rowId xmlns:a16="http://schemas.microsoft.com/office/drawing/2014/main" val="10002"/>
                  </a:ext>
                </a:extLst>
              </a:tr>
            </a:tbl>
          </a:graphicData>
        </a:graphic>
      </p:graphicFrame>
      <p:sp>
        <p:nvSpPr>
          <p:cNvPr id="10" name="Shape 4">
            <a:extLst>
              <a:ext uri="{FF2B5EF4-FFF2-40B4-BE49-F238E27FC236}">
                <a16:creationId xmlns:a16="http://schemas.microsoft.com/office/drawing/2014/main" id="{0BB161B0-3808-4772-B205-12602CA483E7}"/>
              </a:ext>
            </a:extLst>
          </p:cNvPr>
          <p:cNvSpPr/>
          <p:nvPr/>
        </p:nvSpPr>
        <p:spPr>
          <a:xfrm>
            <a:off x="819387" y="3873034"/>
            <a:ext cx="4627406" cy="1800401"/>
          </a:xfrm>
          <a:prstGeom prst="roundRect">
            <a:avLst>
              <a:gd name="adj" fmla="val 11367"/>
            </a:avLst>
          </a:prstGeom>
          <a:solidFill>
            <a:srgbClr val="EDEDED"/>
          </a:solidFill>
          <a:ln/>
        </p:spPr>
      </p:sp>
      <p:sp>
        <p:nvSpPr>
          <p:cNvPr id="11" name="Shape 5">
            <a:extLst>
              <a:ext uri="{FF2B5EF4-FFF2-40B4-BE49-F238E27FC236}">
                <a16:creationId xmlns:a16="http://schemas.microsoft.com/office/drawing/2014/main" id="{1DC949E1-398D-4BDC-98E9-2E7A0ED36CDB}"/>
              </a:ext>
            </a:extLst>
          </p:cNvPr>
          <p:cNvSpPr/>
          <p:nvPr/>
        </p:nvSpPr>
        <p:spPr>
          <a:xfrm flipH="1">
            <a:off x="808669" y="4144685"/>
            <a:ext cx="7226" cy="1289760"/>
          </a:xfrm>
          <a:prstGeom prst="line">
            <a:avLst/>
          </a:prstGeom>
          <a:noFill/>
          <a:ln w="25400">
            <a:solidFill>
              <a:srgbClr val="1A1A1A"/>
            </a:solidFill>
            <a:prstDash val="solid"/>
          </a:ln>
        </p:spPr>
      </p:sp>
      <p:sp>
        <p:nvSpPr>
          <p:cNvPr id="13" name="Text 6">
            <a:extLst>
              <a:ext uri="{FF2B5EF4-FFF2-40B4-BE49-F238E27FC236}">
                <a16:creationId xmlns:a16="http://schemas.microsoft.com/office/drawing/2014/main" id="{E516886C-81A3-440A-805D-E156C6EFC54D}"/>
              </a:ext>
            </a:extLst>
          </p:cNvPr>
          <p:cNvSpPr/>
          <p:nvPr/>
        </p:nvSpPr>
        <p:spPr>
          <a:xfrm>
            <a:off x="997381" y="3987840"/>
            <a:ext cx="4449412" cy="1812889"/>
          </a:xfrm>
          <a:prstGeom prst="rect">
            <a:avLst/>
          </a:prstGeom>
          <a:noFill/>
          <a:ln/>
        </p:spPr>
        <p:txBody>
          <a:bodyPr wrap="square" lIns="0" tIns="0" rIns="0" bIns="0" rtlCol="0" anchor="t">
            <a:normAutofit/>
          </a:bodyPr>
          <a:lstStyle/>
          <a:p>
            <a:pPr marL="0" indent="0" algn="l">
              <a:lnSpc>
                <a:spcPts val="1400"/>
              </a:lnSpc>
              <a:buNone/>
            </a:pPr>
            <a:r>
              <a:rPr lang="en-US" sz="1400" dirty="0">
                <a:ea typeface="Arial" pitchFamily="34" charset="-122"/>
                <a:cs typeface="Arial" pitchFamily="34" charset="-120"/>
              </a:rPr>
              <a:t>Statt einzelner Einträge deckt ein Wildcard-Record (Name *, Typ A) automatisch alle Subdomains ab – auch künftige.</a:t>
            </a:r>
          </a:p>
          <a:p>
            <a:pPr marL="0" indent="0" algn="l">
              <a:lnSpc>
                <a:spcPts val="1400"/>
              </a:lnSpc>
              <a:buNone/>
            </a:pPr>
            <a:endParaRPr lang="en-US" sz="1400" dirty="0">
              <a:ea typeface="Arial" pitchFamily="34" charset="-122"/>
              <a:cs typeface="Arial" pitchFamily="34" charset="-120"/>
            </a:endParaRPr>
          </a:p>
          <a:p>
            <a:pPr marL="0" indent="0" algn="l">
              <a:lnSpc>
                <a:spcPts val="1400"/>
              </a:lnSpc>
              <a:buNone/>
            </a:pPr>
            <a:r>
              <a:rPr lang="en-US" sz="1400" dirty="0">
                <a:ea typeface="Arial" pitchFamily="34" charset="-122"/>
                <a:cs typeface="Arial" pitchFamily="34" charset="-120"/>
              </a:rPr>
              <a:t>Sie besitzen alle die gleiche Second-Level-Domain. Jeder TN erhält in der Veranstaltung eigene Subdomains.</a:t>
            </a:r>
          </a:p>
          <a:p>
            <a:pPr marL="0" indent="0" algn="l">
              <a:lnSpc>
                <a:spcPts val="1400"/>
              </a:lnSpc>
              <a:buNone/>
            </a:pPr>
            <a:endParaRPr lang="en-US" sz="1400" dirty="0">
              <a:ea typeface="Arial" pitchFamily="34" charset="-122"/>
              <a:cs typeface="Arial" pitchFamily="34" charset="-120"/>
            </a:endParaRPr>
          </a:p>
          <a:p>
            <a:pPr marL="0" indent="0" algn="l">
              <a:lnSpc>
                <a:spcPts val="1400"/>
              </a:lnSpc>
              <a:buNone/>
            </a:pPr>
            <a:r>
              <a:rPr lang="en-US" sz="1400" dirty="0">
                <a:ea typeface="Arial" pitchFamily="34" charset="-122"/>
                <a:cs typeface="Arial" pitchFamily="34" charset="-120"/>
              </a:rPr>
              <a:t>Bitte berücksichtigen Sie dies:</a:t>
            </a:r>
          </a:p>
          <a:p>
            <a:pPr marL="0" indent="0" algn="l">
              <a:lnSpc>
                <a:spcPts val="1400"/>
              </a:lnSpc>
              <a:buNone/>
            </a:pPr>
            <a:r>
              <a:rPr lang="en-US" sz="1400" dirty="0">
                <a:ea typeface="Arial" pitchFamily="34" charset="-122"/>
                <a:cs typeface="Arial" pitchFamily="34" charset="-120"/>
              </a:rPr>
              <a:t> z. B. www.s1.&lt;IHRE-DOMAIN&gt;, www.s2.&lt;IHRE-DOMAIN&gt; usw.</a:t>
            </a:r>
          </a:p>
        </p:txBody>
      </p:sp>
      <p:sp>
        <p:nvSpPr>
          <p:cNvPr id="14" name="Text 7">
            <a:extLst>
              <a:ext uri="{FF2B5EF4-FFF2-40B4-BE49-F238E27FC236}">
                <a16:creationId xmlns:a16="http://schemas.microsoft.com/office/drawing/2014/main" id="{FBB295EC-0E8D-4553-8649-ADCB97B22A95}"/>
              </a:ext>
            </a:extLst>
          </p:cNvPr>
          <p:cNvSpPr/>
          <p:nvPr/>
        </p:nvSpPr>
        <p:spPr>
          <a:xfrm>
            <a:off x="5994202" y="1927622"/>
            <a:ext cx="5546630" cy="238641"/>
          </a:xfrm>
          <a:prstGeom prst="rect">
            <a:avLst/>
          </a:prstGeom>
          <a:noFill/>
          <a:ln/>
        </p:spPr>
        <p:txBody>
          <a:bodyPr wrap="square" lIns="0" tIns="0" rIns="0" bIns="0" rtlCol="0" anchor="t">
            <a:normAutofit/>
          </a:bodyPr>
          <a:lstStyle/>
          <a:p>
            <a:pPr marL="0" indent="0" algn="l">
              <a:lnSpc>
                <a:spcPts val="1680"/>
              </a:lnSpc>
              <a:buNone/>
            </a:pPr>
            <a:r>
              <a:rPr lang="en-US" sz="1400" b="1" dirty="0">
                <a:ea typeface="Arial" pitchFamily="34" charset="-122"/>
                <a:cs typeface="Arial" pitchFamily="34" charset="-120"/>
              </a:rPr>
              <a:t>Namensauflösung vorab prüfen</a:t>
            </a:r>
            <a:endParaRPr lang="en-US" sz="1400" dirty="0"/>
          </a:p>
        </p:txBody>
      </p:sp>
      <p:sp>
        <p:nvSpPr>
          <p:cNvPr id="15" name="Shape 8">
            <a:extLst>
              <a:ext uri="{FF2B5EF4-FFF2-40B4-BE49-F238E27FC236}">
                <a16:creationId xmlns:a16="http://schemas.microsoft.com/office/drawing/2014/main" id="{DEA6B0B6-29A4-4420-A9EE-B8BA16536109}"/>
              </a:ext>
            </a:extLst>
          </p:cNvPr>
          <p:cNvSpPr/>
          <p:nvPr/>
        </p:nvSpPr>
        <p:spPr>
          <a:xfrm>
            <a:off x="5997377" y="2296438"/>
            <a:ext cx="5378728" cy="712430"/>
          </a:xfrm>
          <a:prstGeom prst="roundRect">
            <a:avLst>
              <a:gd name="adj" fmla="val 12033"/>
            </a:avLst>
          </a:prstGeom>
          <a:solidFill>
            <a:srgbClr val="F5F5F5"/>
          </a:solidFill>
          <a:ln w="6350">
            <a:solidFill>
              <a:srgbClr val="D1D5DB"/>
            </a:solidFill>
            <a:prstDash val="solid"/>
          </a:ln>
        </p:spPr>
      </p:sp>
      <p:sp>
        <p:nvSpPr>
          <p:cNvPr id="16" name="Shape 9">
            <a:extLst>
              <a:ext uri="{FF2B5EF4-FFF2-40B4-BE49-F238E27FC236}">
                <a16:creationId xmlns:a16="http://schemas.microsoft.com/office/drawing/2014/main" id="{41915F3B-018A-43B6-8AC2-86AA5DB3B808}"/>
              </a:ext>
            </a:extLst>
          </p:cNvPr>
          <p:cNvSpPr/>
          <p:nvPr/>
        </p:nvSpPr>
        <p:spPr>
          <a:xfrm>
            <a:off x="6182757" y="2478008"/>
            <a:ext cx="349171" cy="349171"/>
          </a:xfrm>
          <a:prstGeom prst="roundRect">
            <a:avLst>
              <a:gd name="adj" fmla="val 50000"/>
            </a:avLst>
          </a:prstGeom>
          <a:solidFill>
            <a:srgbClr val="FFFFFF"/>
          </a:solidFill>
          <a:ln w="6350">
            <a:solidFill>
              <a:srgbClr val="1A1A1A"/>
            </a:solidFill>
            <a:prstDash val="solid"/>
          </a:ln>
        </p:spPr>
      </p:sp>
      <p:pic>
        <p:nvPicPr>
          <p:cNvPr id="17" name="Image 1" descr="Code">
            <a:extLst>
              <a:ext uri="{FF2B5EF4-FFF2-40B4-BE49-F238E27FC236}">
                <a16:creationId xmlns:a16="http://schemas.microsoft.com/office/drawing/2014/main" id="{1BAD41DA-0DC5-4550-A898-0579B450A6D3}"/>
              </a:ext>
            </a:extLst>
          </p:cNvPr>
          <p:cNvPicPr>
            <a:picLocks noChangeAspect="1"/>
          </p:cNvPicPr>
          <p:nvPr/>
        </p:nvPicPr>
        <p:blipFill>
          <a:blip r:embed="rId2"/>
          <a:srcRect/>
          <a:stretch/>
        </p:blipFill>
        <p:spPr>
          <a:xfrm>
            <a:off x="6274832" y="2570083"/>
            <a:ext cx="165021" cy="165021"/>
          </a:xfrm>
          <a:prstGeom prst="rect">
            <a:avLst/>
          </a:prstGeom>
        </p:spPr>
      </p:pic>
      <p:sp>
        <p:nvSpPr>
          <p:cNvPr id="18" name="Text 10">
            <a:extLst>
              <a:ext uri="{FF2B5EF4-FFF2-40B4-BE49-F238E27FC236}">
                <a16:creationId xmlns:a16="http://schemas.microsoft.com/office/drawing/2014/main" id="{C82FD302-9FB7-4EDC-A0E6-9479D448376D}"/>
              </a:ext>
            </a:extLst>
          </p:cNvPr>
          <p:cNvSpPr/>
          <p:nvPr/>
        </p:nvSpPr>
        <p:spPr>
          <a:xfrm>
            <a:off x="6662024" y="2453283"/>
            <a:ext cx="4667832" cy="208280"/>
          </a:xfrm>
          <a:prstGeom prst="rect">
            <a:avLst/>
          </a:prstGeom>
          <a:noFill/>
          <a:ln/>
        </p:spPr>
        <p:txBody>
          <a:bodyPr wrap="square" lIns="0" tIns="0" rIns="0" bIns="0" rtlCol="0" anchor="t">
            <a:normAutofit/>
          </a:bodyPr>
          <a:lstStyle/>
          <a:p>
            <a:pPr marL="0" indent="0" algn="l">
              <a:lnSpc>
                <a:spcPts val="1440"/>
              </a:lnSpc>
              <a:buNone/>
            </a:pPr>
            <a:r>
              <a:rPr lang="en-US" sz="1400" b="1" dirty="0">
                <a:ea typeface="Arial" pitchFamily="34" charset="-122"/>
                <a:cs typeface="Arial" pitchFamily="34" charset="-120"/>
              </a:rPr>
              <a:t>Linux / macOS</a:t>
            </a:r>
            <a:endParaRPr lang="en-US" sz="1400" dirty="0"/>
          </a:p>
        </p:txBody>
      </p:sp>
      <p:sp>
        <p:nvSpPr>
          <p:cNvPr id="19" name="Text 11">
            <a:extLst>
              <a:ext uri="{FF2B5EF4-FFF2-40B4-BE49-F238E27FC236}">
                <a16:creationId xmlns:a16="http://schemas.microsoft.com/office/drawing/2014/main" id="{336DE123-79A9-4CEC-BD22-014B29238086}"/>
              </a:ext>
            </a:extLst>
          </p:cNvPr>
          <p:cNvSpPr/>
          <p:nvPr/>
        </p:nvSpPr>
        <p:spPr>
          <a:xfrm>
            <a:off x="6662024" y="2674263"/>
            <a:ext cx="4667832" cy="203160"/>
          </a:xfrm>
          <a:prstGeom prst="rect">
            <a:avLst/>
          </a:prstGeom>
          <a:noFill/>
          <a:ln/>
        </p:spPr>
        <p:txBody>
          <a:bodyPr wrap="square" lIns="0" tIns="0" rIns="0" bIns="0" rtlCol="0" anchor="t">
            <a:normAutofit/>
          </a:bodyPr>
          <a:lstStyle/>
          <a:p>
            <a:pPr marL="0" indent="0" algn="l">
              <a:lnSpc>
                <a:spcPts val="1400"/>
              </a:lnSpc>
              <a:buNone/>
            </a:pPr>
            <a:r>
              <a:rPr lang="en-US" sz="1400" dirty="0">
                <a:ea typeface="Courier New" pitchFamily="34" charset="-122"/>
                <a:cs typeface="Courier New" pitchFamily="34" charset="-120"/>
              </a:rPr>
              <a:t>dig www.&lt;IHRE-DOMAIN&gt;</a:t>
            </a:r>
            <a:endParaRPr lang="en-US" sz="1400" dirty="0"/>
          </a:p>
        </p:txBody>
      </p:sp>
      <p:sp>
        <p:nvSpPr>
          <p:cNvPr id="20" name="Shape 12">
            <a:extLst>
              <a:ext uri="{FF2B5EF4-FFF2-40B4-BE49-F238E27FC236}">
                <a16:creationId xmlns:a16="http://schemas.microsoft.com/office/drawing/2014/main" id="{FD8670BD-9CA0-4E58-B6DC-B846FD56F921}"/>
              </a:ext>
            </a:extLst>
          </p:cNvPr>
          <p:cNvSpPr/>
          <p:nvPr/>
        </p:nvSpPr>
        <p:spPr>
          <a:xfrm>
            <a:off x="5997377" y="3142139"/>
            <a:ext cx="5378728" cy="712430"/>
          </a:xfrm>
          <a:prstGeom prst="roundRect">
            <a:avLst>
              <a:gd name="adj" fmla="val 12033"/>
            </a:avLst>
          </a:prstGeom>
          <a:solidFill>
            <a:srgbClr val="F5F5F5"/>
          </a:solidFill>
          <a:ln w="6350">
            <a:solidFill>
              <a:srgbClr val="D1D5DB"/>
            </a:solidFill>
            <a:prstDash val="solid"/>
          </a:ln>
        </p:spPr>
      </p:sp>
      <p:sp>
        <p:nvSpPr>
          <p:cNvPr id="21" name="Shape 13">
            <a:extLst>
              <a:ext uri="{FF2B5EF4-FFF2-40B4-BE49-F238E27FC236}">
                <a16:creationId xmlns:a16="http://schemas.microsoft.com/office/drawing/2014/main" id="{91C726BA-9CCD-43A0-A10F-476DFB58C73A}"/>
              </a:ext>
            </a:extLst>
          </p:cNvPr>
          <p:cNvSpPr/>
          <p:nvPr/>
        </p:nvSpPr>
        <p:spPr>
          <a:xfrm>
            <a:off x="6182757" y="3323710"/>
            <a:ext cx="349171" cy="349171"/>
          </a:xfrm>
          <a:prstGeom prst="roundRect">
            <a:avLst>
              <a:gd name="adj" fmla="val 50000"/>
            </a:avLst>
          </a:prstGeom>
          <a:solidFill>
            <a:srgbClr val="FFFFFF"/>
          </a:solidFill>
          <a:ln w="6350">
            <a:solidFill>
              <a:srgbClr val="1A1A1A"/>
            </a:solidFill>
            <a:prstDash val="solid"/>
          </a:ln>
        </p:spPr>
      </p:sp>
      <p:pic>
        <p:nvPicPr>
          <p:cNvPr id="22" name="Image 2" descr="Code">
            <a:extLst>
              <a:ext uri="{FF2B5EF4-FFF2-40B4-BE49-F238E27FC236}">
                <a16:creationId xmlns:a16="http://schemas.microsoft.com/office/drawing/2014/main" id="{46C2363A-D5DD-416C-AE2C-82C192EF6DF4}"/>
              </a:ext>
            </a:extLst>
          </p:cNvPr>
          <p:cNvPicPr>
            <a:picLocks noChangeAspect="1"/>
          </p:cNvPicPr>
          <p:nvPr/>
        </p:nvPicPr>
        <p:blipFill>
          <a:blip r:embed="rId2"/>
          <a:srcRect/>
          <a:stretch/>
        </p:blipFill>
        <p:spPr>
          <a:xfrm>
            <a:off x="6274832" y="3415785"/>
            <a:ext cx="165021" cy="165021"/>
          </a:xfrm>
          <a:prstGeom prst="rect">
            <a:avLst/>
          </a:prstGeom>
        </p:spPr>
      </p:pic>
      <p:sp>
        <p:nvSpPr>
          <p:cNvPr id="23" name="Text 14">
            <a:extLst>
              <a:ext uri="{FF2B5EF4-FFF2-40B4-BE49-F238E27FC236}">
                <a16:creationId xmlns:a16="http://schemas.microsoft.com/office/drawing/2014/main" id="{21EA3F88-0CBB-4FD3-A51D-FF57E1DF4C5E}"/>
              </a:ext>
            </a:extLst>
          </p:cNvPr>
          <p:cNvSpPr/>
          <p:nvPr/>
        </p:nvSpPr>
        <p:spPr>
          <a:xfrm>
            <a:off x="6662024" y="3298984"/>
            <a:ext cx="4667832" cy="208280"/>
          </a:xfrm>
          <a:prstGeom prst="rect">
            <a:avLst/>
          </a:prstGeom>
          <a:noFill/>
          <a:ln/>
        </p:spPr>
        <p:txBody>
          <a:bodyPr wrap="square" lIns="0" tIns="0" rIns="0" bIns="0" rtlCol="0" anchor="t">
            <a:normAutofit/>
          </a:bodyPr>
          <a:lstStyle/>
          <a:p>
            <a:pPr marL="0" indent="0" algn="l">
              <a:lnSpc>
                <a:spcPts val="1440"/>
              </a:lnSpc>
              <a:buNone/>
            </a:pPr>
            <a:r>
              <a:rPr lang="en-US" sz="1400" b="1" dirty="0">
                <a:ea typeface="Arial" pitchFamily="34" charset="-122"/>
                <a:cs typeface="Arial" pitchFamily="34" charset="-120"/>
              </a:rPr>
              <a:t>Windows (PowerShell)</a:t>
            </a:r>
            <a:endParaRPr lang="en-US" sz="1400" dirty="0"/>
          </a:p>
        </p:txBody>
      </p:sp>
      <p:sp>
        <p:nvSpPr>
          <p:cNvPr id="24" name="Text 15">
            <a:extLst>
              <a:ext uri="{FF2B5EF4-FFF2-40B4-BE49-F238E27FC236}">
                <a16:creationId xmlns:a16="http://schemas.microsoft.com/office/drawing/2014/main" id="{2C019C3F-B924-411C-B3B3-BC34D87324DA}"/>
              </a:ext>
            </a:extLst>
          </p:cNvPr>
          <p:cNvSpPr/>
          <p:nvPr/>
        </p:nvSpPr>
        <p:spPr>
          <a:xfrm>
            <a:off x="6662024" y="3519964"/>
            <a:ext cx="4667832" cy="203160"/>
          </a:xfrm>
          <a:prstGeom prst="rect">
            <a:avLst/>
          </a:prstGeom>
          <a:noFill/>
          <a:ln/>
        </p:spPr>
        <p:txBody>
          <a:bodyPr wrap="square" lIns="0" tIns="0" rIns="0" bIns="0" rtlCol="0" anchor="t">
            <a:normAutofit/>
          </a:bodyPr>
          <a:lstStyle/>
          <a:p>
            <a:pPr marL="0" indent="0" algn="l">
              <a:lnSpc>
                <a:spcPts val="1400"/>
              </a:lnSpc>
              <a:buNone/>
            </a:pPr>
            <a:r>
              <a:rPr lang="en-US" sz="1400" dirty="0">
                <a:ea typeface="Courier New" pitchFamily="34" charset="-122"/>
                <a:cs typeface="Courier New" pitchFamily="34" charset="-120"/>
              </a:rPr>
              <a:t>Resolve-DnsName www.&lt;IHRE-DOMAIN&gt;</a:t>
            </a:r>
            <a:endParaRPr lang="en-US" sz="1400" dirty="0"/>
          </a:p>
        </p:txBody>
      </p:sp>
      <p:sp>
        <p:nvSpPr>
          <p:cNvPr id="25" name="Shape 16">
            <a:extLst>
              <a:ext uri="{FF2B5EF4-FFF2-40B4-BE49-F238E27FC236}">
                <a16:creationId xmlns:a16="http://schemas.microsoft.com/office/drawing/2014/main" id="{38FAFFBC-3007-4771-A257-29A5299D5FF1}"/>
              </a:ext>
            </a:extLst>
          </p:cNvPr>
          <p:cNvSpPr/>
          <p:nvPr/>
        </p:nvSpPr>
        <p:spPr>
          <a:xfrm>
            <a:off x="5997377" y="3987840"/>
            <a:ext cx="5378728" cy="788115"/>
          </a:xfrm>
          <a:prstGeom prst="roundRect">
            <a:avLst>
              <a:gd name="adj" fmla="val 9534"/>
            </a:avLst>
          </a:prstGeom>
          <a:solidFill>
            <a:srgbClr val="F5F5F5"/>
          </a:solidFill>
          <a:ln w="6350">
            <a:solidFill>
              <a:srgbClr val="D1D5DB"/>
            </a:solidFill>
            <a:prstDash val="solid"/>
          </a:ln>
        </p:spPr>
      </p:sp>
      <p:sp>
        <p:nvSpPr>
          <p:cNvPr id="26" name="Shape 17">
            <a:extLst>
              <a:ext uri="{FF2B5EF4-FFF2-40B4-BE49-F238E27FC236}">
                <a16:creationId xmlns:a16="http://schemas.microsoft.com/office/drawing/2014/main" id="{702F7485-9318-4858-9D59-DB6D57B920A8}"/>
              </a:ext>
            </a:extLst>
          </p:cNvPr>
          <p:cNvSpPr/>
          <p:nvPr/>
        </p:nvSpPr>
        <p:spPr>
          <a:xfrm>
            <a:off x="6182757" y="4262755"/>
            <a:ext cx="349171" cy="349171"/>
          </a:xfrm>
          <a:prstGeom prst="roundRect">
            <a:avLst>
              <a:gd name="adj" fmla="val 50000"/>
            </a:avLst>
          </a:prstGeom>
          <a:solidFill>
            <a:srgbClr val="FFFFFF"/>
          </a:solidFill>
          <a:ln w="6350">
            <a:solidFill>
              <a:srgbClr val="1A1A1A"/>
            </a:solidFill>
            <a:prstDash val="solid"/>
          </a:ln>
        </p:spPr>
      </p:sp>
      <p:pic>
        <p:nvPicPr>
          <p:cNvPr id="27" name="Image 3" descr="Globe">
            <a:extLst>
              <a:ext uri="{FF2B5EF4-FFF2-40B4-BE49-F238E27FC236}">
                <a16:creationId xmlns:a16="http://schemas.microsoft.com/office/drawing/2014/main" id="{893F833C-D73B-4207-AAA2-72F532F643CF}"/>
              </a:ext>
            </a:extLst>
          </p:cNvPr>
          <p:cNvPicPr>
            <a:picLocks noChangeAspect="1"/>
          </p:cNvPicPr>
          <p:nvPr/>
        </p:nvPicPr>
        <p:blipFill>
          <a:blip r:embed="rId3"/>
          <a:srcRect/>
          <a:stretch/>
        </p:blipFill>
        <p:spPr>
          <a:xfrm>
            <a:off x="6274832" y="4354830"/>
            <a:ext cx="165021" cy="165021"/>
          </a:xfrm>
          <a:prstGeom prst="rect">
            <a:avLst/>
          </a:prstGeom>
        </p:spPr>
      </p:pic>
      <p:sp>
        <p:nvSpPr>
          <p:cNvPr id="28" name="Text 18">
            <a:extLst>
              <a:ext uri="{FF2B5EF4-FFF2-40B4-BE49-F238E27FC236}">
                <a16:creationId xmlns:a16="http://schemas.microsoft.com/office/drawing/2014/main" id="{6D2B96C8-7A83-4508-8DBF-FF2A62915B7D}"/>
              </a:ext>
            </a:extLst>
          </p:cNvPr>
          <p:cNvSpPr/>
          <p:nvPr/>
        </p:nvSpPr>
        <p:spPr>
          <a:xfrm>
            <a:off x="6662024" y="4144685"/>
            <a:ext cx="4667832" cy="208280"/>
          </a:xfrm>
          <a:prstGeom prst="rect">
            <a:avLst/>
          </a:prstGeom>
          <a:noFill/>
          <a:ln/>
        </p:spPr>
        <p:txBody>
          <a:bodyPr wrap="square" lIns="0" tIns="0" rIns="0" bIns="0" rtlCol="0" anchor="t">
            <a:normAutofit/>
          </a:bodyPr>
          <a:lstStyle/>
          <a:p>
            <a:pPr>
              <a:lnSpc>
                <a:spcPts val="1440"/>
              </a:lnSpc>
            </a:pPr>
            <a:r>
              <a:rPr lang="en-US" sz="1400" b="1" dirty="0">
                <a:ea typeface="Arial" pitchFamily="34" charset="-122"/>
                <a:cs typeface="Arial" pitchFamily="34" charset="-120"/>
              </a:rPr>
              <a:t>Online-Checker z. B. dnschecker.org</a:t>
            </a:r>
            <a:endParaRPr lang="en-US" sz="1400" dirty="0"/>
          </a:p>
        </p:txBody>
      </p:sp>
      <p:sp>
        <p:nvSpPr>
          <p:cNvPr id="30" name="Text 20">
            <a:extLst>
              <a:ext uri="{FF2B5EF4-FFF2-40B4-BE49-F238E27FC236}">
                <a16:creationId xmlns:a16="http://schemas.microsoft.com/office/drawing/2014/main" id="{2C4B9490-452B-457F-89E4-057A05E82D2B}"/>
              </a:ext>
            </a:extLst>
          </p:cNvPr>
          <p:cNvSpPr/>
          <p:nvPr/>
        </p:nvSpPr>
        <p:spPr>
          <a:xfrm>
            <a:off x="6662024" y="4415275"/>
            <a:ext cx="4667832" cy="173990"/>
          </a:xfrm>
          <a:prstGeom prst="rect">
            <a:avLst/>
          </a:prstGeom>
          <a:noFill/>
          <a:ln/>
        </p:spPr>
        <p:txBody>
          <a:bodyPr wrap="square" lIns="0" tIns="0" rIns="0" bIns="0" rtlCol="0" anchor="t">
            <a:normAutofit/>
          </a:bodyPr>
          <a:lstStyle/>
          <a:p>
            <a:pPr marL="0" indent="0" algn="l">
              <a:lnSpc>
                <a:spcPts val="1170"/>
              </a:lnSpc>
              <a:buNone/>
            </a:pPr>
            <a:r>
              <a:rPr lang="en-US" sz="1400" dirty="0">
                <a:ea typeface="Arial" pitchFamily="34" charset="-122"/>
                <a:cs typeface="Arial" pitchFamily="34" charset="-120"/>
              </a:rPr>
              <a:t>Prüft die weltweite Propagierung des Eintrags</a:t>
            </a:r>
            <a:endParaRPr lang="en-US" sz="1400" dirty="0"/>
          </a:p>
        </p:txBody>
      </p:sp>
      <p:pic>
        <p:nvPicPr>
          <p:cNvPr id="35" name="Grafik 34">
            <a:extLst>
              <a:ext uri="{FF2B5EF4-FFF2-40B4-BE49-F238E27FC236}">
                <a16:creationId xmlns:a16="http://schemas.microsoft.com/office/drawing/2014/main" id="{4633993E-731A-4DEF-8A9D-1E1CA6A9BF3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60001" y="5115686"/>
            <a:ext cx="1129554" cy="129898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EA69A3DD-6FBD-40E7-B37A-03BD8D460E91}"/>
              </a:ext>
            </a:extLst>
          </p:cNvPr>
          <p:cNvSpPr>
            <a:spLocks noGrp="1"/>
          </p:cNvSpPr>
          <p:nvPr>
            <p:ph type="title"/>
          </p:nvPr>
        </p:nvSpPr>
        <p:spPr/>
        <p:txBody>
          <a:bodyPr/>
          <a:lstStyle/>
          <a:p>
            <a:r>
              <a:rPr lang="de-DE" dirty="0"/>
              <a:t>Laborübung 05</a:t>
            </a:r>
          </a:p>
        </p:txBody>
      </p:sp>
      <p:sp>
        <p:nvSpPr>
          <p:cNvPr id="5" name="Datumsplatzhalter 4">
            <a:extLst>
              <a:ext uri="{FF2B5EF4-FFF2-40B4-BE49-F238E27FC236}">
                <a16:creationId xmlns:a16="http://schemas.microsoft.com/office/drawing/2014/main" id="{816D55CA-6F4F-4E30-AA9E-71F6E14CB6C3}"/>
              </a:ext>
            </a:extLst>
          </p:cNvPr>
          <p:cNvSpPr>
            <a:spLocks noGrp="1"/>
          </p:cNvSpPr>
          <p:nvPr>
            <p:ph type="dt" sz="half" idx="10"/>
          </p:nvPr>
        </p:nvSpPr>
        <p:spPr/>
        <p:txBody>
          <a:bodyPr/>
          <a:lstStyle/>
          <a:p>
            <a:fld id="{757CD2D1-8C96-4412-8C0C-09C7E956F080}" type="datetime1">
              <a:rPr lang="de-DE" smtClean="0"/>
              <a:t>24.09.2026</a:t>
            </a:fld>
            <a:endParaRPr lang="de-DE" dirty="0"/>
          </a:p>
        </p:txBody>
      </p:sp>
      <p:sp>
        <p:nvSpPr>
          <p:cNvPr id="6" name="Foliennummernplatzhalter 5">
            <a:extLst>
              <a:ext uri="{FF2B5EF4-FFF2-40B4-BE49-F238E27FC236}">
                <a16:creationId xmlns:a16="http://schemas.microsoft.com/office/drawing/2014/main" id="{FADE0D9E-8259-484A-9508-2802F1E7C7A9}"/>
              </a:ext>
            </a:extLst>
          </p:cNvPr>
          <p:cNvSpPr>
            <a:spLocks noGrp="1"/>
          </p:cNvSpPr>
          <p:nvPr>
            <p:ph type="sldNum" sz="quarter" idx="4"/>
          </p:nvPr>
        </p:nvSpPr>
        <p:spPr/>
        <p:txBody>
          <a:bodyPr/>
          <a:lstStyle/>
          <a:p>
            <a:fld id="{43A6DCFB-163F-4561-BF28-3CD1FE47EE20}" type="slidenum">
              <a:rPr lang="de-DE" smtClean="0"/>
              <a:pPr/>
              <a:t>12</a:t>
            </a:fld>
            <a:endParaRPr lang="de-DE" dirty="0"/>
          </a:p>
        </p:txBody>
      </p:sp>
      <p:pic>
        <p:nvPicPr>
          <p:cNvPr id="8" name="Grafik 7">
            <a:extLst>
              <a:ext uri="{FF2B5EF4-FFF2-40B4-BE49-F238E27FC236}">
                <a16:creationId xmlns:a16="http://schemas.microsoft.com/office/drawing/2014/main" id="{2C85E1F9-33FE-45F1-BBF3-87B319A9416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52597" y="1956084"/>
            <a:ext cx="3108344" cy="373001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01" y="274638"/>
            <a:ext cx="10953313" cy="1143000"/>
          </a:xfrm>
        </p:spPr>
        <p:txBody>
          <a:bodyPr/>
          <a:lstStyle/>
          <a:p>
            <a:r>
              <a:rPr lang="de-DE" sz="2400" dirty="0"/>
              <a:t>Docker-Befehle: Installation &amp; Verifikation</a:t>
            </a:r>
            <a:endParaRPr sz="2400" dirty="0"/>
          </a:p>
        </p:txBody>
      </p:sp>
      <p:sp>
        <p:nvSpPr>
          <p:cNvPr id="2" name="Foliennummernplatzhalter 4"/>
          <p:cNvSpPr>
            <a:spLocks noGrp="1"/>
          </p:cNvSpPr>
          <p:nvPr>
            <p:ph type="sldNum" sz="quarter" idx="4"/>
          </p:nvPr>
        </p:nvSpPr>
        <p:spPr/>
        <p:txBody>
          <a:bodyPr/>
          <a:lstStyle/>
          <a:p>
            <a:fld id="{43A6DCFB-163F-4561-BF28-3CD1FE47EE20}" type="slidenum">
              <a:rPr lang="de-DE" smtClean="0"/>
              <a:pPr/>
              <a:t>13</a:t>
            </a:fld>
            <a:endParaRPr lang="de-DE" dirty="0"/>
          </a:p>
        </p:txBody>
      </p:sp>
      <p:sp>
        <p:nvSpPr>
          <p:cNvPr id="5" name="TextBox 4"/>
          <p:cNvSpPr txBox="1"/>
          <p:nvPr/>
        </p:nvSpPr>
        <p:spPr>
          <a:xfrm>
            <a:off x="548640" y="2055897"/>
            <a:ext cx="5257800" cy="274320"/>
          </a:xfrm>
          <a:prstGeom prst="rect">
            <a:avLst/>
          </a:prstGeom>
          <a:noFill/>
        </p:spPr>
        <p:txBody>
          <a:bodyPr wrap="square" lIns="0" tIns="0" rIns="0" bIns="0">
            <a:spAutoFit/>
          </a:bodyPr>
          <a:lstStyle/>
          <a:p>
            <a:pPr algn="ctr"/>
            <a:r>
              <a:rPr sz="1500" b="1" i="0" dirty="0" err="1">
                <a:solidFill>
                  <a:srgbClr val="005AA8"/>
                </a:solidFill>
                <a:latin typeface="Arial"/>
              </a:rPr>
              <a:t>Inbetriebnahme</a:t>
            </a:r>
            <a:r>
              <a:rPr sz="1500" b="1" i="0" dirty="0">
                <a:solidFill>
                  <a:srgbClr val="005AA8"/>
                </a:solidFill>
                <a:latin typeface="Arial"/>
              </a:rPr>
              <a:t> &amp; Installation</a:t>
            </a:r>
          </a:p>
        </p:txBody>
      </p:sp>
      <p:sp>
        <p:nvSpPr>
          <p:cNvPr id="6" name="TextBox 5"/>
          <p:cNvSpPr txBox="1"/>
          <p:nvPr/>
        </p:nvSpPr>
        <p:spPr>
          <a:xfrm>
            <a:off x="6385255" y="2055897"/>
            <a:ext cx="5257800" cy="274320"/>
          </a:xfrm>
          <a:prstGeom prst="rect">
            <a:avLst/>
          </a:prstGeom>
          <a:noFill/>
        </p:spPr>
        <p:txBody>
          <a:bodyPr wrap="square" lIns="0" tIns="0" rIns="0" bIns="0">
            <a:spAutoFit/>
          </a:bodyPr>
          <a:lstStyle/>
          <a:p>
            <a:pPr algn="ctr"/>
            <a:r>
              <a:rPr sz="1500" b="1" i="0">
                <a:solidFill>
                  <a:srgbClr val="1E6B3C"/>
                </a:solidFill>
                <a:latin typeface="Arial"/>
              </a:rPr>
              <a:t>Verifikation</a:t>
            </a:r>
          </a:p>
        </p:txBody>
      </p:sp>
      <p:sp>
        <p:nvSpPr>
          <p:cNvPr id="7" name="Rounded Rectangle 6"/>
          <p:cNvSpPr/>
          <p:nvPr/>
        </p:nvSpPr>
        <p:spPr>
          <a:xfrm>
            <a:off x="374073" y="2621005"/>
            <a:ext cx="5432367"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dirty="0">
                <a:solidFill>
                  <a:srgbClr val="F3F5F2"/>
                </a:solidFill>
                <a:latin typeface="Courier New"/>
              </a:rPr>
              <a:t>apt install -y docker-</a:t>
            </a:r>
            <a:r>
              <a:rPr sz="1100" b="0" dirty="0" err="1">
                <a:solidFill>
                  <a:srgbClr val="F3F5F2"/>
                </a:solidFill>
                <a:latin typeface="Courier New"/>
              </a:rPr>
              <a:t>ce</a:t>
            </a:r>
            <a:r>
              <a:rPr sz="1100" b="0" dirty="0">
                <a:solidFill>
                  <a:srgbClr val="F3F5F2"/>
                </a:solidFill>
                <a:latin typeface="Courier New"/>
              </a:rPr>
              <a:t> docker-</a:t>
            </a:r>
            <a:r>
              <a:rPr sz="1100" b="0" dirty="0" err="1">
                <a:solidFill>
                  <a:srgbClr val="F3F5F2"/>
                </a:solidFill>
                <a:latin typeface="Courier New"/>
              </a:rPr>
              <a:t>ce</a:t>
            </a:r>
            <a:r>
              <a:rPr sz="1100" b="0" dirty="0">
                <a:solidFill>
                  <a:srgbClr val="F3F5F2"/>
                </a:solidFill>
                <a:latin typeface="Courier New"/>
              </a:rPr>
              <a:t>-cli containerd.io</a:t>
            </a:r>
          </a:p>
        </p:txBody>
      </p:sp>
      <p:sp>
        <p:nvSpPr>
          <p:cNvPr id="8" name="TextBox 7"/>
          <p:cNvSpPr txBox="1"/>
          <p:nvPr/>
        </p:nvSpPr>
        <p:spPr>
          <a:xfrm>
            <a:off x="548640" y="2895324"/>
            <a:ext cx="5257800" cy="169277"/>
          </a:xfrm>
          <a:prstGeom prst="rect">
            <a:avLst/>
          </a:prstGeom>
          <a:noFill/>
        </p:spPr>
        <p:txBody>
          <a:bodyPr wrap="square" lIns="0" tIns="0" rIns="0" bIns="0">
            <a:spAutoFit/>
          </a:bodyPr>
          <a:lstStyle/>
          <a:p>
            <a:pPr algn="l"/>
            <a:r>
              <a:rPr sz="1100" b="0" i="0">
                <a:solidFill>
                  <a:srgbClr val="5B6472"/>
                </a:solidFill>
                <a:latin typeface="Arial"/>
              </a:rPr>
              <a:t>Docker Engine, CLI und Container-Laufzeit installieren (Schritt 1)</a:t>
            </a:r>
          </a:p>
        </p:txBody>
      </p:sp>
      <p:sp>
        <p:nvSpPr>
          <p:cNvPr id="9" name="Rounded Rectangle 8"/>
          <p:cNvSpPr/>
          <p:nvPr/>
        </p:nvSpPr>
        <p:spPr>
          <a:xfrm>
            <a:off x="374073" y="3242797"/>
            <a:ext cx="5432367"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a:solidFill>
                  <a:srgbClr val="F3F5F2"/>
                </a:solidFill>
                <a:latin typeface="Courier New"/>
              </a:rPr>
              <a:t>docker pull nginx</a:t>
            </a:r>
          </a:p>
        </p:txBody>
      </p:sp>
      <p:sp>
        <p:nvSpPr>
          <p:cNvPr id="10" name="TextBox 9"/>
          <p:cNvSpPr txBox="1"/>
          <p:nvPr/>
        </p:nvSpPr>
        <p:spPr>
          <a:xfrm>
            <a:off x="548640" y="3517117"/>
            <a:ext cx="5257800" cy="169277"/>
          </a:xfrm>
          <a:prstGeom prst="rect">
            <a:avLst/>
          </a:prstGeom>
          <a:noFill/>
        </p:spPr>
        <p:txBody>
          <a:bodyPr wrap="square" lIns="0" tIns="0" rIns="0" bIns="0">
            <a:spAutoFit/>
          </a:bodyPr>
          <a:lstStyle/>
          <a:p>
            <a:pPr algn="l"/>
            <a:r>
              <a:rPr sz="1100" b="0" i="0">
                <a:solidFill>
                  <a:srgbClr val="5B6472"/>
                </a:solidFill>
                <a:latin typeface="Arial"/>
              </a:rPr>
              <a:t>Aktuelles Image aus der Registry laden – z. B. vor einem Update</a:t>
            </a:r>
          </a:p>
        </p:txBody>
      </p:sp>
      <p:sp>
        <p:nvSpPr>
          <p:cNvPr id="11" name="Rounded Rectangle 10"/>
          <p:cNvSpPr/>
          <p:nvPr/>
        </p:nvSpPr>
        <p:spPr>
          <a:xfrm>
            <a:off x="374073" y="3773147"/>
            <a:ext cx="5432367" cy="347474"/>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dirty="0">
                <a:solidFill>
                  <a:srgbClr val="F3F5F2"/>
                </a:solidFill>
                <a:latin typeface="Courier New"/>
              </a:rPr>
              <a:t>docker run -d --name </a:t>
            </a:r>
            <a:r>
              <a:rPr sz="1100" b="0" dirty="0" err="1">
                <a:solidFill>
                  <a:srgbClr val="F3F5F2"/>
                </a:solidFill>
                <a:latin typeface="Courier New"/>
              </a:rPr>
              <a:t>nginx</a:t>
            </a:r>
            <a:r>
              <a:rPr sz="1100" b="0" dirty="0">
                <a:solidFill>
                  <a:srgbClr val="F3F5F2"/>
                </a:solidFill>
                <a:latin typeface="Courier New"/>
              </a:rPr>
              <a:t>-web -p 127.0.0.1:8080:80 -v /</a:t>
            </a:r>
            <a:r>
              <a:rPr sz="1100" b="0" dirty="0" err="1">
                <a:solidFill>
                  <a:srgbClr val="F3F5F2"/>
                </a:solidFill>
                <a:latin typeface="Courier New"/>
              </a:rPr>
              <a:t>srv</a:t>
            </a:r>
            <a:r>
              <a:rPr sz="1100" b="0" dirty="0">
                <a:solidFill>
                  <a:srgbClr val="F3F5F2"/>
                </a:solidFill>
                <a:latin typeface="Courier New"/>
              </a:rPr>
              <a:t>/www:...:</a:t>
            </a:r>
            <a:r>
              <a:rPr sz="1100" b="0" dirty="0" err="1">
                <a:solidFill>
                  <a:srgbClr val="F3F5F2"/>
                </a:solidFill>
                <a:latin typeface="Courier New"/>
              </a:rPr>
              <a:t>ro</a:t>
            </a:r>
            <a:r>
              <a:rPr sz="1100" b="0" dirty="0">
                <a:solidFill>
                  <a:srgbClr val="F3F5F2"/>
                </a:solidFill>
                <a:latin typeface="Courier New"/>
              </a:rPr>
              <a:t> </a:t>
            </a:r>
            <a:r>
              <a:rPr sz="1100" b="0" dirty="0" err="1">
                <a:solidFill>
                  <a:srgbClr val="F3F5F2"/>
                </a:solidFill>
                <a:latin typeface="Courier New"/>
              </a:rPr>
              <a:t>nginx</a:t>
            </a:r>
            <a:endParaRPr sz="1100" b="0" dirty="0">
              <a:solidFill>
                <a:srgbClr val="F3F5F2"/>
              </a:solidFill>
              <a:latin typeface="Courier New"/>
            </a:endParaRPr>
          </a:p>
        </p:txBody>
      </p:sp>
      <p:sp>
        <p:nvSpPr>
          <p:cNvPr id="12" name="TextBox 11"/>
          <p:cNvSpPr txBox="1"/>
          <p:nvPr/>
        </p:nvSpPr>
        <p:spPr>
          <a:xfrm>
            <a:off x="548640" y="4138908"/>
            <a:ext cx="5257800" cy="169277"/>
          </a:xfrm>
          <a:prstGeom prst="rect">
            <a:avLst/>
          </a:prstGeom>
          <a:noFill/>
        </p:spPr>
        <p:txBody>
          <a:bodyPr wrap="square" lIns="0" tIns="0" rIns="0" bIns="0">
            <a:spAutoFit/>
          </a:bodyPr>
          <a:lstStyle/>
          <a:p>
            <a:pPr algn="l"/>
            <a:r>
              <a:rPr sz="1100" b="0" i="0">
                <a:solidFill>
                  <a:srgbClr val="5B6472"/>
                </a:solidFill>
                <a:latin typeface="Arial"/>
              </a:rPr>
              <a:t>Container mit Bind Mount erzeugen &amp; starten (Unternehmenswebseite)</a:t>
            </a:r>
          </a:p>
        </p:txBody>
      </p:sp>
      <p:sp>
        <p:nvSpPr>
          <p:cNvPr id="13" name="Rounded Rectangle 12"/>
          <p:cNvSpPr/>
          <p:nvPr/>
        </p:nvSpPr>
        <p:spPr>
          <a:xfrm>
            <a:off x="374073" y="4394940"/>
            <a:ext cx="5432367" cy="34747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dirty="0">
                <a:solidFill>
                  <a:srgbClr val="F3F5F2"/>
                </a:solidFill>
                <a:latin typeface="Courier New"/>
              </a:rPr>
              <a:t>docker run -d --name </a:t>
            </a:r>
            <a:r>
              <a:rPr sz="1100" b="0" dirty="0" err="1">
                <a:solidFill>
                  <a:srgbClr val="F3F5F2"/>
                </a:solidFill>
                <a:latin typeface="Courier New"/>
              </a:rPr>
              <a:t>nodered</a:t>
            </a:r>
            <a:r>
              <a:rPr sz="1100" b="0" dirty="0">
                <a:solidFill>
                  <a:srgbClr val="F3F5F2"/>
                </a:solidFill>
                <a:latin typeface="Courier New"/>
              </a:rPr>
              <a:t> -p 127.0.0.1:1880:1880 -v </a:t>
            </a:r>
            <a:r>
              <a:rPr sz="1100" b="0" dirty="0" err="1">
                <a:solidFill>
                  <a:srgbClr val="F3F5F2"/>
                </a:solidFill>
                <a:latin typeface="Courier New"/>
              </a:rPr>
              <a:t>nodered</a:t>
            </a:r>
            <a:r>
              <a:rPr sz="1100" b="0" dirty="0">
                <a:solidFill>
                  <a:srgbClr val="F3F5F2"/>
                </a:solidFill>
                <a:latin typeface="Courier New"/>
              </a:rPr>
              <a:t>-data:/data ...</a:t>
            </a:r>
          </a:p>
        </p:txBody>
      </p:sp>
      <p:sp>
        <p:nvSpPr>
          <p:cNvPr id="14" name="TextBox 13"/>
          <p:cNvSpPr txBox="1"/>
          <p:nvPr/>
        </p:nvSpPr>
        <p:spPr>
          <a:xfrm>
            <a:off x="548640" y="4760700"/>
            <a:ext cx="5257800" cy="169277"/>
          </a:xfrm>
          <a:prstGeom prst="rect">
            <a:avLst/>
          </a:prstGeom>
          <a:noFill/>
        </p:spPr>
        <p:txBody>
          <a:bodyPr wrap="square" lIns="0" tIns="0" rIns="0" bIns="0">
            <a:spAutoFit/>
          </a:bodyPr>
          <a:lstStyle/>
          <a:p>
            <a:pPr algn="l"/>
            <a:r>
              <a:rPr sz="1100" b="0" i="0">
                <a:solidFill>
                  <a:srgbClr val="5B6472"/>
                </a:solidFill>
                <a:latin typeface="Arial"/>
              </a:rPr>
              <a:t>Container mit benanntem Volume erzeugen &amp; starten (Node-RED)</a:t>
            </a:r>
          </a:p>
        </p:txBody>
      </p:sp>
      <p:sp>
        <p:nvSpPr>
          <p:cNvPr id="15" name="Rounded Rectangle 14"/>
          <p:cNvSpPr/>
          <p:nvPr/>
        </p:nvSpPr>
        <p:spPr>
          <a:xfrm>
            <a:off x="374073" y="5108173"/>
            <a:ext cx="5432367"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dirty="0">
                <a:solidFill>
                  <a:srgbClr val="F3F5F2"/>
                </a:solidFill>
                <a:latin typeface="Courier New"/>
              </a:rPr>
              <a:t>docker stop </a:t>
            </a:r>
            <a:r>
              <a:rPr sz="1100" b="0" dirty="0" err="1">
                <a:solidFill>
                  <a:srgbClr val="F3F5F2"/>
                </a:solidFill>
                <a:latin typeface="Courier New"/>
              </a:rPr>
              <a:t>nodered</a:t>
            </a:r>
            <a:r>
              <a:rPr sz="1100" b="0" dirty="0">
                <a:solidFill>
                  <a:srgbClr val="F3F5F2"/>
                </a:solidFill>
                <a:latin typeface="Courier New"/>
              </a:rPr>
              <a:t> &amp;&amp; docker rm </a:t>
            </a:r>
            <a:r>
              <a:rPr sz="1100" b="0" dirty="0" err="1">
                <a:solidFill>
                  <a:srgbClr val="F3F5F2"/>
                </a:solidFill>
                <a:latin typeface="Courier New"/>
              </a:rPr>
              <a:t>nodered</a:t>
            </a:r>
            <a:endParaRPr sz="1100" b="0" dirty="0">
              <a:solidFill>
                <a:srgbClr val="F3F5F2"/>
              </a:solidFill>
              <a:latin typeface="Courier New"/>
            </a:endParaRPr>
          </a:p>
        </p:txBody>
      </p:sp>
      <p:sp>
        <p:nvSpPr>
          <p:cNvPr id="16" name="TextBox 15"/>
          <p:cNvSpPr txBox="1"/>
          <p:nvPr/>
        </p:nvSpPr>
        <p:spPr>
          <a:xfrm>
            <a:off x="548640" y="5382493"/>
            <a:ext cx="5257800" cy="169277"/>
          </a:xfrm>
          <a:prstGeom prst="rect">
            <a:avLst/>
          </a:prstGeom>
          <a:noFill/>
        </p:spPr>
        <p:txBody>
          <a:bodyPr wrap="square" lIns="0" tIns="0" rIns="0" bIns="0">
            <a:spAutoFit/>
          </a:bodyPr>
          <a:lstStyle/>
          <a:p>
            <a:pPr algn="l"/>
            <a:r>
              <a:rPr sz="1100" b="0" i="0">
                <a:solidFill>
                  <a:srgbClr val="5B6472"/>
                </a:solidFill>
                <a:latin typeface="Arial"/>
              </a:rPr>
              <a:t>Container stoppen &amp; löschen – Daten in Volume/Bind Mount bleiben erhalten</a:t>
            </a:r>
          </a:p>
        </p:txBody>
      </p:sp>
      <p:sp>
        <p:nvSpPr>
          <p:cNvPr id="17" name="Rounded Rectangle 16"/>
          <p:cNvSpPr/>
          <p:nvPr/>
        </p:nvSpPr>
        <p:spPr>
          <a:xfrm>
            <a:off x="374073" y="5729965"/>
            <a:ext cx="5432367"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dirty="0">
                <a:solidFill>
                  <a:srgbClr val="F3F5F2"/>
                </a:solidFill>
                <a:latin typeface="Courier New"/>
              </a:rPr>
              <a:t>docker exec -it </a:t>
            </a:r>
            <a:r>
              <a:rPr sz="1100" b="0" dirty="0" err="1">
                <a:solidFill>
                  <a:srgbClr val="F3F5F2"/>
                </a:solidFill>
                <a:latin typeface="Courier New"/>
              </a:rPr>
              <a:t>nodered</a:t>
            </a:r>
            <a:r>
              <a:rPr sz="1100" b="0" dirty="0">
                <a:solidFill>
                  <a:srgbClr val="F3F5F2"/>
                </a:solidFill>
                <a:latin typeface="Courier New"/>
              </a:rPr>
              <a:t> node-red admin hash-pw</a:t>
            </a:r>
          </a:p>
        </p:txBody>
      </p:sp>
      <p:sp>
        <p:nvSpPr>
          <p:cNvPr id="18" name="TextBox 17"/>
          <p:cNvSpPr txBox="1"/>
          <p:nvPr/>
        </p:nvSpPr>
        <p:spPr>
          <a:xfrm>
            <a:off x="548640" y="6004285"/>
            <a:ext cx="5257800" cy="169277"/>
          </a:xfrm>
          <a:prstGeom prst="rect">
            <a:avLst/>
          </a:prstGeom>
          <a:noFill/>
        </p:spPr>
        <p:txBody>
          <a:bodyPr wrap="square" lIns="0" tIns="0" rIns="0" bIns="0">
            <a:spAutoFit/>
          </a:bodyPr>
          <a:lstStyle/>
          <a:p>
            <a:pPr algn="l"/>
            <a:r>
              <a:rPr sz="1100" b="0" i="0">
                <a:solidFill>
                  <a:srgbClr val="5B6472"/>
                </a:solidFill>
                <a:latin typeface="Arial"/>
              </a:rPr>
              <a:t>Befehl im laufenden Container ausführen – erzeugt bcrypt-Hash für adminAuth</a:t>
            </a:r>
          </a:p>
        </p:txBody>
      </p:sp>
      <p:sp>
        <p:nvSpPr>
          <p:cNvPr id="19" name="Rounded Rectangle 18"/>
          <p:cNvSpPr/>
          <p:nvPr/>
        </p:nvSpPr>
        <p:spPr>
          <a:xfrm>
            <a:off x="6385255" y="2621005"/>
            <a:ext cx="5257800"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a:solidFill>
                  <a:srgbClr val="F3F5F2"/>
                </a:solidFill>
                <a:latin typeface="Courier New"/>
              </a:rPr>
              <a:t>docker version</a:t>
            </a:r>
          </a:p>
        </p:txBody>
      </p:sp>
      <p:sp>
        <p:nvSpPr>
          <p:cNvPr id="20" name="TextBox 19"/>
          <p:cNvSpPr txBox="1"/>
          <p:nvPr/>
        </p:nvSpPr>
        <p:spPr>
          <a:xfrm>
            <a:off x="6385255" y="2895324"/>
            <a:ext cx="5257800" cy="169277"/>
          </a:xfrm>
          <a:prstGeom prst="rect">
            <a:avLst/>
          </a:prstGeom>
          <a:noFill/>
        </p:spPr>
        <p:txBody>
          <a:bodyPr wrap="square" lIns="0" tIns="0" rIns="0" bIns="0">
            <a:spAutoFit/>
          </a:bodyPr>
          <a:lstStyle/>
          <a:p>
            <a:pPr algn="l"/>
            <a:r>
              <a:rPr sz="1100" b="0" i="0">
                <a:solidFill>
                  <a:srgbClr val="5B6472"/>
                </a:solidFill>
                <a:latin typeface="Arial"/>
              </a:rPr>
              <a:t>Installation sowie Client-/Server-Version prüfen</a:t>
            </a:r>
          </a:p>
        </p:txBody>
      </p:sp>
      <p:sp>
        <p:nvSpPr>
          <p:cNvPr id="21" name="Rounded Rectangle 20"/>
          <p:cNvSpPr/>
          <p:nvPr/>
        </p:nvSpPr>
        <p:spPr>
          <a:xfrm>
            <a:off x="6385255" y="3242797"/>
            <a:ext cx="5257800"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a:solidFill>
                  <a:srgbClr val="F3F5F2"/>
                </a:solidFill>
                <a:latin typeface="Courier New"/>
              </a:rPr>
              <a:t>docker run --rm hello-world</a:t>
            </a:r>
          </a:p>
        </p:txBody>
      </p:sp>
      <p:sp>
        <p:nvSpPr>
          <p:cNvPr id="22" name="TextBox 21"/>
          <p:cNvSpPr txBox="1"/>
          <p:nvPr/>
        </p:nvSpPr>
        <p:spPr>
          <a:xfrm>
            <a:off x="6385255" y="3517117"/>
            <a:ext cx="5257800" cy="169277"/>
          </a:xfrm>
          <a:prstGeom prst="rect">
            <a:avLst/>
          </a:prstGeom>
          <a:noFill/>
        </p:spPr>
        <p:txBody>
          <a:bodyPr wrap="square" lIns="0" tIns="0" rIns="0" bIns="0">
            <a:spAutoFit/>
          </a:bodyPr>
          <a:lstStyle/>
          <a:p>
            <a:pPr algn="l"/>
            <a:r>
              <a:rPr sz="1100" b="0" i="0">
                <a:solidFill>
                  <a:srgbClr val="5B6472"/>
                </a:solidFill>
                <a:latin typeface="Arial"/>
              </a:rPr>
              <a:t>Funktionstest: Image laden, ausführen, danach automatisch entfernen</a:t>
            </a:r>
          </a:p>
        </p:txBody>
      </p:sp>
      <p:sp>
        <p:nvSpPr>
          <p:cNvPr id="23" name="Rounded Rectangle 22"/>
          <p:cNvSpPr/>
          <p:nvPr/>
        </p:nvSpPr>
        <p:spPr>
          <a:xfrm>
            <a:off x="6385255" y="3864589"/>
            <a:ext cx="5257800"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a:solidFill>
                  <a:srgbClr val="F3F5F2"/>
                </a:solidFill>
                <a:latin typeface="Courier New"/>
              </a:rPr>
              <a:t>docker ps</a:t>
            </a:r>
          </a:p>
        </p:txBody>
      </p:sp>
      <p:sp>
        <p:nvSpPr>
          <p:cNvPr id="24" name="TextBox 23"/>
          <p:cNvSpPr txBox="1"/>
          <p:nvPr/>
        </p:nvSpPr>
        <p:spPr>
          <a:xfrm>
            <a:off x="6385255" y="4138908"/>
            <a:ext cx="5257800" cy="169277"/>
          </a:xfrm>
          <a:prstGeom prst="rect">
            <a:avLst/>
          </a:prstGeom>
          <a:noFill/>
        </p:spPr>
        <p:txBody>
          <a:bodyPr wrap="square" lIns="0" tIns="0" rIns="0" bIns="0">
            <a:spAutoFit/>
          </a:bodyPr>
          <a:lstStyle/>
          <a:p>
            <a:pPr algn="l"/>
            <a:r>
              <a:rPr sz="1100" b="0" i="0">
                <a:solidFill>
                  <a:srgbClr val="5B6472"/>
                </a:solidFill>
                <a:latin typeface="Arial"/>
              </a:rPr>
              <a:t>Laufende Container anzeigen (Name, Status, Ports)</a:t>
            </a:r>
          </a:p>
        </p:txBody>
      </p:sp>
      <p:sp>
        <p:nvSpPr>
          <p:cNvPr id="25" name="Rounded Rectangle 24"/>
          <p:cNvSpPr/>
          <p:nvPr/>
        </p:nvSpPr>
        <p:spPr>
          <a:xfrm>
            <a:off x="6385255" y="4486380"/>
            <a:ext cx="5257800"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a:solidFill>
                  <a:srgbClr val="F3F5F2"/>
                </a:solidFill>
                <a:latin typeface="Courier New"/>
              </a:rPr>
              <a:t>docker volume inspect nodered-data</a:t>
            </a:r>
          </a:p>
        </p:txBody>
      </p:sp>
      <p:sp>
        <p:nvSpPr>
          <p:cNvPr id="26" name="TextBox 25"/>
          <p:cNvSpPr txBox="1"/>
          <p:nvPr/>
        </p:nvSpPr>
        <p:spPr>
          <a:xfrm>
            <a:off x="6385255" y="4760700"/>
            <a:ext cx="5257800" cy="169277"/>
          </a:xfrm>
          <a:prstGeom prst="rect">
            <a:avLst/>
          </a:prstGeom>
          <a:noFill/>
        </p:spPr>
        <p:txBody>
          <a:bodyPr wrap="square" lIns="0" tIns="0" rIns="0" bIns="0">
            <a:spAutoFit/>
          </a:bodyPr>
          <a:lstStyle/>
          <a:p>
            <a:pPr algn="l"/>
            <a:r>
              <a:rPr sz="1100" b="0" i="0">
                <a:solidFill>
                  <a:srgbClr val="5B6472"/>
                </a:solidFill>
                <a:latin typeface="Arial"/>
              </a:rPr>
              <a:t>Speicherort (Mountpoint) eines Volumes prüfen – docker volume ls listet alle</a:t>
            </a:r>
          </a:p>
        </p:txBody>
      </p:sp>
      <p:sp>
        <p:nvSpPr>
          <p:cNvPr id="27" name="Rounded Rectangle 26"/>
          <p:cNvSpPr/>
          <p:nvPr/>
        </p:nvSpPr>
        <p:spPr>
          <a:xfrm>
            <a:off x="6385255" y="5108173"/>
            <a:ext cx="5257800" cy="256032"/>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a:solidFill>
                  <a:srgbClr val="F3F5F2"/>
                </a:solidFill>
                <a:latin typeface="Courier New"/>
              </a:rPr>
              <a:t>curl http://localhost:8080</a:t>
            </a:r>
          </a:p>
        </p:txBody>
      </p:sp>
      <p:sp>
        <p:nvSpPr>
          <p:cNvPr id="28" name="TextBox 27"/>
          <p:cNvSpPr txBox="1"/>
          <p:nvPr/>
        </p:nvSpPr>
        <p:spPr>
          <a:xfrm>
            <a:off x="6385255" y="5382493"/>
            <a:ext cx="5257800" cy="169277"/>
          </a:xfrm>
          <a:prstGeom prst="rect">
            <a:avLst/>
          </a:prstGeom>
          <a:noFill/>
        </p:spPr>
        <p:txBody>
          <a:bodyPr wrap="square" lIns="0" tIns="0" rIns="0" bIns="0">
            <a:spAutoFit/>
          </a:bodyPr>
          <a:lstStyle/>
          <a:p>
            <a:pPr algn="l"/>
            <a:r>
              <a:rPr sz="1100" b="0" i="0">
                <a:solidFill>
                  <a:srgbClr val="5B6472"/>
                </a:solidFill>
                <a:latin typeface="Arial"/>
              </a:rPr>
              <a:t>Dienst lokal auf dem Server testen (bzw. :1880 für Node-RED)</a:t>
            </a:r>
          </a:p>
        </p:txBody>
      </p:sp>
      <p:sp>
        <p:nvSpPr>
          <p:cNvPr id="29" name="Rounded Rectangle 28"/>
          <p:cNvSpPr/>
          <p:nvPr/>
        </p:nvSpPr>
        <p:spPr>
          <a:xfrm>
            <a:off x="6385255" y="5653866"/>
            <a:ext cx="5257800" cy="415939"/>
          </a:xfrm>
          <a:prstGeom prst="roundRect">
            <a:avLst>
              <a:gd name="adj" fmla="val 18000"/>
            </a:avLst>
          </a:prstGeom>
          <a:solidFill>
            <a:srgbClr val="1A222C"/>
          </a:solidFill>
          <a:ln w="12700">
            <a:solidFill>
              <a:srgbClr val="2E3A4A"/>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l"/>
            <a:r>
              <a:rPr sz="1100" b="0" dirty="0">
                <a:solidFill>
                  <a:srgbClr val="F3F5F2"/>
                </a:solidFill>
                <a:latin typeface="Courier New"/>
              </a:rPr>
              <a:t>curl -s -o /dev/null -w "%{</a:t>
            </a:r>
            <a:r>
              <a:rPr sz="1100" b="0" dirty="0" err="1">
                <a:solidFill>
                  <a:srgbClr val="F3F5F2"/>
                </a:solidFill>
                <a:latin typeface="Courier New"/>
              </a:rPr>
              <a:t>http_code</a:t>
            </a:r>
            <a:r>
              <a:rPr sz="1100" b="0" dirty="0">
                <a:solidFill>
                  <a:srgbClr val="F3F5F2"/>
                </a:solidFill>
                <a:latin typeface="Courier New"/>
              </a:rPr>
              <a:t>}\n" http://localhost:1880/flows</a:t>
            </a:r>
          </a:p>
        </p:txBody>
      </p:sp>
      <p:sp>
        <p:nvSpPr>
          <p:cNvPr id="30" name="TextBox 29"/>
          <p:cNvSpPr txBox="1"/>
          <p:nvPr/>
        </p:nvSpPr>
        <p:spPr>
          <a:xfrm>
            <a:off x="6385255" y="6171902"/>
            <a:ext cx="5257800" cy="169277"/>
          </a:xfrm>
          <a:prstGeom prst="rect">
            <a:avLst/>
          </a:prstGeom>
          <a:noFill/>
        </p:spPr>
        <p:txBody>
          <a:bodyPr wrap="square" lIns="0" tIns="0" rIns="0" bIns="0">
            <a:spAutoFit/>
          </a:bodyPr>
          <a:lstStyle/>
          <a:p>
            <a:pPr algn="l"/>
            <a:r>
              <a:rPr sz="1100" b="0" i="0" dirty="0" err="1">
                <a:solidFill>
                  <a:srgbClr val="5B6472"/>
                </a:solidFill>
                <a:latin typeface="Arial"/>
              </a:rPr>
              <a:t>Zugriffsschutz</a:t>
            </a:r>
            <a:r>
              <a:rPr sz="1100" b="0" i="0" dirty="0">
                <a:solidFill>
                  <a:srgbClr val="5B6472"/>
                </a:solidFill>
                <a:latin typeface="Arial"/>
              </a:rPr>
              <a:t> </a:t>
            </a:r>
            <a:r>
              <a:rPr sz="1100" b="0" i="0" dirty="0" err="1">
                <a:solidFill>
                  <a:srgbClr val="5B6472"/>
                </a:solidFill>
                <a:latin typeface="Arial"/>
              </a:rPr>
              <a:t>verifizieren</a:t>
            </a:r>
            <a:r>
              <a:rPr sz="1100" b="0" i="0" dirty="0">
                <a:solidFill>
                  <a:srgbClr val="5B6472"/>
                </a:solidFill>
                <a:latin typeface="Arial"/>
              </a:rPr>
              <a:t> – </a:t>
            </a:r>
            <a:r>
              <a:rPr sz="1100" b="0" i="0" dirty="0" err="1">
                <a:solidFill>
                  <a:srgbClr val="5B6472"/>
                </a:solidFill>
                <a:latin typeface="Arial"/>
              </a:rPr>
              <a:t>Erwartung</a:t>
            </a:r>
            <a:r>
              <a:rPr sz="1100" b="0" i="0" dirty="0">
                <a:solidFill>
                  <a:srgbClr val="5B6472"/>
                </a:solidFill>
                <a:latin typeface="Arial"/>
              </a:rPr>
              <a:t>: 401 </a:t>
            </a:r>
            <a:r>
              <a:rPr sz="1100" b="0" i="0" dirty="0" err="1">
                <a:solidFill>
                  <a:srgbClr val="5B6472"/>
                </a:solidFill>
                <a:latin typeface="Arial"/>
              </a:rPr>
              <a:t>statt</a:t>
            </a:r>
            <a:r>
              <a:rPr sz="1100" b="0" i="0" dirty="0">
                <a:solidFill>
                  <a:srgbClr val="5B6472"/>
                </a:solidFill>
                <a:latin typeface="Arial"/>
              </a:rPr>
              <a:t> 200 (</a:t>
            </a:r>
            <a:r>
              <a:rPr sz="1100" b="0" i="0" dirty="0" err="1">
                <a:solidFill>
                  <a:srgbClr val="5B6472"/>
                </a:solidFill>
                <a:latin typeface="Arial"/>
              </a:rPr>
              <a:t>adminAuth</a:t>
            </a:r>
            <a:r>
              <a:rPr sz="1100" b="0" i="0" dirty="0">
                <a:solidFill>
                  <a:srgbClr val="5B6472"/>
                </a:solidFill>
                <a:latin typeface="Arial"/>
              </a:rPr>
              <a:t> </a:t>
            </a:r>
            <a:r>
              <a:rPr sz="1100" b="0" i="0" dirty="0" err="1">
                <a:solidFill>
                  <a:srgbClr val="5B6472"/>
                </a:solidFill>
                <a:latin typeface="Arial"/>
              </a:rPr>
              <a:t>aktiv</a:t>
            </a:r>
            <a:r>
              <a:rPr sz="1100" b="0" i="0" dirty="0">
                <a:solidFill>
                  <a:srgbClr val="5B6472"/>
                </a:solidFill>
                <a:latin typeface="Arial"/>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42308E33-0829-4981-BE0B-9CBD59D7698C}"/>
              </a:ext>
            </a:extLst>
          </p:cNvPr>
          <p:cNvSpPr>
            <a:spLocks noGrp="1"/>
          </p:cNvSpPr>
          <p:nvPr>
            <p:ph type="title"/>
          </p:nvPr>
        </p:nvSpPr>
        <p:spPr/>
        <p:txBody>
          <a:bodyPr/>
          <a:lstStyle/>
          <a:p>
            <a:r>
              <a:rPr lang="de-DE" dirty="0"/>
              <a:t>Reflexionsfragen (1/2): Volumes und Bind Mounts</a:t>
            </a:r>
          </a:p>
        </p:txBody>
      </p:sp>
      <p:sp>
        <p:nvSpPr>
          <p:cNvPr id="5" name="Datumsplatzhalter 4">
            <a:extLst>
              <a:ext uri="{FF2B5EF4-FFF2-40B4-BE49-F238E27FC236}">
                <a16:creationId xmlns:a16="http://schemas.microsoft.com/office/drawing/2014/main" id="{D6890CBD-364B-4CD5-AA70-68D434EA80E9}"/>
              </a:ext>
            </a:extLst>
          </p:cNvPr>
          <p:cNvSpPr>
            <a:spLocks noGrp="1"/>
          </p:cNvSpPr>
          <p:nvPr>
            <p:ph type="dt" sz="half" idx="10"/>
          </p:nvPr>
        </p:nvSpPr>
        <p:spPr/>
        <p:txBody>
          <a:bodyPr/>
          <a:lstStyle/>
          <a:p>
            <a:fld id="{757CD2D1-8C96-4412-8C0C-09C7E956F080}" type="datetime1">
              <a:rPr lang="de-DE" smtClean="0"/>
              <a:t>24.09.2026</a:t>
            </a:fld>
            <a:endParaRPr lang="de-DE" dirty="0"/>
          </a:p>
        </p:txBody>
      </p:sp>
      <p:sp>
        <p:nvSpPr>
          <p:cNvPr id="6" name="Foliennummernplatzhalter 5">
            <a:extLst>
              <a:ext uri="{FF2B5EF4-FFF2-40B4-BE49-F238E27FC236}">
                <a16:creationId xmlns:a16="http://schemas.microsoft.com/office/drawing/2014/main" id="{5271F5D2-381E-4F2B-8EDD-C91D481228C3}"/>
              </a:ext>
            </a:extLst>
          </p:cNvPr>
          <p:cNvSpPr>
            <a:spLocks noGrp="1"/>
          </p:cNvSpPr>
          <p:nvPr>
            <p:ph type="sldNum" sz="quarter" idx="4"/>
          </p:nvPr>
        </p:nvSpPr>
        <p:spPr/>
        <p:txBody>
          <a:bodyPr/>
          <a:lstStyle/>
          <a:p>
            <a:fld id="{43A6DCFB-163F-4561-BF28-3CD1FE47EE20}" type="slidenum">
              <a:rPr lang="de-DE" smtClean="0"/>
              <a:pPr/>
              <a:t>14</a:t>
            </a:fld>
            <a:endParaRPr lang="de-DE" dirty="0"/>
          </a:p>
        </p:txBody>
      </p:sp>
      <p:sp>
        <p:nvSpPr>
          <p:cNvPr id="7" name="Shape 2">
            <a:extLst>
              <a:ext uri="{FF2B5EF4-FFF2-40B4-BE49-F238E27FC236}">
                <a16:creationId xmlns:a16="http://schemas.microsoft.com/office/drawing/2014/main" id="{AE08837B-B0FC-4689-969E-6368EDF93EE3}"/>
              </a:ext>
            </a:extLst>
          </p:cNvPr>
          <p:cNvSpPr/>
          <p:nvPr/>
        </p:nvSpPr>
        <p:spPr>
          <a:xfrm>
            <a:off x="812721" y="2950000"/>
            <a:ext cx="10566559" cy="0"/>
          </a:xfrm>
          <a:prstGeom prst="line">
            <a:avLst/>
          </a:prstGeom>
          <a:noFill/>
          <a:ln w="6350">
            <a:solidFill>
              <a:srgbClr val="D1D5DB"/>
            </a:solidFill>
            <a:prstDash val="solid"/>
          </a:ln>
        </p:spPr>
      </p:sp>
      <p:sp>
        <p:nvSpPr>
          <p:cNvPr id="8" name="Text 3">
            <a:extLst>
              <a:ext uri="{FF2B5EF4-FFF2-40B4-BE49-F238E27FC236}">
                <a16:creationId xmlns:a16="http://schemas.microsoft.com/office/drawing/2014/main" id="{60C66E16-4654-4BCC-8ADA-11E50E8AC785}"/>
              </a:ext>
            </a:extLst>
          </p:cNvPr>
          <p:cNvSpPr/>
          <p:nvPr/>
        </p:nvSpPr>
        <p:spPr>
          <a:xfrm>
            <a:off x="812721" y="2130426"/>
            <a:ext cx="660400"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D1D5DB"/>
                </a:solidFill>
                <a:latin typeface="Arial" pitchFamily="34" charset="0"/>
                <a:ea typeface="Arial" pitchFamily="34" charset="-122"/>
                <a:cs typeface="Arial" pitchFamily="34" charset="-120"/>
              </a:rPr>
              <a:t>01</a:t>
            </a:r>
            <a:endParaRPr lang="en-US" sz="3000" dirty="0"/>
          </a:p>
        </p:txBody>
      </p:sp>
      <p:sp>
        <p:nvSpPr>
          <p:cNvPr id="9" name="Text 4">
            <a:extLst>
              <a:ext uri="{FF2B5EF4-FFF2-40B4-BE49-F238E27FC236}">
                <a16:creationId xmlns:a16="http://schemas.microsoft.com/office/drawing/2014/main" id="{15CDA089-2BDF-405E-A1A2-07495C117106}"/>
              </a:ext>
            </a:extLst>
          </p:cNvPr>
          <p:cNvSpPr/>
          <p:nvPr/>
        </p:nvSpPr>
        <p:spPr>
          <a:xfrm>
            <a:off x="1625441" y="2130426"/>
            <a:ext cx="10046454" cy="6500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A1A1A"/>
                </a:solidFill>
                <a:latin typeface="Arial" pitchFamily="34" charset="0"/>
                <a:ea typeface="Arial" pitchFamily="34" charset="-122"/>
                <a:cs typeface="Arial" pitchFamily="34" charset="-120"/>
              </a:rPr>
              <a:t>Warum wird für die Webseite ein Bind Mount verwendet, für Node-RED-Daten aber ein benanntes Volume? Welche Anforderungen bestimmen diese Wahl?</a:t>
            </a:r>
            <a:endParaRPr lang="en-US" sz="1800" dirty="0"/>
          </a:p>
        </p:txBody>
      </p:sp>
      <p:sp>
        <p:nvSpPr>
          <p:cNvPr id="10" name="Shape 5">
            <a:extLst>
              <a:ext uri="{FF2B5EF4-FFF2-40B4-BE49-F238E27FC236}">
                <a16:creationId xmlns:a16="http://schemas.microsoft.com/office/drawing/2014/main" id="{5494341D-6130-4013-A63D-19BFA10702FB}"/>
              </a:ext>
            </a:extLst>
          </p:cNvPr>
          <p:cNvSpPr/>
          <p:nvPr/>
        </p:nvSpPr>
        <p:spPr>
          <a:xfrm>
            <a:off x="812721" y="3950000"/>
            <a:ext cx="10566559" cy="0"/>
          </a:xfrm>
          <a:prstGeom prst="line">
            <a:avLst/>
          </a:prstGeom>
          <a:noFill/>
          <a:ln w="6350">
            <a:solidFill>
              <a:srgbClr val="D1D5DB"/>
            </a:solidFill>
            <a:prstDash val="solid"/>
          </a:ln>
        </p:spPr>
      </p:sp>
      <p:sp>
        <p:nvSpPr>
          <p:cNvPr id="11" name="Text 6">
            <a:extLst>
              <a:ext uri="{FF2B5EF4-FFF2-40B4-BE49-F238E27FC236}">
                <a16:creationId xmlns:a16="http://schemas.microsoft.com/office/drawing/2014/main" id="{A7A46E7B-376D-4594-829A-8267F7A9486C}"/>
              </a:ext>
            </a:extLst>
          </p:cNvPr>
          <p:cNvSpPr/>
          <p:nvPr/>
        </p:nvSpPr>
        <p:spPr>
          <a:xfrm>
            <a:off x="812721" y="3130426"/>
            <a:ext cx="660400"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D1D5DB"/>
                </a:solidFill>
                <a:latin typeface="Arial" pitchFamily="34" charset="0"/>
                <a:ea typeface="Arial" pitchFamily="34" charset="-122"/>
                <a:cs typeface="Arial" pitchFamily="34" charset="-120"/>
              </a:rPr>
              <a:t>02</a:t>
            </a:r>
            <a:endParaRPr lang="en-US" sz="3000" dirty="0"/>
          </a:p>
        </p:txBody>
      </p:sp>
      <p:sp>
        <p:nvSpPr>
          <p:cNvPr id="12" name="Text 7">
            <a:extLst>
              <a:ext uri="{FF2B5EF4-FFF2-40B4-BE49-F238E27FC236}">
                <a16:creationId xmlns:a16="http://schemas.microsoft.com/office/drawing/2014/main" id="{7582FEE8-0BEA-4B21-913E-A515528F264B}"/>
              </a:ext>
            </a:extLst>
          </p:cNvPr>
          <p:cNvSpPr/>
          <p:nvPr/>
        </p:nvSpPr>
        <p:spPr>
          <a:xfrm>
            <a:off x="1625441" y="3130426"/>
            <a:ext cx="10046454" cy="6500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A1A1A"/>
                </a:solidFill>
                <a:latin typeface="Arial" pitchFamily="34" charset="0"/>
                <a:ea typeface="Arial" pitchFamily="34" charset="-122"/>
                <a:cs typeface="Arial" pitchFamily="34" charset="-120"/>
              </a:rPr>
              <a:t>Was passiert, wenn Sie docker rm nodered ausführen? Was passiert zusätzlich, wenn Sie docker volume rm nodered-data ausführen?</a:t>
            </a:r>
            <a:endParaRPr lang="en-US" sz="1800" dirty="0"/>
          </a:p>
        </p:txBody>
      </p:sp>
      <p:sp>
        <p:nvSpPr>
          <p:cNvPr id="13" name="Text 8">
            <a:extLst>
              <a:ext uri="{FF2B5EF4-FFF2-40B4-BE49-F238E27FC236}">
                <a16:creationId xmlns:a16="http://schemas.microsoft.com/office/drawing/2014/main" id="{DB9A012B-4038-455F-960E-6DA6A60BA1CD}"/>
              </a:ext>
            </a:extLst>
          </p:cNvPr>
          <p:cNvSpPr/>
          <p:nvPr/>
        </p:nvSpPr>
        <p:spPr>
          <a:xfrm>
            <a:off x="812721" y="4130426"/>
            <a:ext cx="660400"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D1D5DB"/>
                </a:solidFill>
                <a:latin typeface="Arial" pitchFamily="34" charset="0"/>
                <a:ea typeface="Arial" pitchFamily="34" charset="-122"/>
                <a:cs typeface="Arial" pitchFamily="34" charset="-120"/>
              </a:rPr>
              <a:t>03</a:t>
            </a:r>
            <a:endParaRPr lang="en-US" sz="3000" dirty="0"/>
          </a:p>
        </p:txBody>
      </p:sp>
      <p:sp>
        <p:nvSpPr>
          <p:cNvPr id="14" name="Text 9">
            <a:extLst>
              <a:ext uri="{FF2B5EF4-FFF2-40B4-BE49-F238E27FC236}">
                <a16:creationId xmlns:a16="http://schemas.microsoft.com/office/drawing/2014/main" id="{2D224168-BFCE-4E85-A425-72B73B62690C}"/>
              </a:ext>
            </a:extLst>
          </p:cNvPr>
          <p:cNvSpPr/>
          <p:nvPr/>
        </p:nvSpPr>
        <p:spPr>
          <a:xfrm>
            <a:off x="1625441" y="4130426"/>
            <a:ext cx="10046454" cy="6500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A1A1A"/>
                </a:solidFill>
                <a:latin typeface="Arial" pitchFamily="34" charset="0"/>
                <a:ea typeface="Arial" pitchFamily="34" charset="-122"/>
                <a:cs typeface="Arial" pitchFamily="34" charset="-120"/>
              </a:rPr>
              <a:t>Wie können Sie die Daten eines benannten Volumes sichern?</a:t>
            </a:r>
            <a:endParaRPr lang="en-US" sz="1800" dirty="0"/>
          </a:p>
        </p:txBody>
      </p:sp>
      <p:pic>
        <p:nvPicPr>
          <p:cNvPr id="2" name="Grafik 1">
            <a:extLst>
              <a:ext uri="{FF2B5EF4-FFF2-40B4-BE49-F238E27FC236}">
                <a16:creationId xmlns:a16="http://schemas.microsoft.com/office/drawing/2014/main" id="{65BA1666-49F1-42CC-9B2D-322530CAD655}"/>
              </a:ext>
            </a:extLst>
          </p:cNvPr>
          <p:cNvPicPr>
            <a:picLocks noChangeAspect="1"/>
          </p:cNvPicPr>
          <p:nvPr/>
        </p:nvPicPr>
        <p:blipFill>
          <a:blip r:embed="rId3"/>
          <a:stretch>
            <a:fillRect/>
          </a:stretch>
        </p:blipFill>
        <p:spPr>
          <a:xfrm>
            <a:off x="11150000" y="1250000"/>
            <a:ext cx="850000" cy="850000"/>
          </a:xfrm>
          <a:prstGeom prst="rect">
            <a:avLst/>
          </a:prstGeom>
        </p:spPr>
      </p:pic>
      <p:sp>
        <p:nvSpPr>
          <p:cNvPr id="3" name="Shape 5">
            <a:extLst>
              <a:ext uri="{FF2B5EF4-FFF2-40B4-BE49-F238E27FC236}">
                <a16:creationId xmlns:a16="http://schemas.microsoft.com/office/drawing/2014/main" id="{5494341D-6130-4013-A63D-19BFA10702FB}"/>
              </a:ext>
            </a:extLst>
          </p:cNvPr>
          <p:cNvSpPr/>
          <p:nvPr/>
        </p:nvSpPr>
        <p:spPr>
          <a:xfrm>
            <a:off x="812721" y="4950000"/>
            <a:ext cx="10566559" cy="0"/>
          </a:xfrm>
          <a:prstGeom prst="line">
            <a:avLst/>
          </a:prstGeom>
          <a:noFill/>
          <a:ln w="6350">
            <a:solidFill>
              <a:srgbClr val="D1D5DB"/>
            </a:solidFill>
            <a:prstDash val="solid"/>
          </a:ln>
        </p:spPr>
      </p:sp>
      <p:sp>
        <p:nvSpPr>
          <p:cNvPr id="15" name="Text 8">
            <a:extLst>
              <a:ext uri="{FF2B5EF4-FFF2-40B4-BE49-F238E27FC236}">
                <a16:creationId xmlns:a16="http://schemas.microsoft.com/office/drawing/2014/main" id="{DB9A012B-4038-455F-960E-6DA6A60BA1CD}"/>
              </a:ext>
            </a:extLst>
          </p:cNvPr>
          <p:cNvSpPr/>
          <p:nvPr/>
        </p:nvSpPr>
        <p:spPr>
          <a:xfrm>
            <a:off x="812721" y="5130426"/>
            <a:ext cx="660400"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D1D5DB"/>
                </a:solidFill>
                <a:latin typeface="Arial" pitchFamily="34" charset="0"/>
                <a:ea typeface="Arial" pitchFamily="34" charset="-122"/>
                <a:cs typeface="Arial" pitchFamily="34" charset="-120"/>
              </a:rPr>
              <a:t>04</a:t>
            </a:r>
            <a:endParaRPr lang="en-US" sz="3000" dirty="0"/>
          </a:p>
        </p:txBody>
      </p:sp>
      <p:sp>
        <p:nvSpPr>
          <p:cNvPr id="16" name="Text 9">
            <a:extLst>
              <a:ext uri="{FF2B5EF4-FFF2-40B4-BE49-F238E27FC236}">
                <a16:creationId xmlns:a16="http://schemas.microsoft.com/office/drawing/2014/main" id="{2D224168-BFCE-4E85-A425-72B73B62690C}"/>
              </a:ext>
            </a:extLst>
          </p:cNvPr>
          <p:cNvSpPr/>
          <p:nvPr/>
        </p:nvSpPr>
        <p:spPr>
          <a:xfrm>
            <a:off x="1625441" y="5130426"/>
            <a:ext cx="10046454" cy="6500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A1A1A"/>
                </a:solidFill>
                <a:latin typeface="Arial" pitchFamily="34" charset="0"/>
                <a:ea typeface="Arial" pitchFamily="34" charset="-122"/>
                <a:cs typeface="Arial" pitchFamily="34" charset="-120"/>
              </a:rPr>
              <a:t>Wählen Sie einen beliebigen Dienst und begründen Sie eine sinnvolle Speicherstrategie.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42308E33-0829-4981-BE0B-9CBD59D7698C}"/>
              </a:ext>
            </a:extLst>
          </p:cNvPr>
          <p:cNvSpPr>
            <a:spLocks noGrp="1"/>
          </p:cNvSpPr>
          <p:nvPr>
            <p:ph type="title"/>
          </p:nvPr>
        </p:nvSpPr>
        <p:spPr/>
        <p:txBody>
          <a:bodyPr/>
          <a:lstStyle/>
          <a:p>
            <a:r>
              <a:rPr lang="de-DE" dirty="0"/>
              <a:t>Reflexionsfragen (2/2): Docker absichern</a:t>
            </a:r>
          </a:p>
        </p:txBody>
      </p:sp>
      <p:sp>
        <p:nvSpPr>
          <p:cNvPr id="5" name="Datumsplatzhalter 4">
            <a:extLst>
              <a:ext uri="{FF2B5EF4-FFF2-40B4-BE49-F238E27FC236}">
                <a16:creationId xmlns:a16="http://schemas.microsoft.com/office/drawing/2014/main" id="{D6890CBD-364B-4CD5-AA70-68D434EA80E9}"/>
              </a:ext>
            </a:extLst>
          </p:cNvPr>
          <p:cNvSpPr>
            <a:spLocks noGrp="1"/>
          </p:cNvSpPr>
          <p:nvPr>
            <p:ph type="dt" sz="half" idx="10"/>
          </p:nvPr>
        </p:nvSpPr>
        <p:spPr/>
        <p:txBody>
          <a:bodyPr/>
          <a:lstStyle/>
          <a:p>
            <a:fld id="{757CD2D1-8C96-4412-8C0C-09C7E956F080}" type="datetime1">
              <a:rPr lang="de-DE" smtClean="0"/>
              <a:t>24.09.2026</a:t>
            </a:fld>
            <a:endParaRPr lang="de-DE" dirty="0"/>
          </a:p>
        </p:txBody>
      </p:sp>
      <p:sp>
        <p:nvSpPr>
          <p:cNvPr id="6" name="Foliennummernplatzhalter 5">
            <a:extLst>
              <a:ext uri="{FF2B5EF4-FFF2-40B4-BE49-F238E27FC236}">
                <a16:creationId xmlns:a16="http://schemas.microsoft.com/office/drawing/2014/main" id="{5271F5D2-381E-4F2B-8EDD-C91D481228C3}"/>
              </a:ext>
            </a:extLst>
          </p:cNvPr>
          <p:cNvSpPr>
            <a:spLocks noGrp="1"/>
          </p:cNvSpPr>
          <p:nvPr>
            <p:ph type="sldNum" sz="quarter" idx="4"/>
          </p:nvPr>
        </p:nvSpPr>
        <p:spPr/>
        <p:txBody>
          <a:bodyPr/>
          <a:lstStyle/>
          <a:p>
            <a:fld id="{43A6DCFB-163F-4561-BF28-3CD1FE47EE20}" type="slidenum">
              <a:rPr lang="de-DE" smtClean="0"/>
              <a:pPr/>
              <a:t>15</a:t>
            </a:fld>
            <a:endParaRPr lang="de-DE" dirty="0"/>
          </a:p>
        </p:txBody>
      </p:sp>
      <p:sp>
        <p:nvSpPr>
          <p:cNvPr id="7" name="Shape 2">
            <a:extLst>
              <a:ext uri="{FF2B5EF4-FFF2-40B4-BE49-F238E27FC236}">
                <a16:creationId xmlns:a16="http://schemas.microsoft.com/office/drawing/2014/main" id="{AE08837B-B0FC-4689-969E-6368EDF93EE3}"/>
              </a:ext>
            </a:extLst>
          </p:cNvPr>
          <p:cNvSpPr/>
          <p:nvPr/>
        </p:nvSpPr>
        <p:spPr>
          <a:xfrm>
            <a:off x="812721" y="2950000"/>
            <a:ext cx="10566559" cy="0"/>
          </a:xfrm>
          <a:prstGeom prst="line">
            <a:avLst/>
          </a:prstGeom>
          <a:noFill/>
          <a:ln w="6350">
            <a:solidFill>
              <a:srgbClr val="D1D5DB"/>
            </a:solidFill>
            <a:prstDash val="solid"/>
          </a:ln>
        </p:spPr>
      </p:sp>
      <p:sp>
        <p:nvSpPr>
          <p:cNvPr id="8" name="Text 3">
            <a:extLst>
              <a:ext uri="{FF2B5EF4-FFF2-40B4-BE49-F238E27FC236}">
                <a16:creationId xmlns:a16="http://schemas.microsoft.com/office/drawing/2014/main" id="{60C66E16-4654-4BCC-8ADA-11E50E8AC785}"/>
              </a:ext>
            </a:extLst>
          </p:cNvPr>
          <p:cNvSpPr/>
          <p:nvPr/>
        </p:nvSpPr>
        <p:spPr>
          <a:xfrm>
            <a:off x="812721" y="2130426"/>
            <a:ext cx="660400"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D1D5DB"/>
                </a:solidFill>
                <a:latin typeface="Arial" pitchFamily="34" charset="0"/>
                <a:ea typeface="Arial" pitchFamily="34" charset="-122"/>
                <a:cs typeface="Arial" pitchFamily="34" charset="-120"/>
              </a:rPr>
              <a:t>01</a:t>
            </a:r>
            <a:endParaRPr lang="en-US" sz="3000" dirty="0"/>
          </a:p>
        </p:txBody>
      </p:sp>
      <p:sp>
        <p:nvSpPr>
          <p:cNvPr id="9" name="Text 4">
            <a:extLst>
              <a:ext uri="{FF2B5EF4-FFF2-40B4-BE49-F238E27FC236}">
                <a16:creationId xmlns:a16="http://schemas.microsoft.com/office/drawing/2014/main" id="{15CDA089-2BDF-405E-A1A2-07495C117106}"/>
              </a:ext>
            </a:extLst>
          </p:cNvPr>
          <p:cNvSpPr/>
          <p:nvPr/>
        </p:nvSpPr>
        <p:spPr>
          <a:xfrm>
            <a:off x="1625441" y="2130426"/>
            <a:ext cx="10046454" cy="6500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A1A1A"/>
                </a:solidFill>
                <a:latin typeface="Arial" pitchFamily="34" charset="0"/>
                <a:ea typeface="Arial" pitchFamily="34" charset="-122"/>
                <a:cs typeface="Arial" pitchFamily="34" charset="-120"/>
              </a:rPr>
              <a:t>Warum schützt ufw status allein nicht zuverlässig vor einem öffentlich erreichbaren Docker-Container? Welche Rolle spielt die DOCKER-USER-Chain dabei?</a:t>
            </a:r>
            <a:endParaRPr lang="en-US" sz="1800" dirty="0"/>
          </a:p>
        </p:txBody>
      </p:sp>
      <p:sp>
        <p:nvSpPr>
          <p:cNvPr id="10" name="Shape 5">
            <a:extLst>
              <a:ext uri="{FF2B5EF4-FFF2-40B4-BE49-F238E27FC236}">
                <a16:creationId xmlns:a16="http://schemas.microsoft.com/office/drawing/2014/main" id="{5494341D-6130-4013-A63D-19BFA10702FB}"/>
              </a:ext>
            </a:extLst>
          </p:cNvPr>
          <p:cNvSpPr/>
          <p:nvPr/>
        </p:nvSpPr>
        <p:spPr>
          <a:xfrm>
            <a:off x="812721" y="3950000"/>
            <a:ext cx="10566559" cy="0"/>
          </a:xfrm>
          <a:prstGeom prst="line">
            <a:avLst/>
          </a:prstGeom>
          <a:noFill/>
          <a:ln w="6350">
            <a:solidFill>
              <a:srgbClr val="D1D5DB"/>
            </a:solidFill>
            <a:prstDash val="solid"/>
          </a:ln>
        </p:spPr>
      </p:sp>
      <p:sp>
        <p:nvSpPr>
          <p:cNvPr id="11" name="Text 6">
            <a:extLst>
              <a:ext uri="{FF2B5EF4-FFF2-40B4-BE49-F238E27FC236}">
                <a16:creationId xmlns:a16="http://schemas.microsoft.com/office/drawing/2014/main" id="{A7A46E7B-376D-4594-829A-8267F7A9486C}"/>
              </a:ext>
            </a:extLst>
          </p:cNvPr>
          <p:cNvSpPr/>
          <p:nvPr/>
        </p:nvSpPr>
        <p:spPr>
          <a:xfrm>
            <a:off x="812721" y="3130426"/>
            <a:ext cx="660400"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D1D5DB"/>
                </a:solidFill>
                <a:latin typeface="Arial" pitchFamily="34" charset="0"/>
                <a:ea typeface="Arial" pitchFamily="34" charset="-122"/>
                <a:cs typeface="Arial" pitchFamily="34" charset="-120"/>
              </a:rPr>
              <a:t>02</a:t>
            </a:r>
            <a:endParaRPr lang="en-US" sz="3000" dirty="0"/>
          </a:p>
        </p:txBody>
      </p:sp>
      <p:sp>
        <p:nvSpPr>
          <p:cNvPr id="12" name="Text 7">
            <a:extLst>
              <a:ext uri="{FF2B5EF4-FFF2-40B4-BE49-F238E27FC236}">
                <a16:creationId xmlns:a16="http://schemas.microsoft.com/office/drawing/2014/main" id="{7582FEE8-0BEA-4B21-913E-A515528F264B}"/>
              </a:ext>
            </a:extLst>
          </p:cNvPr>
          <p:cNvSpPr/>
          <p:nvPr/>
        </p:nvSpPr>
        <p:spPr>
          <a:xfrm>
            <a:off x="1625441" y="3130426"/>
            <a:ext cx="10046454" cy="6500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A1A1A"/>
                </a:solidFill>
                <a:latin typeface="Arial" pitchFamily="34" charset="0"/>
                <a:ea typeface="Arial" pitchFamily="34" charset="-122"/>
                <a:cs typeface="Arial" pitchFamily="34" charset="-120"/>
              </a:rPr>
              <a:t>Was wäre der konkrete Unterschied im Risiko, wenn nodered ohne adminAuth betrieben würde und der Port versehentlich ohne 127.0.0.1-Präfix veröffentlicht wäre?</a:t>
            </a:r>
            <a:endParaRPr lang="en-US" sz="1800" dirty="0"/>
          </a:p>
        </p:txBody>
      </p:sp>
      <p:pic>
        <p:nvPicPr>
          <p:cNvPr id="2" name="Grafik 1">
            <a:extLst>
              <a:ext uri="{FF2B5EF4-FFF2-40B4-BE49-F238E27FC236}">
                <a16:creationId xmlns:a16="http://schemas.microsoft.com/office/drawing/2014/main" id="{65BA1666-49F1-42CC-9B2D-322530CAD655}"/>
              </a:ext>
            </a:extLst>
          </p:cNvPr>
          <p:cNvPicPr>
            <a:picLocks noChangeAspect="1"/>
          </p:cNvPicPr>
          <p:nvPr/>
        </p:nvPicPr>
        <p:blipFill>
          <a:blip r:embed="rId3"/>
          <a:stretch>
            <a:fillRect/>
          </a:stretch>
        </p:blipFill>
        <p:spPr>
          <a:xfrm>
            <a:off x="11150000" y="1250000"/>
            <a:ext cx="850000" cy="850000"/>
          </a:xfrm>
          <a:prstGeom prst="rect">
            <a:avLst/>
          </a:prstGeom>
        </p:spPr>
      </p:pic>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6zu9_ALP-Praesentation_MasterVorlage.pptx" id="{B23EF914-3FB6-4301-94CB-99985DA93EFF}" vid="{9CA8404C-C143-41CD-9E42-A16ECB65F8EC}"/>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2911</Words>
  <Application>Microsoft Office PowerPoint</Application>
  <PresentationFormat>Breitbild</PresentationFormat>
  <Paragraphs>326</Paragraphs>
  <Slides>15</Slides>
  <Notes>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15</vt:i4>
      </vt:variant>
    </vt:vector>
  </HeadingPairs>
  <TitlesOfParts>
    <vt:vector size="21" baseType="lpstr">
      <vt:lpstr>Roboto</vt:lpstr>
      <vt:lpstr>Arial</vt:lpstr>
      <vt:lpstr>Calibri</vt:lpstr>
      <vt:lpstr>Courier New</vt:lpstr>
      <vt:lpstr>Roboto Slab</vt:lpstr>
      <vt:lpstr>Office</vt:lpstr>
      <vt:lpstr>IT-Infrastruktur mit freier Software  (z. B. Linux) bereitstellen </vt:lpstr>
      <vt:lpstr>Zielvorgabe: Docker-Container hinter Caddy</vt:lpstr>
      <vt:lpstr>Bind Mount vs. benanntes Volume</vt:lpstr>
      <vt:lpstr>Docker installieren  </vt:lpstr>
      <vt:lpstr>UFW und Docker: Netzwerkstruktur &amp; Firewall</vt:lpstr>
      <vt:lpstr>Die DOCKER-USER-Falle: Ports und ufw</vt:lpstr>
      <vt:lpstr>Namensauflösung bis zur Container-IP</vt:lpstr>
      <vt:lpstr>nginx-Container mit Bind Mount  </vt:lpstr>
      <vt:lpstr>Node-RED-Container mit benanntem Volume  </vt:lpstr>
      <vt:lpstr>Caddyfile erweitern: www &amp; dashboard</vt:lpstr>
      <vt:lpstr>DNS-Voraussetzungen für die neuen Subdomains</vt:lpstr>
      <vt:lpstr>Laborübung 05</vt:lpstr>
      <vt:lpstr>Docker-Befehle: Installation &amp; Verifikation</vt:lpstr>
      <vt:lpstr>Reflexionsfragen (1/2): Volumes und Bind Mounts</vt:lpstr>
      <vt:lpstr>Reflexionsfragen (2/2): Docker absichern</vt:lpstr>
    </vt:vector>
  </TitlesOfParts>
  <Company>ALP-Dillingen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Koehler, Oliver</dc:creator>
  <cp:lastModifiedBy>Lotter, Michael</cp:lastModifiedBy>
  <cp:revision>132</cp:revision>
  <dcterms:created xsi:type="dcterms:W3CDTF">2019-06-04T07:33:10Z</dcterms:created>
  <dcterms:modified xsi:type="dcterms:W3CDTF">2026-09-24T12:01:44Z</dcterms:modified>
</cp:coreProperties>
</file>