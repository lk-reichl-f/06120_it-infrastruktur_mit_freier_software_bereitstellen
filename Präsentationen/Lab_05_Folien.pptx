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1"/>
  </p:sldMasterIdLst>
  <p:notesMasterIdLst>
    <p:notesMasterId r:id="rId18"/>
  </p:notesMasterIdLst>
  <p:sldIdLst>
    <p:sldId id="444" r:id="rId2"/>
    <p:sldId id="474" r:id="rId3"/>
    <p:sldId id="455" r:id="rId4"/>
    <p:sldId id="456" r:id="rId5"/>
    <p:sldId id="468" r:id="rId6"/>
    <p:sldId id="458" r:id="rId7"/>
    <p:sldId id="470" r:id="rId8"/>
    <p:sldId id="475" r:id="rId9"/>
    <p:sldId id="461" r:id="rId10"/>
    <p:sldId id="462" r:id="rId11"/>
    <p:sldId id="463" r:id="rId12"/>
    <p:sldId id="464" r:id="rId13"/>
    <p:sldId id="465" r:id="rId14"/>
    <p:sldId id="472" r:id="rId15"/>
    <p:sldId id="466" r:id="rId16"/>
    <p:sldId id="467" r:id="rId17"/>
  </p:sldIdLst>
  <p:sldSz cx="12192000" cy="6858000"/>
  <p:notesSz cx="6858000" cy="9144000"/>
  <p:embeddedFontLst>
    <p:embeddedFont>
      <p:font typeface="Calibri" panose="020F0502020204030204" pitchFamily="34" charset="0"/>
      <p:regular r:id="rId19"/>
      <p:bold r:id="rId20"/>
      <p:italic r:id="rId21"/>
      <p:boldItalic r:id="rId22"/>
    </p:embeddedFont>
    <p:embeddedFont>
      <p:font typeface="Roboto" panose="02000000000000000000" pitchFamily="2" charset="0"/>
      <p:regular r:id="rId23"/>
      <p:bold r:id="rId24"/>
      <p:italic r:id="rId25"/>
      <p:boldItalic r:id="rId26"/>
    </p:embeddedFont>
    <p:embeddedFont>
      <p:font typeface="Roboto Slab" pitchFamily="2" charset="0"/>
      <p:regular r:id="rId27"/>
      <p:bold r:id="rId28"/>
    </p:embeddedFont>
  </p:embeddedFont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1AF"/>
    <a:srgbClr val="005AA8"/>
    <a:srgbClr val="E7E7E9"/>
    <a:srgbClr val="FFCD00"/>
    <a:srgbClr val="4472C4"/>
    <a:srgbClr val="274295"/>
    <a:srgbClr val="DEEBF7"/>
    <a:srgbClr val="2B41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36" autoAdjust="0"/>
    <p:restoredTop sz="78292" autoAdjust="0"/>
  </p:normalViewPr>
  <p:slideViewPr>
    <p:cSldViewPr snapToGrid="0">
      <p:cViewPr varScale="1">
        <p:scale>
          <a:sx n="88" d="100"/>
          <a:sy n="88" d="100"/>
        </p:scale>
        <p:origin x="173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57A8F1-2E97-442A-A3DE-98A08CE3B9A6}" type="datetimeFigureOut">
              <a:rPr lang="de-DE" smtClean="0"/>
              <a:t>07.10.2026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D5FE33-4217-42D2-A2B6-93ED6DCD092C}" type="slidenum">
              <a:rPr lang="de-DE" smtClean="0"/>
              <a:t>‹Nr.›</a:t>
            </a:fld>
            <a:endParaRPr lang="de-DE"/>
          </a:p>
        </p:txBody>
      </p:sp>
    </p:spTree>
    <p:extLst>
      <p:ext uri="{BB962C8B-B14F-4D97-AF65-F5344CB8AC3E}">
        <p14:creationId xmlns:p14="http://schemas.microsoft.com/office/powerpoint/2010/main" val="1751763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BD5FE33-4217-42D2-A2B6-93ED6DCD092C}" type="slidenum">
              <a:rPr lang="de-DE" smtClean="0"/>
              <a:t>2</a:t>
            </a:fld>
            <a:endParaRPr lang="de-DE"/>
          </a:p>
        </p:txBody>
      </p:sp>
    </p:spTree>
    <p:extLst>
      <p:ext uri="{BB962C8B-B14F-4D97-AF65-F5344CB8AC3E}">
        <p14:creationId xmlns:p14="http://schemas.microsoft.com/office/powerpoint/2010/main" val="323155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rtl="0"/>
            <a:r>
              <a:rPr lang="de-DE" dirty="0"/>
              <a:t>Mit dieser Einstellung startet er ihn immer neu, </a:t>
            </a:r>
            <a:r>
              <a:rPr lang="de-DE" b="1" dirty="0"/>
              <a:t>außer du hast ihn selbst mit </a:t>
            </a:r>
            <a:r>
              <a:rPr lang="de-DE" b="1" dirty="0" err="1"/>
              <a:t>docker</a:t>
            </a:r>
            <a:r>
              <a:rPr lang="de-DE" b="1" dirty="0"/>
              <a:t> </a:t>
            </a:r>
            <a:r>
              <a:rPr lang="de-DE" b="1" dirty="0" err="1"/>
              <a:t>stop</a:t>
            </a:r>
            <a:r>
              <a:rPr lang="de-DE" b="1" dirty="0"/>
              <a:t> angehalten</a:t>
            </a:r>
            <a:r>
              <a:rPr lang="de-DE" dirty="0"/>
              <a:t>.</a:t>
            </a:r>
          </a:p>
          <a:p>
            <a:pPr rtl="0"/>
            <a:endParaRPr lang="de-DE" dirty="0"/>
          </a:p>
          <a:p>
            <a:pPr rtl="0"/>
            <a:r>
              <a:rPr lang="de-DE" b="1" dirty="0"/>
              <a:t>Die vier möglichen Werte</a:t>
            </a:r>
          </a:p>
          <a:p>
            <a:pPr rtl="0"/>
            <a:r>
              <a:rPr lang="de-DE" b="0" dirty="0" err="1"/>
              <a:t>no</a:t>
            </a:r>
            <a:r>
              <a:rPr lang="de-DE" b="0" dirty="0"/>
              <a:t> - Standard</a:t>
            </a:r>
          </a:p>
          <a:p>
            <a:pPr rtl="0"/>
            <a:r>
              <a:rPr lang="de-DE" dirty="0"/>
              <a:t>on-</a:t>
            </a:r>
            <a:r>
              <a:rPr lang="de-DE" dirty="0" err="1"/>
              <a:t>failure</a:t>
            </a:r>
            <a:r>
              <a:rPr lang="de-DE" dirty="0"/>
              <a:t> - nur nach Absturz mit Fehlercode, nicht nach einem Reboot</a:t>
            </a:r>
          </a:p>
          <a:p>
            <a:pPr rtl="0"/>
            <a:r>
              <a:rPr lang="de-DE" dirty="0" err="1"/>
              <a:t>always</a:t>
            </a:r>
            <a:r>
              <a:rPr lang="de-DE" dirty="0"/>
              <a:t> - immer, auch nach einem Reboot, </a:t>
            </a:r>
            <a:r>
              <a:rPr lang="de-DE" b="1" dirty="0"/>
              <a:t>selbst wenn du ihn vorher gestoppt hattest</a:t>
            </a:r>
          </a:p>
          <a:p>
            <a:pPr rtl="0"/>
            <a:r>
              <a:rPr lang="de-DE" dirty="0" err="1"/>
              <a:t>unless-stopped</a:t>
            </a:r>
            <a:r>
              <a:rPr lang="de-DE" dirty="0"/>
              <a:t> - wie </a:t>
            </a:r>
            <a:r>
              <a:rPr lang="de-DE" dirty="0" err="1"/>
              <a:t>always</a:t>
            </a:r>
            <a:r>
              <a:rPr lang="de-DE" dirty="0"/>
              <a:t>, respektiert aber ein manuelles </a:t>
            </a:r>
            <a:r>
              <a:rPr lang="de-DE" dirty="0" err="1"/>
              <a:t>docker</a:t>
            </a:r>
            <a:r>
              <a:rPr lang="de-DE" dirty="0"/>
              <a:t> </a:t>
            </a:r>
            <a:r>
              <a:rPr lang="de-DE" dirty="0" err="1"/>
              <a:t>stop</a:t>
            </a:r>
            <a:endParaRPr lang="de-DE" dirty="0"/>
          </a:p>
          <a:p>
            <a:endParaRPr lang="de-DE" dirty="0"/>
          </a:p>
        </p:txBody>
      </p:sp>
      <p:sp>
        <p:nvSpPr>
          <p:cNvPr id="4" name="Foliennummernplatzhalter 3"/>
          <p:cNvSpPr>
            <a:spLocks noGrp="1"/>
          </p:cNvSpPr>
          <p:nvPr>
            <p:ph type="sldNum" sz="quarter" idx="5"/>
          </p:nvPr>
        </p:nvSpPr>
        <p:spPr/>
        <p:txBody>
          <a:bodyPr/>
          <a:lstStyle/>
          <a:p>
            <a:fld id="{4BD5FE33-4217-42D2-A2B6-93ED6DCD092C}" type="slidenum">
              <a:rPr lang="de-DE" smtClean="0"/>
              <a:t>3</a:t>
            </a:fld>
            <a:endParaRPr lang="de-DE"/>
          </a:p>
        </p:txBody>
      </p:sp>
    </p:spTree>
    <p:extLst>
      <p:ext uri="{BB962C8B-B14F-4D97-AF65-F5344CB8AC3E}">
        <p14:creationId xmlns:p14="http://schemas.microsoft.com/office/powerpoint/2010/main" val="3501882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BD5FE33-4217-42D2-A2B6-93ED6DCD092C}" type="slidenum">
              <a:rPr lang="de-DE" smtClean="0"/>
              <a:t>4</a:t>
            </a:fld>
            <a:endParaRPr lang="de-DE"/>
          </a:p>
        </p:txBody>
      </p:sp>
    </p:spTree>
    <p:extLst>
      <p:ext uri="{BB962C8B-B14F-4D97-AF65-F5344CB8AC3E}">
        <p14:creationId xmlns:p14="http://schemas.microsoft.com/office/powerpoint/2010/main" val="12248903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t>Kernaussage: Für den Client und für ufw gibt es keinen Unterschied zwischen nativem Dienst und Container. Beide werden über Caddy auf Port 443 erreicht, und ufw prüft genau dort in der INPUT-Chain.</a:t>
            </a:r>
          </a:p>
          <a:p>
            <a:endParaRPr/>
          </a:p>
          <a:p>
            <a:r>
              <a:t>Der Unterschied liegt nur hinter Caddy: Für Cockpit verbindet sich Caddy direkt mit dem Prozess auf localhost:9090. Für einen Container verbindet sich Caddy mit 127.0.0.1:8080. Dort lauscht docker-proxy, der die Verbindung über die Bridge docker0 zum Container 172.17.0.2:80 weitergibt.</a:t>
            </a:r>
          </a:p>
          <a:p>
            <a:endParaRPr/>
          </a:p>
          <a:p>
            <a:r>
              <a:t>Diese Verbindungen erzeugt der Host selbst. Sie laufen nicht durch die FORWARD-Chain. Eine Änderung an ufw (z. B. DEFAULT_FORWARD_POLICY) ist für Lab 05 deshalb nicht nötig.</a:t>
            </a:r>
          </a:p>
        </p:txBody>
      </p:sp>
      <p:sp>
        <p:nvSpPr>
          <p:cNvPr id="4" name="Foliennummernplatzhalter 3"/>
          <p:cNvSpPr>
            <a:spLocks noGrp="1"/>
          </p:cNvSpPr>
          <p:nvPr>
            <p:ph type="sldNum" sz="quarter" idx="5"/>
          </p:nvPr>
        </p:nvSpPr>
        <p:spPr/>
        <p:txBody>
          <a:bodyPr/>
          <a:lstStyle/>
          <a:p>
            <a:fld id="{4BD5FE33-4217-42D2-A2B6-93ED6DCD092C}" type="slidenum">
              <a:rPr lang="de-DE" smtClean="0"/>
              <a:t>6</a:t>
            </a:fld>
            <a:endParaRPr lang="de-DE"/>
          </a:p>
        </p:txBody>
      </p:sp>
    </p:spTree>
    <p:extLst>
      <p:ext uri="{BB962C8B-B14F-4D97-AF65-F5344CB8AC3E}">
        <p14:creationId xmlns:p14="http://schemas.microsoft.com/office/powerpoint/2010/main" val="2511503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de-DE" dirty="0"/>
              <a:t>Ohne IP gilt 0.0.0.0: Der Port ist auf allen Adressen des Hosts offen, auch auf der öffentlichen, und Docker leitet ihn an </a:t>
            </a:r>
            <a:r>
              <a:rPr lang="de-DE" dirty="0" err="1"/>
              <a:t>ufw</a:t>
            </a:r>
            <a:r>
              <a:rPr lang="de-DE" dirty="0"/>
              <a:t> vorbei. Mit 127.0.0.1 erreicht ihn nur der Host selbst.</a:t>
            </a:r>
          </a:p>
          <a:p>
            <a:endParaRPr lang="de-DE" dirty="0"/>
          </a:p>
          <a:p>
            <a:r>
              <a:rPr lang="de-DE" dirty="0"/>
              <a:t>Die IP-Angabe in -p legt fest, auf welcher Adresse des Hosts der Port geöffnet wird, also das Ziel, nicht die Quelle. Fehlt sie, gilt der Standardwert 0.0.0.0: Der Port ist auf </a:t>
            </a:r>
            <a:r>
              <a:rPr lang="de-DE" b="1" dirty="0"/>
              <a:t>allen</a:t>
            </a:r>
            <a:r>
              <a:rPr lang="de-DE" dirty="0"/>
              <a:t> Adressen offen, auch auf der öffentlichen. Damit kann jeder aus dem Internet den Container direkt ansprechen, an Caddy vorbei (kein HTTPS, keine Anmeldung). Normalerweise würde </a:t>
            </a:r>
            <a:r>
              <a:rPr lang="de-DE" dirty="0" err="1"/>
              <a:t>ufw</a:t>
            </a:r>
            <a:r>
              <a:rPr lang="de-DE" dirty="0"/>
              <a:t> das verhindern, aber Docker leitet den Port per DNAT an </a:t>
            </a:r>
            <a:r>
              <a:rPr lang="de-DE" dirty="0" err="1"/>
              <a:t>ufw</a:t>
            </a:r>
            <a:r>
              <a:rPr lang="de-DE" dirty="0"/>
              <a:t> vorbei.</a:t>
            </a:r>
            <a:br>
              <a:rPr lang="de-DE" dirty="0"/>
            </a:br>
            <a:r>
              <a:rPr lang="de-DE" dirty="0"/>
              <a:t>Mit 127.0.0.1 ist der Port nur auf der Loopback-Adresse offen. Die erreichen ausschließlich Prozesse auf dem Host selbst, also Caddy.</a:t>
            </a:r>
          </a:p>
          <a:p>
            <a:r>
              <a:rPr lang="de-DE" dirty="0"/>
              <a:t>Erst die Bindung an 127.0.0.1 sorgt dafür, dass </a:t>
            </a:r>
            <a:r>
              <a:rPr lang="de-DE" dirty="0" err="1"/>
              <a:t>ufw</a:t>
            </a:r>
            <a:r>
              <a:rPr lang="de-DE" dirty="0"/>
              <a:t> überhaupt greifen kann – und selbst ohne </a:t>
            </a:r>
            <a:r>
              <a:rPr lang="de-DE" dirty="0" err="1"/>
              <a:t>ufw</a:t>
            </a:r>
            <a:r>
              <a:rPr lang="de-DE" dirty="0"/>
              <a:t> lauscht auf der öffentlichen IP niemand.</a:t>
            </a:r>
          </a:p>
          <a:p>
            <a:endParaRPr lang="de-DE" dirty="0"/>
          </a:p>
          <a:p>
            <a:endParaRPr lang="de-DE" dirty="0"/>
          </a:p>
          <a:p>
            <a:r>
              <a:rPr lang="de-DE" dirty="0"/>
              <a:t>Paket kommt an</a:t>
            </a:r>
          </a:p>
          <a:p>
            <a:r>
              <a:rPr lang="de-DE" dirty="0"/>
              <a:t>   │</a:t>
            </a:r>
          </a:p>
          <a:p>
            <a:r>
              <a:rPr lang="de-DE" dirty="0"/>
              <a:t>   ▼</a:t>
            </a:r>
          </a:p>
          <a:p>
            <a:r>
              <a:rPr lang="de-DE" dirty="0"/>
              <a:t>Kernel: Welcher Port?  ◄── die erste Entscheidung, noch vor </a:t>
            </a:r>
            <a:r>
              <a:rPr lang="de-DE" dirty="0" err="1"/>
              <a:t>ufw</a:t>
            </a:r>
            <a:endParaRPr lang="de-DE" dirty="0"/>
          </a:p>
          <a:p>
            <a:r>
              <a:rPr lang="de-DE" dirty="0"/>
              <a:t>   │</a:t>
            </a:r>
          </a:p>
          <a:p>
            <a:r>
              <a:rPr lang="de-DE" dirty="0"/>
              <a:t>   ├─ :443  → keine Docker-Regel → INPUT → </a:t>
            </a:r>
            <a:r>
              <a:rPr lang="de-DE" dirty="0" err="1"/>
              <a:t>ufw</a:t>
            </a:r>
            <a:r>
              <a:rPr lang="de-DE" dirty="0"/>
              <a:t> (</a:t>
            </a:r>
            <a:r>
              <a:rPr lang="de-DE" dirty="0" err="1"/>
              <a:t>allow</a:t>
            </a:r>
            <a:r>
              <a:rPr lang="de-DE" dirty="0"/>
              <a:t> https) → Caddy</a:t>
            </a:r>
          </a:p>
          <a:p>
            <a:r>
              <a:rPr lang="de-DE" dirty="0"/>
              <a:t>   │</a:t>
            </a:r>
          </a:p>
          <a:p>
            <a:r>
              <a:rPr lang="de-DE" dirty="0"/>
              <a:t>   └─ :8080 → Docker-DNAT passt → FORWARD → Container</a:t>
            </a:r>
          </a:p>
          <a:p>
            <a:r>
              <a:rPr lang="de-DE" dirty="0"/>
              <a:t>                                  (</a:t>
            </a:r>
            <a:r>
              <a:rPr lang="de-DE" dirty="0" err="1"/>
              <a:t>ufw</a:t>
            </a:r>
            <a:r>
              <a:rPr lang="de-DE" dirty="0"/>
              <a:t> und Caddy sehen das Paket nie)</a:t>
            </a:r>
          </a:p>
          <a:p>
            <a:endParaRPr lang="de-DE"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t>docker-proxy ist Dockers Userland-Proxy und standardmäßig aktiv. Er lauscht auf 127.0.0.1:8080 und baut die Verbindung zum Container selbst auf. Ist er abgeschaltet ("userland-proxy": false), übernimmt eine DNAT-Regel in der OUTPUT-Kette (nat) die Umschreibung. Auch dann gilt: lokal erzeugte Pakete laufen über OUTPUT und POSTROUTING, nie über FORWARD.</a:t>
            </a:r>
          </a:p>
        </p:txBody>
      </p:sp>
      <p:sp>
        <p:nvSpPr>
          <p:cNvPr id="4" name="Foliennummernplatzhalter 3"/>
          <p:cNvSpPr>
            <a:spLocks noGrp="1"/>
          </p:cNvSpPr>
          <p:nvPr>
            <p:ph type="sldNum" sz="quarter" idx="5"/>
          </p:nvPr>
        </p:nvSpPr>
        <p:spPr/>
        <p:txBody>
          <a:bodyPr/>
          <a:lstStyle/>
          <a:p>
            <a:fld id="{4BD5FE33-4217-42D2-A2B6-93ED6DCD092C}" type="slidenum">
              <a:rPr lang="de-DE" smtClean="0"/>
              <a:t>8</a:t>
            </a:fld>
            <a:endParaRPr lang="de-DE"/>
          </a:p>
        </p:txBody>
      </p:sp>
    </p:spTree>
    <p:extLst>
      <p:ext uri="{BB962C8B-B14F-4D97-AF65-F5344CB8AC3E}">
        <p14:creationId xmlns:p14="http://schemas.microsoft.com/office/powerpoint/2010/main" val="2721865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zu 1. </a:t>
            </a:r>
          </a:p>
          <a:p>
            <a:pPr rtl="0"/>
            <a:r>
              <a:rPr lang="de-DE" dirty="0"/>
              <a:t>Die entscheidende Frage ist: </a:t>
            </a:r>
            <a:r>
              <a:rPr lang="de-DE" b="1" dirty="0"/>
              <a:t>Wer pflegt die Daten – der Mensch auf dem Host, oder die Anwendung selbst im Container?</a:t>
            </a:r>
            <a:endParaRPr lang="de-DE" dirty="0"/>
          </a:p>
          <a:p>
            <a:pPr rtl="0"/>
            <a:r>
              <a:rPr lang="de-DE" b="1" dirty="0"/>
              <a:t>Webseite → Bind Mount</a:t>
            </a:r>
            <a:r>
              <a:rPr lang="de-DE" dirty="0"/>
              <a:t>, weil die HTML-Dateien vom Administrator direkt auf dem Host bearbeitet werden (z. B. mit </a:t>
            </a:r>
            <a:r>
              <a:rPr lang="de-DE" dirty="0" err="1"/>
              <a:t>nano</a:t>
            </a:r>
            <a:r>
              <a:rPr lang="de-DE" dirty="0"/>
              <a:t>, per </a:t>
            </a:r>
            <a:r>
              <a:rPr lang="de-DE" dirty="0" err="1"/>
              <a:t>Deployment</a:t>
            </a:r>
            <a:r>
              <a:rPr lang="de-DE" dirty="0"/>
              <a:t>-Skript oder Versionskontrolle). Dafür muss der Speicherort ein bekannter, frei wählbarer Pfad sein (/</a:t>
            </a:r>
            <a:r>
              <a:rPr lang="de-DE" dirty="0" err="1"/>
              <a:t>srv</a:t>
            </a:r>
            <a:r>
              <a:rPr lang="de-DE" dirty="0"/>
              <a:t>/</a:t>
            </a:r>
            <a:r>
              <a:rPr lang="de-DE" dirty="0" err="1"/>
              <a:t>www</a:t>
            </a:r>
            <a:r>
              <a:rPr lang="de-DE" dirty="0"/>
              <a:t>) – genau das leistet ein Bind Mount. Zusätzlich lässt sich der Mount mit :</a:t>
            </a:r>
            <a:r>
              <a:rPr lang="de-DE" dirty="0" err="1"/>
              <a:t>ro</a:t>
            </a:r>
            <a:r>
              <a:rPr lang="de-DE" dirty="0"/>
              <a:t> </a:t>
            </a:r>
            <a:r>
              <a:rPr lang="de-DE" dirty="0" err="1"/>
              <a:t>read-only</a:t>
            </a:r>
            <a:r>
              <a:rPr lang="de-DE" dirty="0"/>
              <a:t> einbinden, sodass der Container die Inhalte zwar ausliefern, aber nicht verändern kann.</a:t>
            </a:r>
          </a:p>
          <a:p>
            <a:pPr rtl="0"/>
            <a:endParaRPr lang="de-DE" dirty="0"/>
          </a:p>
          <a:p>
            <a:pPr rtl="0"/>
            <a:r>
              <a:rPr lang="de-DE" b="1" dirty="0" err="1"/>
              <a:t>Node</a:t>
            </a:r>
            <a:r>
              <a:rPr lang="de-DE" b="1" dirty="0"/>
              <a:t>-RED-Daten → benanntes Volume</a:t>
            </a:r>
            <a:r>
              <a:rPr lang="de-DE" dirty="0"/>
              <a:t>, weil </a:t>
            </a:r>
            <a:r>
              <a:rPr lang="de-DE" dirty="0" err="1"/>
              <a:t>Flows</a:t>
            </a:r>
            <a:r>
              <a:rPr lang="de-DE" dirty="0"/>
              <a:t>, Einstellungen und installierte Nodes von der Anwendung selbst zur Laufzeit erzeugt und verwaltet werden – kein manuelles Bearbeiten durch den Administrator vorgesehen. Der genaue Speicherort auf dem Host ist dabei irrelevant; wichtig ist nur, dass die Daten den Container-Lebenszyklus überdauern. Ein benanntes Volume nimmt Docker diese Pfadverwaltung ab (automatisches Anlegen, einheitliche Verwaltung über </a:t>
            </a:r>
            <a:r>
              <a:rPr lang="de-DE" dirty="0" err="1"/>
              <a:t>docker</a:t>
            </a:r>
            <a:r>
              <a:rPr lang="de-DE" dirty="0"/>
              <a:t> </a:t>
            </a:r>
            <a:r>
              <a:rPr lang="de-DE" dirty="0" err="1"/>
              <a:t>volume</a:t>
            </a:r>
            <a:r>
              <a:rPr lang="de-DE" dirty="0"/>
              <a:t>-Befehle) und ist damit die für Anwendungsdaten typische Wahl.</a:t>
            </a:r>
          </a:p>
          <a:p>
            <a:pPr rtl="0"/>
            <a:r>
              <a:rPr lang="de-DE" b="1" dirty="0"/>
              <a:t>Faustregel:</a:t>
            </a:r>
            <a:r>
              <a:rPr lang="de-DE" dirty="0"/>
              <a:t> Inhalte, die der Mensch pflegt und die außerhalb von Docker eine Bedeutung haben → Bind Mount. Daten, die ausschließlich die Anwendung selbst erzeugt und benötigt → benanntes Volume.</a:t>
            </a:r>
          </a:p>
          <a:p>
            <a:pPr rtl="0"/>
            <a:endParaRPr lang="de-DE" dirty="0"/>
          </a:p>
          <a:p>
            <a:pPr rtl="0"/>
            <a:r>
              <a:rPr lang="de-DE" dirty="0"/>
              <a:t>zu 2.</a:t>
            </a:r>
          </a:p>
          <a:p>
            <a:pPr rtl="0"/>
            <a:r>
              <a:rPr lang="de-DE" dirty="0" err="1"/>
              <a:t>docker</a:t>
            </a:r>
            <a:r>
              <a:rPr lang="de-DE" dirty="0"/>
              <a:t> </a:t>
            </a:r>
            <a:r>
              <a:rPr lang="de-DE" dirty="0" err="1"/>
              <a:t>rm</a:t>
            </a:r>
            <a:r>
              <a:rPr lang="de-DE" dirty="0"/>
              <a:t> </a:t>
            </a:r>
            <a:r>
              <a:rPr lang="de-DE" dirty="0" err="1"/>
              <a:t>nodered</a:t>
            </a:r>
            <a:r>
              <a:rPr lang="de-DE" dirty="0"/>
              <a:t> entfernt </a:t>
            </a:r>
            <a:r>
              <a:rPr lang="de-DE" b="1" dirty="0"/>
              <a:t>nur den Container</a:t>
            </a:r>
            <a:r>
              <a:rPr lang="de-DE" dirty="0"/>
              <a:t> – seine beschreibbare Schicht und die Metadaten. Das Volume </a:t>
            </a:r>
            <a:r>
              <a:rPr lang="de-DE" dirty="0" err="1"/>
              <a:t>nodered-data</a:t>
            </a:r>
            <a:r>
              <a:rPr lang="de-DE" dirty="0"/>
              <a:t> besteht als eigenständiges Objekt unabhängig vom Container weiter, da Docker es getrennt vom Container-Lebenszyklus verwaltet. Ein neu gestarteter Container mit -v </a:t>
            </a:r>
            <a:r>
              <a:rPr lang="de-DE" dirty="0" err="1"/>
              <a:t>nodered-data</a:t>
            </a:r>
            <a:r>
              <a:rPr lang="de-DE" dirty="0"/>
              <a:t>:/</a:t>
            </a:r>
            <a:r>
              <a:rPr lang="de-DE" dirty="0" err="1"/>
              <a:t>data</a:t>
            </a:r>
            <a:r>
              <a:rPr lang="de-DE" dirty="0"/>
              <a:t> findet alle </a:t>
            </a:r>
            <a:r>
              <a:rPr lang="de-DE" dirty="0" err="1"/>
              <a:t>Flows</a:t>
            </a:r>
            <a:r>
              <a:rPr lang="de-DE" dirty="0"/>
              <a:t> und Einstellungen unverändert vor.</a:t>
            </a:r>
          </a:p>
          <a:p>
            <a:pPr rtl="0"/>
            <a:r>
              <a:rPr lang="de-DE" dirty="0"/>
              <a:t>Wird zusätzlich </a:t>
            </a:r>
            <a:r>
              <a:rPr lang="de-DE" dirty="0" err="1"/>
              <a:t>docker</a:t>
            </a:r>
            <a:r>
              <a:rPr lang="de-DE" dirty="0"/>
              <a:t> </a:t>
            </a:r>
            <a:r>
              <a:rPr lang="de-DE" dirty="0" err="1"/>
              <a:t>volume</a:t>
            </a:r>
            <a:r>
              <a:rPr lang="de-DE" dirty="0"/>
              <a:t> </a:t>
            </a:r>
            <a:r>
              <a:rPr lang="de-DE" dirty="0" err="1"/>
              <a:t>rm</a:t>
            </a:r>
            <a:r>
              <a:rPr lang="de-DE" dirty="0"/>
              <a:t> </a:t>
            </a:r>
            <a:r>
              <a:rPr lang="de-DE" dirty="0" err="1"/>
              <a:t>nodered-data</a:t>
            </a:r>
            <a:r>
              <a:rPr lang="de-DE" dirty="0"/>
              <a:t> ausgeführt, werden die im Volume gespeicherten Daten </a:t>
            </a:r>
            <a:r>
              <a:rPr lang="de-DE" b="1" dirty="0"/>
              <a:t>unwiderruflich gelöscht</a:t>
            </a:r>
            <a:r>
              <a:rPr lang="de-DE" dirty="0"/>
              <a:t>. Ein danach gestarteter Container mit demselben Namen und derselben -v-Angabe erhält ein leeres, neu angelegtes Volume – </a:t>
            </a:r>
            <a:r>
              <a:rPr lang="de-DE" dirty="0" err="1"/>
              <a:t>Node</a:t>
            </a:r>
            <a:r>
              <a:rPr lang="de-DE" dirty="0"/>
              <a:t>-RED startet dann bei der Ersteinrichtung, als wäre es der allererste Start.</a:t>
            </a:r>
          </a:p>
          <a:p>
            <a:pPr rtl="0"/>
            <a:r>
              <a:rPr lang="de-DE" dirty="0"/>
              <a:t>Hinweis: </a:t>
            </a:r>
            <a:r>
              <a:rPr lang="de-DE" dirty="0" err="1"/>
              <a:t>docker</a:t>
            </a:r>
            <a:r>
              <a:rPr lang="de-DE" dirty="0"/>
              <a:t> </a:t>
            </a:r>
            <a:r>
              <a:rPr lang="de-DE" dirty="0" err="1"/>
              <a:t>volume</a:t>
            </a:r>
            <a:r>
              <a:rPr lang="de-DE" dirty="0"/>
              <a:t> </a:t>
            </a:r>
            <a:r>
              <a:rPr lang="de-DE" dirty="0" err="1"/>
              <a:t>rm</a:t>
            </a:r>
            <a:r>
              <a:rPr lang="de-DE" dirty="0"/>
              <a:t> schlägt fehl, solange das Volume noch von einem – auch gestoppten – Container referenziert wird. Deshalb muss der Container immer zuerst entfernt werden, bevor das Volume gelöscht werden kann.</a:t>
            </a:r>
          </a:p>
          <a:p>
            <a:pPr rtl="0"/>
            <a:endParaRPr lang="de-DE" dirty="0"/>
          </a:p>
          <a:p>
            <a:pPr rtl="0"/>
            <a:endParaRPr lang="de-DE" dirty="0"/>
          </a:p>
          <a:p>
            <a:pPr rtl="0"/>
            <a:r>
              <a:rPr lang="de-DE" dirty="0"/>
              <a:t>zu 3</a:t>
            </a:r>
          </a:p>
          <a:p>
            <a:pPr rtl="0"/>
            <a:r>
              <a:rPr lang="de-DE" b="1" dirty="0"/>
              <a:t>Beispiel: eine PostgreSQL-Datenbank als Container.</a:t>
            </a:r>
            <a:endParaRPr lang="de-DE" dirty="0"/>
          </a:p>
          <a:p>
            <a:pPr rtl="0">
              <a:buFont typeface="Arial" panose="020B0604020202020204" pitchFamily="34" charset="0"/>
              <a:buChar char="•"/>
            </a:pPr>
            <a:r>
              <a:rPr lang="de-DE" dirty="0"/>
              <a:t>Die eigentlichen Datenbankdateien (/</a:t>
            </a:r>
            <a:r>
              <a:rPr lang="de-DE" dirty="0" err="1"/>
              <a:t>var</a:t>
            </a:r>
            <a:r>
              <a:rPr lang="de-DE" dirty="0"/>
              <a:t>/</a:t>
            </a:r>
            <a:r>
              <a:rPr lang="de-DE" dirty="0" err="1"/>
              <a:t>lib</a:t>
            </a:r>
            <a:r>
              <a:rPr lang="de-DE" dirty="0"/>
              <a:t>/</a:t>
            </a:r>
            <a:r>
              <a:rPr lang="de-DE" dirty="0" err="1"/>
              <a:t>postgresql</a:t>
            </a:r>
            <a:r>
              <a:rPr lang="de-DE" dirty="0"/>
              <a:t>/</a:t>
            </a:r>
            <a:r>
              <a:rPr lang="de-DE" dirty="0" err="1"/>
              <a:t>data</a:t>
            </a:r>
            <a:r>
              <a:rPr lang="de-DE" dirty="0"/>
              <a:t>) gehören in ein </a:t>
            </a:r>
            <a:r>
              <a:rPr lang="de-DE" b="1" dirty="0"/>
              <a:t>benanntes Volume</a:t>
            </a:r>
            <a:r>
              <a:rPr lang="de-DE" dirty="0"/>
              <a:t> (</a:t>
            </a:r>
            <a:r>
              <a:rPr lang="de-DE" dirty="0" err="1"/>
              <a:t>pg-data</a:t>
            </a:r>
            <a:r>
              <a:rPr lang="de-DE" dirty="0"/>
              <a:t>): Diese Daten werden ausschließlich von PostgreSQL selbst geschrieben und gelesen, ein manueller Eingriff auf Dateiebene ist nicht vorgesehen und sogar riskant (Datenkorruption bei laufendem Betrieb). Backups erfolgen ohnehin nicht durch Kopieren der Rohdateien, sondern über </a:t>
            </a:r>
            <a:r>
              <a:rPr lang="de-DE" dirty="0" err="1"/>
              <a:t>pg_dump</a:t>
            </a:r>
            <a:r>
              <a:rPr lang="de-DE" dirty="0"/>
              <a:t>/</a:t>
            </a:r>
            <a:r>
              <a:rPr lang="de-DE" dirty="0" err="1"/>
              <a:t>pg_restore</a:t>
            </a:r>
            <a:r>
              <a:rPr lang="de-DE" dirty="0"/>
              <a:t> – der genaue Host-Pfad ist also irrelevant.</a:t>
            </a:r>
          </a:p>
          <a:p>
            <a:pPr rtl="0">
              <a:buFont typeface="Arial" panose="020B0604020202020204" pitchFamily="34" charset="0"/>
              <a:buChar char="•"/>
            </a:pPr>
            <a:r>
              <a:rPr lang="de-DE" dirty="0"/>
              <a:t>Eine eigene Konfigurationsdatei (</a:t>
            </a:r>
            <a:r>
              <a:rPr lang="de-DE" dirty="0" err="1"/>
              <a:t>postgresql.conf</a:t>
            </a:r>
            <a:r>
              <a:rPr lang="de-DE" dirty="0"/>
              <a:t> mit angepassten Parametern) würde dagegen über einen </a:t>
            </a:r>
            <a:r>
              <a:rPr lang="de-DE" b="1" dirty="0"/>
              <a:t>Bind Mount</a:t>
            </a:r>
            <a:r>
              <a:rPr lang="de-DE" dirty="0"/>
              <a:t> eingebunden, z. B. -v /</a:t>
            </a:r>
            <a:r>
              <a:rPr lang="de-DE" dirty="0" err="1"/>
              <a:t>srv</a:t>
            </a:r>
            <a:r>
              <a:rPr lang="de-DE" dirty="0"/>
              <a:t>/</a:t>
            </a:r>
            <a:r>
              <a:rPr lang="de-DE" dirty="0" err="1"/>
              <a:t>pg-config</a:t>
            </a:r>
            <a:r>
              <a:rPr lang="de-DE" dirty="0"/>
              <a:t>/</a:t>
            </a:r>
            <a:r>
              <a:rPr lang="de-DE" dirty="0" err="1"/>
              <a:t>postgresql.conf</a:t>
            </a:r>
            <a:r>
              <a:rPr lang="de-DE" dirty="0"/>
              <a:t>:/</a:t>
            </a:r>
            <a:r>
              <a:rPr lang="de-DE" dirty="0" err="1"/>
              <a:t>etc</a:t>
            </a:r>
            <a:r>
              <a:rPr lang="de-DE" dirty="0"/>
              <a:t>/</a:t>
            </a:r>
            <a:r>
              <a:rPr lang="de-DE" dirty="0" err="1"/>
              <a:t>postgresql</a:t>
            </a:r>
            <a:r>
              <a:rPr lang="de-DE" dirty="0"/>
              <a:t>/</a:t>
            </a:r>
            <a:r>
              <a:rPr lang="de-DE" dirty="0" err="1"/>
              <a:t>postgresql.conf:ro</a:t>
            </a:r>
            <a:r>
              <a:rPr lang="de-DE" dirty="0"/>
              <a:t>: Diese Datei pflegt der Administrator bewusst selbst, möchte sie ggf. unter Versionskontrolle halten und beim Container-Update unverändert wiederverwenden.</a:t>
            </a:r>
          </a:p>
          <a:p>
            <a:pPr rtl="0"/>
            <a:r>
              <a:rPr lang="de-DE" dirty="0"/>
              <a:t>Damit greift dieselbe Faustregel wie bei </a:t>
            </a:r>
            <a:r>
              <a:rPr lang="de-DE" dirty="0" err="1"/>
              <a:t>nginx</a:t>
            </a:r>
            <a:r>
              <a:rPr lang="de-DE" dirty="0"/>
              <a:t>/</a:t>
            </a:r>
            <a:r>
              <a:rPr lang="de-DE" dirty="0" err="1"/>
              <a:t>Node</a:t>
            </a:r>
            <a:r>
              <a:rPr lang="de-DE" dirty="0"/>
              <a:t>-RED: von der Anwendung verwaltete Nutzdaten → Volume; vom Menschen gepflegte Konfiguration → Bind Mount.</a:t>
            </a:r>
          </a:p>
          <a:p>
            <a:pPr rtl="0"/>
            <a:endParaRPr lang="de-DE" dirty="0"/>
          </a:p>
          <a:p>
            <a:pPr rtl="0"/>
            <a:endParaRPr lang="de-DE" dirty="0"/>
          </a:p>
          <a:p>
            <a:pPr rtl="0"/>
            <a:endParaRPr lang="de-DE" dirty="0"/>
          </a:p>
          <a:p>
            <a:pPr rtl="0"/>
            <a:endParaRPr lang="de-DE" dirty="0"/>
          </a:p>
          <a:p>
            <a:pPr rtl="0"/>
            <a:endParaRPr lang="de-DE" dirty="0"/>
          </a:p>
          <a:p>
            <a:endParaRPr lang="de-DE" dirty="0"/>
          </a:p>
        </p:txBody>
      </p:sp>
      <p:sp>
        <p:nvSpPr>
          <p:cNvPr id="4" name="Foliennummernplatzhalter 3"/>
          <p:cNvSpPr>
            <a:spLocks noGrp="1"/>
          </p:cNvSpPr>
          <p:nvPr>
            <p:ph type="sldNum" sz="quarter" idx="5"/>
          </p:nvPr>
        </p:nvSpPr>
        <p:spPr/>
        <p:txBody>
          <a:bodyPr/>
          <a:lstStyle/>
          <a:p>
            <a:fld id="{4BD5FE33-4217-42D2-A2B6-93ED6DCD092C}" type="slidenum">
              <a:rPr lang="de-DE" smtClean="0"/>
              <a:t>15</a:t>
            </a:fld>
            <a:endParaRPr lang="de-DE"/>
          </a:p>
        </p:txBody>
      </p:sp>
    </p:spTree>
    <p:extLst>
      <p:ext uri="{BB962C8B-B14F-4D97-AF65-F5344CB8AC3E}">
        <p14:creationId xmlns:p14="http://schemas.microsoft.com/office/powerpoint/2010/main" val="843146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zu 5. </a:t>
            </a:r>
          </a:p>
          <a:p>
            <a:pPr rtl="0"/>
            <a:r>
              <a:rPr lang="de-DE" dirty="0" err="1"/>
              <a:t>ufw</a:t>
            </a:r>
            <a:r>
              <a:rPr lang="de-DE" dirty="0"/>
              <a:t> verwaltet in erster Linie die </a:t>
            </a:r>
            <a:r>
              <a:rPr lang="de-DE" b="1" dirty="0"/>
              <a:t>INPUT-Chain</a:t>
            </a:r>
            <a:r>
              <a:rPr lang="de-DE" dirty="0"/>
              <a:t> – also Pakete, die für den Host selbst bestimmt sind. Traffic zu einem mit -p veröffentlichten Container-Port läuft dagegen über die </a:t>
            </a:r>
            <a:r>
              <a:rPr lang="de-DE" b="1" dirty="0"/>
              <a:t>FORWARD-Chain</a:t>
            </a:r>
            <a:r>
              <a:rPr lang="de-DE" dirty="0"/>
              <a:t>, die </a:t>
            </a:r>
            <a:r>
              <a:rPr lang="de-DE" dirty="0" err="1"/>
              <a:t>ufw</a:t>
            </a:r>
            <a:r>
              <a:rPr lang="de-DE" dirty="0"/>
              <a:t> </a:t>
            </a:r>
            <a:r>
              <a:rPr lang="de-DE" dirty="0" err="1"/>
              <a:t>status</a:t>
            </a:r>
            <a:r>
              <a:rPr lang="de-DE" dirty="0"/>
              <a:t> gar nicht anzeigt. Docker trägt dort – in einer eigenen DOCKER-Chain – seine eigenen DNAT-/ACCEPT-Regeln ein, um den veröffentlichten Port zu erreichen. Diese Regeln entstehen automatisch beim </a:t>
            </a:r>
            <a:r>
              <a:rPr lang="de-DE" dirty="0" err="1"/>
              <a:t>docker</a:t>
            </a:r>
            <a:r>
              <a:rPr lang="de-DE" dirty="0"/>
              <a:t> </a:t>
            </a:r>
            <a:r>
              <a:rPr lang="de-DE" dirty="0" err="1"/>
              <a:t>run</a:t>
            </a:r>
            <a:r>
              <a:rPr lang="de-DE" dirty="0"/>
              <a:t> -p … und sind von </a:t>
            </a:r>
            <a:r>
              <a:rPr lang="de-DE" dirty="0" err="1"/>
              <a:t>ufw</a:t>
            </a:r>
            <a:r>
              <a:rPr lang="de-DE" dirty="0"/>
              <a:t> vollständig unabhängig.</a:t>
            </a:r>
          </a:p>
          <a:p>
            <a:pPr rtl="0"/>
            <a:r>
              <a:rPr lang="de-DE" dirty="0"/>
              <a:t>Die DOCKER-USER-Chain spielt dabei eine besondere Rolle: Docker legt sie zwar an, lässt sie aber </a:t>
            </a:r>
            <a:r>
              <a:rPr lang="de-DE" b="1" dirty="0"/>
              <a:t>standardmäßig leer</a:t>
            </a:r>
            <a:r>
              <a:rPr lang="de-DE" dirty="0"/>
              <a:t> – sie ist lediglich als erster Einstiegspunkt in FORWARD reserviert, an dem </a:t>
            </a:r>
            <a:r>
              <a:rPr lang="de-DE" i="1" dirty="0"/>
              <a:t>Sie</a:t>
            </a:r>
            <a:r>
              <a:rPr lang="de-DE" dirty="0"/>
              <a:t> (der "User" im Namen steht für den Administrator, nicht für ein Linux-Benutzerkonto) eigene Regeln ergänzen könnten, bevor Dockers eigene DOCKER-Chain-Regeln greifen. Ohne eine solche manuell ergänzte Regel bietet DOCKER-USER keinerlei Schutz. Ein Container, der mit -p &lt;</a:t>
            </a:r>
            <a:r>
              <a:rPr lang="de-DE" dirty="0" err="1"/>
              <a:t>port</a:t>
            </a:r>
            <a:r>
              <a:rPr lang="de-DE" dirty="0"/>
              <a:t>&gt;:&lt;</a:t>
            </a:r>
            <a:r>
              <a:rPr lang="de-DE" dirty="0" err="1"/>
              <a:t>port</a:t>
            </a:r>
            <a:r>
              <a:rPr lang="de-DE" dirty="0"/>
              <a:t>&gt; (ohne IP-Präfix, also an 0.0.0.0 gebunden) veröffentlicht wird, ist deshalb direkt aus dem Internet erreichbar – </a:t>
            </a:r>
            <a:r>
              <a:rPr lang="de-DE" dirty="0" err="1"/>
              <a:t>ufw</a:t>
            </a:r>
            <a:r>
              <a:rPr lang="de-DE" dirty="0"/>
              <a:t> </a:t>
            </a:r>
            <a:r>
              <a:rPr lang="de-DE" dirty="0" err="1"/>
              <a:t>status</a:t>
            </a:r>
            <a:r>
              <a:rPr lang="de-DE" dirty="0"/>
              <a:t> würde dabei fälschlich den Eindruck erwecken, der Host sei durch die konfigurierten INPUT-Regeln abgesichert, obwohl der Container-Traffic diese Prüfung nie durchläuft.</a:t>
            </a:r>
          </a:p>
          <a:p>
            <a:endParaRPr lang="de-DE" dirty="0"/>
          </a:p>
          <a:p>
            <a:endParaRPr lang="de-DE" dirty="0"/>
          </a:p>
          <a:p>
            <a:r>
              <a:rPr lang="de-DE" dirty="0"/>
              <a:t>zu 6. </a:t>
            </a:r>
          </a:p>
          <a:p>
            <a:endParaRPr lang="de-DE" dirty="0"/>
          </a:p>
          <a:p>
            <a:pPr rtl="0"/>
            <a:r>
              <a:rPr lang="de-DE" dirty="0"/>
              <a:t>Beide Fehler für sich genommen sind bereits riskant, in Kombination ergeben sie jedoch ein kritisches Sicherheitsproblem:</a:t>
            </a:r>
          </a:p>
          <a:p>
            <a:pPr rtl="0">
              <a:buFont typeface="Arial" panose="020B0604020202020204" pitchFamily="34" charset="0"/>
              <a:buChar char="•"/>
            </a:pPr>
            <a:r>
              <a:rPr lang="de-DE" b="1" dirty="0"/>
              <a:t>Nur fehlendes 127.0.0.1-Präfix</a:t>
            </a:r>
            <a:r>
              <a:rPr lang="de-DE" dirty="0"/>
              <a:t> (-p 1880:1880 statt -p 127.0.0.1:1880:1880): Der </a:t>
            </a:r>
            <a:r>
              <a:rPr lang="de-DE" dirty="0" err="1"/>
              <a:t>Node</a:t>
            </a:r>
            <a:r>
              <a:rPr lang="de-DE" dirty="0"/>
              <a:t>-RED-Editor wäre – wie in Frage 5 erläutert – direkt aus dem Internet erreichbar, unabhängig von </a:t>
            </a:r>
            <a:r>
              <a:rPr lang="de-DE" dirty="0" err="1"/>
              <a:t>ufw</a:t>
            </a:r>
            <a:r>
              <a:rPr lang="de-DE" dirty="0"/>
              <a:t>. Mit aktivem </a:t>
            </a:r>
            <a:r>
              <a:rPr lang="de-DE" dirty="0" err="1"/>
              <a:t>adminAuth</a:t>
            </a:r>
            <a:r>
              <a:rPr lang="de-DE" dirty="0"/>
              <a:t> würde ein Angreifer aber immerhin auf eine Login-Maske treffen und bräuchte gültige Zugangsdaten.</a:t>
            </a:r>
          </a:p>
          <a:p>
            <a:pPr rtl="0">
              <a:buFont typeface="Arial" panose="020B0604020202020204" pitchFamily="34" charset="0"/>
              <a:buChar char="•"/>
            </a:pPr>
            <a:r>
              <a:rPr lang="de-DE" b="1" dirty="0"/>
              <a:t>Nur fehlendes </a:t>
            </a:r>
            <a:r>
              <a:rPr lang="de-DE" b="1" dirty="0" err="1"/>
              <a:t>adminAuth</a:t>
            </a:r>
            <a:r>
              <a:rPr lang="de-DE" dirty="0"/>
              <a:t> bei korrektem 127.0.0.1-Präfix: Der Editor wäre ungeschützt, aber nur für Prozesse auf demselben Host erreichbar (z. B. Caddy) – ein Angreifer aus dem Internet käme gar nicht erst an den Editor heran.</a:t>
            </a:r>
          </a:p>
          <a:p>
            <a:pPr rtl="0">
              <a:buFont typeface="Arial" panose="020B0604020202020204" pitchFamily="34" charset="0"/>
              <a:buChar char="•"/>
            </a:pPr>
            <a:r>
              <a:rPr lang="de-DE" b="1" dirty="0"/>
              <a:t>Beide Fehler gleichzeitig</a:t>
            </a:r>
            <a:r>
              <a:rPr lang="de-DE" dirty="0"/>
              <a:t>: Der komplett ungeschützte Editor ist direkt aus dem Internet erreichbar. Da der Editor das Anlegen von </a:t>
            </a:r>
            <a:r>
              <a:rPr lang="de-DE" dirty="0" err="1"/>
              <a:t>exec</a:t>
            </a:r>
            <a:r>
              <a:rPr lang="de-DE" dirty="0"/>
              <a:t>-Nodes erlaubt, kann jeder, der die Oberfläche öffnet, beliebige Shell-Befehle im Container ausführen (Remote Code </a:t>
            </a:r>
            <a:r>
              <a:rPr lang="de-DE" dirty="0" err="1"/>
              <a:t>Execution</a:t>
            </a:r>
            <a:r>
              <a:rPr lang="de-DE" dirty="0"/>
              <a:t>) – etwa um aus dem Container auszubrechen, das Volume zu manipulieren, weitere Schadsoftware nachzuladen oder den Server als Ausgangspunkt für weitere Angriffe im Netzwerk zu nutzen. Genau dieses Muster – öffentlich erreichbare, </a:t>
            </a:r>
            <a:r>
              <a:rPr lang="de-DE" dirty="0" err="1"/>
              <a:t>unauthentifizierte</a:t>
            </a:r>
            <a:r>
              <a:rPr lang="de-DE" dirty="0"/>
              <a:t> </a:t>
            </a:r>
            <a:r>
              <a:rPr lang="de-DE" dirty="0" err="1"/>
              <a:t>Node</a:t>
            </a:r>
            <a:r>
              <a:rPr lang="de-DE" dirty="0"/>
              <a:t>-RED-Instanzen mit aktivierten </a:t>
            </a:r>
            <a:r>
              <a:rPr lang="de-DE" dirty="0" err="1"/>
              <a:t>exec</a:t>
            </a:r>
            <a:r>
              <a:rPr lang="de-DE" dirty="0"/>
              <a:t>-Nodes – zählt in der Praxis zu den bekannten, real ausgenutzten Angriffswegen gegen </a:t>
            </a:r>
            <a:r>
              <a:rPr lang="de-DE" dirty="0" err="1"/>
              <a:t>Node</a:t>
            </a:r>
            <a:r>
              <a:rPr lang="de-DE" dirty="0"/>
              <a:t>-RED-Installationen.</a:t>
            </a:r>
          </a:p>
          <a:p>
            <a:pPr rtl="0"/>
            <a:r>
              <a:rPr lang="de-DE" dirty="0"/>
              <a:t>Die beiden Absicherungen (Login-Pflicht und Portbindung) sind damit unabhängige, sich ergänzende Schutzebenen – der Ausfall einer einzelnen reduziert das Risiko, der Ausfall beider gleichzeitig macht den Server verwundbar.</a:t>
            </a:r>
          </a:p>
          <a:p>
            <a:endParaRPr lang="de-DE" dirty="0"/>
          </a:p>
        </p:txBody>
      </p:sp>
      <p:sp>
        <p:nvSpPr>
          <p:cNvPr id="4" name="Foliennummernplatzhalter 3"/>
          <p:cNvSpPr>
            <a:spLocks noGrp="1"/>
          </p:cNvSpPr>
          <p:nvPr>
            <p:ph type="sldNum" sz="quarter" idx="5"/>
          </p:nvPr>
        </p:nvSpPr>
        <p:spPr/>
        <p:txBody>
          <a:bodyPr/>
          <a:lstStyle/>
          <a:p>
            <a:fld id="{4BD5FE33-4217-42D2-A2B6-93ED6DCD092C}" type="slidenum">
              <a:rPr lang="de-DE" smtClean="0"/>
              <a:t>16</a:t>
            </a:fld>
            <a:endParaRPr lang="de-DE"/>
          </a:p>
        </p:txBody>
      </p:sp>
    </p:spTree>
    <p:extLst>
      <p:ext uri="{BB962C8B-B14F-4D97-AF65-F5344CB8AC3E}">
        <p14:creationId xmlns:p14="http://schemas.microsoft.com/office/powerpoint/2010/main" val="1450148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41BC23E3-4510-413A-9361-7EEE4D3F2E84}" type="datetime1">
              <a:rPr lang="de-DE" smtClean="0"/>
              <a:t>07.10.2026</a:t>
            </a:fld>
            <a:endParaRPr lang="de-DE"/>
          </a:p>
        </p:txBody>
      </p:sp>
      <p:sp>
        <p:nvSpPr>
          <p:cNvPr id="4" name="Foliennummernplatzhalter 3"/>
          <p:cNvSpPr>
            <a:spLocks noGrp="1"/>
          </p:cNvSpPr>
          <p:nvPr>
            <p:ph type="sldNum" sz="quarter" idx="12"/>
          </p:nvPr>
        </p:nvSpPr>
        <p:spPr/>
        <p:txBody>
          <a:bodyPr/>
          <a:lstStyle/>
          <a:p>
            <a:fld id="{341CD41A-C668-429A-AD07-4F84BBC3B3E7}" type="slidenum">
              <a:rPr lang="de-DE" smtClean="0"/>
              <a:t>‹Nr.›</a:t>
            </a:fld>
            <a:endParaRPr lang="de-DE"/>
          </a:p>
        </p:txBody>
      </p:sp>
      <p:sp>
        <p:nvSpPr>
          <p:cNvPr id="3" name="Fußzeilenplatzhalter 2">
            <a:extLst>
              <a:ext uri="{FF2B5EF4-FFF2-40B4-BE49-F238E27FC236}">
                <a16:creationId xmlns:a16="http://schemas.microsoft.com/office/drawing/2014/main" id="{7F76B9BF-0406-764A-A3AE-DEC5AD580CC8}"/>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2322597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07.10.2026</a:t>
            </a:fld>
            <a:endParaRPr lang="de-DE" dirty="0"/>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dirty="0"/>
          </a:p>
        </p:txBody>
      </p:sp>
      <p:sp>
        <p:nvSpPr>
          <p:cNvPr id="7" name="Untertitel 2"/>
          <p:cNvSpPr>
            <a:spLocks noGrp="1"/>
          </p:cNvSpPr>
          <p:nvPr>
            <p:ph type="subTitle" idx="1" hasCustomPrompt="1"/>
          </p:nvPr>
        </p:nvSpPr>
        <p:spPr>
          <a:xfrm>
            <a:off x="388003" y="3959588"/>
            <a:ext cx="11410123" cy="756000"/>
          </a:xfrm>
          <a:solidFill>
            <a:srgbClr val="FFCD00"/>
          </a:solidFill>
        </p:spPr>
        <p:txBody>
          <a:bodyPr anchor="ctr">
            <a:normAutofit/>
          </a:bodyPr>
          <a:lstStyle>
            <a:lvl1pPr algn="ctr">
              <a:defRPr sz="3200">
                <a:solidFill>
                  <a:schemeClr val="accent5">
                    <a:lumMod val="75000"/>
                  </a:schemeClr>
                </a:solidFill>
                <a:latin typeface="Roboto" panose="02000000000000000000" pitchFamily="2" charset="0"/>
                <a:ea typeface="Roboto" panose="02000000000000000000" pitchFamily="2" charset="0"/>
              </a:defRPr>
            </a:lvl1pPr>
          </a:lstStyle>
          <a:p>
            <a:r>
              <a:rPr lang="de-DE" sz="3200" spc="200" dirty="0" err="1">
                <a:solidFill>
                  <a:srgbClr val="2B418E"/>
                </a:solidFill>
                <a:latin typeface="Roboto" panose="02000000000000000000" pitchFamily="2" charset="0"/>
                <a:ea typeface="Roboto" panose="02000000000000000000" pitchFamily="2" charset="0"/>
              </a:rPr>
              <a:t>Subline</a:t>
            </a:r>
            <a:endParaRPr lang="de-DE" sz="3200" spc="200" dirty="0">
              <a:solidFill>
                <a:srgbClr val="2B418E"/>
              </a:solidFill>
              <a:latin typeface="Roboto" panose="02000000000000000000" pitchFamily="2" charset="0"/>
              <a:ea typeface="Roboto" panose="02000000000000000000" pitchFamily="2" charset="0"/>
            </a:endParaRPr>
          </a:p>
        </p:txBody>
      </p:sp>
      <p:sp>
        <p:nvSpPr>
          <p:cNvPr id="8" name="Titel 1"/>
          <p:cNvSpPr>
            <a:spLocks noGrp="1"/>
          </p:cNvSpPr>
          <p:nvPr>
            <p:ph type="ctrTitle" hasCustomPrompt="1"/>
          </p:nvPr>
        </p:nvSpPr>
        <p:spPr>
          <a:xfrm>
            <a:off x="388002" y="1439999"/>
            <a:ext cx="11410123" cy="2520000"/>
          </a:xfrm>
          <a:solidFill>
            <a:srgbClr val="2B418E"/>
          </a:solidFill>
        </p:spPr>
        <p:txBody>
          <a:bodyPr anchor="ctr">
            <a:normAutofit/>
          </a:bodyPr>
          <a:lstStyle>
            <a:lvl1pPr>
              <a:defRPr sz="4400">
                <a:solidFill>
                  <a:schemeClr val="bg1"/>
                </a:solidFill>
              </a:defRPr>
            </a:lvl1pPr>
          </a:lstStyle>
          <a:p>
            <a:r>
              <a:rPr lang="de-DE" altLang="de-DE" sz="4400" b="1" dirty="0">
                <a:solidFill>
                  <a:schemeClr val="bg1"/>
                </a:solidFill>
                <a:latin typeface="Roboto Slab" pitchFamily="2" charset="0"/>
                <a:ea typeface="Roboto Slab" pitchFamily="2" charset="0"/>
              </a:rPr>
              <a:t>Headline</a:t>
            </a:r>
            <a:endParaRPr lang="de-DE" sz="4400" b="1" dirty="0">
              <a:latin typeface="Roboto Slab" pitchFamily="2" charset="0"/>
              <a:ea typeface="Roboto Slab" pitchFamily="2" charset="0"/>
            </a:endParaRPr>
          </a:p>
        </p:txBody>
      </p:sp>
      <p:sp>
        <p:nvSpPr>
          <p:cNvPr id="2" name="Fußzeilenplatzhalter 1">
            <a:extLst>
              <a:ext uri="{FF2B5EF4-FFF2-40B4-BE49-F238E27FC236}">
                <a16:creationId xmlns:a16="http://schemas.microsoft.com/office/drawing/2014/main" id="{6323C46C-563A-C940-92F4-FEC0E92C53F7}"/>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3148218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ufzählung-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07.10.2026</a:t>
            </a:fld>
            <a:endParaRPr lang="de-DE" dirty="0"/>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dirty="0"/>
          </a:p>
        </p:txBody>
      </p:sp>
      <p:sp>
        <p:nvSpPr>
          <p:cNvPr id="6" name="Inhaltsplatzhalter 2"/>
          <p:cNvSpPr>
            <a:spLocks noGrp="1"/>
          </p:cNvSpPr>
          <p:nvPr>
            <p:ph idx="1" hasCustomPrompt="1"/>
          </p:nvPr>
        </p:nvSpPr>
        <p:spPr>
          <a:xfrm>
            <a:off x="351181" y="2304000"/>
            <a:ext cx="11410124" cy="4153080"/>
          </a:xfrm>
        </p:spPr>
        <p:txBody>
          <a:bodyPr>
            <a:noAutofit/>
          </a:bodyPr>
          <a:lstStyle>
            <a:lvl1pPr>
              <a:defRPr>
                <a:latin typeface="Roboto" panose="02000000000000000000" pitchFamily="2" charset="0"/>
                <a:ea typeface="Roboto" panose="02000000000000000000" pitchFamily="2" charset="0"/>
              </a:defRPr>
            </a:lvl1pPr>
          </a:lstStyle>
          <a:p>
            <a:pPr>
              <a:lnSpc>
                <a:spcPct val="120000"/>
              </a:lnSpc>
            </a:pPr>
            <a:r>
              <a:rPr lang="de-DE" sz="2000" b="1" dirty="0">
                <a:solidFill>
                  <a:schemeClr val="tx1">
                    <a:lumMod val="65000"/>
                    <a:lumOff val="35000"/>
                  </a:schemeClr>
                </a:solidFill>
                <a:latin typeface="Roboto" panose="02000000000000000000" pitchFamily="2" charset="0"/>
                <a:ea typeface="Roboto" panose="02000000000000000000" pitchFamily="2" charset="0"/>
              </a:rPr>
              <a:t>Aufzählung:</a:t>
            </a:r>
            <a:br>
              <a:rPr lang="de-DE" sz="2000" b="1" dirty="0">
                <a:solidFill>
                  <a:schemeClr val="tx1">
                    <a:lumMod val="65000"/>
                    <a:lumOff val="35000"/>
                  </a:schemeClr>
                </a:solidFill>
                <a:latin typeface="Roboto" panose="02000000000000000000" pitchFamily="2" charset="0"/>
                <a:ea typeface="Roboto" panose="02000000000000000000" pitchFamily="2" charset="0"/>
              </a:rPr>
            </a:br>
            <a:r>
              <a:rPr lang="de-DE" sz="2000" dirty="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dirty="0"/>
              <a:t>Dritte Ebene</a:t>
            </a:r>
          </a:p>
          <a:p>
            <a:pPr lvl="3"/>
            <a:r>
              <a:rPr lang="de-DE" dirty="0"/>
              <a:t>Vierte Ebene</a:t>
            </a:r>
          </a:p>
          <a:p>
            <a:pPr lvl="4"/>
            <a:r>
              <a:rPr lang="de-DE" dirty="0"/>
              <a:t>Fünfte Ebene</a:t>
            </a:r>
          </a:p>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p:txBody>
      </p:sp>
      <p:sp>
        <p:nvSpPr>
          <p:cNvPr id="8" name="Title 1"/>
          <p:cNvSpPr>
            <a:spLocks noGrp="1"/>
          </p:cNvSpPr>
          <p:nvPr>
            <p:ph type="title" hasCustomPrompt="1"/>
          </p:nvPr>
        </p:nvSpPr>
        <p:spPr>
          <a:xfrm>
            <a:off x="400277" y="1445754"/>
            <a:ext cx="11410124" cy="646331"/>
          </a:xfrm>
          <a:solidFill>
            <a:srgbClr val="2B418E"/>
          </a:solidFill>
        </p:spPr>
        <p:txBody>
          <a:bodyPr wrap="square">
            <a:spAutoFit/>
          </a:bodyPr>
          <a:lstStyle>
            <a:lvl1pPr algn="l">
              <a:defRPr sz="2000" b="1">
                <a:solidFill>
                  <a:schemeClr val="bg1"/>
                </a:solidFill>
              </a:defRPr>
            </a:lvl1pPr>
          </a:lstStyle>
          <a:p>
            <a:r>
              <a:rPr lang="de-DE" dirty="0"/>
              <a:t>Überschrift</a:t>
            </a:r>
            <a:br>
              <a:rPr lang="de-DE" dirty="0"/>
            </a:br>
            <a:r>
              <a:rPr lang="de-DE" dirty="0"/>
              <a:t>maximal 2 Zeilen</a:t>
            </a:r>
            <a:endParaRPr lang="en-US" dirty="0"/>
          </a:p>
        </p:txBody>
      </p:sp>
      <p:sp>
        <p:nvSpPr>
          <p:cNvPr id="2" name="Fußzeilenplatzhalter 1">
            <a:extLst>
              <a:ext uri="{FF2B5EF4-FFF2-40B4-BE49-F238E27FC236}">
                <a16:creationId xmlns:a16="http://schemas.microsoft.com/office/drawing/2014/main" id="{39ADA1F3-7414-E348-8F03-4F47E182C581}"/>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4116819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ufzählung-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07.10.2026</a:t>
            </a:fld>
            <a:endParaRPr lang="de-DE" dirty="0"/>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dirty="0"/>
          </a:p>
        </p:txBody>
      </p:sp>
      <p:sp>
        <p:nvSpPr>
          <p:cNvPr id="6" name="Inhaltsplatzhalter 2"/>
          <p:cNvSpPr>
            <a:spLocks noGrp="1"/>
          </p:cNvSpPr>
          <p:nvPr>
            <p:ph idx="1" hasCustomPrompt="1"/>
          </p:nvPr>
        </p:nvSpPr>
        <p:spPr>
          <a:xfrm>
            <a:off x="351181" y="1386038"/>
            <a:ext cx="11410124" cy="5071042"/>
          </a:xfrm>
        </p:spPr>
        <p:txBody>
          <a:bodyPr>
            <a:noAutofit/>
          </a:bodyPr>
          <a:lstStyle>
            <a:lvl1pPr>
              <a:defRPr>
                <a:latin typeface="Roboto" panose="02000000000000000000" pitchFamily="2" charset="0"/>
                <a:ea typeface="Roboto" panose="02000000000000000000" pitchFamily="2" charset="0"/>
              </a:defRPr>
            </a:lvl1pPr>
          </a:lstStyle>
          <a:p>
            <a:pPr>
              <a:lnSpc>
                <a:spcPct val="120000"/>
              </a:lnSpc>
            </a:pPr>
            <a:r>
              <a:rPr lang="de-DE" sz="2000" b="1" dirty="0">
                <a:solidFill>
                  <a:schemeClr val="tx1">
                    <a:lumMod val="65000"/>
                    <a:lumOff val="35000"/>
                  </a:schemeClr>
                </a:solidFill>
                <a:latin typeface="Roboto" panose="02000000000000000000" pitchFamily="2" charset="0"/>
                <a:ea typeface="Roboto" panose="02000000000000000000" pitchFamily="2" charset="0"/>
              </a:rPr>
              <a:t>Aufzählung:</a:t>
            </a:r>
            <a:br>
              <a:rPr lang="de-DE" sz="2000" b="1" dirty="0">
                <a:solidFill>
                  <a:schemeClr val="tx1">
                    <a:lumMod val="65000"/>
                    <a:lumOff val="35000"/>
                  </a:schemeClr>
                </a:solidFill>
                <a:latin typeface="Roboto" panose="02000000000000000000" pitchFamily="2" charset="0"/>
                <a:ea typeface="Roboto" panose="02000000000000000000" pitchFamily="2" charset="0"/>
              </a:rPr>
            </a:br>
            <a:r>
              <a:rPr lang="de-DE" sz="2000" dirty="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dirty="0"/>
              <a:t>Dritte Ebene</a:t>
            </a:r>
          </a:p>
          <a:p>
            <a:pPr lvl="3"/>
            <a:r>
              <a:rPr lang="de-DE" dirty="0"/>
              <a:t>Vierte Ebene</a:t>
            </a:r>
          </a:p>
          <a:p>
            <a:pPr lvl="4"/>
            <a:r>
              <a:rPr lang="de-DE" dirty="0"/>
              <a:t>Fünfte Ebene</a:t>
            </a:r>
          </a:p>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p:txBody>
      </p:sp>
      <p:sp>
        <p:nvSpPr>
          <p:cNvPr id="2" name="Fußzeilenplatzhalter 1">
            <a:extLst>
              <a:ext uri="{FF2B5EF4-FFF2-40B4-BE49-F238E27FC236}">
                <a16:creationId xmlns:a16="http://schemas.microsoft.com/office/drawing/2014/main" id="{D295CA11-9812-1547-A9A0-1EEEC47FC478}"/>
              </a:ext>
            </a:extLst>
          </p:cNvPr>
          <p:cNvSpPr>
            <a:spLocks noGrp="1"/>
          </p:cNvSpPr>
          <p:nvPr>
            <p:ph type="ftr" sz="quarter" idx="13"/>
          </p:nvPr>
        </p:nvSpPr>
        <p:spPr/>
        <p:txBody>
          <a:bodyPr/>
          <a:lstStyle/>
          <a:p>
            <a:endParaRPr lang="de-DE"/>
          </a:p>
        </p:txBody>
      </p:sp>
    </p:spTree>
    <p:extLst>
      <p:ext uri="{BB962C8B-B14F-4D97-AF65-F5344CB8AC3E}">
        <p14:creationId xmlns:p14="http://schemas.microsoft.com/office/powerpoint/2010/main" val="3167284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Spalten-Folie">
    <p:spTree>
      <p:nvGrpSpPr>
        <p:cNvPr id="1" name=""/>
        <p:cNvGrpSpPr/>
        <p:nvPr/>
      </p:nvGrpSpPr>
      <p:grpSpPr>
        <a:xfrm>
          <a:off x="0" y="0"/>
          <a:ext cx="0" cy="0"/>
          <a:chOff x="0" y="0"/>
          <a:chExt cx="0" cy="0"/>
        </a:xfrm>
      </p:grpSpPr>
      <p:sp>
        <p:nvSpPr>
          <p:cNvPr id="3" name="Datumsplatzhalter 2"/>
          <p:cNvSpPr>
            <a:spLocks noGrp="1"/>
          </p:cNvSpPr>
          <p:nvPr>
            <p:ph type="dt" sz="half" idx="10"/>
          </p:nvPr>
        </p:nvSpPr>
        <p:spPr/>
        <p:txBody>
          <a:bodyPr/>
          <a:lstStyle/>
          <a:p>
            <a:fld id="{DFF21B63-CC14-4CF7-B236-95F232F15D6B}" type="datetime1">
              <a:rPr lang="de-DE" smtClean="0"/>
              <a:t>07.10.2026</a:t>
            </a:fld>
            <a:endParaRPr lang="de-DE" dirty="0"/>
          </a:p>
        </p:txBody>
      </p:sp>
      <p:sp>
        <p:nvSpPr>
          <p:cNvPr id="5" name="Foliennummernplatzhalter 4"/>
          <p:cNvSpPr>
            <a:spLocks noGrp="1"/>
          </p:cNvSpPr>
          <p:nvPr>
            <p:ph type="sldNum" sz="quarter" idx="12"/>
          </p:nvPr>
        </p:nvSpPr>
        <p:spPr/>
        <p:txBody>
          <a:bodyPr/>
          <a:lstStyle/>
          <a:p>
            <a:fld id="{341CD41A-C668-429A-AD07-4F84BBC3B3E7}" type="slidenum">
              <a:rPr lang="de-DE" smtClean="0"/>
              <a:pPr/>
              <a:t>‹Nr.›</a:t>
            </a:fld>
            <a:endParaRPr lang="de-DE" dirty="0"/>
          </a:p>
        </p:txBody>
      </p:sp>
      <p:sp>
        <p:nvSpPr>
          <p:cNvPr id="6" name="Inhaltsplatzhalter 2"/>
          <p:cNvSpPr>
            <a:spLocks noGrp="1"/>
          </p:cNvSpPr>
          <p:nvPr>
            <p:ph idx="1" hasCustomPrompt="1"/>
          </p:nvPr>
        </p:nvSpPr>
        <p:spPr>
          <a:xfrm>
            <a:off x="351181" y="2304000"/>
            <a:ext cx="5626107" cy="4153080"/>
          </a:xfrm>
        </p:spPr>
        <p:txBody>
          <a:bodyPr>
            <a:noAutofit/>
          </a:bodyPr>
          <a:lstStyle>
            <a:lvl1pPr marL="0" indent="0">
              <a:buNone/>
              <a:defRPr/>
            </a:lvl1pPr>
          </a:lstStyle>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dirty="0"/>
              <a:t>Dritte Ebene</a:t>
            </a:r>
          </a:p>
          <a:p>
            <a:pPr lvl="3"/>
            <a:r>
              <a:rPr lang="de-DE" dirty="0"/>
              <a:t>Vierte Ebene</a:t>
            </a:r>
          </a:p>
          <a:p>
            <a:pPr lvl="4"/>
            <a:r>
              <a:rPr lang="de-DE" dirty="0"/>
              <a:t>Fünfte Ebene</a:t>
            </a:r>
          </a:p>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p:txBody>
      </p:sp>
      <p:sp>
        <p:nvSpPr>
          <p:cNvPr id="8" name="Inhaltsplatzhalter 2"/>
          <p:cNvSpPr>
            <a:spLocks noGrp="1"/>
          </p:cNvSpPr>
          <p:nvPr>
            <p:ph idx="13" hasCustomPrompt="1"/>
          </p:nvPr>
        </p:nvSpPr>
        <p:spPr>
          <a:xfrm>
            <a:off x="6135198" y="2295485"/>
            <a:ext cx="5626107" cy="4153080"/>
          </a:xfrm>
        </p:spPr>
        <p:txBody>
          <a:bodyPr>
            <a:noAutofit/>
          </a:bodyPr>
          <a:lstStyle>
            <a:lvl1pPr marL="0" indent="0">
              <a:buNone/>
              <a:defRPr/>
            </a:lvl1pPr>
          </a:lstStyle>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Text hier einfügen</a:t>
            </a:r>
          </a:p>
          <a:p>
            <a:pPr lvl="2"/>
            <a:r>
              <a:rPr lang="de-DE" dirty="0"/>
              <a:t>Dritte Ebene</a:t>
            </a:r>
          </a:p>
          <a:p>
            <a:pPr lvl="3"/>
            <a:r>
              <a:rPr lang="de-DE" dirty="0"/>
              <a:t>Vierte Ebene</a:t>
            </a:r>
          </a:p>
          <a:p>
            <a:pPr lvl="4"/>
            <a:r>
              <a:rPr lang="de-DE" dirty="0"/>
              <a:t>Fünfte Ebene</a:t>
            </a:r>
          </a:p>
          <a:p>
            <a:pPr>
              <a:lnSpc>
                <a:spcPct val="120000"/>
              </a:lnSpc>
            </a:pPr>
            <a:r>
              <a:rPr lang="de-DE" sz="2000" dirty="0">
                <a:solidFill>
                  <a:schemeClr val="tx1">
                    <a:lumMod val="65000"/>
                    <a:lumOff val="35000"/>
                  </a:schemeClr>
                </a:solidFill>
                <a:latin typeface="Roboto" panose="02000000000000000000" pitchFamily="2" charset="0"/>
                <a:ea typeface="Roboto" panose="02000000000000000000" pitchFamily="2" charset="0"/>
              </a:rPr>
              <a:t> </a:t>
            </a: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a:p>
            <a:pPr>
              <a:lnSpc>
                <a:spcPct val="120000"/>
              </a:lnSpc>
            </a:pPr>
            <a:endParaRPr lang="de-DE" sz="2000" dirty="0">
              <a:solidFill>
                <a:schemeClr val="tx1">
                  <a:lumMod val="65000"/>
                  <a:lumOff val="35000"/>
                </a:schemeClr>
              </a:solidFill>
              <a:latin typeface="Roboto" panose="02000000000000000000" pitchFamily="2" charset="0"/>
              <a:ea typeface="Roboto" panose="02000000000000000000" pitchFamily="2" charset="0"/>
            </a:endParaRPr>
          </a:p>
        </p:txBody>
      </p:sp>
      <p:sp>
        <p:nvSpPr>
          <p:cNvPr id="9" name="Title 1"/>
          <p:cNvSpPr>
            <a:spLocks noGrp="1"/>
          </p:cNvSpPr>
          <p:nvPr>
            <p:ph type="title" hasCustomPrompt="1"/>
          </p:nvPr>
        </p:nvSpPr>
        <p:spPr>
          <a:xfrm>
            <a:off x="388003" y="1451891"/>
            <a:ext cx="11410124" cy="646331"/>
          </a:xfrm>
          <a:solidFill>
            <a:srgbClr val="2B418E"/>
          </a:solidFill>
        </p:spPr>
        <p:txBody>
          <a:bodyPr wrap="square">
            <a:spAutoFit/>
          </a:bodyPr>
          <a:lstStyle>
            <a:lvl1pPr algn="l">
              <a:defRPr sz="2000" b="1">
                <a:solidFill>
                  <a:schemeClr val="bg1"/>
                </a:solidFill>
              </a:defRPr>
            </a:lvl1pPr>
          </a:lstStyle>
          <a:p>
            <a:r>
              <a:rPr lang="de-DE" dirty="0"/>
              <a:t>Überschrift</a:t>
            </a:r>
            <a:br>
              <a:rPr lang="de-DE" dirty="0"/>
            </a:br>
            <a:r>
              <a:rPr lang="de-DE" dirty="0"/>
              <a:t>maximal 2 Zeilen</a:t>
            </a:r>
            <a:endParaRPr lang="en-US" dirty="0"/>
          </a:p>
        </p:txBody>
      </p:sp>
      <p:sp>
        <p:nvSpPr>
          <p:cNvPr id="2" name="Fußzeilenplatzhalter 1">
            <a:extLst>
              <a:ext uri="{FF2B5EF4-FFF2-40B4-BE49-F238E27FC236}">
                <a16:creationId xmlns:a16="http://schemas.microsoft.com/office/drawing/2014/main" id="{929FB456-7ECE-6841-8927-D979B8552058}"/>
              </a:ext>
            </a:extLst>
          </p:cNvPr>
          <p:cNvSpPr>
            <a:spLocks noGrp="1"/>
          </p:cNvSpPr>
          <p:nvPr>
            <p:ph type="ftr" sz="quarter" idx="14"/>
          </p:nvPr>
        </p:nvSpPr>
        <p:spPr/>
        <p:txBody>
          <a:bodyPr/>
          <a:lstStyle/>
          <a:p>
            <a:endParaRPr lang="de-DE"/>
          </a:p>
        </p:txBody>
      </p:sp>
    </p:spTree>
    <p:extLst>
      <p:ext uri="{BB962C8B-B14F-4D97-AF65-F5344CB8AC3E}">
        <p14:creationId xmlns:p14="http://schemas.microsoft.com/office/powerpoint/2010/main" val="33502736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Zwei Inhalte">
    <p:spTree>
      <p:nvGrpSpPr>
        <p:cNvPr id="1" name=""/>
        <p:cNvGrpSpPr/>
        <p:nvPr/>
      </p:nvGrpSpPr>
      <p:grpSpPr>
        <a:xfrm>
          <a:off x="0" y="0"/>
          <a:ext cx="0" cy="0"/>
          <a:chOff x="0" y="0"/>
          <a:chExt cx="0" cy="0"/>
        </a:xfrm>
      </p:grpSpPr>
      <p:sp>
        <p:nvSpPr>
          <p:cNvPr id="9" name="Abgerundetes Rechteck 8"/>
          <p:cNvSpPr/>
          <p:nvPr userDrawn="1"/>
        </p:nvSpPr>
        <p:spPr>
          <a:xfrm>
            <a:off x="341354" y="276550"/>
            <a:ext cx="12084756" cy="1144800"/>
          </a:xfrm>
          <a:prstGeom prst="roundRect">
            <a:avLst/>
          </a:pr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798"/>
          </a:p>
        </p:txBody>
      </p:sp>
      <p:sp>
        <p:nvSpPr>
          <p:cNvPr id="3" name="Inhaltsplatzhalter 2"/>
          <p:cNvSpPr>
            <a:spLocks noGrp="1"/>
          </p:cNvSpPr>
          <p:nvPr>
            <p:ph sz="half" idx="1"/>
          </p:nvPr>
        </p:nvSpPr>
        <p:spPr>
          <a:xfrm>
            <a:off x="629087" y="1628799"/>
            <a:ext cx="5394381" cy="4536000"/>
          </a:xfrm>
        </p:spPr>
        <p:txBody>
          <a:bodyPr/>
          <a:lstStyle>
            <a:lvl1pPr>
              <a:defRPr sz="2797">
                <a:solidFill>
                  <a:schemeClr val="tx2"/>
                </a:solidFill>
              </a:defRPr>
            </a:lvl1pPr>
            <a:lvl2pPr>
              <a:defRPr sz="2398">
                <a:solidFill>
                  <a:schemeClr val="tx2"/>
                </a:solidFill>
              </a:defRPr>
            </a:lvl2pPr>
            <a:lvl3pPr>
              <a:defRPr sz="1998">
                <a:solidFill>
                  <a:schemeClr val="tx2"/>
                </a:solidFill>
              </a:defRPr>
            </a:lvl3pPr>
            <a:lvl4pPr>
              <a:defRPr sz="1798">
                <a:solidFill>
                  <a:schemeClr val="tx2"/>
                </a:solidFill>
              </a:defRPr>
            </a:lvl4pPr>
            <a:lvl5pPr>
              <a:defRPr sz="1798">
                <a:solidFill>
                  <a:schemeClr val="tx2"/>
                </a:solidFill>
              </a:defRPr>
            </a:lvl5pPr>
            <a:lvl6pPr>
              <a:defRPr sz="1798"/>
            </a:lvl6pPr>
            <a:lvl7pPr>
              <a:defRPr sz="1798"/>
            </a:lvl7pPr>
            <a:lvl8pPr>
              <a:defRPr sz="1798"/>
            </a:lvl8pPr>
            <a:lvl9pPr>
              <a:defRPr sz="1798"/>
            </a:lvl9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p:cNvSpPr>
            <a:spLocks noGrp="1"/>
          </p:cNvSpPr>
          <p:nvPr>
            <p:ph sz="half" idx="2"/>
          </p:nvPr>
        </p:nvSpPr>
        <p:spPr>
          <a:xfrm>
            <a:off x="6168532" y="1628799"/>
            <a:ext cx="5394381" cy="4536000"/>
          </a:xfrm>
        </p:spPr>
        <p:txBody>
          <a:bodyPr/>
          <a:lstStyle>
            <a:lvl1pPr>
              <a:defRPr sz="2797">
                <a:solidFill>
                  <a:schemeClr val="tx2"/>
                </a:solidFill>
              </a:defRPr>
            </a:lvl1pPr>
            <a:lvl2pPr>
              <a:defRPr sz="2398">
                <a:solidFill>
                  <a:schemeClr val="tx2"/>
                </a:solidFill>
              </a:defRPr>
            </a:lvl2pPr>
            <a:lvl3pPr>
              <a:defRPr sz="1998">
                <a:solidFill>
                  <a:schemeClr val="tx2"/>
                </a:solidFill>
              </a:defRPr>
            </a:lvl3pPr>
            <a:lvl4pPr>
              <a:defRPr sz="1798">
                <a:solidFill>
                  <a:schemeClr val="tx2"/>
                </a:solidFill>
              </a:defRPr>
            </a:lvl4pPr>
            <a:lvl5pPr>
              <a:defRPr sz="1798">
                <a:solidFill>
                  <a:schemeClr val="tx2"/>
                </a:solidFill>
              </a:defRPr>
            </a:lvl5pPr>
            <a:lvl6pPr>
              <a:defRPr sz="1798"/>
            </a:lvl6pPr>
            <a:lvl7pPr>
              <a:defRPr sz="1798"/>
            </a:lvl7pPr>
            <a:lvl8pPr>
              <a:defRPr sz="1798"/>
            </a:lvl8pPr>
            <a:lvl9pPr>
              <a:defRPr sz="1798"/>
            </a:lvl9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itel 1"/>
          <p:cNvSpPr>
            <a:spLocks noGrp="1"/>
          </p:cNvSpPr>
          <p:nvPr>
            <p:ph type="title"/>
          </p:nvPr>
        </p:nvSpPr>
        <p:spPr>
          <a:xfrm>
            <a:off x="609601" y="274638"/>
            <a:ext cx="10953313" cy="1143000"/>
          </a:xfrm>
        </p:spPr>
        <p:txBody>
          <a:bodyPr>
            <a:normAutofit/>
          </a:bodyPr>
          <a:lstStyle>
            <a:lvl1pPr>
              <a:defRPr sz="2398" b="1">
                <a:solidFill>
                  <a:schemeClr val="tx2"/>
                </a:solidFill>
              </a:defRPr>
            </a:lvl1pPr>
          </a:lstStyle>
          <a:p>
            <a:r>
              <a:rPr lang="de-DE" dirty="0"/>
              <a:t>Titelmasterformat durch Klicken bearbeiten</a:t>
            </a:r>
          </a:p>
        </p:txBody>
      </p:sp>
      <p:sp>
        <p:nvSpPr>
          <p:cNvPr id="18" name="Datumsplatzhalter 6"/>
          <p:cNvSpPr>
            <a:spLocks noGrp="1"/>
          </p:cNvSpPr>
          <p:nvPr>
            <p:ph type="dt" sz="half" idx="10"/>
          </p:nvPr>
        </p:nvSpPr>
        <p:spPr>
          <a:xfrm>
            <a:off x="609600" y="6356352"/>
            <a:ext cx="2844800" cy="365125"/>
          </a:xfrm>
          <a:prstGeom prst="rect">
            <a:avLst/>
          </a:prstGeom>
        </p:spPr>
        <p:txBody>
          <a:bodyPr/>
          <a:lstStyle>
            <a:lvl1pPr marL="0" algn="l" defTabSz="913486" rtl="0" eaLnBrk="1" latinLnBrk="0" hangingPunct="1">
              <a:defRPr lang="de-DE" sz="1049" kern="1200" dirty="0">
                <a:solidFill>
                  <a:schemeClr val="bg1"/>
                </a:solidFill>
                <a:latin typeface="Arial" panose="020B0604020202020204" pitchFamily="34" charset="0"/>
                <a:ea typeface="+mn-ea"/>
                <a:cs typeface="Arial" panose="020B0604020202020204" pitchFamily="34" charset="0"/>
              </a:defRPr>
            </a:lvl1pPr>
          </a:lstStyle>
          <a:p>
            <a:fld id="{757CD2D1-8C96-4412-8C0C-09C7E956F080}" type="datetime1">
              <a:rPr lang="de-DE" smtClean="0"/>
              <a:t>07.10.2026</a:t>
            </a:fld>
            <a:endParaRPr lang="de-DE" dirty="0"/>
          </a:p>
        </p:txBody>
      </p:sp>
      <p:sp>
        <p:nvSpPr>
          <p:cNvPr id="20" name="Foliennummernplatzhalter 8"/>
          <p:cNvSpPr>
            <a:spLocks noGrp="1"/>
          </p:cNvSpPr>
          <p:nvPr>
            <p:ph type="sldNum" sz="quarter" idx="4"/>
          </p:nvPr>
        </p:nvSpPr>
        <p:spPr>
          <a:xfrm>
            <a:off x="8737601" y="6356352"/>
            <a:ext cx="2844800" cy="365125"/>
          </a:xfrm>
          <a:prstGeom prst="rect">
            <a:avLst/>
          </a:prstGeom>
        </p:spPr>
        <p:txBody>
          <a:bodyPr/>
          <a:lstStyle>
            <a:lvl1pPr algn="r">
              <a:defRPr lang="de-DE" sz="1049" kern="1200" smtClean="0">
                <a:solidFill>
                  <a:schemeClr val="bg1"/>
                </a:solidFill>
                <a:latin typeface="Arial" panose="020B0604020202020204" pitchFamily="34" charset="0"/>
                <a:ea typeface="+mn-ea"/>
                <a:cs typeface="Arial" panose="020B0604020202020204" pitchFamily="34" charset="0"/>
              </a:defRPr>
            </a:lvl1pPr>
          </a:lstStyle>
          <a:p>
            <a:fld id="{43A6DCFB-163F-4561-BF28-3CD1FE47EE20}" type="slidenum">
              <a:rPr lang="de-DE" smtClean="0"/>
              <a:pPr/>
              <a:t>‹Nr.›</a:t>
            </a:fld>
            <a:endParaRPr lang="de-DE" dirty="0"/>
          </a:p>
        </p:txBody>
      </p:sp>
    </p:spTree>
    <p:extLst>
      <p:ext uri="{BB962C8B-B14F-4D97-AF65-F5344CB8AC3E}">
        <p14:creationId xmlns:p14="http://schemas.microsoft.com/office/powerpoint/2010/main" val="3564731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
            <a:lum/>
          </a:blip>
          <a:srcRect/>
          <a:stretch>
            <a:fillRect/>
          </a:stretch>
        </a:blipFill>
        <a:effectLst/>
      </p:bgPr>
    </p:bg>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202F9D49-4CB7-4444-915C-FDDFCF5AC699}"/>
              </a:ext>
            </a:extLst>
          </p:cNvPr>
          <p:cNvSpPr/>
          <p:nvPr userDrawn="1"/>
        </p:nvSpPr>
        <p:spPr>
          <a:xfrm>
            <a:off x="0" y="6629400"/>
            <a:ext cx="12192000" cy="228600"/>
          </a:xfrm>
          <a:prstGeom prst="rect">
            <a:avLst/>
          </a:prstGeom>
          <a:solidFill>
            <a:srgbClr val="274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platzhalter 1"/>
          <p:cNvSpPr>
            <a:spLocks noGrp="1"/>
          </p:cNvSpPr>
          <p:nvPr>
            <p:ph type="title"/>
          </p:nvPr>
        </p:nvSpPr>
        <p:spPr>
          <a:xfrm>
            <a:off x="838200" y="1123121"/>
            <a:ext cx="10515600" cy="1719469"/>
          </a:xfrm>
          <a:prstGeom prst="rect">
            <a:avLst/>
          </a:prstGeom>
        </p:spPr>
        <p:txBody>
          <a:bodyPr vert="horz" lIns="91440" tIns="45720" rIns="91440" bIns="45720" rtlCol="0" anchor="ctr">
            <a:normAutofit/>
          </a:bodyPr>
          <a:lstStyle/>
          <a:p>
            <a:r>
              <a:rPr lang="de-DE" dirty="0"/>
              <a:t>Titelmasterformat durch Klicken bearbeiten</a:t>
            </a:r>
          </a:p>
        </p:txBody>
      </p:sp>
      <p:sp>
        <p:nvSpPr>
          <p:cNvPr id="3" name="Textplatzhalter 2"/>
          <p:cNvSpPr>
            <a:spLocks noGrp="1"/>
          </p:cNvSpPr>
          <p:nvPr>
            <p:ph type="body" idx="1"/>
          </p:nvPr>
        </p:nvSpPr>
        <p:spPr>
          <a:xfrm>
            <a:off x="841513" y="2842591"/>
            <a:ext cx="10515600" cy="3786809"/>
          </a:xfrm>
          <a:prstGeom prst="rect">
            <a:avLst/>
          </a:prstGeom>
        </p:spPr>
        <p:txBody>
          <a:bodyPr vert="horz" lIns="91440" tIns="45720" rIns="91440" bIns="45720" rtlCol="0">
            <a:normAutofit/>
          </a:bodyPr>
          <a:lstStyle/>
          <a:p>
            <a:pPr lvl="0"/>
            <a:r>
              <a:rPr lang="de-DE" dirty="0"/>
              <a:t>Formatvorlagen des Textmasters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Datumsplatzhalter 3"/>
          <p:cNvSpPr>
            <a:spLocks noGrp="1"/>
          </p:cNvSpPr>
          <p:nvPr>
            <p:ph type="dt" sz="half" idx="2"/>
          </p:nvPr>
        </p:nvSpPr>
        <p:spPr>
          <a:xfrm>
            <a:off x="351181" y="6629400"/>
            <a:ext cx="2743200" cy="228600"/>
          </a:xfrm>
          <a:prstGeom prst="rect">
            <a:avLst/>
          </a:prstGeom>
        </p:spPr>
        <p:txBody>
          <a:bodyPr vert="horz" lIns="91440" tIns="45720" rIns="91440" bIns="45720" rtlCol="0" anchor="ctr"/>
          <a:lstStyle>
            <a:lvl1pPr algn="l">
              <a:defRPr sz="1200">
                <a:solidFill>
                  <a:schemeClr val="bg1">
                    <a:lumMod val="95000"/>
                  </a:schemeClr>
                </a:solidFill>
              </a:defRPr>
            </a:lvl1pPr>
          </a:lstStyle>
          <a:p>
            <a:fld id="{DFF21B63-CC14-4CF7-B236-95F232F15D6B}" type="datetime1">
              <a:rPr lang="de-DE" smtClean="0"/>
              <a:t>07.10.2026</a:t>
            </a:fld>
            <a:endParaRPr lang="de-DE" dirty="0"/>
          </a:p>
        </p:txBody>
      </p:sp>
      <p:sp>
        <p:nvSpPr>
          <p:cNvPr id="6" name="Foliennummernplatzhalter 5"/>
          <p:cNvSpPr>
            <a:spLocks noGrp="1"/>
          </p:cNvSpPr>
          <p:nvPr>
            <p:ph type="sldNum" sz="quarter" idx="4"/>
          </p:nvPr>
        </p:nvSpPr>
        <p:spPr>
          <a:xfrm>
            <a:off x="9018105" y="6629400"/>
            <a:ext cx="2743200" cy="228599"/>
          </a:xfrm>
          <a:prstGeom prst="rect">
            <a:avLst/>
          </a:prstGeom>
        </p:spPr>
        <p:txBody>
          <a:bodyPr vert="horz" lIns="91440" tIns="45720" rIns="91440" bIns="45720" rtlCol="0" anchor="ctr"/>
          <a:lstStyle>
            <a:lvl1pPr algn="r">
              <a:defRPr sz="1200">
                <a:solidFill>
                  <a:schemeClr val="bg1">
                    <a:lumMod val="95000"/>
                  </a:schemeClr>
                </a:solidFill>
              </a:defRPr>
            </a:lvl1pPr>
          </a:lstStyle>
          <a:p>
            <a:fld id="{341CD41A-C668-429A-AD07-4F84BBC3B3E7}" type="slidenum">
              <a:rPr lang="de-DE" smtClean="0"/>
              <a:pPr/>
              <a:t>‹Nr.›</a:t>
            </a:fld>
            <a:endParaRPr lang="de-DE" dirty="0"/>
          </a:p>
        </p:txBody>
      </p:sp>
      <p:sp>
        <p:nvSpPr>
          <p:cNvPr id="5" name="Fußzeilenplatzhalter 4">
            <a:extLst>
              <a:ext uri="{FF2B5EF4-FFF2-40B4-BE49-F238E27FC236}">
                <a16:creationId xmlns:a16="http://schemas.microsoft.com/office/drawing/2014/main" id="{3EE2BAE6-A273-B346-9C40-F0E5E4CBC3CE}"/>
              </a:ext>
            </a:extLst>
          </p:cNvPr>
          <p:cNvSpPr>
            <a:spLocks noGrp="1"/>
          </p:cNvSpPr>
          <p:nvPr>
            <p:ph type="ftr" sz="quarter" idx="3"/>
          </p:nvPr>
        </p:nvSpPr>
        <p:spPr>
          <a:xfrm>
            <a:off x="4038600" y="6558483"/>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de-DE" dirty="0"/>
          </a:p>
        </p:txBody>
      </p:sp>
    </p:spTree>
    <p:extLst>
      <p:ext uri="{BB962C8B-B14F-4D97-AF65-F5344CB8AC3E}">
        <p14:creationId xmlns:p14="http://schemas.microsoft.com/office/powerpoint/2010/main" val="3746501783"/>
      </p:ext>
    </p:extLst>
  </p:cSld>
  <p:clrMap bg1="lt1" tx1="dk1" bg2="lt2" tx2="dk2" accent1="accent1" accent2="accent2" accent3="accent3" accent4="accent4" accent5="accent5" accent6="accent6" hlink="hlink" folHlink="folHlink"/>
  <p:sldLayoutIdLst>
    <p:sldLayoutId id="2147483655" r:id="rId1"/>
    <p:sldLayoutId id="2147483661" r:id="rId2"/>
    <p:sldLayoutId id="2147483662" r:id="rId3"/>
    <p:sldLayoutId id="2147483667" r:id="rId4"/>
    <p:sldLayoutId id="2147483663" r:id="rId5"/>
    <p:sldLayoutId id="2147483672" r:id="rId6"/>
  </p:sldLayoutIdLst>
  <p:hf hdr="0"/>
  <p:txStyles>
    <p:titleStyle>
      <a:lvl1pPr algn="ctr" defTabSz="914400" rtl="0" eaLnBrk="1" latinLnBrk="0" hangingPunct="1">
        <a:lnSpc>
          <a:spcPct val="90000"/>
        </a:lnSpc>
        <a:spcBef>
          <a:spcPct val="0"/>
        </a:spcBef>
        <a:buNone/>
        <a:defRPr sz="4400" b="1" kern="1200">
          <a:solidFill>
            <a:schemeClr val="accent5">
              <a:lumMod val="75000"/>
            </a:schemeClr>
          </a:solidFill>
          <a:latin typeface="Roboto Slab" pitchFamily="2" charset="0"/>
          <a:ea typeface="Roboto Slab"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lumMod val="65000"/>
              <a:lumOff val="35000"/>
            </a:schemeClr>
          </a:solidFill>
          <a:latin typeface="Roboto Slab" pitchFamily="2" charset="0"/>
          <a:ea typeface="Roboto Slab"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65000"/>
              <a:lumOff val="35000"/>
            </a:schemeClr>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65000"/>
              <a:lumOff val="35000"/>
            </a:schemeClr>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48FF65-5AE9-45FB-8D3A-73F6AFF4A470}"/>
              </a:ext>
            </a:extLst>
          </p:cNvPr>
          <p:cNvSpPr>
            <a:spLocks noGrp="1"/>
          </p:cNvSpPr>
          <p:nvPr>
            <p:ph type="ctrTitle"/>
          </p:nvPr>
        </p:nvSpPr>
        <p:spPr/>
        <p:txBody>
          <a:bodyPr/>
          <a:lstStyle/>
          <a:p>
            <a:r>
              <a:rPr lang="de-DE" dirty="0"/>
              <a:t>IT-Infrastruktur mit freier Software </a:t>
            </a:r>
            <a:br>
              <a:rPr lang="de-DE" dirty="0"/>
            </a:br>
            <a:r>
              <a:rPr lang="de-DE" dirty="0"/>
              <a:t>(z. B. Linux) bereitstellen </a:t>
            </a:r>
          </a:p>
        </p:txBody>
      </p:sp>
      <p:sp>
        <p:nvSpPr>
          <p:cNvPr id="3" name="Untertitel 2">
            <a:extLst>
              <a:ext uri="{FF2B5EF4-FFF2-40B4-BE49-F238E27FC236}">
                <a16:creationId xmlns:a16="http://schemas.microsoft.com/office/drawing/2014/main" id="{AA6E370A-3F9D-4972-8257-4338E8BC435E}"/>
              </a:ext>
            </a:extLst>
          </p:cNvPr>
          <p:cNvSpPr>
            <a:spLocks noGrp="1"/>
          </p:cNvSpPr>
          <p:nvPr>
            <p:ph type="subTitle" idx="1"/>
          </p:nvPr>
        </p:nvSpPr>
        <p:spPr>
          <a:xfrm>
            <a:off x="388003" y="3959587"/>
            <a:ext cx="11410123" cy="1116909"/>
          </a:xfrm>
        </p:spPr>
        <p:txBody>
          <a:bodyPr>
            <a:normAutofit/>
          </a:bodyPr>
          <a:lstStyle/>
          <a:p>
            <a:pPr marL="0" indent="0">
              <a:buNone/>
            </a:pPr>
            <a:r>
              <a:rPr lang="de-DE" dirty="0"/>
              <a:t>Lab 05 -   </a:t>
            </a:r>
          </a:p>
          <a:p>
            <a:pPr marL="0" indent="0">
              <a:buNone/>
            </a:pPr>
            <a:r>
              <a:rPr lang="de-DE" dirty="0"/>
              <a:t>Webdienste als Docker-Container bereitstellen</a:t>
            </a:r>
          </a:p>
        </p:txBody>
      </p:sp>
    </p:spTree>
    <p:extLst>
      <p:ext uri="{BB962C8B-B14F-4D97-AF65-F5344CB8AC3E}">
        <p14:creationId xmlns:p14="http://schemas.microsoft.com/office/powerpoint/2010/main" val="4110770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t>Bereitstellungsmodelle: Bare Metal, VM und Container</a:t>
            </a:r>
          </a:p>
        </p:txBody>
      </p:sp>
      <p:sp>
        <p:nvSpPr>
          <p:cNvPr id="5" name="TextBox 4"/>
          <p:cNvSpPr txBox="1"/>
          <p:nvPr/>
        </p:nvSpPr>
        <p:spPr>
          <a:xfrm>
            <a:off x="457200" y="1463040"/>
            <a:ext cx="11274552" cy="292608"/>
          </a:xfrm>
          <a:prstGeom prst="rect">
            <a:avLst/>
          </a:prstGeom>
          <a:noFill/>
        </p:spPr>
        <p:txBody>
          <a:bodyPr wrap="square" lIns="25400" tIns="25400" rIns="25400" bIns="25400" anchor="t">
            <a:spAutoFit/>
          </a:bodyPr>
          <a:lstStyle/>
          <a:p>
            <a:pPr algn="l">
              <a:spcBef>
                <a:spcPts val="0"/>
              </a:spcBef>
              <a:spcAft>
                <a:spcPts val="0"/>
              </a:spcAft>
            </a:pPr>
            <a:r>
              <a:rPr sz="1150" b="0">
                <a:solidFill>
                  <a:srgbClr val="5B6472"/>
                </a:solidFill>
                <a:latin typeface="Arial"/>
              </a:rPr>
              <a:t>Vier Bereitstellungswege – von eigener Hardware bis zum geteilten Kernel. Je weniger das Betriebssystem dupliziert wird, desto schlanker die Bereitstellung.</a:t>
            </a:r>
          </a:p>
        </p:txBody>
      </p:sp>
      <p:sp>
        <p:nvSpPr>
          <p:cNvPr id="6" name="Rounded Rectangle 5"/>
          <p:cNvSpPr/>
          <p:nvPr/>
        </p:nvSpPr>
        <p:spPr>
          <a:xfrm>
            <a:off x="457200" y="1810512"/>
            <a:ext cx="2697480" cy="512064"/>
          </a:xfrm>
          <a:prstGeom prst="roundRect">
            <a:avLst>
              <a:gd name="adj" fmla="val 8000"/>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250" b="1">
                <a:solidFill>
                  <a:srgbClr val="FFFFFF"/>
                </a:solidFill>
                <a:latin typeface="Arial"/>
              </a:rPr>
              <a:t>Bare Metal</a:t>
            </a:r>
          </a:p>
          <a:p>
            <a:pPr algn="ctr">
              <a:spcBef>
                <a:spcPts val="0"/>
              </a:spcBef>
              <a:spcAft>
                <a:spcPts val="0"/>
              </a:spcAft>
            </a:pPr>
            <a:r>
              <a:rPr sz="900" b="0">
                <a:solidFill>
                  <a:srgbClr val="FFFFFF"/>
                </a:solidFill>
                <a:latin typeface="Arial"/>
              </a:rPr>
              <a:t>Dienste direkt auf dem Server</a:t>
            </a:r>
          </a:p>
        </p:txBody>
      </p:sp>
      <p:sp>
        <p:nvSpPr>
          <p:cNvPr id="7" name="Rounded Rectangle 6"/>
          <p:cNvSpPr/>
          <p:nvPr/>
        </p:nvSpPr>
        <p:spPr>
          <a:xfrm>
            <a:off x="3319272" y="1810512"/>
            <a:ext cx="2697480" cy="512064"/>
          </a:xfrm>
          <a:prstGeom prst="roundRect">
            <a:avLst>
              <a:gd name="adj" fmla="val 8000"/>
            </a:avLst>
          </a:prstGeom>
          <a:solidFill>
            <a:srgbClr val="0061AF"/>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250" b="1">
                <a:solidFill>
                  <a:srgbClr val="FFFFFF"/>
                </a:solidFill>
                <a:latin typeface="Arial"/>
              </a:rPr>
              <a:t>VM · Hypervisor Typ 1</a:t>
            </a:r>
          </a:p>
          <a:p>
            <a:pPr algn="ctr">
              <a:spcBef>
                <a:spcPts val="0"/>
              </a:spcBef>
              <a:spcAft>
                <a:spcPts val="0"/>
              </a:spcAft>
            </a:pPr>
            <a:r>
              <a:rPr sz="900" b="0">
                <a:solidFill>
                  <a:srgbClr val="FFFFFF"/>
                </a:solidFill>
                <a:latin typeface="Arial"/>
              </a:rPr>
              <a:t>Bare-Metal-Hypervisor</a:t>
            </a:r>
          </a:p>
        </p:txBody>
      </p:sp>
      <p:sp>
        <p:nvSpPr>
          <p:cNvPr id="8" name="Rounded Rectangle 7"/>
          <p:cNvSpPr/>
          <p:nvPr/>
        </p:nvSpPr>
        <p:spPr>
          <a:xfrm>
            <a:off x="6181344" y="1810512"/>
            <a:ext cx="2697480" cy="512064"/>
          </a:xfrm>
          <a:prstGeom prst="roundRect">
            <a:avLst>
              <a:gd name="adj" fmla="val 8000"/>
            </a:avLst>
          </a:prstGeom>
          <a:solidFill>
            <a:srgbClr val="0061AF"/>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250" b="1">
                <a:solidFill>
                  <a:srgbClr val="FFFFFF"/>
                </a:solidFill>
                <a:latin typeface="Arial"/>
              </a:rPr>
              <a:t>VM · Hypervisor Typ 2</a:t>
            </a:r>
          </a:p>
          <a:p>
            <a:pPr algn="ctr">
              <a:spcBef>
                <a:spcPts val="0"/>
              </a:spcBef>
              <a:spcAft>
                <a:spcPts val="0"/>
              </a:spcAft>
            </a:pPr>
            <a:r>
              <a:rPr sz="900" b="0">
                <a:solidFill>
                  <a:srgbClr val="FFFFFF"/>
                </a:solidFill>
                <a:latin typeface="Arial"/>
              </a:rPr>
              <a:t>Hosted-Hypervisor</a:t>
            </a:r>
          </a:p>
        </p:txBody>
      </p:sp>
      <p:sp>
        <p:nvSpPr>
          <p:cNvPr id="9" name="Rounded Rectangle 8"/>
          <p:cNvSpPr/>
          <p:nvPr/>
        </p:nvSpPr>
        <p:spPr>
          <a:xfrm>
            <a:off x="9043416" y="1810512"/>
            <a:ext cx="2697480" cy="512064"/>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250" b="1">
                <a:solidFill>
                  <a:srgbClr val="FFFFFF"/>
                </a:solidFill>
                <a:latin typeface="Arial"/>
              </a:rPr>
              <a:t>Container</a:t>
            </a:r>
          </a:p>
          <a:p>
            <a:pPr algn="ctr">
              <a:spcBef>
                <a:spcPts val="0"/>
              </a:spcBef>
              <a:spcAft>
                <a:spcPts val="0"/>
              </a:spcAft>
            </a:pPr>
            <a:r>
              <a:rPr sz="900" b="0">
                <a:solidFill>
                  <a:srgbClr val="FFFFFF"/>
                </a:solidFill>
                <a:latin typeface="Arial"/>
              </a:rPr>
              <a:t>teilt den Host-Kernel</a:t>
            </a:r>
          </a:p>
        </p:txBody>
      </p:sp>
      <p:sp>
        <p:nvSpPr>
          <p:cNvPr id="10" name="Rounded Rectangle 9"/>
          <p:cNvSpPr/>
          <p:nvPr/>
        </p:nvSpPr>
        <p:spPr>
          <a:xfrm>
            <a:off x="594360" y="2432304"/>
            <a:ext cx="1156716" cy="914400"/>
          </a:xfrm>
          <a:prstGeom prst="roundRect">
            <a:avLst>
              <a:gd name="adj" fmla="val 8000"/>
            </a:avLst>
          </a:prstGeom>
          <a:solidFill>
            <a:srgbClr val="FFFFFF"/>
          </a:solidFill>
          <a:ln w="9525">
            <a:solidFill>
              <a:srgbClr val="CDCDCD"/>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050" b="1">
                <a:solidFill>
                  <a:srgbClr val="1A1A1A"/>
                </a:solidFill>
                <a:latin typeface="Arial"/>
              </a:rPr>
              <a:t>Dienst A</a:t>
            </a:r>
          </a:p>
          <a:p>
            <a:pPr algn="ctr">
              <a:spcBef>
                <a:spcPts val="0"/>
              </a:spcBef>
              <a:spcAft>
                <a:spcPts val="0"/>
              </a:spcAft>
            </a:pPr>
            <a:r>
              <a:rPr sz="850" b="0">
                <a:solidFill>
                  <a:srgbClr val="5B6472"/>
                </a:solidFill>
                <a:latin typeface="Arial"/>
              </a:rPr>
              <a:t>+ Libs</a:t>
            </a:r>
          </a:p>
        </p:txBody>
      </p:sp>
      <p:sp>
        <p:nvSpPr>
          <p:cNvPr id="11" name="Rounded Rectangle 10"/>
          <p:cNvSpPr/>
          <p:nvPr/>
        </p:nvSpPr>
        <p:spPr>
          <a:xfrm>
            <a:off x="1860804" y="2432304"/>
            <a:ext cx="1156716" cy="914400"/>
          </a:xfrm>
          <a:prstGeom prst="roundRect">
            <a:avLst>
              <a:gd name="adj" fmla="val 8000"/>
            </a:avLst>
          </a:prstGeom>
          <a:solidFill>
            <a:srgbClr val="FFFFFF"/>
          </a:solidFill>
          <a:ln w="9525">
            <a:solidFill>
              <a:srgbClr val="CDCDCD"/>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050" b="1">
                <a:solidFill>
                  <a:srgbClr val="1A1A1A"/>
                </a:solidFill>
                <a:latin typeface="Arial"/>
              </a:rPr>
              <a:t>Dienst B</a:t>
            </a:r>
          </a:p>
          <a:p>
            <a:pPr algn="ctr">
              <a:spcBef>
                <a:spcPts val="0"/>
              </a:spcBef>
              <a:spcAft>
                <a:spcPts val="0"/>
              </a:spcAft>
            </a:pPr>
            <a:r>
              <a:rPr sz="850" b="0">
                <a:solidFill>
                  <a:srgbClr val="5B6472"/>
                </a:solidFill>
                <a:latin typeface="Arial"/>
              </a:rPr>
              <a:t>+ Libs</a:t>
            </a:r>
          </a:p>
        </p:txBody>
      </p:sp>
      <p:sp>
        <p:nvSpPr>
          <p:cNvPr id="12" name="Rounded Rectangle 11"/>
          <p:cNvSpPr/>
          <p:nvPr/>
        </p:nvSpPr>
        <p:spPr>
          <a:xfrm>
            <a:off x="3456432" y="2432304"/>
            <a:ext cx="2423160" cy="914400"/>
          </a:xfrm>
          <a:prstGeom prst="roundRect">
            <a:avLst>
              <a:gd name="adj" fmla="val 8000"/>
            </a:avLst>
          </a:prstGeom>
          <a:solidFill>
            <a:srgbClr val="FFFFFF"/>
          </a:solidFill>
          <a:ln w="9525">
            <a:solidFill>
              <a:srgbClr val="CDCDCD"/>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000" b="1">
                <a:solidFill>
                  <a:srgbClr val="1A1A1A"/>
                </a:solidFill>
                <a:latin typeface="Arial"/>
              </a:rPr>
              <a:t>Dienst + Libs</a:t>
            </a:r>
          </a:p>
          <a:p>
            <a:pPr algn="ctr">
              <a:spcBef>
                <a:spcPts val="0"/>
              </a:spcBef>
              <a:spcAft>
                <a:spcPts val="0"/>
              </a:spcAft>
            </a:pPr>
            <a:r>
              <a:rPr sz="850" b="0">
                <a:solidFill>
                  <a:srgbClr val="5B6472"/>
                </a:solidFill>
                <a:latin typeface="Arial"/>
              </a:rPr>
              <a:t>auf eigenem Gast-OS</a:t>
            </a:r>
          </a:p>
          <a:p>
            <a:pPr algn="ctr">
              <a:spcBef>
                <a:spcPts val="0"/>
              </a:spcBef>
              <a:spcAft>
                <a:spcPts val="0"/>
              </a:spcAft>
            </a:pPr>
            <a:r>
              <a:rPr sz="850" b="0">
                <a:solidFill>
                  <a:srgbClr val="5B6472"/>
                </a:solidFill>
                <a:latin typeface="Arial"/>
              </a:rPr>
              <a:t>mit eigenem Kernel</a:t>
            </a:r>
          </a:p>
        </p:txBody>
      </p:sp>
      <p:sp>
        <p:nvSpPr>
          <p:cNvPr id="13" name="Rounded Rectangle 12"/>
          <p:cNvSpPr/>
          <p:nvPr/>
        </p:nvSpPr>
        <p:spPr>
          <a:xfrm>
            <a:off x="6318504" y="2432304"/>
            <a:ext cx="2423160" cy="914400"/>
          </a:xfrm>
          <a:prstGeom prst="roundRect">
            <a:avLst>
              <a:gd name="adj" fmla="val 8000"/>
            </a:avLst>
          </a:prstGeom>
          <a:solidFill>
            <a:srgbClr val="FFFFFF"/>
          </a:solidFill>
          <a:ln w="9525">
            <a:solidFill>
              <a:srgbClr val="CDCDCD"/>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000" b="1">
                <a:solidFill>
                  <a:srgbClr val="1A1A1A"/>
                </a:solidFill>
                <a:latin typeface="Arial"/>
              </a:rPr>
              <a:t>Dienst + Libs</a:t>
            </a:r>
          </a:p>
          <a:p>
            <a:pPr algn="ctr">
              <a:spcBef>
                <a:spcPts val="0"/>
              </a:spcBef>
              <a:spcAft>
                <a:spcPts val="0"/>
              </a:spcAft>
            </a:pPr>
            <a:r>
              <a:rPr sz="850" b="0">
                <a:solidFill>
                  <a:srgbClr val="5B6472"/>
                </a:solidFill>
                <a:latin typeface="Arial"/>
              </a:rPr>
              <a:t>auf eigenem Gast-OS</a:t>
            </a:r>
          </a:p>
          <a:p>
            <a:pPr algn="ctr">
              <a:spcBef>
                <a:spcPts val="0"/>
              </a:spcBef>
              <a:spcAft>
                <a:spcPts val="0"/>
              </a:spcAft>
            </a:pPr>
            <a:r>
              <a:rPr sz="850" b="0">
                <a:solidFill>
                  <a:srgbClr val="5B6472"/>
                </a:solidFill>
                <a:latin typeface="Arial"/>
              </a:rPr>
              <a:t>mit eigenem Kernel</a:t>
            </a:r>
          </a:p>
        </p:txBody>
      </p:sp>
      <p:sp>
        <p:nvSpPr>
          <p:cNvPr id="14" name="Rounded Rectangle 13"/>
          <p:cNvSpPr/>
          <p:nvPr/>
        </p:nvSpPr>
        <p:spPr>
          <a:xfrm>
            <a:off x="9180576" y="2432304"/>
            <a:ext cx="2423160" cy="914400"/>
          </a:xfrm>
          <a:prstGeom prst="roundRect">
            <a:avLst>
              <a:gd name="adj" fmla="val 8000"/>
            </a:avLst>
          </a:prstGeom>
          <a:solidFill>
            <a:srgbClr val="FFFFFF"/>
          </a:solidFill>
          <a:ln w="9525">
            <a:solidFill>
              <a:srgbClr val="CDCDCD"/>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000" b="1">
                <a:solidFill>
                  <a:srgbClr val="1A1A1A"/>
                </a:solidFill>
                <a:latin typeface="Arial"/>
              </a:rPr>
              <a:t>Dienst + Libs</a:t>
            </a:r>
          </a:p>
          <a:p>
            <a:pPr algn="ctr">
              <a:spcBef>
                <a:spcPts val="0"/>
              </a:spcBef>
              <a:spcAft>
                <a:spcPts val="0"/>
              </a:spcAft>
            </a:pPr>
            <a:r>
              <a:rPr sz="850" b="0">
                <a:solidFill>
                  <a:srgbClr val="5B6472"/>
                </a:solidFill>
                <a:latin typeface="Arial"/>
              </a:rPr>
              <a:t>ohne eigenes OS</a:t>
            </a:r>
          </a:p>
          <a:p>
            <a:pPr algn="ctr">
              <a:spcBef>
                <a:spcPts val="0"/>
              </a:spcBef>
              <a:spcAft>
                <a:spcPts val="0"/>
              </a:spcAft>
            </a:pPr>
            <a:r>
              <a:rPr sz="850" b="0">
                <a:solidFill>
                  <a:srgbClr val="5B6472"/>
                </a:solidFill>
                <a:latin typeface="Arial"/>
              </a:rPr>
              <a:t>teilt den Host-Kernel</a:t>
            </a:r>
          </a:p>
        </p:txBody>
      </p:sp>
      <p:sp>
        <p:nvSpPr>
          <p:cNvPr id="15" name="Rounded Rectangle 14"/>
          <p:cNvSpPr/>
          <p:nvPr/>
        </p:nvSpPr>
        <p:spPr>
          <a:xfrm>
            <a:off x="594360" y="3456432"/>
            <a:ext cx="2423160" cy="512064"/>
          </a:xfrm>
          <a:prstGeom prst="roundRect">
            <a:avLst>
              <a:gd name="adj" fmla="val 8000"/>
            </a:avLst>
          </a:prstGeom>
          <a:solidFill>
            <a:srgbClr val="F5F5F5"/>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950" b="0">
                <a:solidFill>
                  <a:srgbClr val="5B6472"/>
                </a:solidFill>
                <a:latin typeface="Arial"/>
              </a:rPr>
              <a:t>— kein Hypervisor —</a:t>
            </a:r>
          </a:p>
        </p:txBody>
      </p:sp>
      <p:sp>
        <p:nvSpPr>
          <p:cNvPr id="16" name="Rounded Rectangle 15"/>
          <p:cNvSpPr/>
          <p:nvPr/>
        </p:nvSpPr>
        <p:spPr>
          <a:xfrm>
            <a:off x="3456432" y="3456432"/>
            <a:ext cx="2423160" cy="1115568"/>
          </a:xfrm>
          <a:prstGeom prst="roundRect">
            <a:avLst>
              <a:gd name="adj" fmla="val 8000"/>
            </a:avLst>
          </a:prstGeom>
          <a:solidFill>
            <a:srgbClr val="0061AF"/>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150" b="1">
                <a:solidFill>
                  <a:srgbClr val="FFFFFF"/>
                </a:solidFill>
                <a:latin typeface="Arial"/>
              </a:rPr>
              <a:t>Hypervisor Typ 1</a:t>
            </a:r>
          </a:p>
          <a:p>
            <a:pPr algn="ctr">
              <a:spcBef>
                <a:spcPts val="0"/>
              </a:spcBef>
              <a:spcAft>
                <a:spcPts val="0"/>
              </a:spcAft>
            </a:pPr>
            <a:r>
              <a:rPr sz="850" b="0">
                <a:solidFill>
                  <a:srgbClr val="FFFFFF"/>
                </a:solidFill>
                <a:latin typeface="Arial"/>
              </a:rPr>
              <a:t>direkt auf der Hardware</a:t>
            </a:r>
          </a:p>
          <a:p>
            <a:pPr algn="ctr">
              <a:spcBef>
                <a:spcPts val="0"/>
              </a:spcBef>
              <a:spcAft>
                <a:spcPts val="0"/>
              </a:spcAft>
            </a:pPr>
            <a:r>
              <a:rPr sz="850" b="0">
                <a:solidFill>
                  <a:srgbClr val="FFFFFF"/>
                </a:solidFill>
                <a:latin typeface="Arial"/>
              </a:rPr>
              <a:t>(kein Host-OS)</a:t>
            </a:r>
          </a:p>
        </p:txBody>
      </p:sp>
      <p:sp>
        <p:nvSpPr>
          <p:cNvPr id="17" name="Rounded Rectangle 16"/>
          <p:cNvSpPr/>
          <p:nvPr/>
        </p:nvSpPr>
        <p:spPr>
          <a:xfrm>
            <a:off x="6318504" y="3456432"/>
            <a:ext cx="2423160" cy="512064"/>
          </a:xfrm>
          <a:prstGeom prst="roundRect">
            <a:avLst>
              <a:gd name="adj" fmla="val 8000"/>
            </a:avLst>
          </a:prstGeom>
          <a:solidFill>
            <a:srgbClr val="0061AF"/>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150" b="1">
                <a:solidFill>
                  <a:srgbClr val="FFFFFF"/>
                </a:solidFill>
                <a:latin typeface="Arial"/>
              </a:rPr>
              <a:t>Hypervisor Typ 2</a:t>
            </a:r>
          </a:p>
          <a:p>
            <a:pPr algn="ctr">
              <a:spcBef>
                <a:spcPts val="0"/>
              </a:spcBef>
              <a:spcAft>
                <a:spcPts val="0"/>
              </a:spcAft>
            </a:pPr>
            <a:r>
              <a:rPr sz="850" b="0">
                <a:solidFill>
                  <a:srgbClr val="FFFFFF"/>
                </a:solidFill>
                <a:latin typeface="Arial"/>
              </a:rPr>
              <a:t>als Programm im Host-OS</a:t>
            </a:r>
          </a:p>
        </p:txBody>
      </p:sp>
      <p:sp>
        <p:nvSpPr>
          <p:cNvPr id="18" name="Rounded Rectangle 17"/>
          <p:cNvSpPr/>
          <p:nvPr/>
        </p:nvSpPr>
        <p:spPr>
          <a:xfrm>
            <a:off x="9180576" y="3456432"/>
            <a:ext cx="2423160" cy="512064"/>
          </a:xfrm>
          <a:prstGeom prst="roundRect">
            <a:avLst>
              <a:gd name="adj" fmla="val 8000"/>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050" b="1">
                <a:solidFill>
                  <a:srgbClr val="FFFFFF"/>
                </a:solidFill>
                <a:latin typeface="Arial"/>
              </a:rPr>
              <a:t>Container-Engine (Docker)</a:t>
            </a:r>
          </a:p>
          <a:p>
            <a:pPr algn="ctr">
              <a:spcBef>
                <a:spcPts val="0"/>
              </a:spcBef>
              <a:spcAft>
                <a:spcPts val="0"/>
              </a:spcAft>
            </a:pPr>
            <a:r>
              <a:rPr sz="800" b="0">
                <a:solidFill>
                  <a:srgbClr val="FFFFFF"/>
                </a:solidFill>
                <a:latin typeface="Arial"/>
              </a:rPr>
              <a:t>startet &amp; isoliert Container</a:t>
            </a:r>
          </a:p>
        </p:txBody>
      </p:sp>
      <p:sp>
        <p:nvSpPr>
          <p:cNvPr id="19" name="Rounded Rectangle 18"/>
          <p:cNvSpPr/>
          <p:nvPr/>
        </p:nvSpPr>
        <p:spPr>
          <a:xfrm>
            <a:off x="594360" y="4059936"/>
            <a:ext cx="2423160" cy="512064"/>
          </a:xfrm>
          <a:prstGeom prst="roundRect">
            <a:avLst>
              <a:gd name="adj" fmla="val 8000"/>
            </a:avLst>
          </a:prstGeom>
          <a:solidFill>
            <a:srgbClr val="F5F5F5"/>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050" b="1">
                <a:solidFill>
                  <a:srgbClr val="1A1A1A"/>
                </a:solidFill>
                <a:latin typeface="Arial"/>
              </a:rPr>
              <a:t>Betriebssystem</a:t>
            </a:r>
          </a:p>
          <a:p>
            <a:pPr algn="ctr">
              <a:spcBef>
                <a:spcPts val="0"/>
              </a:spcBef>
              <a:spcAft>
                <a:spcPts val="0"/>
              </a:spcAft>
            </a:pPr>
            <a:r>
              <a:rPr sz="850" b="0">
                <a:solidFill>
                  <a:srgbClr val="5B6472"/>
                </a:solidFill>
                <a:latin typeface="Arial"/>
              </a:rPr>
              <a:t>ein Kernel</a:t>
            </a:r>
          </a:p>
        </p:txBody>
      </p:sp>
      <p:sp>
        <p:nvSpPr>
          <p:cNvPr id="20" name="Rounded Rectangle 19"/>
          <p:cNvSpPr/>
          <p:nvPr/>
        </p:nvSpPr>
        <p:spPr>
          <a:xfrm>
            <a:off x="6318504" y="4059936"/>
            <a:ext cx="2423160" cy="512064"/>
          </a:xfrm>
          <a:prstGeom prst="roundRect">
            <a:avLst>
              <a:gd name="adj" fmla="val 8000"/>
            </a:avLst>
          </a:prstGeom>
          <a:solidFill>
            <a:srgbClr val="F5F5F5"/>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000" b="1">
                <a:solidFill>
                  <a:srgbClr val="1A1A1A"/>
                </a:solidFill>
                <a:latin typeface="Arial"/>
              </a:rPr>
              <a:t>Host-Betriebssystem</a:t>
            </a:r>
          </a:p>
          <a:p>
            <a:pPr algn="ctr">
              <a:spcBef>
                <a:spcPts val="0"/>
              </a:spcBef>
              <a:spcAft>
                <a:spcPts val="0"/>
              </a:spcAft>
            </a:pPr>
            <a:r>
              <a:rPr sz="850" b="0">
                <a:solidFill>
                  <a:srgbClr val="5B6472"/>
                </a:solidFill>
                <a:latin typeface="Arial"/>
              </a:rPr>
              <a:t>+ Kernel</a:t>
            </a:r>
          </a:p>
        </p:txBody>
      </p:sp>
      <p:sp>
        <p:nvSpPr>
          <p:cNvPr id="21" name="Rounded Rectangle 20"/>
          <p:cNvSpPr/>
          <p:nvPr/>
        </p:nvSpPr>
        <p:spPr>
          <a:xfrm>
            <a:off x="9180576" y="4059936"/>
            <a:ext cx="2423160" cy="512064"/>
          </a:xfrm>
          <a:prstGeom prst="roundRect">
            <a:avLst>
              <a:gd name="adj" fmla="val 8000"/>
            </a:avLst>
          </a:prstGeom>
          <a:solidFill>
            <a:srgbClr val="005AA8"/>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950" b="1">
                <a:solidFill>
                  <a:srgbClr val="FFFFFF"/>
                </a:solidFill>
                <a:latin typeface="Arial"/>
              </a:rPr>
              <a:t>Host-OS – gemeinsamer Kernel</a:t>
            </a:r>
          </a:p>
          <a:p>
            <a:pPr algn="ctr">
              <a:spcBef>
                <a:spcPts val="0"/>
              </a:spcBef>
              <a:spcAft>
                <a:spcPts val="0"/>
              </a:spcAft>
            </a:pPr>
            <a:r>
              <a:rPr sz="800" b="0">
                <a:solidFill>
                  <a:srgbClr val="FFFFFF"/>
                </a:solidFill>
                <a:latin typeface="Arial"/>
              </a:rPr>
              <a:t>von allen Containern genutzt</a:t>
            </a:r>
          </a:p>
        </p:txBody>
      </p:sp>
      <p:sp>
        <p:nvSpPr>
          <p:cNvPr id="22" name="Rounded Rectangle 21"/>
          <p:cNvSpPr/>
          <p:nvPr/>
        </p:nvSpPr>
        <p:spPr>
          <a:xfrm>
            <a:off x="594360" y="4681728"/>
            <a:ext cx="2423160" cy="402336"/>
          </a:xfrm>
          <a:prstGeom prst="roundRect">
            <a:avLst>
              <a:gd name="adj" fmla="val 8000"/>
            </a:avLst>
          </a:prstGeom>
          <a:solidFill>
            <a:srgbClr val="1A222C"/>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050" b="1">
                <a:solidFill>
                  <a:srgbClr val="FFFFFF"/>
                </a:solidFill>
                <a:latin typeface="Arial"/>
              </a:rPr>
              <a:t>Hardware (Server)</a:t>
            </a:r>
          </a:p>
        </p:txBody>
      </p:sp>
      <p:sp>
        <p:nvSpPr>
          <p:cNvPr id="23" name="Rounded Rectangle 22"/>
          <p:cNvSpPr/>
          <p:nvPr/>
        </p:nvSpPr>
        <p:spPr>
          <a:xfrm>
            <a:off x="3456432" y="4681728"/>
            <a:ext cx="2423160" cy="402336"/>
          </a:xfrm>
          <a:prstGeom prst="roundRect">
            <a:avLst>
              <a:gd name="adj" fmla="val 8000"/>
            </a:avLst>
          </a:prstGeom>
          <a:solidFill>
            <a:srgbClr val="1A222C"/>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050" b="1">
                <a:solidFill>
                  <a:srgbClr val="FFFFFF"/>
                </a:solidFill>
                <a:latin typeface="Arial"/>
              </a:rPr>
              <a:t>Hardware (Server)</a:t>
            </a:r>
          </a:p>
        </p:txBody>
      </p:sp>
      <p:sp>
        <p:nvSpPr>
          <p:cNvPr id="24" name="Rounded Rectangle 23"/>
          <p:cNvSpPr/>
          <p:nvPr/>
        </p:nvSpPr>
        <p:spPr>
          <a:xfrm>
            <a:off x="6318504" y="4681728"/>
            <a:ext cx="2423160" cy="402336"/>
          </a:xfrm>
          <a:prstGeom prst="roundRect">
            <a:avLst>
              <a:gd name="adj" fmla="val 8000"/>
            </a:avLst>
          </a:prstGeom>
          <a:solidFill>
            <a:srgbClr val="1A222C"/>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050" b="1">
                <a:solidFill>
                  <a:srgbClr val="FFFFFF"/>
                </a:solidFill>
                <a:latin typeface="Arial"/>
              </a:rPr>
              <a:t>Hardware (Server)</a:t>
            </a:r>
          </a:p>
        </p:txBody>
      </p:sp>
      <p:sp>
        <p:nvSpPr>
          <p:cNvPr id="25" name="Rounded Rectangle 24"/>
          <p:cNvSpPr/>
          <p:nvPr/>
        </p:nvSpPr>
        <p:spPr>
          <a:xfrm>
            <a:off x="9180576" y="4681728"/>
            <a:ext cx="2423160" cy="402336"/>
          </a:xfrm>
          <a:prstGeom prst="roundRect">
            <a:avLst>
              <a:gd name="adj" fmla="val 8000"/>
            </a:avLst>
          </a:prstGeom>
          <a:solidFill>
            <a:srgbClr val="1A222C"/>
          </a:solidFill>
          <a:ln>
            <a:no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1050" b="1">
                <a:solidFill>
                  <a:srgbClr val="FFFFFF"/>
                </a:solidFill>
                <a:latin typeface="Arial"/>
              </a:rPr>
              <a:t>Hardware (Server)</a:t>
            </a:r>
          </a:p>
        </p:txBody>
      </p:sp>
      <p:sp>
        <p:nvSpPr>
          <p:cNvPr id="26" name="Rounded Rectangle 25"/>
          <p:cNvSpPr/>
          <p:nvPr/>
        </p:nvSpPr>
        <p:spPr>
          <a:xfrm>
            <a:off x="594360" y="5175504"/>
            <a:ext cx="2423160" cy="420624"/>
          </a:xfrm>
          <a:prstGeom prst="roundRect">
            <a:avLst>
              <a:gd name="adj" fmla="val 8000"/>
            </a:avLst>
          </a:prstGeom>
          <a:solidFill>
            <a:srgbClr val="F4F6FA"/>
          </a:solidFill>
          <a:ln w="6350">
            <a:solidFill>
              <a:srgbClr val="D8DEE9"/>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800" b="0">
                <a:solidFill>
                  <a:srgbClr val="5B6472"/>
                </a:solidFill>
                <a:latin typeface="Arial"/>
              </a:rPr>
              <a:t>ohne Virtualisierung</a:t>
            </a:r>
          </a:p>
          <a:p>
            <a:pPr algn="ctr">
              <a:spcBef>
                <a:spcPts val="0"/>
              </a:spcBef>
              <a:spcAft>
                <a:spcPts val="0"/>
              </a:spcAft>
            </a:pPr>
            <a:r>
              <a:rPr sz="850" b="0">
                <a:solidFill>
                  <a:srgbClr val="5B6472"/>
                </a:solidFill>
                <a:latin typeface="Arial"/>
              </a:rPr>
              <a:t>Dienste direkt installiert</a:t>
            </a:r>
          </a:p>
        </p:txBody>
      </p:sp>
      <p:sp>
        <p:nvSpPr>
          <p:cNvPr id="27" name="Rounded Rectangle 26"/>
          <p:cNvSpPr/>
          <p:nvPr/>
        </p:nvSpPr>
        <p:spPr>
          <a:xfrm>
            <a:off x="3456432" y="5175504"/>
            <a:ext cx="2423160" cy="420624"/>
          </a:xfrm>
          <a:prstGeom prst="roundRect">
            <a:avLst>
              <a:gd name="adj" fmla="val 8000"/>
            </a:avLst>
          </a:prstGeom>
          <a:solidFill>
            <a:srgbClr val="F4F6FA"/>
          </a:solidFill>
          <a:ln w="6350">
            <a:solidFill>
              <a:srgbClr val="D8DEE9"/>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800" b="0">
                <a:solidFill>
                  <a:srgbClr val="5B6472"/>
                </a:solidFill>
                <a:latin typeface="Arial"/>
              </a:rPr>
              <a:t>Beispiele:</a:t>
            </a:r>
          </a:p>
          <a:p>
            <a:pPr algn="ctr">
              <a:spcBef>
                <a:spcPts val="0"/>
              </a:spcBef>
              <a:spcAft>
                <a:spcPts val="0"/>
              </a:spcAft>
            </a:pPr>
            <a:r>
              <a:rPr sz="850" b="1">
                <a:solidFill>
                  <a:srgbClr val="1A1A1A"/>
                </a:solidFill>
                <a:latin typeface="Arial"/>
              </a:rPr>
              <a:t>VMware ESXi · Proxmox VE · Hyper-V</a:t>
            </a:r>
          </a:p>
        </p:txBody>
      </p:sp>
      <p:sp>
        <p:nvSpPr>
          <p:cNvPr id="28" name="Rounded Rectangle 27"/>
          <p:cNvSpPr/>
          <p:nvPr/>
        </p:nvSpPr>
        <p:spPr>
          <a:xfrm>
            <a:off x="6318504" y="5175504"/>
            <a:ext cx="2423160" cy="420624"/>
          </a:xfrm>
          <a:prstGeom prst="roundRect">
            <a:avLst>
              <a:gd name="adj" fmla="val 8000"/>
            </a:avLst>
          </a:prstGeom>
          <a:solidFill>
            <a:srgbClr val="F4F6FA"/>
          </a:solidFill>
          <a:ln w="6350">
            <a:solidFill>
              <a:srgbClr val="D8DEE9"/>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800" b="0">
                <a:solidFill>
                  <a:srgbClr val="5B6472"/>
                </a:solidFill>
                <a:latin typeface="Arial"/>
              </a:rPr>
              <a:t>Beispiele:</a:t>
            </a:r>
          </a:p>
          <a:p>
            <a:pPr algn="ctr">
              <a:spcBef>
                <a:spcPts val="0"/>
              </a:spcBef>
              <a:spcAft>
                <a:spcPts val="0"/>
              </a:spcAft>
            </a:pPr>
            <a:r>
              <a:rPr sz="850" b="1">
                <a:solidFill>
                  <a:srgbClr val="1A1A1A"/>
                </a:solidFill>
                <a:latin typeface="Arial"/>
              </a:rPr>
              <a:t>VirtualBox · VMware Workstation</a:t>
            </a:r>
          </a:p>
        </p:txBody>
      </p:sp>
      <p:sp>
        <p:nvSpPr>
          <p:cNvPr id="29" name="Rounded Rectangle 28"/>
          <p:cNvSpPr/>
          <p:nvPr/>
        </p:nvSpPr>
        <p:spPr>
          <a:xfrm>
            <a:off x="9180576" y="5175504"/>
            <a:ext cx="2423160" cy="420624"/>
          </a:xfrm>
          <a:prstGeom prst="roundRect">
            <a:avLst>
              <a:gd name="adj" fmla="val 8000"/>
            </a:avLst>
          </a:prstGeom>
          <a:solidFill>
            <a:srgbClr val="F4F6FA"/>
          </a:solidFill>
          <a:ln w="6350">
            <a:solidFill>
              <a:srgbClr val="D8DEE9"/>
            </a:solidFill>
          </a:ln>
          <a:effectLst/>
        </p:spPr>
        <p:style>
          <a:lnRef idx="1">
            <a:schemeClr val="accent1"/>
          </a:lnRef>
          <a:fillRef idx="3">
            <a:schemeClr val="accent1"/>
          </a:fillRef>
          <a:effectRef idx="2">
            <a:schemeClr val="accent1"/>
          </a:effectRef>
          <a:fontRef idx="minor">
            <a:schemeClr val="lt1"/>
          </a:fontRef>
        </p:style>
        <p:txBody>
          <a:bodyPr wrap="square" lIns="25400" tIns="25400" rIns="25400" bIns="25400" rtlCol="0" anchor="ctr"/>
          <a:lstStyle/>
          <a:p>
            <a:pPr algn="ctr">
              <a:spcBef>
                <a:spcPts val="0"/>
              </a:spcBef>
              <a:spcAft>
                <a:spcPts val="0"/>
              </a:spcAft>
            </a:pPr>
            <a:r>
              <a:rPr sz="800" b="0">
                <a:solidFill>
                  <a:srgbClr val="5B6472"/>
                </a:solidFill>
                <a:latin typeface="Arial"/>
              </a:rPr>
              <a:t>Beispiele:</a:t>
            </a:r>
          </a:p>
          <a:p>
            <a:pPr algn="ctr">
              <a:spcBef>
                <a:spcPts val="0"/>
              </a:spcBef>
              <a:spcAft>
                <a:spcPts val="0"/>
              </a:spcAft>
            </a:pPr>
            <a:r>
              <a:rPr sz="850" b="1">
                <a:solidFill>
                  <a:srgbClr val="1A1A1A"/>
                </a:solidFill>
                <a:latin typeface="Arial"/>
              </a:rPr>
              <a:t>Docker · Podman · LXC/LXD</a:t>
            </a:r>
          </a:p>
        </p:txBody>
      </p:sp>
      <p:sp>
        <p:nvSpPr>
          <p:cNvPr id="30" name="Rounded Rectangle 29"/>
          <p:cNvSpPr/>
          <p:nvPr/>
        </p:nvSpPr>
        <p:spPr>
          <a:xfrm>
            <a:off x="548640" y="5687568"/>
            <a:ext cx="11091672" cy="630936"/>
          </a:xfrm>
          <a:prstGeom prst="roundRect">
            <a:avLst>
              <a:gd name="adj" fmla="val 8000"/>
            </a:avLst>
          </a:prstGeom>
          <a:solidFill>
            <a:srgbClr val="F4F6FA"/>
          </a:solidFill>
          <a:ln w="9525">
            <a:solidFill>
              <a:srgbClr val="D8DEE9"/>
            </a:solidFill>
          </a:ln>
          <a:effectLst/>
        </p:spPr>
        <p:style>
          <a:lnRef idx="1">
            <a:schemeClr val="accent1"/>
          </a:lnRef>
          <a:fillRef idx="3">
            <a:schemeClr val="accent1"/>
          </a:fillRef>
          <a:effectRef idx="2">
            <a:schemeClr val="accent1"/>
          </a:effectRef>
          <a:fontRef idx="minor">
            <a:schemeClr val="lt1"/>
          </a:fontRef>
        </p:style>
        <p:txBody>
          <a:bodyPr wrap="square" lIns="63500" tIns="63500" rIns="63500" bIns="63500" rtlCol="0" anchor="ctr"/>
          <a:lstStyle/>
          <a:p>
            <a:pPr algn="l"/>
            <a:r>
              <a:rPr lang="de-DE" sz="1150" b="1" dirty="0">
                <a:solidFill>
                  <a:srgbClr val="1E2761"/>
                </a:solidFill>
                <a:latin typeface="Calibri"/>
              </a:rPr>
              <a:t>Weil ein Container kein eigenes Betriebssystem mitbringt, sondern nur das Programm samt Bibliotheken auf dem Kernel des Hosts ausführt, ist er sehr klein (wenige Megabyte) und sofort startklar (Sekunden).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A8876A94-DDF9-4DFE-88C6-4AD2D82A4CE0}"/>
              </a:ext>
            </a:extLst>
          </p:cNvPr>
          <p:cNvSpPr>
            <a:spLocks noGrp="1"/>
          </p:cNvSpPr>
          <p:nvPr>
            <p:ph type="title"/>
          </p:nvPr>
        </p:nvSpPr>
        <p:spPr/>
        <p:txBody>
          <a:bodyPr/>
          <a:lstStyle/>
          <a:p>
            <a:r>
              <a:rPr lang="de-DE" dirty="0"/>
              <a:t>Zielvorgabe: Docker-Container hinter Caddy</a:t>
            </a:r>
          </a:p>
        </p:txBody>
      </p:sp>
      <p:sp>
        <p:nvSpPr>
          <p:cNvPr id="5" name="Datumsplatzhalter 4">
            <a:extLst>
              <a:ext uri="{FF2B5EF4-FFF2-40B4-BE49-F238E27FC236}">
                <a16:creationId xmlns:a16="http://schemas.microsoft.com/office/drawing/2014/main" id="{8552E27A-EAD4-4009-9443-85CCF2FEBEDE}"/>
              </a:ext>
            </a:extLst>
          </p:cNvPr>
          <p:cNvSpPr>
            <a:spLocks noGrp="1"/>
          </p:cNvSpPr>
          <p:nvPr>
            <p:ph type="dt" sz="half" idx="10"/>
          </p:nvPr>
        </p:nvSpPr>
        <p:spPr/>
        <p:txBody>
          <a:bodyPr/>
          <a:lstStyle/>
          <a:p>
            <a:fld id="{757CD2D1-8C96-4412-8C0C-09C7E956F080}" type="datetime1">
              <a:rPr lang="de-DE" smtClean="0"/>
              <a:t>07.10.2026</a:t>
            </a:fld>
            <a:endParaRPr lang="de-DE" dirty="0"/>
          </a:p>
        </p:txBody>
      </p:sp>
      <p:sp>
        <p:nvSpPr>
          <p:cNvPr id="6" name="Foliennummernplatzhalter 5">
            <a:extLst>
              <a:ext uri="{FF2B5EF4-FFF2-40B4-BE49-F238E27FC236}">
                <a16:creationId xmlns:a16="http://schemas.microsoft.com/office/drawing/2014/main" id="{89ECD8EA-CF76-4F3D-A5C6-7795DCE9B1D1}"/>
              </a:ext>
            </a:extLst>
          </p:cNvPr>
          <p:cNvSpPr>
            <a:spLocks noGrp="1"/>
          </p:cNvSpPr>
          <p:nvPr>
            <p:ph type="sldNum" sz="quarter" idx="4"/>
          </p:nvPr>
        </p:nvSpPr>
        <p:spPr/>
        <p:txBody>
          <a:bodyPr/>
          <a:lstStyle/>
          <a:p>
            <a:fld id="{43A6DCFB-163F-4561-BF28-3CD1FE47EE20}" type="slidenum">
              <a:rPr lang="de-DE" smtClean="0"/>
              <a:pPr/>
              <a:t>3</a:t>
            </a:fld>
            <a:endParaRPr lang="de-DE" dirty="0"/>
          </a:p>
        </p:txBody>
      </p:sp>
      <p:sp>
        <p:nvSpPr>
          <p:cNvPr id="32" name="Rounded Rectangle 31"/>
          <p:cNvSpPr/>
          <p:nvPr/>
        </p:nvSpPr>
        <p:spPr>
          <a:xfrm>
            <a:off x="2138360" y="2880360"/>
            <a:ext cx="2606040" cy="914400"/>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dirty="0">
                <a:solidFill>
                  <a:srgbClr val="FFFFFF"/>
                </a:solidFill>
                <a:latin typeface="Arial"/>
              </a:rPr>
              <a:t>Caddy Reverse Proxy</a:t>
            </a:r>
          </a:p>
          <a:p>
            <a:pPr algn="ctr"/>
            <a:r>
              <a:rPr sz="1300" b="1" dirty="0">
                <a:solidFill>
                  <a:srgbClr val="FFFFFF"/>
                </a:solidFill>
                <a:latin typeface="Arial"/>
              </a:rPr>
              <a:t>Port 443 – bereits aus Lab 04</a:t>
            </a:r>
          </a:p>
        </p:txBody>
      </p:sp>
      <p:sp>
        <p:nvSpPr>
          <p:cNvPr id="33" name="Rounded Rectangle 32"/>
          <p:cNvSpPr/>
          <p:nvPr/>
        </p:nvSpPr>
        <p:spPr>
          <a:xfrm>
            <a:off x="5989342" y="2423160"/>
            <a:ext cx="2423160" cy="777240"/>
          </a:xfrm>
          <a:prstGeom prst="roundRect">
            <a:avLst>
              <a:gd name="adj" fmla="val 10000"/>
            </a:avLst>
          </a:prstGeom>
          <a:solidFill>
            <a:srgbClr val="F5F5F5"/>
          </a:solidFill>
          <a:ln w="127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nginx (Webseite)</a:t>
            </a:r>
          </a:p>
          <a:p>
            <a:pPr algn="ctr"/>
            <a:r>
              <a:rPr sz="1200" b="1">
                <a:solidFill>
                  <a:srgbClr val="1A1A1A"/>
                </a:solidFill>
                <a:latin typeface="Arial"/>
              </a:rPr>
              <a:t>localhost:8080</a:t>
            </a:r>
          </a:p>
        </p:txBody>
      </p:sp>
      <p:sp>
        <p:nvSpPr>
          <p:cNvPr id="34" name="Rounded Rectangle 33"/>
          <p:cNvSpPr/>
          <p:nvPr/>
        </p:nvSpPr>
        <p:spPr>
          <a:xfrm>
            <a:off x="5989342" y="3474720"/>
            <a:ext cx="2423160" cy="777240"/>
          </a:xfrm>
          <a:prstGeom prst="roundRect">
            <a:avLst>
              <a:gd name="adj" fmla="val 10000"/>
            </a:avLst>
          </a:prstGeom>
          <a:solidFill>
            <a:srgbClr val="F5F5F5"/>
          </a:solidFill>
          <a:ln w="127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Node-RED (Dashboard)</a:t>
            </a:r>
          </a:p>
          <a:p>
            <a:pPr algn="ctr"/>
            <a:r>
              <a:rPr sz="1200" b="1">
                <a:solidFill>
                  <a:srgbClr val="1A1A1A"/>
                </a:solidFill>
                <a:latin typeface="Arial"/>
              </a:rPr>
              <a:t>localhost:1880</a:t>
            </a:r>
          </a:p>
        </p:txBody>
      </p:sp>
      <p:sp>
        <p:nvSpPr>
          <p:cNvPr id="21" name="Text 9">
            <a:extLst>
              <a:ext uri="{FF2B5EF4-FFF2-40B4-BE49-F238E27FC236}">
                <a16:creationId xmlns:a16="http://schemas.microsoft.com/office/drawing/2014/main" id="{1114FAF3-CE3E-4819-8674-A7A49A279B3C}"/>
              </a:ext>
            </a:extLst>
          </p:cNvPr>
          <p:cNvSpPr/>
          <p:nvPr/>
        </p:nvSpPr>
        <p:spPr>
          <a:xfrm>
            <a:off x="985923" y="4341615"/>
            <a:ext cx="5546630" cy="238641"/>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A1A1A"/>
                </a:solidFill>
                <a:latin typeface="Arial" pitchFamily="34" charset="0"/>
                <a:ea typeface="Arial" pitchFamily="34" charset="-122"/>
                <a:cs typeface="Arial" pitchFamily="34" charset="-120"/>
              </a:rPr>
              <a:t>Ziel erreicht, wenn:</a:t>
            </a:r>
            <a:endParaRPr lang="en-US" sz="1400" dirty="0"/>
          </a:p>
        </p:txBody>
      </p:sp>
      <p:sp>
        <p:nvSpPr>
          <p:cNvPr id="22" name="Shape 10">
            <a:extLst>
              <a:ext uri="{FF2B5EF4-FFF2-40B4-BE49-F238E27FC236}">
                <a16:creationId xmlns:a16="http://schemas.microsoft.com/office/drawing/2014/main" id="{11AC712A-8D90-4C74-85BE-D16524DBA39E}"/>
              </a:ext>
            </a:extLst>
          </p:cNvPr>
          <p:cNvSpPr/>
          <p:nvPr/>
        </p:nvSpPr>
        <p:spPr>
          <a:xfrm>
            <a:off x="989098" y="4761152"/>
            <a:ext cx="349171" cy="349171"/>
          </a:xfrm>
          <a:prstGeom prst="roundRect">
            <a:avLst>
              <a:gd name="adj" fmla="val 50000"/>
            </a:avLst>
          </a:prstGeom>
          <a:solidFill>
            <a:srgbClr val="FFFFFF"/>
          </a:solidFill>
          <a:ln w="6350">
            <a:solidFill>
              <a:srgbClr val="1A1A1A"/>
            </a:solidFill>
            <a:prstDash val="solid"/>
          </a:ln>
        </p:spPr>
      </p:sp>
      <p:pic>
        <p:nvPicPr>
          <p:cNvPr id="23" name="Image 0" descr="CheckCircle">
            <a:extLst>
              <a:ext uri="{FF2B5EF4-FFF2-40B4-BE49-F238E27FC236}">
                <a16:creationId xmlns:a16="http://schemas.microsoft.com/office/drawing/2014/main" id="{29C0B409-3284-49E9-8DFE-E23818BFE29E}"/>
              </a:ext>
            </a:extLst>
          </p:cNvPr>
          <p:cNvPicPr>
            <a:picLocks noChangeAspect="1"/>
          </p:cNvPicPr>
          <p:nvPr/>
        </p:nvPicPr>
        <p:blipFill>
          <a:blip r:embed="rId3"/>
          <a:srcRect/>
          <a:stretch/>
        </p:blipFill>
        <p:spPr>
          <a:xfrm>
            <a:off x="1074743" y="4846798"/>
            <a:ext cx="177760" cy="177760"/>
          </a:xfrm>
          <a:prstGeom prst="rect">
            <a:avLst/>
          </a:prstGeom>
        </p:spPr>
      </p:pic>
      <p:sp>
        <p:nvSpPr>
          <p:cNvPr id="24" name="Text 11">
            <a:extLst>
              <a:ext uri="{FF2B5EF4-FFF2-40B4-BE49-F238E27FC236}">
                <a16:creationId xmlns:a16="http://schemas.microsoft.com/office/drawing/2014/main" id="{70295F90-794F-4989-A8C1-02E71610AF3A}"/>
              </a:ext>
            </a:extLst>
          </p:cNvPr>
          <p:cNvSpPr/>
          <p:nvPr/>
        </p:nvSpPr>
        <p:spPr>
          <a:xfrm>
            <a:off x="1493843" y="4757977"/>
            <a:ext cx="5023472"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A1A1A"/>
                </a:solidFill>
                <a:latin typeface="Arial" pitchFamily="34" charset="0"/>
                <a:ea typeface="Arial" pitchFamily="34" charset="-122"/>
                <a:cs typeface="Arial" pitchFamily="34" charset="-120"/>
              </a:rPr>
              <a:t>Beide Dienste ohne Zertifikatswarnung</a:t>
            </a:r>
            <a:endParaRPr lang="en-US" sz="1300" dirty="0"/>
          </a:p>
        </p:txBody>
      </p:sp>
      <p:sp>
        <p:nvSpPr>
          <p:cNvPr id="25" name="Text 12">
            <a:extLst>
              <a:ext uri="{FF2B5EF4-FFF2-40B4-BE49-F238E27FC236}">
                <a16:creationId xmlns:a16="http://schemas.microsoft.com/office/drawing/2014/main" id="{24E425D7-B2A0-43A9-A433-DC24ABB2B815}"/>
              </a:ext>
            </a:extLst>
          </p:cNvPr>
          <p:cNvSpPr/>
          <p:nvPr/>
        </p:nvSpPr>
        <p:spPr>
          <a:xfrm>
            <a:off x="1493843" y="4994197"/>
            <a:ext cx="5023472" cy="20316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6B7280"/>
                </a:solidFill>
                <a:latin typeface="Courier New" pitchFamily="34" charset="0"/>
                <a:ea typeface="Courier New" pitchFamily="34" charset="-122"/>
                <a:cs typeface="Courier New" pitchFamily="34" charset="-120"/>
              </a:rPr>
              <a:t>Caddy stellt HTTPS wie in Lab 04 automatisch bereit</a:t>
            </a:r>
            <a:endParaRPr lang="en-US" sz="1000" dirty="0"/>
          </a:p>
        </p:txBody>
      </p:sp>
      <p:sp>
        <p:nvSpPr>
          <p:cNvPr id="26" name="Shape 13">
            <a:extLst>
              <a:ext uri="{FF2B5EF4-FFF2-40B4-BE49-F238E27FC236}">
                <a16:creationId xmlns:a16="http://schemas.microsoft.com/office/drawing/2014/main" id="{F81898E2-B8F9-4032-85B6-4399339A4281}"/>
              </a:ext>
            </a:extLst>
          </p:cNvPr>
          <p:cNvSpPr/>
          <p:nvPr/>
        </p:nvSpPr>
        <p:spPr>
          <a:xfrm>
            <a:off x="989098" y="5378253"/>
            <a:ext cx="349171" cy="349171"/>
          </a:xfrm>
          <a:prstGeom prst="roundRect">
            <a:avLst>
              <a:gd name="adj" fmla="val 50000"/>
            </a:avLst>
          </a:prstGeom>
          <a:solidFill>
            <a:srgbClr val="FFFFFF"/>
          </a:solidFill>
          <a:ln w="6350">
            <a:solidFill>
              <a:srgbClr val="1A1A1A"/>
            </a:solidFill>
            <a:prstDash val="solid"/>
          </a:ln>
        </p:spPr>
      </p:sp>
      <p:pic>
        <p:nvPicPr>
          <p:cNvPr id="29" name="Image 1" descr="CheckCircle">
            <a:extLst>
              <a:ext uri="{FF2B5EF4-FFF2-40B4-BE49-F238E27FC236}">
                <a16:creationId xmlns:a16="http://schemas.microsoft.com/office/drawing/2014/main" id="{53BDCC22-837A-48C3-B90C-4558915E32E9}"/>
              </a:ext>
            </a:extLst>
          </p:cNvPr>
          <p:cNvPicPr>
            <a:picLocks noChangeAspect="1"/>
          </p:cNvPicPr>
          <p:nvPr/>
        </p:nvPicPr>
        <p:blipFill>
          <a:blip r:embed="rId3"/>
          <a:srcRect/>
          <a:stretch/>
        </p:blipFill>
        <p:spPr>
          <a:xfrm>
            <a:off x="1074743" y="5463899"/>
            <a:ext cx="177760" cy="177760"/>
          </a:xfrm>
          <a:prstGeom prst="rect">
            <a:avLst/>
          </a:prstGeom>
        </p:spPr>
      </p:pic>
      <p:sp>
        <p:nvSpPr>
          <p:cNvPr id="44" name="Text 14">
            <a:extLst>
              <a:ext uri="{FF2B5EF4-FFF2-40B4-BE49-F238E27FC236}">
                <a16:creationId xmlns:a16="http://schemas.microsoft.com/office/drawing/2014/main" id="{8F397F52-50E8-40FC-90A0-9AFBD738B011}"/>
              </a:ext>
            </a:extLst>
          </p:cNvPr>
          <p:cNvSpPr/>
          <p:nvPr/>
        </p:nvSpPr>
        <p:spPr>
          <a:xfrm>
            <a:off x="1493843" y="5375078"/>
            <a:ext cx="5023472"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A1A1A"/>
                </a:solidFill>
                <a:latin typeface="Arial" pitchFamily="34" charset="0"/>
                <a:ea typeface="Arial" pitchFamily="34" charset="-122"/>
                <a:cs typeface="Arial" pitchFamily="34" charset="-120"/>
              </a:rPr>
              <a:t>Container-Ports nur lokal gebunden</a:t>
            </a:r>
            <a:endParaRPr lang="en-US" sz="1300" dirty="0"/>
          </a:p>
        </p:txBody>
      </p:sp>
      <p:sp>
        <p:nvSpPr>
          <p:cNvPr id="45" name="Text 15">
            <a:extLst>
              <a:ext uri="{FF2B5EF4-FFF2-40B4-BE49-F238E27FC236}">
                <a16:creationId xmlns:a16="http://schemas.microsoft.com/office/drawing/2014/main" id="{CEC29FA4-E584-4F2A-BEA7-F67796373F13}"/>
              </a:ext>
            </a:extLst>
          </p:cNvPr>
          <p:cNvSpPr/>
          <p:nvPr/>
        </p:nvSpPr>
        <p:spPr>
          <a:xfrm>
            <a:off x="1493843" y="5611299"/>
            <a:ext cx="5023472" cy="20316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6B7280"/>
                </a:solidFill>
                <a:latin typeface="Arial" pitchFamily="34" charset="0"/>
                <a:ea typeface="Arial" pitchFamily="34" charset="-122"/>
                <a:cs typeface="Arial" pitchFamily="34" charset="-120"/>
              </a:rPr>
              <a:t>-p 127.0.0.1:&lt;Port&gt;:&lt;Port&gt; statt 0.0.0.0</a:t>
            </a:r>
            <a:endParaRPr lang="en-US" sz="1000" dirty="0"/>
          </a:p>
        </p:txBody>
      </p:sp>
      <p:sp>
        <p:nvSpPr>
          <p:cNvPr id="46" name="Shape 16">
            <a:extLst>
              <a:ext uri="{FF2B5EF4-FFF2-40B4-BE49-F238E27FC236}">
                <a16:creationId xmlns:a16="http://schemas.microsoft.com/office/drawing/2014/main" id="{D89DFCBD-A203-4B91-9EC5-D7CDB8297C63}"/>
              </a:ext>
            </a:extLst>
          </p:cNvPr>
          <p:cNvSpPr/>
          <p:nvPr/>
        </p:nvSpPr>
        <p:spPr>
          <a:xfrm>
            <a:off x="989098" y="5995354"/>
            <a:ext cx="349171" cy="349171"/>
          </a:xfrm>
          <a:prstGeom prst="roundRect">
            <a:avLst>
              <a:gd name="adj" fmla="val 50000"/>
            </a:avLst>
          </a:prstGeom>
          <a:solidFill>
            <a:srgbClr val="FFFFFF"/>
          </a:solidFill>
          <a:ln w="6350">
            <a:solidFill>
              <a:srgbClr val="1A1A1A"/>
            </a:solidFill>
            <a:prstDash val="solid"/>
          </a:ln>
        </p:spPr>
      </p:sp>
      <p:pic>
        <p:nvPicPr>
          <p:cNvPr id="47" name="Image 2" descr="CheckCircle">
            <a:extLst>
              <a:ext uri="{FF2B5EF4-FFF2-40B4-BE49-F238E27FC236}">
                <a16:creationId xmlns:a16="http://schemas.microsoft.com/office/drawing/2014/main" id="{4B659E73-2762-4EBA-B435-A9EB942E4A88}"/>
              </a:ext>
            </a:extLst>
          </p:cNvPr>
          <p:cNvPicPr>
            <a:picLocks noChangeAspect="1"/>
          </p:cNvPicPr>
          <p:nvPr/>
        </p:nvPicPr>
        <p:blipFill>
          <a:blip r:embed="rId3"/>
          <a:srcRect/>
          <a:stretch/>
        </p:blipFill>
        <p:spPr>
          <a:xfrm>
            <a:off x="1074743" y="6081000"/>
            <a:ext cx="177760" cy="177760"/>
          </a:xfrm>
          <a:prstGeom prst="rect">
            <a:avLst/>
          </a:prstGeom>
        </p:spPr>
      </p:pic>
      <p:sp>
        <p:nvSpPr>
          <p:cNvPr id="48" name="Text 17">
            <a:extLst>
              <a:ext uri="{FF2B5EF4-FFF2-40B4-BE49-F238E27FC236}">
                <a16:creationId xmlns:a16="http://schemas.microsoft.com/office/drawing/2014/main" id="{9087C244-55BD-4CA7-8480-17CFC737853E}"/>
              </a:ext>
            </a:extLst>
          </p:cNvPr>
          <p:cNvSpPr/>
          <p:nvPr/>
        </p:nvSpPr>
        <p:spPr>
          <a:xfrm>
            <a:off x="1493843" y="5992179"/>
            <a:ext cx="5023472" cy="223520"/>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A1A1A"/>
                </a:solidFill>
                <a:latin typeface="Arial" pitchFamily="34" charset="0"/>
                <a:ea typeface="Arial" pitchFamily="34" charset="-122"/>
                <a:cs typeface="Arial" pitchFamily="34" charset="-120"/>
              </a:rPr>
              <a:t>Daten überleben Container-Updates</a:t>
            </a:r>
            <a:endParaRPr lang="en-US" sz="1300" dirty="0"/>
          </a:p>
        </p:txBody>
      </p:sp>
      <p:sp>
        <p:nvSpPr>
          <p:cNvPr id="49" name="Text 18">
            <a:extLst>
              <a:ext uri="{FF2B5EF4-FFF2-40B4-BE49-F238E27FC236}">
                <a16:creationId xmlns:a16="http://schemas.microsoft.com/office/drawing/2014/main" id="{7B5DF3C5-1AB8-470D-BA56-7C010112BE1C}"/>
              </a:ext>
            </a:extLst>
          </p:cNvPr>
          <p:cNvSpPr/>
          <p:nvPr/>
        </p:nvSpPr>
        <p:spPr>
          <a:xfrm>
            <a:off x="1493843" y="6228399"/>
            <a:ext cx="5023472" cy="20316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6B7280"/>
                </a:solidFill>
                <a:latin typeface="Courier New" pitchFamily="34" charset="0"/>
                <a:ea typeface="Courier New" pitchFamily="34" charset="-122"/>
                <a:cs typeface="Courier New" pitchFamily="34" charset="-120"/>
              </a:rPr>
              <a:t>Bind Mount (nginx) und benanntes Volume (Node-RED)</a:t>
            </a:r>
            <a:endParaRPr lang="en-US" sz="1000" dirty="0"/>
          </a:p>
        </p:txBody>
      </p:sp>
      <p:sp>
        <p:nvSpPr>
          <p:cNvPr id="50" name="Shape 2">
            <a:extLst>
              <a:ext uri="{FF2B5EF4-FFF2-40B4-BE49-F238E27FC236}">
                <a16:creationId xmlns:a16="http://schemas.microsoft.com/office/drawing/2014/main" id="{A7BB55EB-4254-433E-B336-713E7D3464CB}"/>
              </a:ext>
            </a:extLst>
          </p:cNvPr>
          <p:cNvSpPr/>
          <p:nvPr/>
        </p:nvSpPr>
        <p:spPr>
          <a:xfrm>
            <a:off x="8548485" y="1739753"/>
            <a:ext cx="3553635" cy="2002911"/>
          </a:xfrm>
          <a:prstGeom prst="roundRect">
            <a:avLst>
              <a:gd name="adj" fmla="val 4196"/>
            </a:avLst>
          </a:prstGeom>
          <a:solidFill>
            <a:srgbClr val="F5F5F5"/>
          </a:solidFill>
          <a:ln w="6350">
            <a:solidFill>
              <a:srgbClr val="D1D5DB"/>
            </a:solidFill>
            <a:prstDash val="solid"/>
          </a:ln>
        </p:spPr>
      </p:sp>
      <p:sp>
        <p:nvSpPr>
          <p:cNvPr id="51" name="Text 3">
            <a:extLst>
              <a:ext uri="{FF2B5EF4-FFF2-40B4-BE49-F238E27FC236}">
                <a16:creationId xmlns:a16="http://schemas.microsoft.com/office/drawing/2014/main" id="{E863D0F8-7CD7-42D4-A917-596AEF9B92B8}"/>
              </a:ext>
            </a:extLst>
          </p:cNvPr>
          <p:cNvSpPr/>
          <p:nvPr/>
        </p:nvSpPr>
        <p:spPr>
          <a:xfrm>
            <a:off x="8806890" y="1927516"/>
            <a:ext cx="3500000" cy="254000"/>
          </a:xfrm>
          <a:prstGeom prst="rect">
            <a:avLst/>
          </a:prstGeom>
          <a:noFill/>
          <a:ln/>
        </p:spPr>
        <p:txBody>
          <a:bodyPr wrap="square" lIns="0" tIns="0" rIns="0" bIns="0" rtlCol="0" anchor="t">
            <a:normAutofit/>
          </a:bodyPr>
          <a:lstStyle/>
          <a:p>
            <a:pPr marL="0" indent="0" algn="l">
              <a:lnSpc>
                <a:spcPts val="1800"/>
              </a:lnSpc>
              <a:buNone/>
            </a:pPr>
            <a:r>
              <a:rPr lang="en-US" sz="1000" dirty="0">
                <a:solidFill>
                  <a:srgbClr val="1A1A1A"/>
                </a:solidFill>
                <a:latin typeface="Courier New" pitchFamily="34" charset="0"/>
                <a:ea typeface="Courier New" pitchFamily="34" charset="-122"/>
                <a:cs typeface="Courier New" pitchFamily="34" charset="-120"/>
              </a:rPr>
              <a:t>$ docker ps</a:t>
            </a:r>
            <a:endParaRPr lang="en-US" sz="1000" dirty="0"/>
          </a:p>
        </p:txBody>
      </p:sp>
      <p:sp>
        <p:nvSpPr>
          <p:cNvPr id="52" name="Text 4">
            <a:extLst>
              <a:ext uri="{FF2B5EF4-FFF2-40B4-BE49-F238E27FC236}">
                <a16:creationId xmlns:a16="http://schemas.microsoft.com/office/drawing/2014/main" id="{EE5EA43F-AF5F-404C-8EC3-30CD7871DE14}"/>
              </a:ext>
            </a:extLst>
          </p:cNvPr>
          <p:cNvSpPr/>
          <p:nvPr/>
        </p:nvSpPr>
        <p:spPr>
          <a:xfrm>
            <a:off x="8806890" y="2219576"/>
            <a:ext cx="3500000" cy="254000"/>
          </a:xfrm>
          <a:prstGeom prst="rect">
            <a:avLst/>
          </a:prstGeom>
          <a:noFill/>
          <a:ln/>
        </p:spPr>
        <p:txBody>
          <a:bodyPr wrap="square" lIns="0" tIns="0" rIns="0" bIns="0" rtlCol="0" anchor="t">
            <a:normAutofit/>
          </a:bodyPr>
          <a:lstStyle/>
          <a:p>
            <a:pPr marL="0" indent="0" algn="l">
              <a:lnSpc>
                <a:spcPts val="1800"/>
              </a:lnSpc>
              <a:buNone/>
            </a:pPr>
            <a:r>
              <a:rPr lang="en-US" sz="1000" dirty="0">
                <a:solidFill>
                  <a:srgbClr val="1A1A1A"/>
                </a:solidFill>
                <a:latin typeface="Courier New" pitchFamily="34" charset="0"/>
                <a:ea typeface="Courier New" pitchFamily="34" charset="-122"/>
                <a:cs typeface="Courier New" pitchFamily="34" charset="-120"/>
              </a:rPr>
              <a:t>nginx-web   Up · 127.0.0.1:8080-&gt;80</a:t>
            </a:r>
            <a:endParaRPr lang="en-US" sz="1000" dirty="0"/>
          </a:p>
        </p:txBody>
      </p:sp>
      <p:sp>
        <p:nvSpPr>
          <p:cNvPr id="53" name="Text 5">
            <a:extLst>
              <a:ext uri="{FF2B5EF4-FFF2-40B4-BE49-F238E27FC236}">
                <a16:creationId xmlns:a16="http://schemas.microsoft.com/office/drawing/2014/main" id="{79A4DC1E-2BB3-445C-B1DD-C8C24B58D896}"/>
              </a:ext>
            </a:extLst>
          </p:cNvPr>
          <p:cNvSpPr/>
          <p:nvPr/>
        </p:nvSpPr>
        <p:spPr>
          <a:xfrm>
            <a:off x="8806890" y="2511637"/>
            <a:ext cx="3500000" cy="254000"/>
          </a:xfrm>
          <a:prstGeom prst="rect">
            <a:avLst/>
          </a:prstGeom>
          <a:noFill/>
          <a:ln/>
        </p:spPr>
        <p:txBody>
          <a:bodyPr wrap="square" lIns="0" tIns="0" rIns="0" bIns="0" rtlCol="0" anchor="t">
            <a:normAutofit/>
          </a:bodyPr>
          <a:lstStyle/>
          <a:p>
            <a:pPr marL="0" indent="0" algn="l">
              <a:lnSpc>
                <a:spcPts val="1800"/>
              </a:lnSpc>
              <a:buNone/>
            </a:pPr>
            <a:r>
              <a:rPr lang="en-US" sz="1000" dirty="0">
                <a:solidFill>
                  <a:srgbClr val="1A1A1A"/>
                </a:solidFill>
                <a:latin typeface="Courier New" pitchFamily="34" charset="0"/>
                <a:ea typeface="Courier New" pitchFamily="34" charset="-122"/>
                <a:cs typeface="Courier New" pitchFamily="34" charset="-120"/>
              </a:rPr>
              <a:t>nodered     Up · 127.0.0.1:1880-&gt;1880</a:t>
            </a:r>
            <a:endParaRPr lang="en-US" sz="1000" dirty="0"/>
          </a:p>
        </p:txBody>
      </p:sp>
      <p:sp>
        <p:nvSpPr>
          <p:cNvPr id="54" name="Text 6">
            <a:extLst>
              <a:ext uri="{FF2B5EF4-FFF2-40B4-BE49-F238E27FC236}">
                <a16:creationId xmlns:a16="http://schemas.microsoft.com/office/drawing/2014/main" id="{B8194AB6-C611-4B81-A202-63DC7C6E8CC8}"/>
              </a:ext>
            </a:extLst>
          </p:cNvPr>
          <p:cNvSpPr/>
          <p:nvPr/>
        </p:nvSpPr>
        <p:spPr>
          <a:xfrm>
            <a:off x="8806890" y="2803697"/>
            <a:ext cx="3500000" cy="254000"/>
          </a:xfrm>
          <a:prstGeom prst="rect">
            <a:avLst/>
          </a:prstGeom>
          <a:noFill/>
          <a:ln/>
        </p:spPr>
        <p:txBody>
          <a:bodyPr wrap="square" lIns="0" tIns="0" rIns="0" bIns="0" rtlCol="0" anchor="t">
            <a:normAutofit/>
          </a:bodyPr>
          <a:lstStyle/>
          <a:p>
            <a:pPr marL="0" indent="0" algn="l">
              <a:lnSpc>
                <a:spcPts val="1800"/>
              </a:lnSpc>
              <a:buNone/>
            </a:pPr>
            <a:endParaRPr lang="en-US" sz="1000" dirty="0"/>
          </a:p>
        </p:txBody>
      </p:sp>
      <p:sp>
        <p:nvSpPr>
          <p:cNvPr id="55" name="Text 7">
            <a:extLst>
              <a:ext uri="{FF2B5EF4-FFF2-40B4-BE49-F238E27FC236}">
                <a16:creationId xmlns:a16="http://schemas.microsoft.com/office/drawing/2014/main" id="{086F7CC9-C822-4419-A0A1-4680B8AE6C36}"/>
              </a:ext>
            </a:extLst>
          </p:cNvPr>
          <p:cNvSpPr/>
          <p:nvPr/>
        </p:nvSpPr>
        <p:spPr>
          <a:xfrm>
            <a:off x="8806890" y="3095758"/>
            <a:ext cx="3500000" cy="254000"/>
          </a:xfrm>
          <a:prstGeom prst="rect">
            <a:avLst/>
          </a:prstGeom>
          <a:noFill/>
          <a:ln/>
        </p:spPr>
        <p:txBody>
          <a:bodyPr wrap="square" lIns="0" tIns="0" rIns="0" bIns="0" rtlCol="0" anchor="t">
            <a:normAutofit/>
          </a:bodyPr>
          <a:lstStyle/>
          <a:p>
            <a:pPr marL="0" indent="0" algn="l">
              <a:lnSpc>
                <a:spcPts val="1800"/>
              </a:lnSpc>
              <a:buNone/>
            </a:pPr>
            <a:r>
              <a:rPr lang="en-US" sz="1000" dirty="0">
                <a:solidFill>
                  <a:srgbClr val="1A1A1A"/>
                </a:solidFill>
                <a:latin typeface="Courier New" pitchFamily="34" charset="0"/>
                <a:ea typeface="Courier New" pitchFamily="34" charset="-122"/>
                <a:cs typeface="Courier New" pitchFamily="34" charset="-120"/>
              </a:rPr>
              <a:t>restart-Policy:</a:t>
            </a:r>
            <a:endParaRPr lang="en-US" sz="1000" dirty="0"/>
          </a:p>
        </p:txBody>
      </p:sp>
      <p:sp>
        <p:nvSpPr>
          <p:cNvPr id="56" name="Text 8">
            <a:extLst>
              <a:ext uri="{FF2B5EF4-FFF2-40B4-BE49-F238E27FC236}">
                <a16:creationId xmlns:a16="http://schemas.microsoft.com/office/drawing/2014/main" id="{C9685715-5DDB-40EA-8B83-8BFE9102D87E}"/>
              </a:ext>
            </a:extLst>
          </p:cNvPr>
          <p:cNvSpPr/>
          <p:nvPr/>
        </p:nvSpPr>
        <p:spPr>
          <a:xfrm>
            <a:off x="8806890" y="3387818"/>
            <a:ext cx="3500000" cy="254000"/>
          </a:xfrm>
          <a:prstGeom prst="rect">
            <a:avLst/>
          </a:prstGeom>
          <a:noFill/>
          <a:ln/>
        </p:spPr>
        <p:txBody>
          <a:bodyPr wrap="square" lIns="0" tIns="0" rIns="0" bIns="0" rtlCol="0" anchor="t">
            <a:normAutofit/>
          </a:bodyPr>
          <a:lstStyle/>
          <a:p>
            <a:pPr marL="0" indent="0" algn="l">
              <a:lnSpc>
                <a:spcPts val="1800"/>
              </a:lnSpc>
              <a:buNone/>
            </a:pPr>
            <a:r>
              <a:rPr lang="en-US" sz="1000" b="1" dirty="0">
                <a:solidFill>
                  <a:srgbClr val="1A1A1A"/>
                </a:solidFill>
                <a:latin typeface="Courier New" pitchFamily="34" charset="0"/>
                <a:ea typeface="Courier New" pitchFamily="34" charset="-122"/>
                <a:cs typeface="Courier New" pitchFamily="34" charset="-120"/>
              </a:rPr>
              <a:t>unless-stopped (beide Container)</a:t>
            </a:r>
            <a:endParaRPr lang="en-US" sz="1000" dirty="0"/>
          </a:p>
        </p:txBody>
      </p:sp>
      <p:grpSp>
        <p:nvGrpSpPr>
          <p:cNvPr id="57" name="Gruppieren 56">
            <a:extLst>
              <a:ext uri="{FF2B5EF4-FFF2-40B4-BE49-F238E27FC236}">
                <a16:creationId xmlns:a16="http://schemas.microsoft.com/office/drawing/2014/main" id="{BD0C9F41-076D-42D9-8246-8406ADBBCD4E}"/>
              </a:ext>
            </a:extLst>
          </p:cNvPr>
          <p:cNvGrpSpPr/>
          <p:nvPr/>
        </p:nvGrpSpPr>
        <p:grpSpPr>
          <a:xfrm>
            <a:off x="492067" y="2792493"/>
            <a:ext cx="1351659" cy="1017731"/>
            <a:chOff x="1277241" y="1717910"/>
            <a:chExt cx="1351659" cy="1017731"/>
          </a:xfrm>
        </p:grpSpPr>
        <p:pic>
          <p:nvPicPr>
            <p:cNvPr id="58" name="Grafik 57">
              <a:extLst>
                <a:ext uri="{FF2B5EF4-FFF2-40B4-BE49-F238E27FC236}">
                  <a16:creationId xmlns:a16="http://schemas.microsoft.com/office/drawing/2014/main" id="{DF31A487-DFBC-477A-B3E4-7D124DDF20A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flipH="1">
              <a:off x="1509841" y="1717910"/>
              <a:ext cx="847584" cy="1017731"/>
            </a:xfrm>
            <a:prstGeom prst="rect">
              <a:avLst/>
            </a:prstGeom>
          </p:spPr>
        </p:pic>
        <p:sp>
          <p:nvSpPr>
            <p:cNvPr id="59" name="Text 9">
              <a:extLst>
                <a:ext uri="{FF2B5EF4-FFF2-40B4-BE49-F238E27FC236}">
                  <a16:creationId xmlns:a16="http://schemas.microsoft.com/office/drawing/2014/main" id="{63E311FE-87E9-4F46-9EA9-CAC1C93B669B}"/>
                </a:ext>
              </a:extLst>
            </p:cNvPr>
            <p:cNvSpPr txBox="1"/>
            <p:nvPr/>
          </p:nvSpPr>
          <p:spPr>
            <a:xfrm>
              <a:off x="1277241" y="182226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CLIENT</a:t>
              </a:r>
              <a:endParaRPr lang="en-US" sz="1300" dirty="0">
                <a:solidFill>
                  <a:srgbClr val="0061AF"/>
                </a:solidFill>
              </a:endParaRPr>
            </a:p>
          </p:txBody>
        </p:sp>
      </p:grpSp>
      <p:grpSp>
        <p:nvGrpSpPr>
          <p:cNvPr id="60" name="Gruppieren 59">
            <a:extLst>
              <a:ext uri="{FF2B5EF4-FFF2-40B4-BE49-F238E27FC236}">
                <a16:creationId xmlns:a16="http://schemas.microsoft.com/office/drawing/2014/main" id="{E3D05772-2A79-44E3-8BA9-4BA93265710C}"/>
              </a:ext>
            </a:extLst>
          </p:cNvPr>
          <p:cNvGrpSpPr/>
          <p:nvPr/>
        </p:nvGrpSpPr>
        <p:grpSpPr>
          <a:xfrm>
            <a:off x="2427109" y="1595358"/>
            <a:ext cx="1351659" cy="985018"/>
            <a:chOff x="9848849" y="1767865"/>
            <a:chExt cx="1351659" cy="985018"/>
          </a:xfrm>
        </p:grpSpPr>
        <p:sp>
          <p:nvSpPr>
            <p:cNvPr id="61" name="Rechteck 60">
              <a:extLst>
                <a:ext uri="{FF2B5EF4-FFF2-40B4-BE49-F238E27FC236}">
                  <a16:creationId xmlns:a16="http://schemas.microsoft.com/office/drawing/2014/main" id="{CA6EB264-C0BA-46C4-AC70-DDD04008783B}"/>
                </a:ext>
              </a:extLst>
            </p:cNvPr>
            <p:cNvSpPr/>
            <p:nvPr/>
          </p:nvSpPr>
          <p:spPr>
            <a:xfrm>
              <a:off x="10160000" y="1767865"/>
              <a:ext cx="729358" cy="985018"/>
            </a:xfrm>
            <a:prstGeom prst="rect">
              <a:avLst/>
            </a:prstGeom>
            <a:solidFill>
              <a:srgbClr val="E7E7E9"/>
            </a:solidFill>
            <a:ln w="47625">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cxnSp>
          <p:nvCxnSpPr>
            <p:cNvPr id="62" name="Gerader Verbinder 61">
              <a:extLst>
                <a:ext uri="{FF2B5EF4-FFF2-40B4-BE49-F238E27FC236}">
                  <a16:creationId xmlns:a16="http://schemas.microsoft.com/office/drawing/2014/main" id="{8D0933F7-EAC4-47FE-B330-7D8267716464}"/>
                </a:ext>
              </a:extLst>
            </p:cNvPr>
            <p:cNvCxnSpPr>
              <a:cxnSpLocks/>
            </p:cNvCxnSpPr>
            <p:nvPr/>
          </p:nvCxnSpPr>
          <p:spPr>
            <a:xfrm>
              <a:off x="10274154" y="2341045"/>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63" name="Gerader Verbinder 62">
              <a:extLst>
                <a:ext uri="{FF2B5EF4-FFF2-40B4-BE49-F238E27FC236}">
                  <a16:creationId xmlns:a16="http://schemas.microsoft.com/office/drawing/2014/main" id="{A5873910-0D9F-4B87-B73E-5D80DF9AF71D}"/>
                </a:ext>
              </a:extLst>
            </p:cNvPr>
            <p:cNvCxnSpPr>
              <a:cxnSpLocks/>
            </p:cNvCxnSpPr>
            <p:nvPr/>
          </p:nvCxnSpPr>
          <p:spPr>
            <a:xfrm>
              <a:off x="10274154" y="2441810"/>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F65E0B38-28DB-4565-AD84-38413A0D7874}"/>
                </a:ext>
              </a:extLst>
            </p:cNvPr>
            <p:cNvCxnSpPr>
              <a:cxnSpLocks/>
            </p:cNvCxnSpPr>
            <p:nvPr/>
          </p:nvCxnSpPr>
          <p:spPr>
            <a:xfrm>
              <a:off x="10274154" y="2567286"/>
              <a:ext cx="279692" cy="0"/>
            </a:xfrm>
            <a:prstGeom prst="line">
              <a:avLst/>
            </a:prstGeom>
            <a:ln w="31750">
              <a:solidFill>
                <a:srgbClr val="005AA8"/>
              </a:solidFill>
            </a:ln>
          </p:spPr>
          <p:style>
            <a:lnRef idx="1">
              <a:schemeClr val="accent1"/>
            </a:lnRef>
            <a:fillRef idx="0">
              <a:schemeClr val="accent1"/>
            </a:fillRef>
            <a:effectRef idx="0">
              <a:schemeClr val="accent1"/>
            </a:effectRef>
            <a:fontRef idx="minor">
              <a:schemeClr val="tx1"/>
            </a:fontRef>
          </p:style>
        </p:cxnSp>
        <p:sp>
          <p:nvSpPr>
            <p:cNvPr id="65" name="Ellipse 64">
              <a:extLst>
                <a:ext uri="{FF2B5EF4-FFF2-40B4-BE49-F238E27FC236}">
                  <a16:creationId xmlns:a16="http://schemas.microsoft.com/office/drawing/2014/main" id="{66F50FE2-91FF-45B1-BF5B-95B224F5FFBE}"/>
                </a:ext>
              </a:extLst>
            </p:cNvPr>
            <p:cNvSpPr/>
            <p:nvPr/>
          </p:nvSpPr>
          <p:spPr>
            <a:xfrm>
              <a:off x="10553846" y="1942465"/>
              <a:ext cx="162565" cy="162000"/>
            </a:xfrm>
            <a:prstGeom prst="ellipse">
              <a:avLst/>
            </a:prstGeom>
            <a:solidFill>
              <a:srgbClr val="E7E7E9"/>
            </a:solidFill>
            <a:ln w="38100">
              <a:solidFill>
                <a:srgbClr val="005AA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Text 9">
              <a:extLst>
                <a:ext uri="{FF2B5EF4-FFF2-40B4-BE49-F238E27FC236}">
                  <a16:creationId xmlns:a16="http://schemas.microsoft.com/office/drawing/2014/main" id="{C80E50A8-B92A-46D2-8FB2-73FFD230B848}"/>
                </a:ext>
              </a:extLst>
            </p:cNvPr>
            <p:cNvSpPr txBox="1"/>
            <p:nvPr/>
          </p:nvSpPr>
          <p:spPr>
            <a:xfrm>
              <a:off x="9848849" y="2000031"/>
              <a:ext cx="1351659" cy="420624"/>
            </a:xfrm>
            <a:prstGeom prst="rect">
              <a:avLst/>
            </a:prstGeom>
            <a:noFill/>
            <a:ln>
              <a:noFill/>
            </a:ln>
          </p:spPr>
          <p:txBody>
            <a:bodyPr wrap="square" lIns="0" tIns="0" rIns="0" bIns="0" rtlCol="0" anchor="ctr"/>
            <a:lstStyle/>
            <a:p>
              <a:pPr marL="0" indent="0" algn="ctr">
                <a:buNone/>
              </a:pPr>
              <a:r>
                <a:rPr lang="en-US" sz="1300" b="1" kern="0" spc="100" dirty="0">
                  <a:solidFill>
                    <a:srgbClr val="0061AF"/>
                  </a:solidFill>
                  <a:latin typeface="Calibri" pitchFamily="34" charset="0"/>
                  <a:ea typeface="Calibri" pitchFamily="34" charset="-122"/>
                  <a:cs typeface="Calibri" pitchFamily="34" charset="-120"/>
                </a:rPr>
                <a:t>Server</a:t>
              </a:r>
              <a:endParaRPr lang="en-US" sz="1300" dirty="0">
                <a:solidFill>
                  <a:srgbClr val="0061AF"/>
                </a:solidFill>
              </a:endParaRPr>
            </a:p>
          </p:txBody>
        </p:sp>
      </p:grpSp>
      <p:cxnSp>
        <p:nvCxnSpPr>
          <p:cNvPr id="67" name="Connector 66"/>
          <p:cNvCxnSpPr/>
          <p:nvPr/>
        </p:nvCxnSpPr>
        <p:spPr>
          <a:xfrm flipV="1">
            <a:off x="4744400" y="2811780"/>
            <a:ext cx="1244942" cy="525780"/>
          </a:xfrm>
          <a:prstGeom prst="line">
            <a:avLst/>
          </a:prstGeom>
          <a:ln w="19050">
            <a:solidFill>
              <a:srgbClr val="005AA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4744400" y="3337560"/>
            <a:ext cx="1244942" cy="525779"/>
          </a:xfrm>
          <a:prstGeom prst="line">
            <a:avLst/>
          </a:prstGeom>
          <a:ln w="19050">
            <a:solidFill>
              <a:srgbClr val="F2B84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644360" y="3337560"/>
            <a:ext cx="494000" cy="0"/>
          </a:xfrm>
          <a:prstGeom prst="line">
            <a:avLst/>
          </a:prstGeom>
          <a:ln w="19050">
            <a:solidFill>
              <a:srgbClr val="1E2761"/>
            </a:solidFill>
            <a:tailEnd type="triangle" w="med" len="med"/>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1329829" y="3043345"/>
            <a:ext cx="1097280" cy="219456"/>
          </a:xfrm>
          <a:prstGeom prst="rect">
            <a:avLst/>
          </a:prstGeom>
          <a:noFill/>
        </p:spPr>
        <p:txBody>
          <a:bodyPr wrap="square" lIns="0" tIns="0" rIns="0" bIns="0">
            <a:spAutoFit/>
          </a:bodyPr>
          <a:lstStyle/>
          <a:p>
            <a:pPr algn="ctr"/>
            <a:r>
              <a:rPr sz="1100" b="1" i="0">
                <a:solidFill>
                  <a:srgbClr val="1E2761"/>
                </a:solidFill>
                <a:latin typeface="Arial"/>
              </a:rPr>
              <a:t>HTTPS</a:t>
            </a:r>
          </a:p>
        </p:txBody>
      </p:sp>
      <p:sp>
        <p:nvSpPr>
          <p:cNvPr id="71" name="TextBox 70"/>
          <p:cNvSpPr txBox="1"/>
          <p:nvPr/>
        </p:nvSpPr>
        <p:spPr>
          <a:xfrm>
            <a:off x="5989342" y="2222478"/>
            <a:ext cx="2423160" cy="237744"/>
          </a:xfrm>
          <a:prstGeom prst="rect">
            <a:avLst/>
          </a:prstGeom>
          <a:noFill/>
        </p:spPr>
        <p:txBody>
          <a:bodyPr wrap="square" lIns="0" tIns="0" rIns="0" bIns="0">
            <a:spAutoFit/>
          </a:bodyPr>
          <a:lstStyle/>
          <a:p>
            <a:pPr algn="l"/>
            <a:r>
              <a:rPr sz="950" b="0" i="1">
                <a:solidFill>
                  <a:srgbClr val="5B6472"/>
                </a:solidFill>
                <a:latin typeface="Arial"/>
              </a:rPr>
              <a:t>www.&lt;IHRE-DOMAIN&gt;</a:t>
            </a:r>
          </a:p>
        </p:txBody>
      </p:sp>
      <p:sp>
        <p:nvSpPr>
          <p:cNvPr id="72" name="TextBox 71"/>
          <p:cNvSpPr txBox="1"/>
          <p:nvPr/>
        </p:nvSpPr>
        <p:spPr>
          <a:xfrm>
            <a:off x="5989342" y="3274038"/>
            <a:ext cx="2423160" cy="237744"/>
          </a:xfrm>
          <a:prstGeom prst="rect">
            <a:avLst/>
          </a:prstGeom>
          <a:noFill/>
        </p:spPr>
        <p:txBody>
          <a:bodyPr wrap="square" lIns="0" tIns="0" rIns="0" bIns="0">
            <a:spAutoFit/>
          </a:bodyPr>
          <a:lstStyle/>
          <a:p>
            <a:pPr algn="l"/>
            <a:r>
              <a:rPr sz="950" b="0" i="1">
                <a:solidFill>
                  <a:srgbClr val="5B6472"/>
                </a:solidFill>
                <a:latin typeface="Arial"/>
              </a:rPr>
              <a:t>dashboard.&lt;IHRE-DOMAIN&gt;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1" y="274638"/>
            <a:ext cx="10953313" cy="1143000"/>
          </a:xfrm>
        </p:spPr>
        <p:txBody>
          <a:bodyPr/>
          <a:lstStyle/>
          <a:p>
            <a:r>
              <a:rPr lang="de-DE" sz="2400" dirty="0"/>
              <a:t>Bind Mount vs. benanntes Volume</a:t>
            </a:r>
            <a:endParaRPr sz="2400" dirty="0"/>
          </a:p>
        </p:txBody>
      </p:sp>
      <p:sp>
        <p:nvSpPr>
          <p:cNvPr id="5" name="TextBox 4"/>
          <p:cNvSpPr txBox="1"/>
          <p:nvPr/>
        </p:nvSpPr>
        <p:spPr>
          <a:xfrm>
            <a:off x="954348" y="1628601"/>
            <a:ext cx="2724256" cy="230832"/>
          </a:xfrm>
          <a:prstGeom prst="rect">
            <a:avLst/>
          </a:prstGeom>
          <a:noFill/>
        </p:spPr>
        <p:txBody>
          <a:bodyPr wrap="square" lIns="0" tIns="0" rIns="0" bIns="0">
            <a:spAutoFit/>
          </a:bodyPr>
          <a:lstStyle/>
          <a:p>
            <a:pPr algn="l"/>
            <a:r>
              <a:rPr sz="1500" b="1" i="0" dirty="0">
                <a:solidFill>
                  <a:srgbClr val="005AA8"/>
                </a:solidFill>
                <a:latin typeface="Arial"/>
              </a:rPr>
              <a:t>Bind Mount — </a:t>
            </a:r>
            <a:r>
              <a:rPr sz="1500" b="1" i="0" dirty="0" err="1">
                <a:solidFill>
                  <a:srgbClr val="005AA8"/>
                </a:solidFill>
                <a:latin typeface="Arial"/>
              </a:rPr>
              <a:t>nginx</a:t>
            </a:r>
            <a:r>
              <a:rPr sz="1500" b="1" i="0" dirty="0">
                <a:solidFill>
                  <a:srgbClr val="005AA8"/>
                </a:solidFill>
                <a:latin typeface="Arial"/>
              </a:rPr>
              <a:t>-web</a:t>
            </a:r>
          </a:p>
        </p:txBody>
      </p:sp>
      <p:sp>
        <p:nvSpPr>
          <p:cNvPr id="6" name="TextBox 5"/>
          <p:cNvSpPr txBox="1"/>
          <p:nvPr/>
        </p:nvSpPr>
        <p:spPr>
          <a:xfrm>
            <a:off x="8370059" y="1586643"/>
            <a:ext cx="4572000" cy="256032"/>
          </a:xfrm>
          <a:prstGeom prst="rect">
            <a:avLst/>
          </a:prstGeom>
          <a:noFill/>
        </p:spPr>
        <p:txBody>
          <a:bodyPr wrap="square" lIns="0" tIns="0" rIns="0" bIns="0">
            <a:spAutoFit/>
          </a:bodyPr>
          <a:lstStyle/>
          <a:p>
            <a:pPr algn="l"/>
            <a:r>
              <a:rPr sz="1500" b="1" i="0" dirty="0" err="1">
                <a:solidFill>
                  <a:srgbClr val="F2B84B"/>
                </a:solidFill>
                <a:latin typeface="Arial"/>
              </a:rPr>
              <a:t>Benanntes</a:t>
            </a:r>
            <a:r>
              <a:rPr sz="1500" b="1" i="0" dirty="0">
                <a:solidFill>
                  <a:srgbClr val="F2B84B"/>
                </a:solidFill>
                <a:latin typeface="Arial"/>
              </a:rPr>
              <a:t> Volume — </a:t>
            </a:r>
            <a:r>
              <a:rPr sz="1500" b="1" i="0" dirty="0" err="1">
                <a:solidFill>
                  <a:srgbClr val="F2B84B"/>
                </a:solidFill>
                <a:latin typeface="Arial"/>
              </a:rPr>
              <a:t>nodered</a:t>
            </a:r>
            <a:endParaRPr sz="1500" b="1" i="0" dirty="0">
              <a:solidFill>
                <a:srgbClr val="F2B84B"/>
              </a:solidFill>
              <a:latin typeface="Arial"/>
            </a:endParaRPr>
          </a:p>
        </p:txBody>
      </p:sp>
      <p:sp>
        <p:nvSpPr>
          <p:cNvPr id="7" name="Rounded Rectangle 6"/>
          <p:cNvSpPr/>
          <p:nvPr/>
        </p:nvSpPr>
        <p:spPr>
          <a:xfrm>
            <a:off x="822960" y="2011680"/>
            <a:ext cx="2790249" cy="1004568"/>
          </a:xfrm>
          <a:prstGeom prst="roundRect">
            <a:avLst>
              <a:gd name="adj" fmla="val 10000"/>
            </a:avLst>
          </a:prstGeom>
          <a:solidFill>
            <a:srgbClr val="F5F5F5"/>
          </a:solidFill>
          <a:ln w="12700">
            <a:solidFill>
              <a:srgbClr val="005AA8"/>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dirty="0">
                <a:solidFill>
                  <a:srgbClr val="1A1A1A"/>
                </a:solidFill>
                <a:latin typeface="Arial"/>
              </a:rPr>
              <a:t>SPEICHERORT (von </a:t>
            </a:r>
            <a:r>
              <a:rPr sz="1200" b="1" dirty="0" err="1">
                <a:solidFill>
                  <a:srgbClr val="1A1A1A"/>
                </a:solidFill>
                <a:latin typeface="Arial"/>
              </a:rPr>
              <a:t>Ihnen</a:t>
            </a:r>
            <a:r>
              <a:rPr sz="1200" b="1" dirty="0">
                <a:solidFill>
                  <a:srgbClr val="1A1A1A"/>
                </a:solidFill>
                <a:latin typeface="Arial"/>
              </a:rPr>
              <a:t> </a:t>
            </a:r>
            <a:r>
              <a:rPr sz="1200" b="1" dirty="0" err="1">
                <a:solidFill>
                  <a:srgbClr val="1A1A1A"/>
                </a:solidFill>
                <a:latin typeface="Arial"/>
              </a:rPr>
              <a:t>gewählt</a:t>
            </a:r>
            <a:r>
              <a:rPr sz="1200" b="1" dirty="0">
                <a:solidFill>
                  <a:srgbClr val="1A1A1A"/>
                </a:solidFill>
                <a:latin typeface="Arial"/>
              </a:rPr>
              <a:t>):</a:t>
            </a:r>
          </a:p>
          <a:p>
            <a:pPr algn="ctr"/>
            <a:r>
              <a:rPr sz="1200" b="0" dirty="0">
                <a:solidFill>
                  <a:srgbClr val="1A1A1A"/>
                </a:solidFill>
                <a:latin typeface="Arial"/>
              </a:rPr>
              <a:t>/</a:t>
            </a:r>
            <a:r>
              <a:rPr sz="1200" b="0" dirty="0" err="1">
                <a:solidFill>
                  <a:srgbClr val="1A1A1A"/>
                </a:solidFill>
                <a:latin typeface="Arial"/>
              </a:rPr>
              <a:t>srv</a:t>
            </a:r>
            <a:r>
              <a:rPr sz="1200" b="0" dirty="0">
                <a:solidFill>
                  <a:srgbClr val="1A1A1A"/>
                </a:solidFill>
                <a:latin typeface="Arial"/>
              </a:rPr>
              <a:t>/www/</a:t>
            </a:r>
          </a:p>
          <a:p>
            <a:pPr algn="ctr"/>
            <a:r>
              <a:rPr sz="900" b="0" dirty="0">
                <a:solidFill>
                  <a:srgbClr val="5B6472"/>
                </a:solidFill>
                <a:latin typeface="Arial"/>
              </a:rPr>
              <a:t>→ Sie </a:t>
            </a:r>
            <a:r>
              <a:rPr sz="900" b="0" dirty="0" err="1">
                <a:solidFill>
                  <a:srgbClr val="5B6472"/>
                </a:solidFill>
                <a:latin typeface="Arial"/>
              </a:rPr>
              <a:t>legen</a:t>
            </a:r>
            <a:r>
              <a:rPr sz="900" b="0" dirty="0">
                <a:solidFill>
                  <a:srgbClr val="5B6472"/>
                </a:solidFill>
                <a:latin typeface="Arial"/>
              </a:rPr>
              <a:t> den </a:t>
            </a:r>
            <a:r>
              <a:rPr sz="900" b="0" dirty="0" err="1">
                <a:solidFill>
                  <a:srgbClr val="5B6472"/>
                </a:solidFill>
                <a:latin typeface="Arial"/>
              </a:rPr>
              <a:t>absoluten</a:t>
            </a:r>
            <a:r>
              <a:rPr sz="900" b="0" dirty="0">
                <a:solidFill>
                  <a:srgbClr val="5B6472"/>
                </a:solidFill>
                <a:latin typeface="Arial"/>
              </a:rPr>
              <a:t> </a:t>
            </a:r>
            <a:r>
              <a:rPr sz="900" b="0" dirty="0" err="1">
                <a:solidFill>
                  <a:srgbClr val="5B6472"/>
                </a:solidFill>
                <a:latin typeface="Arial"/>
              </a:rPr>
              <a:t>Pfad</a:t>
            </a:r>
            <a:r>
              <a:rPr sz="900" b="0" dirty="0">
                <a:solidFill>
                  <a:srgbClr val="5B6472"/>
                </a:solidFill>
                <a:latin typeface="Arial"/>
              </a:rPr>
              <a:t> fest</a:t>
            </a:r>
          </a:p>
        </p:txBody>
      </p:sp>
      <p:cxnSp>
        <p:nvCxnSpPr>
          <p:cNvPr id="8" name="Connector 7"/>
          <p:cNvCxnSpPr/>
          <p:nvPr/>
        </p:nvCxnSpPr>
        <p:spPr>
          <a:xfrm>
            <a:off x="680029" y="3126271"/>
            <a:ext cx="0" cy="457200"/>
          </a:xfrm>
          <a:prstGeom prst="line">
            <a:avLst/>
          </a:prstGeom>
          <a:ln w="25400">
            <a:solidFill>
              <a:srgbClr val="005A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17189" y="3167434"/>
            <a:ext cx="4206240" cy="219456"/>
          </a:xfrm>
          <a:prstGeom prst="rect">
            <a:avLst/>
          </a:prstGeom>
          <a:noFill/>
        </p:spPr>
        <p:txBody>
          <a:bodyPr wrap="square" lIns="0" tIns="0" rIns="0" bIns="0">
            <a:spAutoFit/>
          </a:bodyPr>
          <a:lstStyle/>
          <a:p>
            <a:pPr algn="l"/>
            <a:r>
              <a:rPr sz="1000" b="0" dirty="0">
                <a:solidFill>
                  <a:srgbClr val="5B6472"/>
                </a:solidFill>
                <a:latin typeface="Courier New"/>
              </a:rPr>
              <a:t>-v </a:t>
            </a:r>
            <a:r>
              <a:rPr sz="1000" b="0" dirty="0">
                <a:solidFill>
                  <a:srgbClr val="005AA8"/>
                </a:solidFill>
                <a:latin typeface="Courier New"/>
              </a:rPr>
              <a:t>/</a:t>
            </a:r>
            <a:r>
              <a:rPr sz="1000" b="0" dirty="0" err="1">
                <a:solidFill>
                  <a:srgbClr val="005AA8"/>
                </a:solidFill>
                <a:latin typeface="Courier New"/>
              </a:rPr>
              <a:t>srv</a:t>
            </a:r>
            <a:r>
              <a:rPr sz="1000" b="0" dirty="0">
                <a:solidFill>
                  <a:srgbClr val="005AA8"/>
                </a:solidFill>
                <a:latin typeface="Courier New"/>
              </a:rPr>
              <a:t>/www</a:t>
            </a:r>
            <a:r>
              <a:rPr sz="1000" b="1" dirty="0">
                <a:solidFill>
                  <a:srgbClr val="1A1A1A"/>
                </a:solidFill>
                <a:latin typeface="Courier New"/>
              </a:rPr>
              <a:t>:</a:t>
            </a:r>
            <a:r>
              <a:rPr sz="1000" b="0" dirty="0">
                <a:solidFill>
                  <a:srgbClr val="1E2761"/>
                </a:solidFill>
                <a:latin typeface="Courier New"/>
              </a:rPr>
              <a:t>/</a:t>
            </a:r>
            <a:r>
              <a:rPr sz="1000" b="0" dirty="0" err="1">
                <a:solidFill>
                  <a:srgbClr val="1E2761"/>
                </a:solidFill>
                <a:latin typeface="Courier New"/>
              </a:rPr>
              <a:t>usr</a:t>
            </a:r>
            <a:r>
              <a:rPr sz="1000" b="0" dirty="0">
                <a:solidFill>
                  <a:srgbClr val="1E2761"/>
                </a:solidFill>
                <a:latin typeface="Courier New"/>
              </a:rPr>
              <a:t>/share/</a:t>
            </a:r>
            <a:r>
              <a:rPr sz="1000" b="0" dirty="0" err="1">
                <a:solidFill>
                  <a:srgbClr val="1E2761"/>
                </a:solidFill>
                <a:latin typeface="Courier New"/>
              </a:rPr>
              <a:t>nginx</a:t>
            </a:r>
            <a:r>
              <a:rPr sz="1000" b="0" dirty="0">
                <a:solidFill>
                  <a:srgbClr val="1E2761"/>
                </a:solidFill>
                <a:latin typeface="Courier New"/>
              </a:rPr>
              <a:t>/</a:t>
            </a:r>
            <a:r>
              <a:rPr sz="1000" b="0" dirty="0" err="1">
                <a:solidFill>
                  <a:srgbClr val="1E2761"/>
                </a:solidFill>
                <a:latin typeface="Courier New"/>
              </a:rPr>
              <a:t>html</a:t>
            </a:r>
            <a:r>
              <a:rPr sz="1000" b="0" dirty="0" err="1">
                <a:solidFill>
                  <a:srgbClr val="5B6472"/>
                </a:solidFill>
                <a:latin typeface="Courier New"/>
              </a:rPr>
              <a:t>:ro</a:t>
            </a:r>
            <a:endParaRPr sz="1000" b="0" dirty="0">
              <a:solidFill>
                <a:srgbClr val="5B6472"/>
              </a:solidFill>
              <a:latin typeface="Courier New"/>
            </a:endParaRPr>
          </a:p>
        </p:txBody>
      </p:sp>
      <p:sp>
        <p:nvSpPr>
          <p:cNvPr id="10" name="TextBox 9"/>
          <p:cNvSpPr txBox="1"/>
          <p:nvPr/>
        </p:nvSpPr>
        <p:spPr>
          <a:xfrm>
            <a:off x="954348" y="3378397"/>
            <a:ext cx="4206240" cy="201168"/>
          </a:xfrm>
          <a:prstGeom prst="rect">
            <a:avLst/>
          </a:prstGeom>
          <a:noFill/>
        </p:spPr>
        <p:txBody>
          <a:bodyPr wrap="square" lIns="0" tIns="0" rIns="0" bIns="0">
            <a:spAutoFit/>
          </a:bodyPr>
          <a:lstStyle/>
          <a:p>
            <a:pPr algn="l"/>
            <a:r>
              <a:rPr sz="800" b="0" i="1" dirty="0">
                <a:solidFill>
                  <a:srgbClr val="5B6472"/>
                </a:solidFill>
                <a:latin typeface="Arial"/>
              </a:rPr>
              <a:t>links = </a:t>
            </a:r>
            <a:r>
              <a:rPr sz="800" b="0" i="1" dirty="0" err="1">
                <a:solidFill>
                  <a:srgbClr val="5B6472"/>
                </a:solidFill>
                <a:latin typeface="Arial"/>
              </a:rPr>
              <a:t>Hostpfad</a:t>
            </a:r>
            <a:r>
              <a:rPr sz="800" b="0" i="1" dirty="0">
                <a:solidFill>
                  <a:srgbClr val="5B6472"/>
                </a:solidFill>
                <a:latin typeface="Arial"/>
              </a:rPr>
              <a:t>   ·   </a:t>
            </a:r>
            <a:r>
              <a:rPr sz="800" b="0" i="1" dirty="0" err="1">
                <a:solidFill>
                  <a:srgbClr val="5B6472"/>
                </a:solidFill>
                <a:latin typeface="Arial"/>
              </a:rPr>
              <a:t>rechts</a:t>
            </a:r>
            <a:r>
              <a:rPr sz="800" b="0" i="1" dirty="0">
                <a:solidFill>
                  <a:srgbClr val="5B6472"/>
                </a:solidFill>
                <a:latin typeface="Arial"/>
              </a:rPr>
              <a:t> = </a:t>
            </a:r>
            <a:r>
              <a:rPr sz="800" b="0" i="1" dirty="0" err="1">
                <a:solidFill>
                  <a:srgbClr val="5B6472"/>
                </a:solidFill>
                <a:latin typeface="Arial"/>
              </a:rPr>
              <a:t>Containerpfad</a:t>
            </a:r>
            <a:endParaRPr sz="800" b="0" i="1" dirty="0">
              <a:solidFill>
                <a:srgbClr val="5B6472"/>
              </a:solidFill>
              <a:latin typeface="Arial"/>
            </a:endParaRPr>
          </a:p>
        </p:txBody>
      </p:sp>
      <p:sp>
        <p:nvSpPr>
          <p:cNvPr id="11" name="Rounded Rectangle 10"/>
          <p:cNvSpPr/>
          <p:nvPr/>
        </p:nvSpPr>
        <p:spPr>
          <a:xfrm>
            <a:off x="822960" y="3749039"/>
            <a:ext cx="2790247" cy="574801"/>
          </a:xfrm>
          <a:prstGeom prst="roundRect">
            <a:avLst>
              <a:gd name="adj" fmla="val 10000"/>
            </a:avLst>
          </a:prstGeom>
          <a:solidFill>
            <a:srgbClr val="F5F5F5"/>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dirty="0">
                <a:solidFill>
                  <a:srgbClr val="1A1A1A"/>
                </a:solidFill>
                <a:latin typeface="Arial"/>
              </a:rPr>
              <a:t>CONTAINERPFAD (</a:t>
            </a:r>
            <a:r>
              <a:rPr sz="1200" b="1" dirty="0" err="1">
                <a:solidFill>
                  <a:srgbClr val="1A1A1A"/>
                </a:solidFill>
                <a:latin typeface="Arial"/>
              </a:rPr>
              <a:t>nginx</a:t>
            </a:r>
            <a:r>
              <a:rPr sz="1200" b="1" dirty="0">
                <a:solidFill>
                  <a:srgbClr val="1A1A1A"/>
                </a:solidFill>
                <a:latin typeface="Arial"/>
              </a:rPr>
              <a:t>-web):</a:t>
            </a:r>
          </a:p>
          <a:p>
            <a:pPr algn="ctr"/>
            <a:r>
              <a:rPr sz="1200" b="0" dirty="0">
                <a:solidFill>
                  <a:srgbClr val="1A1A1A"/>
                </a:solidFill>
                <a:latin typeface="Arial"/>
              </a:rPr>
              <a:t>/</a:t>
            </a:r>
            <a:r>
              <a:rPr sz="1200" b="0" dirty="0" err="1">
                <a:solidFill>
                  <a:srgbClr val="1A1A1A"/>
                </a:solidFill>
                <a:latin typeface="Arial"/>
              </a:rPr>
              <a:t>usr</a:t>
            </a:r>
            <a:r>
              <a:rPr sz="1200" b="0" dirty="0">
                <a:solidFill>
                  <a:srgbClr val="1A1A1A"/>
                </a:solidFill>
                <a:latin typeface="Arial"/>
              </a:rPr>
              <a:t>/share/</a:t>
            </a:r>
            <a:r>
              <a:rPr sz="1200" b="0" dirty="0" err="1">
                <a:solidFill>
                  <a:srgbClr val="1A1A1A"/>
                </a:solidFill>
                <a:latin typeface="Arial"/>
              </a:rPr>
              <a:t>nginx</a:t>
            </a:r>
            <a:r>
              <a:rPr sz="1200" b="0" dirty="0">
                <a:solidFill>
                  <a:srgbClr val="1A1A1A"/>
                </a:solidFill>
                <a:latin typeface="Arial"/>
              </a:rPr>
              <a:t>/html/</a:t>
            </a:r>
          </a:p>
        </p:txBody>
      </p:sp>
      <p:sp>
        <p:nvSpPr>
          <p:cNvPr id="12" name="TextBox 11"/>
          <p:cNvSpPr txBox="1"/>
          <p:nvPr/>
        </p:nvSpPr>
        <p:spPr>
          <a:xfrm>
            <a:off x="-242360" y="4591290"/>
            <a:ext cx="4206240" cy="237744"/>
          </a:xfrm>
          <a:prstGeom prst="rect">
            <a:avLst/>
          </a:prstGeom>
          <a:noFill/>
        </p:spPr>
        <p:txBody>
          <a:bodyPr wrap="square" lIns="0" tIns="0" rIns="0" bIns="0">
            <a:spAutoFit/>
          </a:bodyPr>
          <a:lstStyle/>
          <a:p>
            <a:pPr algn="ctr"/>
            <a:r>
              <a:rPr sz="1200" b="0" i="1" dirty="0" err="1">
                <a:solidFill>
                  <a:srgbClr val="5B6472"/>
                </a:solidFill>
                <a:latin typeface="Arial"/>
              </a:rPr>
              <a:t>Beide</a:t>
            </a:r>
            <a:r>
              <a:rPr sz="1200" b="0" i="1" dirty="0">
                <a:solidFill>
                  <a:srgbClr val="5B6472"/>
                </a:solidFill>
                <a:latin typeface="Arial"/>
              </a:rPr>
              <a:t> </a:t>
            </a:r>
            <a:r>
              <a:rPr sz="1200" b="0" i="1" dirty="0" err="1">
                <a:solidFill>
                  <a:srgbClr val="5B6472"/>
                </a:solidFill>
                <a:latin typeface="Arial"/>
              </a:rPr>
              <a:t>Pfade</a:t>
            </a:r>
            <a:r>
              <a:rPr sz="1200" b="0" i="1" dirty="0">
                <a:solidFill>
                  <a:srgbClr val="5B6472"/>
                </a:solidFill>
                <a:latin typeface="Arial"/>
              </a:rPr>
              <a:t> </a:t>
            </a:r>
            <a:r>
              <a:rPr sz="1200" b="0" i="1" dirty="0" err="1">
                <a:solidFill>
                  <a:srgbClr val="5B6472"/>
                </a:solidFill>
                <a:latin typeface="Arial"/>
              </a:rPr>
              <a:t>legen</a:t>
            </a:r>
            <a:r>
              <a:rPr sz="1200" b="0" i="1" dirty="0">
                <a:solidFill>
                  <a:srgbClr val="5B6472"/>
                </a:solidFill>
                <a:latin typeface="Arial"/>
              </a:rPr>
              <a:t> Sie </a:t>
            </a:r>
            <a:r>
              <a:rPr sz="1200" b="0" i="1" dirty="0" err="1">
                <a:solidFill>
                  <a:srgbClr val="5B6472"/>
                </a:solidFill>
                <a:latin typeface="Arial"/>
              </a:rPr>
              <a:t>direkt</a:t>
            </a:r>
            <a:r>
              <a:rPr sz="1200" b="0" i="1" dirty="0">
                <a:solidFill>
                  <a:srgbClr val="5B6472"/>
                </a:solidFill>
                <a:latin typeface="Arial"/>
              </a:rPr>
              <a:t> fest</a:t>
            </a:r>
          </a:p>
        </p:txBody>
      </p:sp>
      <p:sp>
        <p:nvSpPr>
          <p:cNvPr id="13" name="Rounded Rectangle 12"/>
          <p:cNvSpPr/>
          <p:nvPr/>
        </p:nvSpPr>
        <p:spPr>
          <a:xfrm>
            <a:off x="8229603" y="1965960"/>
            <a:ext cx="3502674" cy="1004568"/>
          </a:xfrm>
          <a:prstGeom prst="roundRect">
            <a:avLst>
              <a:gd name="adj" fmla="val 10000"/>
            </a:avLst>
          </a:prstGeom>
          <a:solidFill>
            <a:srgbClr val="F5F5F5"/>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dirty="0">
                <a:solidFill>
                  <a:srgbClr val="1A1A1A"/>
                </a:solidFill>
                <a:latin typeface="Arial"/>
              </a:rPr>
              <a:t>SPEICHERORT (Docker-</a:t>
            </a:r>
            <a:r>
              <a:rPr sz="1200" b="1" dirty="0" err="1">
                <a:solidFill>
                  <a:srgbClr val="1A1A1A"/>
                </a:solidFill>
                <a:latin typeface="Arial"/>
              </a:rPr>
              <a:t>verwaltet</a:t>
            </a:r>
            <a:r>
              <a:rPr sz="1200" b="1" dirty="0">
                <a:solidFill>
                  <a:srgbClr val="1A1A1A"/>
                </a:solidFill>
                <a:latin typeface="Arial"/>
              </a:rPr>
              <a:t>):</a:t>
            </a:r>
          </a:p>
          <a:p>
            <a:pPr algn="ctr"/>
            <a:r>
              <a:rPr sz="1400" b="0" dirty="0">
                <a:solidFill>
                  <a:srgbClr val="1A1A1A"/>
                </a:solidFill>
                <a:latin typeface="Arial"/>
              </a:rPr>
              <a:t>Name: </a:t>
            </a:r>
            <a:r>
              <a:rPr sz="1400" b="0" dirty="0" err="1">
                <a:solidFill>
                  <a:srgbClr val="1A1A1A"/>
                </a:solidFill>
                <a:latin typeface="Arial"/>
              </a:rPr>
              <a:t>nodered</a:t>
            </a:r>
            <a:r>
              <a:rPr sz="1400" b="0" dirty="0">
                <a:solidFill>
                  <a:srgbClr val="1A1A1A"/>
                </a:solidFill>
                <a:latin typeface="Arial"/>
              </a:rPr>
              <a:t>-data</a:t>
            </a:r>
          </a:p>
          <a:p>
            <a:pPr algn="ctr"/>
            <a:r>
              <a:rPr sz="900" b="0" dirty="0">
                <a:solidFill>
                  <a:srgbClr val="5B6472"/>
                </a:solidFill>
                <a:latin typeface="Arial"/>
              </a:rPr>
              <a:t>→ Docker </a:t>
            </a:r>
            <a:r>
              <a:rPr sz="900" b="0" dirty="0" err="1">
                <a:solidFill>
                  <a:srgbClr val="5B6472"/>
                </a:solidFill>
                <a:latin typeface="Arial"/>
              </a:rPr>
              <a:t>vergibt</a:t>
            </a:r>
            <a:r>
              <a:rPr sz="900" b="0" dirty="0">
                <a:solidFill>
                  <a:srgbClr val="5B6472"/>
                </a:solidFill>
                <a:latin typeface="Arial"/>
              </a:rPr>
              <a:t> den </a:t>
            </a:r>
            <a:r>
              <a:rPr sz="900" b="0" dirty="0" err="1">
                <a:solidFill>
                  <a:srgbClr val="5B6472"/>
                </a:solidFill>
                <a:latin typeface="Arial"/>
              </a:rPr>
              <a:t>absoluten</a:t>
            </a:r>
            <a:r>
              <a:rPr sz="900" b="0" dirty="0">
                <a:solidFill>
                  <a:srgbClr val="5B6472"/>
                </a:solidFill>
                <a:latin typeface="Arial"/>
              </a:rPr>
              <a:t> </a:t>
            </a:r>
            <a:r>
              <a:rPr sz="900" b="0" dirty="0" err="1">
                <a:solidFill>
                  <a:srgbClr val="5B6472"/>
                </a:solidFill>
                <a:latin typeface="Arial"/>
              </a:rPr>
              <a:t>Pfad</a:t>
            </a:r>
            <a:r>
              <a:rPr sz="900" b="0" dirty="0">
                <a:solidFill>
                  <a:srgbClr val="5B6472"/>
                </a:solidFill>
                <a:latin typeface="Arial"/>
              </a:rPr>
              <a:t>:</a:t>
            </a:r>
          </a:p>
          <a:p>
            <a:pPr algn="ctr"/>
            <a:r>
              <a:rPr sz="900" b="0" dirty="0">
                <a:solidFill>
                  <a:srgbClr val="5B6472"/>
                </a:solidFill>
                <a:latin typeface="Arial"/>
              </a:rPr>
              <a:t>/var/lib/docker/volumes/…/_data</a:t>
            </a:r>
          </a:p>
        </p:txBody>
      </p:sp>
      <p:cxnSp>
        <p:nvCxnSpPr>
          <p:cNvPr id="14" name="Connector 13"/>
          <p:cNvCxnSpPr/>
          <p:nvPr/>
        </p:nvCxnSpPr>
        <p:spPr>
          <a:xfrm>
            <a:off x="8370059" y="3149797"/>
            <a:ext cx="0" cy="457200"/>
          </a:xfrm>
          <a:prstGeom prst="line">
            <a:avLst/>
          </a:prstGeom>
          <a:ln w="25400">
            <a:solidFill>
              <a:srgbClr val="C99A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478939" y="3112419"/>
            <a:ext cx="4023360" cy="219456"/>
          </a:xfrm>
          <a:prstGeom prst="rect">
            <a:avLst/>
          </a:prstGeom>
          <a:noFill/>
        </p:spPr>
        <p:txBody>
          <a:bodyPr wrap="square" lIns="0" tIns="0" rIns="0" bIns="0">
            <a:spAutoFit/>
          </a:bodyPr>
          <a:lstStyle/>
          <a:p>
            <a:pPr algn="l"/>
            <a:r>
              <a:rPr sz="1000" b="0" dirty="0">
                <a:solidFill>
                  <a:srgbClr val="5B6472"/>
                </a:solidFill>
                <a:latin typeface="Courier New"/>
              </a:rPr>
              <a:t>-v </a:t>
            </a:r>
            <a:r>
              <a:rPr sz="1000" b="0" dirty="0" err="1">
                <a:solidFill>
                  <a:srgbClr val="F2B84B"/>
                </a:solidFill>
                <a:latin typeface="Courier New"/>
              </a:rPr>
              <a:t>nodered</a:t>
            </a:r>
            <a:r>
              <a:rPr sz="1000" b="0" dirty="0">
                <a:solidFill>
                  <a:srgbClr val="F2B84B"/>
                </a:solidFill>
                <a:latin typeface="Courier New"/>
              </a:rPr>
              <a:t>-data</a:t>
            </a:r>
            <a:r>
              <a:rPr sz="1000" b="1" dirty="0">
                <a:solidFill>
                  <a:srgbClr val="1A1A1A"/>
                </a:solidFill>
                <a:latin typeface="Courier New"/>
              </a:rPr>
              <a:t>:</a:t>
            </a:r>
            <a:r>
              <a:rPr sz="1000" b="0" dirty="0">
                <a:solidFill>
                  <a:srgbClr val="1E2761"/>
                </a:solidFill>
                <a:latin typeface="Courier New"/>
              </a:rPr>
              <a:t>/data</a:t>
            </a:r>
          </a:p>
        </p:txBody>
      </p:sp>
      <p:sp>
        <p:nvSpPr>
          <p:cNvPr id="16" name="TextBox 15"/>
          <p:cNvSpPr txBox="1"/>
          <p:nvPr/>
        </p:nvSpPr>
        <p:spPr>
          <a:xfrm>
            <a:off x="8478939" y="3359041"/>
            <a:ext cx="4023360" cy="201168"/>
          </a:xfrm>
          <a:prstGeom prst="rect">
            <a:avLst/>
          </a:prstGeom>
          <a:noFill/>
        </p:spPr>
        <p:txBody>
          <a:bodyPr wrap="square" lIns="0" tIns="0" rIns="0" bIns="0">
            <a:spAutoFit/>
          </a:bodyPr>
          <a:lstStyle/>
          <a:p>
            <a:pPr algn="l"/>
            <a:r>
              <a:rPr sz="800" b="0" i="1" dirty="0">
                <a:solidFill>
                  <a:srgbClr val="5B6472"/>
                </a:solidFill>
                <a:latin typeface="Arial"/>
              </a:rPr>
              <a:t>links = Volume-Name   ·   </a:t>
            </a:r>
            <a:r>
              <a:rPr sz="800" b="0" i="1" dirty="0" err="1">
                <a:solidFill>
                  <a:srgbClr val="5B6472"/>
                </a:solidFill>
                <a:latin typeface="Arial"/>
              </a:rPr>
              <a:t>rechts</a:t>
            </a:r>
            <a:r>
              <a:rPr sz="800" b="0" i="1" dirty="0">
                <a:solidFill>
                  <a:srgbClr val="5B6472"/>
                </a:solidFill>
                <a:latin typeface="Arial"/>
              </a:rPr>
              <a:t> = </a:t>
            </a:r>
            <a:r>
              <a:rPr sz="800" b="0" i="1" dirty="0" err="1">
                <a:solidFill>
                  <a:srgbClr val="5B6472"/>
                </a:solidFill>
                <a:latin typeface="Arial"/>
              </a:rPr>
              <a:t>Containerpfad</a:t>
            </a:r>
            <a:endParaRPr sz="800" b="0" i="1" dirty="0">
              <a:solidFill>
                <a:srgbClr val="5B6472"/>
              </a:solidFill>
              <a:latin typeface="Arial"/>
            </a:endParaRPr>
          </a:p>
        </p:txBody>
      </p:sp>
      <p:sp>
        <p:nvSpPr>
          <p:cNvPr id="17" name="Rounded Rectangle 16"/>
          <p:cNvSpPr/>
          <p:nvPr/>
        </p:nvSpPr>
        <p:spPr>
          <a:xfrm>
            <a:off x="8229603" y="3785616"/>
            <a:ext cx="3502674" cy="777240"/>
          </a:xfrm>
          <a:prstGeom prst="roundRect">
            <a:avLst>
              <a:gd name="adj" fmla="val 10000"/>
            </a:avLst>
          </a:prstGeom>
          <a:solidFill>
            <a:srgbClr val="F5F5F5"/>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CONTAINERPFAD (nodered):</a:t>
            </a:r>
          </a:p>
          <a:p>
            <a:pPr algn="ctr"/>
            <a:r>
              <a:rPr sz="1200" b="0">
                <a:solidFill>
                  <a:srgbClr val="1A1A1A"/>
                </a:solidFill>
                <a:latin typeface="Arial"/>
              </a:rPr>
              <a:t>/data/</a:t>
            </a:r>
          </a:p>
        </p:txBody>
      </p:sp>
      <p:sp>
        <p:nvSpPr>
          <p:cNvPr id="18" name="TextBox 17"/>
          <p:cNvSpPr txBox="1"/>
          <p:nvPr/>
        </p:nvSpPr>
        <p:spPr>
          <a:xfrm>
            <a:off x="7972835" y="4642588"/>
            <a:ext cx="4206240" cy="237744"/>
          </a:xfrm>
          <a:prstGeom prst="rect">
            <a:avLst/>
          </a:prstGeom>
          <a:noFill/>
        </p:spPr>
        <p:txBody>
          <a:bodyPr wrap="square" lIns="0" tIns="0" rIns="0" bIns="0">
            <a:spAutoFit/>
          </a:bodyPr>
          <a:lstStyle/>
          <a:p>
            <a:pPr algn="ctr"/>
            <a:r>
              <a:rPr sz="1200" b="0" i="1" dirty="0" err="1">
                <a:solidFill>
                  <a:srgbClr val="5B6472"/>
                </a:solidFill>
                <a:latin typeface="Arial"/>
              </a:rPr>
              <a:t>Namen</a:t>
            </a:r>
            <a:r>
              <a:rPr sz="1200" b="0" i="1" dirty="0">
                <a:solidFill>
                  <a:srgbClr val="5B6472"/>
                </a:solidFill>
                <a:latin typeface="Arial"/>
              </a:rPr>
              <a:t> </a:t>
            </a:r>
            <a:r>
              <a:rPr sz="1200" b="0" i="1" dirty="0" err="1">
                <a:solidFill>
                  <a:srgbClr val="5B6472"/>
                </a:solidFill>
                <a:latin typeface="Arial"/>
              </a:rPr>
              <a:t>vergeben</a:t>
            </a:r>
            <a:r>
              <a:rPr sz="1200" b="0" i="1" dirty="0">
                <a:solidFill>
                  <a:srgbClr val="5B6472"/>
                </a:solidFill>
                <a:latin typeface="Arial"/>
              </a:rPr>
              <a:t> Sie – den </a:t>
            </a:r>
            <a:r>
              <a:rPr sz="1200" b="0" i="1" dirty="0" err="1">
                <a:solidFill>
                  <a:srgbClr val="5B6472"/>
                </a:solidFill>
                <a:latin typeface="Arial"/>
              </a:rPr>
              <a:t>Pfad</a:t>
            </a:r>
            <a:r>
              <a:rPr sz="1200" b="0" i="1" dirty="0">
                <a:solidFill>
                  <a:srgbClr val="5B6472"/>
                </a:solidFill>
                <a:latin typeface="Arial"/>
              </a:rPr>
              <a:t> </a:t>
            </a:r>
            <a:r>
              <a:rPr sz="1200" b="0" i="1" dirty="0" err="1">
                <a:solidFill>
                  <a:srgbClr val="5B6472"/>
                </a:solidFill>
                <a:latin typeface="Arial"/>
              </a:rPr>
              <a:t>dahinter</a:t>
            </a:r>
            <a:r>
              <a:rPr sz="1200" b="0" i="1" dirty="0">
                <a:solidFill>
                  <a:srgbClr val="5B6472"/>
                </a:solidFill>
                <a:latin typeface="Arial"/>
              </a:rPr>
              <a:t> Docker</a:t>
            </a:r>
          </a:p>
        </p:txBody>
      </p:sp>
      <p:sp>
        <p:nvSpPr>
          <p:cNvPr id="19" name="Rounded Rectangle 18"/>
          <p:cNvSpPr/>
          <p:nvPr/>
        </p:nvSpPr>
        <p:spPr>
          <a:xfrm>
            <a:off x="548640" y="5469520"/>
            <a:ext cx="11091672" cy="548640"/>
          </a:xfrm>
          <a:prstGeom prst="roundRect">
            <a:avLst>
              <a:gd name="adj" fmla="val 10000"/>
            </a:avLst>
          </a:prstGeom>
          <a:solidFill>
            <a:srgbClr val="F5F5F5"/>
          </a:solidFill>
          <a:ln w="127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200" b="1" dirty="0" err="1">
                <a:solidFill>
                  <a:srgbClr val="1A1A1A"/>
                </a:solidFill>
                <a:latin typeface="Arial"/>
              </a:rPr>
              <a:t>Standardverhalten</a:t>
            </a:r>
            <a:r>
              <a:rPr sz="1200" b="1" dirty="0">
                <a:solidFill>
                  <a:srgbClr val="1A1A1A"/>
                </a:solidFill>
                <a:latin typeface="Arial"/>
              </a:rPr>
              <a:t> </a:t>
            </a:r>
            <a:r>
              <a:rPr sz="1200" b="1" dirty="0" err="1">
                <a:solidFill>
                  <a:srgbClr val="1A1A1A"/>
                </a:solidFill>
                <a:latin typeface="Arial"/>
              </a:rPr>
              <a:t>ohne</a:t>
            </a:r>
            <a:r>
              <a:rPr sz="1200" b="1" dirty="0">
                <a:solidFill>
                  <a:srgbClr val="1A1A1A"/>
                </a:solidFill>
                <a:latin typeface="Arial"/>
              </a:rPr>
              <a:t> </a:t>
            </a:r>
            <a:r>
              <a:rPr lang="de-DE" sz="1200" b="1" dirty="0">
                <a:solidFill>
                  <a:srgbClr val="1A1A1A"/>
                </a:solidFill>
                <a:latin typeface="Arial"/>
              </a:rPr>
              <a:t>Eingriff</a:t>
            </a:r>
            <a:r>
              <a:rPr sz="1200" b="1" dirty="0">
                <a:solidFill>
                  <a:srgbClr val="1A1A1A"/>
                </a:solidFill>
                <a:latin typeface="Arial"/>
              </a:rPr>
              <a:t>:</a:t>
            </a:r>
          </a:p>
          <a:p>
            <a:pPr algn="l"/>
            <a:r>
              <a:rPr sz="1100" b="0" dirty="0" err="1">
                <a:solidFill>
                  <a:srgbClr val="1A1A1A"/>
                </a:solidFill>
                <a:latin typeface="Arial"/>
              </a:rPr>
              <a:t>Landet</a:t>
            </a:r>
            <a:r>
              <a:rPr sz="1100" b="0" dirty="0">
                <a:solidFill>
                  <a:srgbClr val="1A1A1A"/>
                </a:solidFill>
                <a:latin typeface="Arial"/>
              </a:rPr>
              <a:t> in der </a:t>
            </a:r>
            <a:r>
              <a:rPr sz="1100" b="0" dirty="0" err="1">
                <a:solidFill>
                  <a:srgbClr val="1A1A1A"/>
                </a:solidFill>
                <a:latin typeface="Arial"/>
              </a:rPr>
              <a:t>beschreibbaren</a:t>
            </a:r>
            <a:r>
              <a:rPr sz="1100" b="0" dirty="0">
                <a:solidFill>
                  <a:srgbClr val="1A1A1A"/>
                </a:solidFill>
                <a:latin typeface="Arial"/>
              </a:rPr>
              <a:t> Container-</a:t>
            </a:r>
            <a:r>
              <a:rPr sz="1100" b="0" dirty="0" err="1">
                <a:solidFill>
                  <a:srgbClr val="1A1A1A"/>
                </a:solidFill>
                <a:latin typeface="Arial"/>
              </a:rPr>
              <a:t>Schicht</a:t>
            </a:r>
            <a:r>
              <a:rPr sz="1100" b="0" dirty="0">
                <a:solidFill>
                  <a:srgbClr val="1A1A1A"/>
                </a:solidFill>
                <a:latin typeface="Arial"/>
              </a:rPr>
              <a:t> – </a:t>
            </a:r>
            <a:r>
              <a:rPr sz="1100" b="0" dirty="0" err="1">
                <a:solidFill>
                  <a:srgbClr val="1A1A1A"/>
                </a:solidFill>
                <a:latin typeface="Arial"/>
              </a:rPr>
              <a:t>verloren</a:t>
            </a:r>
            <a:r>
              <a:rPr sz="1100" b="0" dirty="0">
                <a:solidFill>
                  <a:srgbClr val="1A1A1A"/>
                </a:solidFill>
                <a:latin typeface="Arial"/>
              </a:rPr>
              <a:t> </a:t>
            </a:r>
            <a:r>
              <a:rPr sz="1100" b="0" dirty="0" err="1">
                <a:solidFill>
                  <a:srgbClr val="1A1A1A"/>
                </a:solidFill>
                <a:latin typeface="Arial"/>
              </a:rPr>
              <a:t>bei</a:t>
            </a:r>
            <a:r>
              <a:rPr sz="1100" b="0" dirty="0">
                <a:solidFill>
                  <a:srgbClr val="1A1A1A"/>
                </a:solidFill>
                <a:latin typeface="Arial"/>
              </a:rPr>
              <a:t> docker rm.</a:t>
            </a:r>
          </a:p>
        </p:txBody>
      </p:sp>
      <p:sp>
        <p:nvSpPr>
          <p:cNvPr id="20" name="Rounded Rectangle 19"/>
          <p:cNvSpPr/>
          <p:nvPr/>
        </p:nvSpPr>
        <p:spPr>
          <a:xfrm>
            <a:off x="548640" y="6092846"/>
            <a:ext cx="11091672" cy="502920"/>
          </a:xfrm>
          <a:prstGeom prst="roundRect">
            <a:avLst>
              <a:gd name="adj" fmla="val 19231"/>
            </a:avLst>
          </a:prstGeom>
          <a:solidFill>
            <a:srgbClr val="F4F6FA"/>
          </a:solidFill>
          <a:ln w="9525">
            <a:solidFill>
              <a:srgbClr val="D8DE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14741" y="6302601"/>
            <a:ext cx="10543032" cy="200055"/>
          </a:xfrm>
          <a:prstGeom prst="rect">
            <a:avLst/>
          </a:prstGeom>
          <a:noFill/>
        </p:spPr>
        <p:txBody>
          <a:bodyPr wrap="square" lIns="0" tIns="0" rIns="0" bIns="0" anchor="ctr">
            <a:spAutoFit/>
          </a:bodyPr>
          <a:lstStyle/>
          <a:p>
            <a:r>
              <a:rPr sz="1300" b="1" dirty="0" err="1">
                <a:solidFill>
                  <a:srgbClr val="1E2761"/>
                </a:solidFill>
                <a:latin typeface="Calibri"/>
              </a:rPr>
              <a:t>Beide</a:t>
            </a:r>
            <a:r>
              <a:rPr sz="1300" b="1" dirty="0">
                <a:solidFill>
                  <a:srgbClr val="1E2761"/>
                </a:solidFill>
                <a:latin typeface="Calibri"/>
              </a:rPr>
              <a:t> </a:t>
            </a:r>
            <a:r>
              <a:rPr sz="1300" b="1" dirty="0" err="1">
                <a:solidFill>
                  <a:srgbClr val="1E2761"/>
                </a:solidFill>
                <a:latin typeface="Calibri"/>
              </a:rPr>
              <a:t>Speicherorte</a:t>
            </a:r>
            <a:r>
              <a:rPr sz="1300" b="1" dirty="0">
                <a:solidFill>
                  <a:srgbClr val="1E2761"/>
                </a:solidFill>
                <a:latin typeface="Calibri"/>
              </a:rPr>
              <a:t> </a:t>
            </a:r>
            <a:r>
              <a:rPr sz="1300" b="1" dirty="0" err="1">
                <a:solidFill>
                  <a:srgbClr val="1E2761"/>
                </a:solidFill>
                <a:latin typeface="Calibri"/>
              </a:rPr>
              <a:t>liegen</a:t>
            </a:r>
            <a:r>
              <a:rPr sz="1300" b="1" dirty="0">
                <a:solidFill>
                  <a:srgbClr val="1E2761"/>
                </a:solidFill>
                <a:latin typeface="Calibri"/>
              </a:rPr>
              <a:t> auf dem Host</a:t>
            </a:r>
            <a:r>
              <a:rPr lang="de-DE" sz="1300" b="1" dirty="0">
                <a:solidFill>
                  <a:srgbClr val="1E2761"/>
                </a:solidFill>
                <a:latin typeface="Calibri"/>
              </a:rPr>
              <a:t>. B</a:t>
            </a:r>
            <a:r>
              <a:rPr sz="1300" b="1" dirty="0" err="1">
                <a:solidFill>
                  <a:srgbClr val="1E2761"/>
                </a:solidFill>
                <a:latin typeface="Calibri"/>
              </a:rPr>
              <a:t>eim</a:t>
            </a:r>
            <a:r>
              <a:rPr sz="1300" b="1" dirty="0">
                <a:solidFill>
                  <a:srgbClr val="1E2761"/>
                </a:solidFill>
                <a:latin typeface="Calibri"/>
              </a:rPr>
              <a:t> Bind Mount </a:t>
            </a:r>
            <a:r>
              <a:rPr sz="1300" b="1" dirty="0" err="1">
                <a:solidFill>
                  <a:srgbClr val="1E2761"/>
                </a:solidFill>
                <a:latin typeface="Calibri"/>
              </a:rPr>
              <a:t>vergeben</a:t>
            </a:r>
            <a:r>
              <a:rPr sz="1300" b="1" dirty="0">
                <a:solidFill>
                  <a:srgbClr val="1E2761"/>
                </a:solidFill>
                <a:latin typeface="Calibri"/>
              </a:rPr>
              <a:t> Sie den </a:t>
            </a:r>
            <a:r>
              <a:rPr sz="1300" b="1" dirty="0" err="1">
                <a:solidFill>
                  <a:srgbClr val="1E2761"/>
                </a:solidFill>
                <a:latin typeface="Calibri"/>
              </a:rPr>
              <a:t>Pfad</a:t>
            </a:r>
            <a:r>
              <a:rPr sz="1300" b="1" dirty="0">
                <a:solidFill>
                  <a:srgbClr val="1E2761"/>
                </a:solidFill>
                <a:latin typeface="Calibri"/>
              </a:rPr>
              <a:t>, </a:t>
            </a:r>
            <a:r>
              <a:rPr sz="1300" b="1" dirty="0" err="1">
                <a:solidFill>
                  <a:srgbClr val="1E2761"/>
                </a:solidFill>
                <a:latin typeface="Calibri"/>
              </a:rPr>
              <a:t>beim</a:t>
            </a:r>
            <a:r>
              <a:rPr sz="1300" b="1" dirty="0">
                <a:solidFill>
                  <a:srgbClr val="1E2761"/>
                </a:solidFill>
                <a:latin typeface="Calibri"/>
              </a:rPr>
              <a:t> Volume </a:t>
            </a:r>
            <a:r>
              <a:rPr sz="1300" b="1" dirty="0" err="1">
                <a:solidFill>
                  <a:srgbClr val="1E2761"/>
                </a:solidFill>
                <a:latin typeface="Calibri"/>
              </a:rPr>
              <a:t>nur</a:t>
            </a:r>
            <a:r>
              <a:rPr sz="1300" b="1" dirty="0">
                <a:solidFill>
                  <a:srgbClr val="1E2761"/>
                </a:solidFill>
                <a:latin typeface="Calibri"/>
              </a:rPr>
              <a:t> den </a:t>
            </a:r>
            <a:r>
              <a:rPr sz="1300" b="1" dirty="0" err="1">
                <a:solidFill>
                  <a:srgbClr val="1E2761"/>
                </a:solidFill>
                <a:latin typeface="Calibri"/>
              </a:rPr>
              <a:t>Namen</a:t>
            </a:r>
            <a:r>
              <a:rPr sz="1300" b="1" dirty="0">
                <a:solidFill>
                  <a:srgbClr val="1E2761"/>
                </a:solidFill>
                <a:latin typeface="Calibri"/>
              </a:rPr>
              <a:t>.</a:t>
            </a:r>
          </a:p>
        </p:txBody>
      </p:sp>
      <p:sp>
        <p:nvSpPr>
          <p:cNvPr id="23" name="Textfeld 22">
            <a:extLst>
              <a:ext uri="{FF2B5EF4-FFF2-40B4-BE49-F238E27FC236}">
                <a16:creationId xmlns:a16="http://schemas.microsoft.com/office/drawing/2014/main" id="{6C6E0960-7596-4F54-8A73-82BB9114168D}"/>
              </a:ext>
            </a:extLst>
          </p:cNvPr>
          <p:cNvSpPr txBox="1"/>
          <p:nvPr/>
        </p:nvSpPr>
        <p:spPr>
          <a:xfrm>
            <a:off x="3652347" y="1834054"/>
            <a:ext cx="4294231" cy="2123658"/>
          </a:xfrm>
          <a:prstGeom prst="rect">
            <a:avLst/>
          </a:prstGeom>
          <a:noFill/>
        </p:spPr>
        <p:txBody>
          <a:bodyPr wrap="square">
            <a:spAutoFit/>
          </a:bodyPr>
          <a:lstStyle/>
          <a:p>
            <a:r>
              <a:rPr lang="de-DE" sz="1100" dirty="0"/>
              <a:t>/</a:t>
            </a:r>
          </a:p>
          <a:p>
            <a:r>
              <a:rPr lang="de-DE" sz="1100" dirty="0"/>
              <a:t>├── bin/  </a:t>
            </a:r>
            <a:r>
              <a:rPr lang="de-DE" sz="1100" dirty="0" err="1"/>
              <a:t>sbin</a:t>
            </a:r>
            <a:r>
              <a:rPr lang="de-DE" sz="1100" dirty="0"/>
              <a:t>/  </a:t>
            </a:r>
            <a:r>
              <a:rPr lang="de-DE" sz="1100" dirty="0" err="1"/>
              <a:t>lib</a:t>
            </a:r>
            <a:r>
              <a:rPr lang="de-DE" sz="1100" dirty="0"/>
              <a:t>/      Programme und Bibliotheken (aus dem Image)</a:t>
            </a:r>
          </a:p>
          <a:p>
            <a:r>
              <a:rPr lang="de-DE" sz="1100" dirty="0"/>
              <a:t>├── </a:t>
            </a:r>
            <a:r>
              <a:rPr lang="de-DE" sz="1100" dirty="0" err="1"/>
              <a:t>etc</a:t>
            </a:r>
            <a:r>
              <a:rPr lang="de-DE" sz="1100" dirty="0"/>
              <a:t>/</a:t>
            </a:r>
          </a:p>
          <a:p>
            <a:r>
              <a:rPr lang="de-DE" sz="1100" dirty="0"/>
              <a:t>│   └── </a:t>
            </a:r>
            <a:r>
              <a:rPr lang="de-DE" sz="1100" dirty="0" err="1"/>
              <a:t>nginx</a:t>
            </a:r>
            <a:r>
              <a:rPr lang="de-DE" sz="1100" dirty="0"/>
              <a:t>/             Konfiguration → </a:t>
            </a:r>
            <a:r>
              <a:rPr lang="de-DE" sz="1100" dirty="0" err="1"/>
              <a:t>nginx.conf</a:t>
            </a:r>
            <a:r>
              <a:rPr lang="de-DE" sz="1100" dirty="0"/>
              <a:t>, </a:t>
            </a:r>
            <a:r>
              <a:rPr lang="de-DE" sz="1100" dirty="0" err="1"/>
              <a:t>conf.d</a:t>
            </a:r>
            <a:r>
              <a:rPr lang="de-DE" sz="1100" dirty="0"/>
              <a:t>/</a:t>
            </a:r>
            <a:r>
              <a:rPr lang="de-DE" sz="1100" dirty="0" err="1"/>
              <a:t>default.conf</a:t>
            </a:r>
            <a:endParaRPr lang="de-DE" sz="1100" dirty="0"/>
          </a:p>
          <a:p>
            <a:r>
              <a:rPr lang="de-DE" sz="1100" dirty="0"/>
              <a:t>├── </a:t>
            </a:r>
            <a:r>
              <a:rPr lang="de-DE" sz="1100" dirty="0" err="1"/>
              <a:t>usr</a:t>
            </a:r>
            <a:r>
              <a:rPr lang="de-DE" sz="1100" dirty="0"/>
              <a:t>/</a:t>
            </a:r>
          </a:p>
          <a:p>
            <a:r>
              <a:rPr lang="de-DE" sz="1100" dirty="0"/>
              <a:t>│   └── </a:t>
            </a:r>
            <a:r>
              <a:rPr lang="de-DE" sz="1100" dirty="0" err="1"/>
              <a:t>share</a:t>
            </a:r>
            <a:r>
              <a:rPr lang="de-DE" sz="1100" dirty="0"/>
              <a:t>/</a:t>
            </a:r>
            <a:r>
              <a:rPr lang="de-DE" sz="1100" dirty="0" err="1"/>
              <a:t>nginx</a:t>
            </a:r>
            <a:r>
              <a:rPr lang="de-DE" sz="1100" dirty="0"/>
              <a:t>/</a:t>
            </a:r>
            <a:r>
              <a:rPr lang="de-DE" sz="1100" dirty="0" err="1"/>
              <a:t>html</a:t>
            </a:r>
            <a:r>
              <a:rPr lang="de-DE" sz="1100" dirty="0"/>
              <a:t>/  </a:t>
            </a:r>
            <a:r>
              <a:rPr lang="de-DE" sz="1100" dirty="0">
                <a:solidFill>
                  <a:srgbClr val="0061AF"/>
                </a:solidFill>
              </a:rPr>
              <a:t>← hier wird dein /</a:t>
            </a:r>
            <a:r>
              <a:rPr lang="de-DE" sz="1100" dirty="0" err="1">
                <a:solidFill>
                  <a:srgbClr val="0061AF"/>
                </a:solidFill>
              </a:rPr>
              <a:t>srv</a:t>
            </a:r>
            <a:r>
              <a:rPr lang="de-DE" sz="1100" dirty="0">
                <a:solidFill>
                  <a:srgbClr val="0061AF"/>
                </a:solidFill>
              </a:rPr>
              <a:t>/</a:t>
            </a:r>
            <a:r>
              <a:rPr lang="de-DE" sz="1100" dirty="0" err="1">
                <a:solidFill>
                  <a:srgbClr val="0061AF"/>
                </a:solidFill>
              </a:rPr>
              <a:t>www</a:t>
            </a:r>
            <a:r>
              <a:rPr lang="de-DE" sz="1100" dirty="0">
                <a:solidFill>
                  <a:srgbClr val="0061AF"/>
                </a:solidFill>
              </a:rPr>
              <a:t> eingehängt</a:t>
            </a:r>
          </a:p>
          <a:p>
            <a:r>
              <a:rPr lang="de-DE" sz="1100" dirty="0"/>
              <a:t>├── </a:t>
            </a:r>
            <a:r>
              <a:rPr lang="de-DE" sz="1100" dirty="0" err="1"/>
              <a:t>var</a:t>
            </a:r>
            <a:r>
              <a:rPr lang="de-DE" sz="1100" dirty="0"/>
              <a:t>/</a:t>
            </a:r>
          </a:p>
          <a:p>
            <a:r>
              <a:rPr lang="de-DE" sz="1100" dirty="0"/>
              <a:t>│   ├── log/</a:t>
            </a:r>
            <a:r>
              <a:rPr lang="de-DE" sz="1100" dirty="0" err="1"/>
              <a:t>nginx</a:t>
            </a:r>
            <a:r>
              <a:rPr lang="de-DE" sz="1100" dirty="0"/>
              <a:t>/         Logs</a:t>
            </a:r>
          </a:p>
          <a:p>
            <a:r>
              <a:rPr lang="de-DE" sz="1100" dirty="0"/>
              <a:t>│   └── </a:t>
            </a:r>
            <a:r>
              <a:rPr lang="de-DE" sz="1100" dirty="0" err="1"/>
              <a:t>cache</a:t>
            </a:r>
            <a:r>
              <a:rPr lang="de-DE" sz="1100" dirty="0"/>
              <a:t>/</a:t>
            </a:r>
            <a:r>
              <a:rPr lang="de-DE" sz="1100" dirty="0" err="1"/>
              <a:t>nginx</a:t>
            </a:r>
            <a:r>
              <a:rPr lang="de-DE" sz="1100" dirty="0"/>
              <a:t>/</a:t>
            </a:r>
          </a:p>
          <a:p>
            <a:r>
              <a:rPr lang="de-DE" sz="1100" dirty="0"/>
              <a:t>├── </a:t>
            </a:r>
            <a:r>
              <a:rPr lang="de-DE" sz="1100" dirty="0" err="1"/>
              <a:t>tmp</a:t>
            </a:r>
            <a:r>
              <a:rPr lang="de-DE" sz="1100" dirty="0"/>
              <a:t>/</a:t>
            </a:r>
          </a:p>
          <a:p>
            <a:r>
              <a:rPr lang="de-DE" sz="1100" dirty="0"/>
              <a:t>├── </a:t>
            </a:r>
            <a:r>
              <a:rPr lang="de-DE" sz="1100" dirty="0" err="1"/>
              <a:t>proc</a:t>
            </a:r>
            <a:r>
              <a:rPr lang="de-DE" sz="1100" dirty="0"/>
              <a:t>/  </a:t>
            </a:r>
            <a:r>
              <a:rPr lang="de-DE" sz="1100" dirty="0" err="1"/>
              <a:t>sys</a:t>
            </a:r>
            <a:r>
              <a:rPr lang="de-DE" sz="1100" dirty="0"/>
              <a:t>/  </a:t>
            </a:r>
            <a:r>
              <a:rPr lang="de-DE" sz="1100" dirty="0" err="1"/>
              <a:t>dev</a:t>
            </a:r>
            <a:r>
              <a:rPr lang="de-DE" sz="1100" dirty="0"/>
              <a:t>/      virtuell, vom Host-Kernel bereitgestellt</a:t>
            </a:r>
          </a:p>
          <a:p>
            <a:r>
              <a:rPr lang="de-DE" sz="1100" dirty="0"/>
              <a:t>└── ...</a:t>
            </a:r>
          </a:p>
        </p:txBody>
      </p:sp>
      <p:sp>
        <p:nvSpPr>
          <p:cNvPr id="25" name="Textfeld 24">
            <a:extLst>
              <a:ext uri="{FF2B5EF4-FFF2-40B4-BE49-F238E27FC236}">
                <a16:creationId xmlns:a16="http://schemas.microsoft.com/office/drawing/2014/main" id="{71793D4E-3E72-4EF3-B058-1DF7A28552F6}"/>
              </a:ext>
            </a:extLst>
          </p:cNvPr>
          <p:cNvSpPr txBox="1"/>
          <p:nvPr/>
        </p:nvSpPr>
        <p:spPr>
          <a:xfrm>
            <a:off x="8327110" y="3486259"/>
            <a:ext cx="2970771" cy="253916"/>
          </a:xfrm>
          <a:prstGeom prst="rect">
            <a:avLst/>
          </a:prstGeom>
          <a:noFill/>
        </p:spPr>
        <p:txBody>
          <a:bodyPr wrap="square">
            <a:spAutoFit/>
          </a:bodyPr>
          <a:lstStyle/>
          <a:p>
            <a:r>
              <a:rPr lang="de-DE" sz="1050" dirty="0"/>
              <a:t>/</a:t>
            </a:r>
            <a:r>
              <a:rPr lang="de-DE" sz="1050" dirty="0" err="1"/>
              <a:t>var</a:t>
            </a:r>
            <a:r>
              <a:rPr lang="de-DE" sz="1050" dirty="0"/>
              <a:t>/</a:t>
            </a:r>
            <a:r>
              <a:rPr lang="de-DE" sz="1050" dirty="0" err="1"/>
              <a:t>lib</a:t>
            </a:r>
            <a:r>
              <a:rPr lang="de-DE" sz="1050" dirty="0"/>
              <a:t>/</a:t>
            </a:r>
            <a:r>
              <a:rPr lang="de-DE" sz="1050" dirty="0" err="1"/>
              <a:t>docker</a:t>
            </a:r>
            <a:r>
              <a:rPr lang="de-DE" sz="1050" dirty="0"/>
              <a:t>/</a:t>
            </a:r>
            <a:r>
              <a:rPr lang="de-DE" sz="1050" dirty="0" err="1"/>
              <a:t>volumes</a:t>
            </a:r>
            <a:r>
              <a:rPr lang="de-DE" sz="1050" dirty="0"/>
              <a:t>/</a:t>
            </a:r>
            <a:r>
              <a:rPr lang="de-DE" sz="1050" dirty="0" err="1"/>
              <a:t>nodered-data</a:t>
            </a:r>
            <a:r>
              <a:rPr lang="de-DE" sz="1050" dirty="0"/>
              <a:t>/_</a:t>
            </a:r>
            <a:r>
              <a:rPr lang="de-DE" sz="1050" dirty="0" err="1"/>
              <a:t>data</a:t>
            </a:r>
            <a:endParaRPr lang="de-DE" sz="1050" dirty="0"/>
          </a:p>
        </p:txBody>
      </p:sp>
      <p:sp>
        <p:nvSpPr>
          <p:cNvPr id="27" name="Textfeld 26">
            <a:extLst>
              <a:ext uri="{FF2B5EF4-FFF2-40B4-BE49-F238E27FC236}">
                <a16:creationId xmlns:a16="http://schemas.microsoft.com/office/drawing/2014/main" id="{F8DE4A31-92A0-481E-A739-D077449D485C}"/>
              </a:ext>
            </a:extLst>
          </p:cNvPr>
          <p:cNvSpPr txBox="1"/>
          <p:nvPr/>
        </p:nvSpPr>
        <p:spPr>
          <a:xfrm>
            <a:off x="8344477" y="4867579"/>
            <a:ext cx="6591670" cy="430887"/>
          </a:xfrm>
          <a:prstGeom prst="rect">
            <a:avLst/>
          </a:prstGeom>
          <a:noFill/>
        </p:spPr>
        <p:txBody>
          <a:bodyPr wrap="square">
            <a:spAutoFit/>
          </a:bodyPr>
          <a:lstStyle/>
          <a:p>
            <a:r>
              <a:rPr lang="nl-NL" sz="1100" dirty="0"/>
              <a:t>docker volume ls</a:t>
            </a:r>
          </a:p>
          <a:p>
            <a:r>
              <a:rPr lang="nl-NL" sz="1100" dirty="0"/>
              <a:t>docker volume inspect nodered-data</a:t>
            </a:r>
            <a:endParaRPr lang="de-DE" sz="1100" dirty="0"/>
          </a:p>
        </p:txBody>
      </p:sp>
      <p:sp>
        <p:nvSpPr>
          <p:cNvPr id="29" name="Textfeld 28">
            <a:extLst>
              <a:ext uri="{FF2B5EF4-FFF2-40B4-BE49-F238E27FC236}">
                <a16:creationId xmlns:a16="http://schemas.microsoft.com/office/drawing/2014/main" id="{0559F293-4440-43E6-B5B6-78A7F5819857}"/>
              </a:ext>
            </a:extLst>
          </p:cNvPr>
          <p:cNvSpPr txBox="1"/>
          <p:nvPr/>
        </p:nvSpPr>
        <p:spPr>
          <a:xfrm>
            <a:off x="572688" y="4880332"/>
            <a:ext cx="7585968" cy="430887"/>
          </a:xfrm>
          <a:prstGeom prst="rect">
            <a:avLst/>
          </a:prstGeom>
          <a:noFill/>
        </p:spPr>
        <p:txBody>
          <a:bodyPr wrap="square">
            <a:spAutoFit/>
          </a:bodyPr>
          <a:lstStyle/>
          <a:p>
            <a:r>
              <a:rPr lang="de-DE" sz="1100" dirty="0"/>
              <a:t>Konfiguration im Container anschauen: </a:t>
            </a:r>
            <a:r>
              <a:rPr lang="de-DE" sz="1100" dirty="0" err="1"/>
              <a:t>docker</a:t>
            </a:r>
            <a:r>
              <a:rPr lang="de-DE" sz="1100" dirty="0"/>
              <a:t> </a:t>
            </a:r>
            <a:r>
              <a:rPr lang="de-DE" sz="1100" dirty="0" err="1"/>
              <a:t>run</a:t>
            </a:r>
            <a:r>
              <a:rPr lang="de-DE" sz="1100" dirty="0"/>
              <a:t> --</a:t>
            </a:r>
            <a:r>
              <a:rPr lang="de-DE" sz="1100" dirty="0" err="1"/>
              <a:t>rm</a:t>
            </a:r>
            <a:r>
              <a:rPr lang="de-DE" sz="1100" dirty="0"/>
              <a:t> </a:t>
            </a:r>
            <a:r>
              <a:rPr lang="de-DE" sz="1100" dirty="0" err="1"/>
              <a:t>nginx</a:t>
            </a:r>
            <a:r>
              <a:rPr lang="de-DE" sz="1100" dirty="0"/>
              <a:t> </a:t>
            </a:r>
            <a:r>
              <a:rPr lang="de-DE" sz="1100" dirty="0" err="1"/>
              <a:t>cat</a:t>
            </a:r>
            <a:r>
              <a:rPr lang="de-DE" sz="1100" dirty="0"/>
              <a:t> /</a:t>
            </a:r>
            <a:r>
              <a:rPr lang="de-DE" sz="1100" dirty="0" err="1"/>
              <a:t>etc</a:t>
            </a:r>
            <a:r>
              <a:rPr lang="de-DE" sz="1100" dirty="0"/>
              <a:t>/</a:t>
            </a:r>
            <a:r>
              <a:rPr lang="de-DE" sz="1100" dirty="0" err="1"/>
              <a:t>nginx</a:t>
            </a:r>
            <a:r>
              <a:rPr lang="de-DE" sz="1100" dirty="0"/>
              <a:t>/</a:t>
            </a:r>
            <a:r>
              <a:rPr lang="de-DE" sz="1100" dirty="0" err="1"/>
              <a:t>conf.d</a:t>
            </a:r>
            <a:r>
              <a:rPr lang="de-DE" sz="1100" dirty="0"/>
              <a:t>/</a:t>
            </a:r>
            <a:r>
              <a:rPr lang="de-DE" sz="1100" dirty="0" err="1"/>
              <a:t>default.conf</a:t>
            </a:r>
            <a:br>
              <a:rPr lang="de-DE" sz="1100" dirty="0"/>
            </a:br>
            <a:r>
              <a:rPr lang="de-DE" sz="1100" dirty="0"/>
              <a:t>Selbst herumstöbern: </a:t>
            </a:r>
            <a:r>
              <a:rPr lang="en-US" sz="1100" dirty="0"/>
              <a:t> docker run --rm -it </a:t>
            </a:r>
            <a:r>
              <a:rPr lang="en-US" sz="1100" dirty="0" err="1"/>
              <a:t>nginx</a:t>
            </a:r>
            <a:r>
              <a:rPr lang="en-US" sz="1100" dirty="0"/>
              <a:t> bash  -&gt; ls /</a:t>
            </a:r>
            <a:endParaRPr lang="de-DE"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534949"/>
            <a:ext cx="10953313" cy="1143000"/>
          </a:xfrm>
        </p:spPr>
        <p:txBody>
          <a:bodyPr/>
          <a:lstStyle/>
          <a:p>
            <a:r>
              <a:rPr lang="en-US" sz="2800" dirty="0"/>
              <a:t>Docker installieren</a:t>
            </a:r>
            <a:br>
              <a:rPr lang="en-US" sz="2000" dirty="0"/>
            </a:br>
            <a:br>
              <a:rPr lang="en-US" sz="2000" dirty="0"/>
            </a:br>
            <a:endParaRPr lang="de-DE" sz="1998" dirty="0"/>
          </a:p>
        </p:txBody>
      </p:sp>
      <p:sp>
        <p:nvSpPr>
          <p:cNvPr id="41" name="Shape 2">
            <a:extLst>
              <a:ext uri="{FF2B5EF4-FFF2-40B4-BE49-F238E27FC236}">
                <a16:creationId xmlns:a16="http://schemas.microsoft.com/office/drawing/2014/main" id="{38C067B0-3936-41B1-A465-6CF531D3A8B9}"/>
              </a:ext>
            </a:extLst>
          </p:cNvPr>
          <p:cNvSpPr/>
          <p:nvPr/>
        </p:nvSpPr>
        <p:spPr>
          <a:xfrm>
            <a:off x="815896" y="1897817"/>
            <a:ext cx="4819610" cy="2860437"/>
          </a:xfrm>
          <a:prstGeom prst="roundRect">
            <a:avLst>
              <a:gd name="adj" fmla="val 4329"/>
            </a:avLst>
          </a:prstGeom>
          <a:solidFill>
            <a:srgbClr val="1A222C"/>
          </a:solidFill>
          <a:ln w="6350">
            <a:solidFill>
              <a:srgbClr val="2A3540"/>
            </a:solidFill>
            <a:prstDash val="solid"/>
          </a:ln>
        </p:spPr>
      </p:sp>
      <p:sp>
        <p:nvSpPr>
          <p:cNvPr id="42" name="Text 3">
            <a:extLst>
              <a:ext uri="{FF2B5EF4-FFF2-40B4-BE49-F238E27FC236}">
                <a16:creationId xmlns:a16="http://schemas.microsoft.com/office/drawing/2014/main" id="{1AAB280A-C58B-4600-91C2-05E8E72EA5FA}"/>
              </a:ext>
            </a:extLst>
          </p:cNvPr>
          <p:cNvSpPr/>
          <p:nvPr/>
        </p:nvSpPr>
        <p:spPr>
          <a:xfrm>
            <a:off x="1074301" y="2337554"/>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9BA8B5"/>
                </a:solidFill>
                <a:latin typeface="Courier New" pitchFamily="34" charset="0"/>
                <a:ea typeface="Courier New" pitchFamily="34" charset="-122"/>
                <a:cs typeface="Courier New" pitchFamily="34" charset="-120"/>
              </a:rPr>
              <a:t>$ apt remove -y docker.io ...; true</a:t>
            </a:r>
            <a:endParaRPr lang="en-US" sz="1200" dirty="0"/>
          </a:p>
        </p:txBody>
      </p:sp>
      <p:sp>
        <p:nvSpPr>
          <p:cNvPr id="43" name="Text 4">
            <a:extLst>
              <a:ext uri="{FF2B5EF4-FFF2-40B4-BE49-F238E27FC236}">
                <a16:creationId xmlns:a16="http://schemas.microsoft.com/office/drawing/2014/main" id="{8AAEFDEB-D914-4800-867A-E1B2F3B52DA4}"/>
              </a:ext>
            </a:extLst>
          </p:cNvPr>
          <p:cNvSpPr/>
          <p:nvPr/>
        </p:nvSpPr>
        <p:spPr>
          <a:xfrm>
            <a:off x="1074301" y="2629614"/>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 apt install -y ca-certificates curl</a:t>
            </a:r>
            <a:endParaRPr lang="en-US" sz="1200" dirty="0"/>
          </a:p>
        </p:txBody>
      </p:sp>
      <p:sp>
        <p:nvSpPr>
          <p:cNvPr id="44" name="Text 5">
            <a:extLst>
              <a:ext uri="{FF2B5EF4-FFF2-40B4-BE49-F238E27FC236}">
                <a16:creationId xmlns:a16="http://schemas.microsoft.com/office/drawing/2014/main" id="{D23E1F0C-757A-42E1-AD49-385B2705298C}"/>
              </a:ext>
            </a:extLst>
          </p:cNvPr>
          <p:cNvSpPr/>
          <p:nvPr/>
        </p:nvSpPr>
        <p:spPr>
          <a:xfrm>
            <a:off x="1074301" y="2921675"/>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 curl -fsSL &lt;docker-gpg-url&gt; -o docker.asc</a:t>
            </a:r>
            <a:endParaRPr lang="en-US" sz="1200" dirty="0"/>
          </a:p>
        </p:txBody>
      </p:sp>
      <p:sp>
        <p:nvSpPr>
          <p:cNvPr id="45" name="Text 6">
            <a:extLst>
              <a:ext uri="{FF2B5EF4-FFF2-40B4-BE49-F238E27FC236}">
                <a16:creationId xmlns:a16="http://schemas.microsoft.com/office/drawing/2014/main" id="{FF804CF7-5F0A-4A1A-825E-C719AE6AB240}"/>
              </a:ext>
            </a:extLst>
          </p:cNvPr>
          <p:cNvSpPr/>
          <p:nvPr/>
        </p:nvSpPr>
        <p:spPr>
          <a:xfrm>
            <a:off x="1074301" y="3213735"/>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 apt update</a:t>
            </a:r>
            <a:endParaRPr lang="en-US" sz="1200" dirty="0"/>
          </a:p>
        </p:txBody>
      </p:sp>
      <p:sp>
        <p:nvSpPr>
          <p:cNvPr id="46" name="Text 7">
            <a:extLst>
              <a:ext uri="{FF2B5EF4-FFF2-40B4-BE49-F238E27FC236}">
                <a16:creationId xmlns:a16="http://schemas.microsoft.com/office/drawing/2014/main" id="{24A663C8-1008-4A42-9F39-02CC281DFE5F}"/>
              </a:ext>
            </a:extLst>
          </p:cNvPr>
          <p:cNvSpPr/>
          <p:nvPr/>
        </p:nvSpPr>
        <p:spPr>
          <a:xfrm>
            <a:off x="1074301" y="3505795"/>
            <a:ext cx="4431884" cy="254000"/>
          </a:xfrm>
          <a:prstGeom prst="rect">
            <a:avLst/>
          </a:prstGeom>
          <a:noFill/>
          <a:ln/>
        </p:spPr>
        <p:txBody>
          <a:bodyPr wrap="square" lIns="0" tIns="0" rIns="0" bIns="0" rtlCol="0" anchor="t">
            <a:normAutofit/>
          </a:bodyPr>
          <a:lstStyle/>
          <a:p>
            <a:pPr marL="0" indent="0" algn="l">
              <a:lnSpc>
                <a:spcPts val="1800"/>
              </a:lnSpc>
              <a:buNone/>
            </a:pPr>
            <a:r>
              <a:rPr lang="en-US" sz="1200" b="1" dirty="0">
                <a:solidFill>
                  <a:srgbClr val="F2B84B"/>
                </a:solidFill>
                <a:latin typeface="Courier New" pitchFamily="34" charset="0"/>
                <a:ea typeface="Courier New" pitchFamily="34" charset="-122"/>
                <a:cs typeface="Courier New" pitchFamily="34" charset="-120"/>
              </a:rPr>
              <a:t>$ apt install -y docker-ce docker-ce-cli</a:t>
            </a:r>
            <a:endParaRPr lang="en-US" sz="1200" dirty="0"/>
          </a:p>
        </p:txBody>
      </p:sp>
      <p:sp>
        <p:nvSpPr>
          <p:cNvPr id="47" name="Text 8">
            <a:extLst>
              <a:ext uri="{FF2B5EF4-FFF2-40B4-BE49-F238E27FC236}">
                <a16:creationId xmlns:a16="http://schemas.microsoft.com/office/drawing/2014/main" id="{532CD5DA-7718-4A8E-8831-B62B02F6B3C1}"/>
              </a:ext>
            </a:extLst>
          </p:cNvPr>
          <p:cNvSpPr/>
          <p:nvPr/>
        </p:nvSpPr>
        <p:spPr>
          <a:xfrm>
            <a:off x="1074301" y="3797856"/>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 docker version</a:t>
            </a:r>
            <a:endParaRPr lang="en-US" sz="1200" dirty="0"/>
          </a:p>
        </p:txBody>
      </p:sp>
      <p:sp>
        <p:nvSpPr>
          <p:cNvPr id="48" name="Text 9">
            <a:extLst>
              <a:ext uri="{FF2B5EF4-FFF2-40B4-BE49-F238E27FC236}">
                <a16:creationId xmlns:a16="http://schemas.microsoft.com/office/drawing/2014/main" id="{0FA88FCB-C79E-4161-BB07-82B54DE702AE}"/>
              </a:ext>
            </a:extLst>
          </p:cNvPr>
          <p:cNvSpPr/>
          <p:nvPr/>
        </p:nvSpPr>
        <p:spPr>
          <a:xfrm>
            <a:off x="1074301" y="4089916"/>
            <a:ext cx="4431884" cy="254000"/>
          </a:xfrm>
          <a:prstGeom prst="rect">
            <a:avLst/>
          </a:prstGeom>
          <a:noFill/>
          <a:ln/>
        </p:spPr>
        <p:txBody>
          <a:bodyPr wrap="square" lIns="0" tIns="0" rIns="0" bIns="0" rtlCol="0" anchor="t">
            <a:normAutofit/>
          </a:bodyPr>
          <a:lstStyle/>
          <a:p>
            <a:pPr marL="0" indent="0" algn="l">
              <a:lnSpc>
                <a:spcPts val="1800"/>
              </a:lnSpc>
              <a:buNone/>
            </a:pPr>
            <a:r>
              <a:rPr sz="1200" b="0">
                <a:solidFill>
                  <a:srgbClr val="F3F5F2"/>
                </a:solidFill>
                <a:latin typeface="Courier New"/>
              </a:rPr>
              <a:t>$ docker run --rm hello-world</a:t>
            </a:r>
            <a:endParaRPr lang="en-US" sz="1200" dirty="0"/>
          </a:p>
        </p:txBody>
      </p:sp>
      <p:sp>
        <p:nvSpPr>
          <p:cNvPr id="49" name="Shape 10">
            <a:extLst>
              <a:ext uri="{FF2B5EF4-FFF2-40B4-BE49-F238E27FC236}">
                <a16:creationId xmlns:a16="http://schemas.microsoft.com/office/drawing/2014/main" id="{8F857C7B-B20F-46F9-8EE1-DA98ED1AAE54}"/>
              </a:ext>
            </a:extLst>
          </p:cNvPr>
          <p:cNvSpPr/>
          <p:nvPr/>
        </p:nvSpPr>
        <p:spPr>
          <a:xfrm>
            <a:off x="5997377" y="2043906"/>
            <a:ext cx="349171" cy="349171"/>
          </a:xfrm>
          <a:prstGeom prst="roundRect">
            <a:avLst>
              <a:gd name="adj" fmla="val 50000"/>
            </a:avLst>
          </a:prstGeom>
          <a:solidFill>
            <a:srgbClr val="F2B84B">
              <a:alpha val="15000"/>
            </a:srgbClr>
          </a:solidFill>
          <a:ln w="6350">
            <a:solidFill>
              <a:srgbClr val="F2B84B"/>
            </a:solidFill>
            <a:prstDash val="solid"/>
          </a:ln>
        </p:spPr>
      </p:sp>
      <p:sp>
        <p:nvSpPr>
          <p:cNvPr id="50" name="Text 11">
            <a:extLst>
              <a:ext uri="{FF2B5EF4-FFF2-40B4-BE49-F238E27FC236}">
                <a16:creationId xmlns:a16="http://schemas.microsoft.com/office/drawing/2014/main" id="{1C8F9B9E-BF92-43F2-B472-F74A689D5FE6}"/>
              </a:ext>
            </a:extLst>
          </p:cNvPr>
          <p:cNvSpPr/>
          <p:nvPr/>
        </p:nvSpPr>
        <p:spPr>
          <a:xfrm>
            <a:off x="6122432" y="2094071"/>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1</a:t>
            </a:r>
            <a:endParaRPr lang="en-US" sz="1400" dirty="0"/>
          </a:p>
        </p:txBody>
      </p:sp>
      <p:sp>
        <p:nvSpPr>
          <p:cNvPr id="51" name="Text 12">
            <a:extLst>
              <a:ext uri="{FF2B5EF4-FFF2-40B4-BE49-F238E27FC236}">
                <a16:creationId xmlns:a16="http://schemas.microsoft.com/office/drawing/2014/main" id="{B9AA4CCF-E012-41F2-9846-BB357A6ADA52}"/>
              </a:ext>
            </a:extLst>
          </p:cNvPr>
          <p:cNvSpPr/>
          <p:nvPr/>
        </p:nvSpPr>
        <p:spPr>
          <a:xfrm>
            <a:off x="6502122" y="2040731"/>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Alte Pakete entfernen &amp; vorbereiten</a:t>
            </a:r>
            <a:endParaRPr lang="en-US" sz="1400" dirty="0"/>
          </a:p>
        </p:txBody>
      </p:sp>
      <p:sp>
        <p:nvSpPr>
          <p:cNvPr id="52" name="Text 13">
            <a:extLst>
              <a:ext uri="{FF2B5EF4-FFF2-40B4-BE49-F238E27FC236}">
                <a16:creationId xmlns:a16="http://schemas.microsoft.com/office/drawing/2014/main" id="{8294DD96-C001-49F2-8130-4C473B854ED3}"/>
              </a:ext>
            </a:extLst>
          </p:cNvPr>
          <p:cNvSpPr/>
          <p:nvPr/>
        </p:nvSpPr>
        <p:spPr>
          <a:xfrm>
            <a:off x="6502122" y="2292072"/>
            <a:ext cx="5023472" cy="621792"/>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docker.io/podman-docker deinstallieren, </a:t>
            </a:r>
            <a:br>
              <a:rPr lang="en-US" sz="1400" dirty="0">
                <a:ea typeface="Arial" pitchFamily="34" charset="-122"/>
                <a:cs typeface="Arial" pitchFamily="34" charset="-120"/>
              </a:rPr>
            </a:br>
            <a:r>
              <a:rPr lang="en-US" sz="1400" dirty="0">
                <a:ea typeface="Arial" pitchFamily="34" charset="-122"/>
                <a:cs typeface="Arial" pitchFamily="34" charset="-120"/>
              </a:rPr>
              <a:t>ca-certificates/curl installieren</a:t>
            </a:r>
            <a:endParaRPr lang="en-US" sz="1400" dirty="0"/>
          </a:p>
          <a:p>
            <a:r>
              <a:rPr sz="1000" i="1" dirty="0">
                <a:solidFill>
                  <a:srgbClr val="5B6472"/>
                </a:solidFill>
                <a:latin typeface="Arial"/>
              </a:rPr>
              <a:t>→ ca-certificates: TLS-</a:t>
            </a:r>
            <a:r>
              <a:rPr sz="1000" i="1" dirty="0" err="1">
                <a:solidFill>
                  <a:srgbClr val="5B6472"/>
                </a:solidFill>
                <a:latin typeface="Arial"/>
              </a:rPr>
              <a:t>Vertrauen</a:t>
            </a:r>
            <a:r>
              <a:rPr sz="1000" i="1" dirty="0">
                <a:solidFill>
                  <a:srgbClr val="5B6472"/>
                </a:solidFill>
                <a:latin typeface="Arial"/>
              </a:rPr>
              <a:t> </a:t>
            </a:r>
            <a:r>
              <a:rPr sz="1000" i="1" dirty="0" err="1">
                <a:solidFill>
                  <a:srgbClr val="5B6472"/>
                </a:solidFill>
                <a:latin typeface="Arial"/>
              </a:rPr>
              <a:t>für</a:t>
            </a:r>
            <a:r>
              <a:rPr sz="1000" i="1" dirty="0">
                <a:solidFill>
                  <a:srgbClr val="5B6472"/>
                </a:solidFill>
                <a:latin typeface="Arial"/>
              </a:rPr>
              <a:t> den HTTPS-Download des Docker-Repos</a:t>
            </a:r>
          </a:p>
        </p:txBody>
      </p:sp>
      <p:sp>
        <p:nvSpPr>
          <p:cNvPr id="53" name="Text 14">
            <a:extLst>
              <a:ext uri="{FF2B5EF4-FFF2-40B4-BE49-F238E27FC236}">
                <a16:creationId xmlns:a16="http://schemas.microsoft.com/office/drawing/2014/main" id="{763870ED-19DF-43FF-A66E-56694F219C40}"/>
              </a:ext>
            </a:extLst>
          </p:cNvPr>
          <p:cNvSpPr/>
          <p:nvPr/>
        </p:nvSpPr>
        <p:spPr>
          <a:xfrm>
            <a:off x="6502122" y="2962656"/>
            <a:ext cx="5023472" cy="215900"/>
          </a:xfrm>
          <a:prstGeom prst="rect">
            <a:avLst/>
          </a:prstGeom>
          <a:noFill/>
          <a:ln/>
        </p:spPr>
        <p:txBody>
          <a:bodyPr wrap="square" lIns="0" tIns="0" rIns="0" bIns="0" rtlCol="0" anchor="t">
            <a:normAutofit/>
          </a:bodyPr>
          <a:lstStyle/>
          <a:p>
            <a:pPr marL="0" indent="0" algn="l">
              <a:lnSpc>
                <a:spcPts val="1500"/>
              </a:lnSpc>
              <a:buNone/>
            </a:pPr>
            <a:r>
              <a:rPr lang="en-US" sz="1400" dirty="0">
                <a:ea typeface="Courier New" pitchFamily="34" charset="-122"/>
                <a:cs typeface="Courier New" pitchFamily="34" charset="-120"/>
              </a:rPr>
              <a:t>apt remove -y docker.io ... ; true</a:t>
            </a:r>
            <a:endParaRPr lang="en-US" sz="1400" dirty="0"/>
          </a:p>
        </p:txBody>
      </p:sp>
      <p:sp>
        <p:nvSpPr>
          <p:cNvPr id="54" name="Shape 15">
            <a:extLst>
              <a:ext uri="{FF2B5EF4-FFF2-40B4-BE49-F238E27FC236}">
                <a16:creationId xmlns:a16="http://schemas.microsoft.com/office/drawing/2014/main" id="{FDA7ADAD-64AE-483B-AB8D-DFEA2D20D6F4}"/>
              </a:ext>
            </a:extLst>
          </p:cNvPr>
          <p:cNvSpPr/>
          <p:nvPr/>
        </p:nvSpPr>
        <p:spPr>
          <a:xfrm>
            <a:off x="5997377" y="3355848"/>
            <a:ext cx="349171" cy="349171"/>
          </a:xfrm>
          <a:prstGeom prst="roundRect">
            <a:avLst>
              <a:gd name="adj" fmla="val 50000"/>
            </a:avLst>
          </a:prstGeom>
          <a:solidFill>
            <a:srgbClr val="F2B84B">
              <a:alpha val="15000"/>
            </a:srgbClr>
          </a:solidFill>
          <a:ln w="6350">
            <a:solidFill>
              <a:srgbClr val="F2B84B"/>
            </a:solidFill>
            <a:prstDash val="solid"/>
          </a:ln>
        </p:spPr>
      </p:sp>
      <p:sp>
        <p:nvSpPr>
          <p:cNvPr id="55" name="Text 16">
            <a:extLst>
              <a:ext uri="{FF2B5EF4-FFF2-40B4-BE49-F238E27FC236}">
                <a16:creationId xmlns:a16="http://schemas.microsoft.com/office/drawing/2014/main" id="{4164429F-9F1E-424F-AFE2-43B367F37BE9}"/>
              </a:ext>
            </a:extLst>
          </p:cNvPr>
          <p:cNvSpPr/>
          <p:nvPr/>
        </p:nvSpPr>
        <p:spPr>
          <a:xfrm>
            <a:off x="6122432" y="3401568"/>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2</a:t>
            </a:r>
            <a:endParaRPr lang="en-US" sz="1400" dirty="0"/>
          </a:p>
        </p:txBody>
      </p:sp>
      <p:sp>
        <p:nvSpPr>
          <p:cNvPr id="56" name="Text 17">
            <a:extLst>
              <a:ext uri="{FF2B5EF4-FFF2-40B4-BE49-F238E27FC236}">
                <a16:creationId xmlns:a16="http://schemas.microsoft.com/office/drawing/2014/main" id="{10AD6FAB-7B0B-43BD-A629-8F05EEBBED60}"/>
              </a:ext>
            </a:extLst>
          </p:cNvPr>
          <p:cNvSpPr/>
          <p:nvPr/>
        </p:nvSpPr>
        <p:spPr>
          <a:xfrm>
            <a:off x="6502122" y="3355848"/>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Docker-Repository einbinden</a:t>
            </a:r>
            <a:endParaRPr lang="en-US" sz="1400" dirty="0"/>
          </a:p>
        </p:txBody>
      </p:sp>
      <p:sp>
        <p:nvSpPr>
          <p:cNvPr id="57" name="Text 18">
            <a:extLst>
              <a:ext uri="{FF2B5EF4-FFF2-40B4-BE49-F238E27FC236}">
                <a16:creationId xmlns:a16="http://schemas.microsoft.com/office/drawing/2014/main" id="{C21BBB92-8131-4FF5-883C-DB37F1896D0C}"/>
              </a:ext>
            </a:extLst>
          </p:cNvPr>
          <p:cNvSpPr/>
          <p:nvPr/>
        </p:nvSpPr>
        <p:spPr>
          <a:xfrm>
            <a:off x="6502122" y="3602736"/>
            <a:ext cx="5023472" cy="621792"/>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GPG-Key laden, offizielles Repo in docker.list eintragen</a:t>
            </a:r>
            <a:endParaRPr lang="en-US" sz="1400" dirty="0"/>
          </a:p>
          <a:p>
            <a:r>
              <a:rPr sz="1000" i="1">
                <a:solidFill>
                  <a:srgbClr val="5B6472"/>
                </a:solidFill>
                <a:latin typeface="Arial"/>
              </a:rPr>
              <a:t>→ GPG-Key signiert die Pakete – apt installiert nur Pakete mit gültiger Signatur</a:t>
            </a:r>
          </a:p>
        </p:txBody>
      </p:sp>
      <p:sp>
        <p:nvSpPr>
          <p:cNvPr id="58" name="Shape 19">
            <a:extLst>
              <a:ext uri="{FF2B5EF4-FFF2-40B4-BE49-F238E27FC236}">
                <a16:creationId xmlns:a16="http://schemas.microsoft.com/office/drawing/2014/main" id="{21AAD443-ED9F-4532-835D-74575E2EFA63}"/>
              </a:ext>
            </a:extLst>
          </p:cNvPr>
          <p:cNvSpPr/>
          <p:nvPr/>
        </p:nvSpPr>
        <p:spPr>
          <a:xfrm>
            <a:off x="5997377" y="4398264"/>
            <a:ext cx="349171" cy="349171"/>
          </a:xfrm>
          <a:prstGeom prst="roundRect">
            <a:avLst>
              <a:gd name="adj" fmla="val 50000"/>
            </a:avLst>
          </a:prstGeom>
          <a:solidFill>
            <a:srgbClr val="F2B84B">
              <a:alpha val="15000"/>
            </a:srgbClr>
          </a:solidFill>
          <a:ln w="6350">
            <a:solidFill>
              <a:srgbClr val="F2B84B"/>
            </a:solidFill>
            <a:prstDash val="solid"/>
          </a:ln>
        </p:spPr>
      </p:sp>
      <p:sp>
        <p:nvSpPr>
          <p:cNvPr id="59" name="Text 20">
            <a:extLst>
              <a:ext uri="{FF2B5EF4-FFF2-40B4-BE49-F238E27FC236}">
                <a16:creationId xmlns:a16="http://schemas.microsoft.com/office/drawing/2014/main" id="{0F6A2A80-7820-4F44-8E7A-61751819FAFC}"/>
              </a:ext>
            </a:extLst>
          </p:cNvPr>
          <p:cNvSpPr/>
          <p:nvPr/>
        </p:nvSpPr>
        <p:spPr>
          <a:xfrm>
            <a:off x="6122432" y="4443984"/>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3</a:t>
            </a:r>
            <a:endParaRPr lang="en-US" sz="1400" dirty="0"/>
          </a:p>
        </p:txBody>
      </p:sp>
      <p:sp>
        <p:nvSpPr>
          <p:cNvPr id="60" name="Text 21">
            <a:extLst>
              <a:ext uri="{FF2B5EF4-FFF2-40B4-BE49-F238E27FC236}">
                <a16:creationId xmlns:a16="http://schemas.microsoft.com/office/drawing/2014/main" id="{477E6D75-3A3B-475F-8766-52DFA7645D93}"/>
              </a:ext>
            </a:extLst>
          </p:cNvPr>
          <p:cNvSpPr/>
          <p:nvPr/>
        </p:nvSpPr>
        <p:spPr>
          <a:xfrm>
            <a:off x="6502122" y="4398264"/>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Installieren &amp; prüfen</a:t>
            </a:r>
            <a:endParaRPr lang="en-US" sz="1400" dirty="0"/>
          </a:p>
        </p:txBody>
      </p:sp>
      <p:sp>
        <p:nvSpPr>
          <p:cNvPr id="61" name="Text 22">
            <a:extLst>
              <a:ext uri="{FF2B5EF4-FFF2-40B4-BE49-F238E27FC236}">
                <a16:creationId xmlns:a16="http://schemas.microsoft.com/office/drawing/2014/main" id="{3CE88406-4D3B-44C6-A32D-A5EF1D2984C7}"/>
              </a:ext>
            </a:extLst>
          </p:cNvPr>
          <p:cNvSpPr/>
          <p:nvPr/>
        </p:nvSpPr>
        <p:spPr>
          <a:xfrm>
            <a:off x="6502122" y="4645152"/>
            <a:ext cx="5023472" cy="2209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docker version</a:t>
            </a:r>
            <a:endParaRPr lang="en-US" sz="1400" dirty="0"/>
          </a:p>
        </p:txBody>
      </p:sp>
      <p:sp>
        <p:nvSpPr>
          <p:cNvPr id="62" name="Text 23">
            <a:extLst>
              <a:ext uri="{FF2B5EF4-FFF2-40B4-BE49-F238E27FC236}">
                <a16:creationId xmlns:a16="http://schemas.microsoft.com/office/drawing/2014/main" id="{797138DB-BC51-4397-BF84-450B27ADBDB3}"/>
              </a:ext>
            </a:extLst>
          </p:cNvPr>
          <p:cNvSpPr/>
          <p:nvPr/>
        </p:nvSpPr>
        <p:spPr>
          <a:xfrm>
            <a:off x="6502122" y="4882896"/>
            <a:ext cx="5023472" cy="2209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docker run --rm hello-world</a:t>
            </a:r>
            <a:endParaRPr lang="en-US" sz="1400" dirty="0"/>
          </a:p>
        </p:txBody>
      </p:sp>
      <p:sp>
        <p:nvSpPr>
          <p:cNvPr id="69" name="TextBox 68"/>
          <p:cNvSpPr txBox="1"/>
          <p:nvPr/>
        </p:nvSpPr>
        <p:spPr>
          <a:xfrm>
            <a:off x="6501384" y="5120640"/>
            <a:ext cx="5020056" cy="173736"/>
          </a:xfrm>
          <a:prstGeom prst="rect">
            <a:avLst/>
          </a:prstGeom>
          <a:noFill/>
        </p:spPr>
        <p:txBody>
          <a:bodyPr wrap="square" lIns="0" tIns="0" rIns="0" bIns="0">
            <a:spAutoFit/>
          </a:bodyPr>
          <a:lstStyle/>
          <a:p>
            <a:pPr algn="l"/>
            <a:r>
              <a:rPr sz="900" b="0" i="1">
                <a:solidFill>
                  <a:srgbClr val="5B6472"/>
                </a:solidFill>
                <a:latin typeface="Arial"/>
              </a:rPr>
              <a:t>→ docker-ce: Engine/Daemon  ·  docker-ce-cli: CLI-Befehl „docker“</a:t>
            </a:r>
          </a:p>
        </p:txBody>
      </p:sp>
      <p:sp>
        <p:nvSpPr>
          <p:cNvPr id="70" name="TextBox 69"/>
          <p:cNvSpPr txBox="1"/>
          <p:nvPr/>
        </p:nvSpPr>
        <p:spPr>
          <a:xfrm>
            <a:off x="6501384" y="5294376"/>
            <a:ext cx="5020056" cy="173736"/>
          </a:xfrm>
          <a:prstGeom prst="rect">
            <a:avLst/>
          </a:prstGeom>
          <a:noFill/>
        </p:spPr>
        <p:txBody>
          <a:bodyPr wrap="square" lIns="0" tIns="0" rIns="0" bIns="0">
            <a:spAutoFit/>
          </a:bodyPr>
          <a:lstStyle/>
          <a:p>
            <a:pPr algn="l"/>
            <a:r>
              <a:rPr sz="900" b="0" i="1">
                <a:solidFill>
                  <a:srgbClr val="5B6472"/>
                </a:solidFill>
                <a:latin typeface="Arial"/>
              </a:rPr>
              <a:t>→ containerd.io: Laufzeit – automatisch als Abhängigkeit mitinstalliert</a:t>
            </a:r>
          </a:p>
        </p:txBody>
      </p:sp>
      <p:sp>
        <p:nvSpPr>
          <p:cNvPr id="5" name="Foliennummernplatzhalter 4"/>
          <p:cNvSpPr>
            <a:spLocks noGrp="1"/>
          </p:cNvSpPr>
          <p:nvPr>
            <p:ph type="sldNum" sz="quarter" idx="4"/>
          </p:nvPr>
        </p:nvSpPr>
        <p:spPr/>
        <p:txBody>
          <a:bodyPr/>
          <a:lstStyle/>
          <a:p>
            <a:fld id="{43A6DCFB-163F-4561-BF28-3CD1FE47EE20}" type="slidenum">
              <a:rPr lang="de-DE" smtClean="0"/>
              <a:pPr/>
              <a:t>5</a:t>
            </a:fld>
            <a:endParaRPr lang="de-DE"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1" y="274638"/>
            <a:ext cx="10953313" cy="1143000"/>
          </a:xfrm>
        </p:spPr>
        <p:txBody>
          <a:bodyPr/>
          <a:lstStyle/>
          <a:p>
            <a:r>
              <a:rPr lang="de-DE" sz="2400" dirty="0"/>
              <a:t>Zwei Wege hinter Caddy: nativer Dienst vs. Container</a:t>
            </a:r>
            <a:endParaRPr sz="2400" dirty="0"/>
          </a:p>
        </p:txBody>
      </p:sp>
      <p:sp>
        <p:nvSpPr>
          <p:cNvPr id="2" name="Foliennummernplatzhalter 4"/>
          <p:cNvSpPr>
            <a:spLocks noGrp="1"/>
          </p:cNvSpPr>
          <p:nvPr>
            <p:ph type="sldNum" sz="quarter" idx="4"/>
          </p:nvPr>
        </p:nvSpPr>
        <p:spPr/>
        <p:txBody>
          <a:bodyPr/>
          <a:lstStyle/>
          <a:p>
            <a:fld id="{43A6DCFB-163F-4561-BF28-3CD1FE47EE20}" type="slidenum">
              <a:rPr lang="de-DE" smtClean="0"/>
              <a:pPr/>
              <a:t>6</a:t>
            </a:fld>
            <a:endParaRPr lang="de-DE" dirty="0"/>
          </a:p>
        </p:txBody>
      </p:sp>
      <p:sp>
        <p:nvSpPr>
          <p:cNvPr id="5" name="TextBox 4"/>
          <p:cNvSpPr txBox="1"/>
          <p:nvPr/>
        </p:nvSpPr>
        <p:spPr>
          <a:xfrm>
            <a:off x="548640" y="1481328"/>
            <a:ext cx="4937760" cy="274320"/>
          </a:xfrm>
          <a:prstGeom prst="rect">
            <a:avLst/>
          </a:prstGeom>
          <a:noFill/>
        </p:spPr>
        <p:txBody>
          <a:bodyPr wrap="square" lIns="0" tIns="0" rIns="0" bIns="0">
            <a:spAutoFit/>
          </a:bodyPr>
          <a:lstStyle/>
          <a:p>
            <a:pPr algn="l"/>
            <a:r>
              <a:rPr sz="1300" b="1">
                <a:solidFill>
                  <a:srgbClr val="005AA8"/>
                </a:solidFill>
                <a:latin typeface="Arial"/>
              </a:rPr>
              <a:t>Von außen identisch</a:t>
            </a:r>
          </a:p>
        </p:txBody>
      </p:sp>
      <p:sp>
        <p:nvSpPr>
          <p:cNvPr id="6" name="Rounded Rectangle 5"/>
          <p:cNvSpPr/>
          <p:nvPr/>
        </p:nvSpPr>
        <p:spPr>
          <a:xfrm>
            <a:off x="548640" y="2743200"/>
            <a:ext cx="1417320" cy="1005840"/>
          </a:xfrm>
          <a:prstGeom prst="roundRect">
            <a:avLst>
              <a:gd name="adj" fmla="val 12000"/>
            </a:avLst>
          </a:prstGeom>
          <a:solidFill>
            <a:srgbClr val="F5F5F5"/>
          </a:solidFill>
          <a:ln w="12700">
            <a:solidFill>
              <a:srgbClr val="9AA3AF"/>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Client</a:t>
            </a:r>
          </a:p>
          <a:p>
            <a:pPr algn="ctr"/>
            <a:r>
              <a:rPr sz="900" b="0">
                <a:solidFill>
                  <a:srgbClr val="5B6472"/>
                </a:solidFill>
                <a:latin typeface="Arial"/>
              </a:rPr>
              <a:t>(Internet)</a:t>
            </a:r>
          </a:p>
          <a:p>
            <a:pPr algn="ctr"/>
            <a:r>
              <a:rPr sz="900" b="0">
                <a:solidFill>
                  <a:srgbClr val="5B6472"/>
                </a:solidFill>
                <a:latin typeface="Arial"/>
              </a:rPr>
              <a:t>https://www.&lt;…&gt;</a:t>
            </a:r>
          </a:p>
        </p:txBody>
      </p:sp>
      <p:sp>
        <p:nvSpPr>
          <p:cNvPr id="7" name="Rounded Rectangle 6"/>
          <p:cNvSpPr/>
          <p:nvPr/>
        </p:nvSpPr>
        <p:spPr>
          <a:xfrm>
            <a:off x="2194560" y="2743200"/>
            <a:ext cx="1417320" cy="1005840"/>
          </a:xfrm>
          <a:prstGeom prst="roundRect">
            <a:avLst>
              <a:gd name="adj" fmla="val 12000"/>
            </a:avLst>
          </a:prstGeom>
          <a:solidFill>
            <a:srgbClr val="F4F6FA"/>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E2761"/>
                </a:solidFill>
                <a:latin typeface="Arial"/>
              </a:rPr>
              <a:t>ufw · INPUT</a:t>
            </a:r>
          </a:p>
          <a:p>
            <a:pPr algn="ctr"/>
            <a:r>
              <a:rPr sz="900" b="0">
                <a:solidFill>
                  <a:srgbClr val="5B6472"/>
                </a:solidFill>
                <a:latin typeface="Arial"/>
              </a:rPr>
              <a:t>allow https</a:t>
            </a:r>
          </a:p>
          <a:p>
            <a:pPr algn="ctr"/>
            <a:r>
              <a:rPr sz="900" b="0">
                <a:solidFill>
                  <a:srgbClr val="5B6472"/>
                </a:solidFill>
                <a:latin typeface="Arial"/>
              </a:rPr>
              <a:t>einzige Prüfung</a:t>
            </a:r>
          </a:p>
        </p:txBody>
      </p:sp>
      <p:sp>
        <p:nvSpPr>
          <p:cNvPr id="8" name="Rounded Rectangle 7"/>
          <p:cNvSpPr/>
          <p:nvPr/>
        </p:nvSpPr>
        <p:spPr>
          <a:xfrm>
            <a:off x="3840480" y="2743200"/>
            <a:ext cx="1463040" cy="1005840"/>
          </a:xfrm>
          <a:prstGeom prst="roundRect">
            <a:avLst>
              <a:gd name="adj" fmla="val 12000"/>
            </a:avLst>
          </a:prstGeom>
          <a:solidFill>
            <a:srgbClr val="F4F6FA"/>
          </a:solidFill>
          <a:ln w="12700">
            <a:solidFill>
              <a:srgbClr val="005AA8"/>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Caddy</a:t>
            </a:r>
          </a:p>
          <a:p>
            <a:pPr algn="ctr"/>
            <a:r>
              <a:rPr sz="900" b="0">
                <a:solidFill>
                  <a:srgbClr val="5B6472"/>
                </a:solidFill>
                <a:latin typeface="Arial"/>
              </a:rPr>
              <a:t>öffentl. Host-IP:443</a:t>
            </a:r>
          </a:p>
          <a:p>
            <a:pPr algn="ctr"/>
            <a:r>
              <a:rPr sz="900" b="0">
                <a:solidFill>
                  <a:srgbClr val="5B6472"/>
                </a:solidFill>
                <a:latin typeface="Arial"/>
              </a:rPr>
              <a:t>Reverse Proxy</a:t>
            </a:r>
          </a:p>
        </p:txBody>
      </p:sp>
      <p:cxnSp>
        <p:nvCxnSpPr>
          <p:cNvPr id="9" name="Connector 8"/>
          <p:cNvCxnSpPr/>
          <p:nvPr/>
        </p:nvCxnSpPr>
        <p:spPr>
          <a:xfrm>
            <a:off x="1965960" y="3246120"/>
            <a:ext cx="228600" cy="0"/>
          </a:xfrm>
          <a:prstGeom prst="line">
            <a:avLst/>
          </a:prstGeom>
          <a:ln w="25400">
            <a:solidFill>
              <a:srgbClr val="005AA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611880" y="3246120"/>
            <a:ext cx="228600" cy="0"/>
          </a:xfrm>
          <a:prstGeom prst="line">
            <a:avLst/>
          </a:prstGeom>
          <a:ln w="25400">
            <a:solidFill>
              <a:srgbClr val="005AA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669280" y="1508760"/>
            <a:ext cx="0" cy="3337560"/>
          </a:xfrm>
          <a:prstGeom prst="line">
            <a:avLst/>
          </a:prstGeom>
          <a:ln w="12700">
            <a:solidFill>
              <a:srgbClr val="D1D5D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897880" y="1481328"/>
            <a:ext cx="5760720" cy="274320"/>
          </a:xfrm>
          <a:prstGeom prst="rect">
            <a:avLst/>
          </a:prstGeom>
          <a:noFill/>
        </p:spPr>
        <p:txBody>
          <a:bodyPr wrap="square" lIns="0" tIns="0" rIns="0" bIns="0">
            <a:spAutoFit/>
          </a:bodyPr>
          <a:lstStyle/>
          <a:p>
            <a:pPr algn="l"/>
            <a:r>
              <a:rPr sz="1300" b="1">
                <a:solidFill>
                  <a:srgbClr val="005AA8"/>
                </a:solidFill>
                <a:latin typeface="Arial"/>
              </a:rPr>
              <a:t>Unterschied erst hinter Caddy</a:t>
            </a:r>
          </a:p>
        </p:txBody>
      </p:sp>
      <p:sp>
        <p:nvSpPr>
          <p:cNvPr id="13" name="Rounded Rectangle 12"/>
          <p:cNvSpPr/>
          <p:nvPr/>
        </p:nvSpPr>
        <p:spPr>
          <a:xfrm>
            <a:off x="5897880" y="1828800"/>
            <a:ext cx="2194560" cy="274320"/>
          </a:xfrm>
          <a:prstGeom prst="roundRect">
            <a:avLst>
              <a:gd name="adj" fmla="val 12000"/>
            </a:avLst>
          </a:prstGeom>
          <a:solidFill>
            <a:srgbClr val="E7F1EA"/>
          </a:solidFill>
          <a:ln w="9525">
            <a:solidFill>
              <a:srgbClr val="1E6B3C"/>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000" b="1">
                <a:solidFill>
                  <a:srgbClr val="1E6B3C"/>
                </a:solidFill>
                <a:latin typeface="Arial"/>
              </a:rPr>
              <a:t>Nativer Dienst (Lab 04)</a:t>
            </a:r>
          </a:p>
        </p:txBody>
      </p:sp>
      <p:sp>
        <p:nvSpPr>
          <p:cNvPr id="14" name="Rounded Rectangle 13"/>
          <p:cNvSpPr/>
          <p:nvPr/>
        </p:nvSpPr>
        <p:spPr>
          <a:xfrm>
            <a:off x="5897880" y="2194560"/>
            <a:ext cx="2194560" cy="731520"/>
          </a:xfrm>
          <a:prstGeom prst="roundRect">
            <a:avLst>
              <a:gd name="adj" fmla="val 12000"/>
            </a:avLst>
          </a:prstGeom>
          <a:solidFill>
            <a:srgbClr val="F4F6FA"/>
          </a:solidFill>
          <a:ln w="12700">
            <a:solidFill>
              <a:srgbClr val="005AA8"/>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localhost:9090</a:t>
            </a:r>
          </a:p>
          <a:p>
            <a:pPr algn="ctr"/>
            <a:r>
              <a:rPr sz="900" b="0">
                <a:solidFill>
                  <a:srgbClr val="5B6472"/>
                </a:solidFill>
                <a:latin typeface="Arial"/>
              </a:rPr>
              <a:t>Caddy verbindet lokal</a:t>
            </a:r>
          </a:p>
        </p:txBody>
      </p:sp>
      <p:sp>
        <p:nvSpPr>
          <p:cNvPr id="15" name="Rounded Rectangle 14"/>
          <p:cNvSpPr/>
          <p:nvPr/>
        </p:nvSpPr>
        <p:spPr>
          <a:xfrm>
            <a:off x="8366760" y="2194560"/>
            <a:ext cx="2194560" cy="731520"/>
          </a:xfrm>
          <a:prstGeom prst="roundRect">
            <a:avLst>
              <a:gd name="adj" fmla="val 12000"/>
            </a:avLst>
          </a:prstGeom>
          <a:solidFill>
            <a:srgbClr val="E7F1EA"/>
          </a:solidFill>
          <a:ln w="12700">
            <a:solidFill>
              <a:srgbClr val="1E6B3C"/>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Cockpit</a:t>
            </a:r>
          </a:p>
          <a:p>
            <a:pPr algn="ctr"/>
            <a:r>
              <a:rPr sz="900" b="0">
                <a:solidFill>
                  <a:srgbClr val="5B6472"/>
                </a:solidFill>
                <a:latin typeface="Arial"/>
              </a:rPr>
              <a:t>Prozess direkt auf dem Host</a:t>
            </a:r>
          </a:p>
        </p:txBody>
      </p:sp>
      <p:cxnSp>
        <p:nvCxnSpPr>
          <p:cNvPr id="16" name="Connector 15"/>
          <p:cNvCxnSpPr/>
          <p:nvPr/>
        </p:nvCxnSpPr>
        <p:spPr>
          <a:xfrm>
            <a:off x="8092440" y="2560320"/>
            <a:ext cx="274320" cy="0"/>
          </a:xfrm>
          <a:prstGeom prst="line">
            <a:avLst/>
          </a:prstGeom>
          <a:ln w="25400">
            <a:solidFill>
              <a:srgbClr val="1E6B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897880" y="3520440"/>
            <a:ext cx="2194560" cy="274320"/>
          </a:xfrm>
          <a:prstGeom prst="roundRect">
            <a:avLst>
              <a:gd name="adj" fmla="val 12000"/>
            </a:avLst>
          </a:prstGeom>
          <a:solidFill>
            <a:srgbClr val="FDF4E3"/>
          </a:solidFill>
          <a:ln w="9525">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000" b="1">
                <a:solidFill>
                  <a:srgbClr val="8A5A00"/>
                </a:solidFill>
                <a:latin typeface="Arial"/>
              </a:rPr>
              <a:t>Container (Lab 05)</a:t>
            </a:r>
          </a:p>
        </p:txBody>
      </p:sp>
      <p:sp>
        <p:nvSpPr>
          <p:cNvPr id="18" name="Rounded Rectangle 17"/>
          <p:cNvSpPr/>
          <p:nvPr/>
        </p:nvSpPr>
        <p:spPr>
          <a:xfrm>
            <a:off x="5897880" y="3886200"/>
            <a:ext cx="1691640" cy="731520"/>
          </a:xfrm>
          <a:prstGeom prst="roundRect">
            <a:avLst>
              <a:gd name="adj" fmla="val 12000"/>
            </a:avLst>
          </a:prstGeom>
          <a:solidFill>
            <a:srgbClr val="F4F6FA"/>
          </a:solidFill>
          <a:ln w="12700">
            <a:solidFill>
              <a:srgbClr val="005AA8"/>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100" b="1">
                <a:solidFill>
                  <a:srgbClr val="1A1A1A"/>
                </a:solidFill>
                <a:latin typeface="Arial"/>
              </a:rPr>
              <a:t>127.0.0.1:8080</a:t>
            </a:r>
          </a:p>
          <a:p>
            <a:pPr algn="ctr"/>
            <a:r>
              <a:rPr sz="900" b="0">
                <a:solidFill>
                  <a:srgbClr val="5B6472"/>
                </a:solidFill>
                <a:latin typeface="Arial"/>
              </a:rPr>
              <a:t>docker-proxy</a:t>
            </a:r>
          </a:p>
        </p:txBody>
      </p:sp>
      <p:sp>
        <p:nvSpPr>
          <p:cNvPr id="19" name="Rounded Rectangle 18"/>
          <p:cNvSpPr/>
          <p:nvPr/>
        </p:nvSpPr>
        <p:spPr>
          <a:xfrm>
            <a:off x="7863840" y="3886200"/>
            <a:ext cx="1691640" cy="731520"/>
          </a:xfrm>
          <a:prstGeom prst="roundRect">
            <a:avLst>
              <a:gd name="adj" fmla="val 12000"/>
            </a:avLst>
          </a:prstGeom>
          <a:solidFill>
            <a:srgbClr val="F5F5F5"/>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100" b="1">
                <a:solidFill>
                  <a:srgbClr val="1A1A1A"/>
                </a:solidFill>
                <a:latin typeface="Arial"/>
              </a:rPr>
              <a:t>docker0</a:t>
            </a:r>
          </a:p>
          <a:p>
            <a:pPr algn="ctr"/>
            <a:r>
              <a:rPr sz="900" b="0">
                <a:solidFill>
                  <a:srgbClr val="5B6472"/>
                </a:solidFill>
                <a:latin typeface="Arial"/>
              </a:rPr>
              <a:t>Bridge 172.17.0.0/16</a:t>
            </a:r>
          </a:p>
        </p:txBody>
      </p:sp>
      <p:sp>
        <p:nvSpPr>
          <p:cNvPr id="20" name="Rounded Rectangle 19"/>
          <p:cNvSpPr/>
          <p:nvPr/>
        </p:nvSpPr>
        <p:spPr>
          <a:xfrm>
            <a:off x="9829800" y="3886200"/>
            <a:ext cx="1783080" cy="731520"/>
          </a:xfrm>
          <a:prstGeom prst="roundRect">
            <a:avLst>
              <a:gd name="adj" fmla="val 12000"/>
            </a:avLst>
          </a:prstGeom>
          <a:solidFill>
            <a:srgbClr val="E7F1EA"/>
          </a:solidFill>
          <a:ln w="12700">
            <a:solidFill>
              <a:srgbClr val="1E6B3C"/>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100" b="1">
                <a:solidFill>
                  <a:srgbClr val="1A1A1A"/>
                </a:solidFill>
                <a:latin typeface="Arial"/>
              </a:rPr>
              <a:t>nginx-web</a:t>
            </a:r>
          </a:p>
          <a:p>
            <a:pPr algn="ctr"/>
            <a:r>
              <a:rPr sz="900" b="0">
                <a:solidFill>
                  <a:srgbClr val="5B6472"/>
                </a:solidFill>
                <a:latin typeface="Arial"/>
              </a:rPr>
              <a:t>172.17.0.2:80</a:t>
            </a:r>
          </a:p>
        </p:txBody>
      </p:sp>
      <p:cxnSp>
        <p:nvCxnSpPr>
          <p:cNvPr id="21" name="Connector 20"/>
          <p:cNvCxnSpPr/>
          <p:nvPr/>
        </p:nvCxnSpPr>
        <p:spPr>
          <a:xfrm>
            <a:off x="7589520" y="4251960"/>
            <a:ext cx="274320" cy="0"/>
          </a:xfrm>
          <a:prstGeom prst="line">
            <a:avLst/>
          </a:prstGeom>
          <a:ln w="25400">
            <a:solidFill>
              <a:srgbClr val="F2B84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555480" y="4251960"/>
            <a:ext cx="274320" cy="0"/>
          </a:xfrm>
          <a:prstGeom prst="line">
            <a:avLst/>
          </a:prstGeom>
          <a:ln w="25400">
            <a:solidFill>
              <a:srgbClr val="F2B84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303520" y="3246120"/>
            <a:ext cx="228600" cy="0"/>
          </a:xfrm>
          <a:prstGeom prst="line">
            <a:avLst/>
          </a:prstGeom>
          <a:ln w="25400">
            <a:solidFill>
              <a:srgbClr val="005AA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532120" y="2560320"/>
            <a:ext cx="0" cy="1691640"/>
          </a:xfrm>
          <a:prstGeom prst="line">
            <a:avLst/>
          </a:prstGeom>
          <a:ln w="25400">
            <a:solidFill>
              <a:srgbClr val="005AA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532120" y="2560320"/>
            <a:ext cx="365760" cy="0"/>
          </a:xfrm>
          <a:prstGeom prst="line">
            <a:avLst/>
          </a:prstGeom>
          <a:ln w="25400">
            <a:solidFill>
              <a:srgbClr val="005AA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532120" y="4251960"/>
            <a:ext cx="365760" cy="0"/>
          </a:xfrm>
          <a:prstGeom prst="line">
            <a:avLst/>
          </a:prstGeom>
          <a:ln w="25400">
            <a:solidFill>
              <a:srgbClr val="005A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48640" y="5120640"/>
            <a:ext cx="4937760" cy="914400"/>
          </a:xfrm>
          <a:prstGeom prst="roundRect">
            <a:avLst>
              <a:gd name="adj" fmla="val 12000"/>
            </a:avLst>
          </a:prstGeom>
          <a:solidFill>
            <a:srgbClr val="F4F6FA"/>
          </a:solidFill>
          <a:ln w="12700">
            <a:solidFill>
              <a:srgbClr val="005AA8"/>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r>
              <a:rPr sz="1200" b="1">
                <a:solidFill>
                  <a:srgbClr val="005AA8"/>
                </a:solidFill>
                <a:latin typeface="Arial"/>
              </a:rPr>
              <a:t>Gemeinsam</a:t>
            </a:r>
          </a:p>
          <a:p>
            <a:pPr algn="l"/>
            <a:r>
              <a:rPr sz="1000" b="0">
                <a:solidFill>
                  <a:srgbClr val="1A1A1A"/>
                </a:solidFill>
                <a:latin typeface="Arial"/>
              </a:rPr>
              <a:t>Der Client spricht immer Caddy an (öffentliche Host-IP, Port 443). ufw prüft genau einmal: in der INPUT-Chain mit allow https.</a:t>
            </a:r>
          </a:p>
        </p:txBody>
      </p:sp>
      <p:sp>
        <p:nvSpPr>
          <p:cNvPr id="28" name="Rounded Rectangle 27"/>
          <p:cNvSpPr/>
          <p:nvPr/>
        </p:nvSpPr>
        <p:spPr>
          <a:xfrm>
            <a:off x="5897880" y="5120640"/>
            <a:ext cx="5715000" cy="914400"/>
          </a:xfrm>
          <a:prstGeom prst="roundRect">
            <a:avLst>
              <a:gd name="adj" fmla="val 12000"/>
            </a:avLst>
          </a:prstGeom>
          <a:solidFill>
            <a:srgbClr val="F5F5F5"/>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t"/>
          <a:lstStyle/>
          <a:p>
            <a:pPr algn="l"/>
            <a:r>
              <a:rPr sz="1200" b="1" dirty="0" err="1">
                <a:solidFill>
                  <a:srgbClr val="8A5A00"/>
                </a:solidFill>
                <a:latin typeface="Arial"/>
              </a:rPr>
              <a:t>Unterschied</a:t>
            </a:r>
            <a:endParaRPr sz="1200" b="1" dirty="0">
              <a:solidFill>
                <a:srgbClr val="8A5A00"/>
              </a:solidFill>
              <a:latin typeface="Arial"/>
            </a:endParaRPr>
          </a:p>
          <a:p>
            <a:pPr algn="l"/>
            <a:r>
              <a:rPr sz="1000" b="0" dirty="0" err="1">
                <a:solidFill>
                  <a:srgbClr val="1A1A1A"/>
                </a:solidFill>
                <a:latin typeface="Arial"/>
              </a:rPr>
              <a:t>Nativ</a:t>
            </a:r>
            <a:r>
              <a:rPr sz="1000" b="0" dirty="0">
                <a:solidFill>
                  <a:srgbClr val="1A1A1A"/>
                </a:solidFill>
                <a:latin typeface="Arial"/>
              </a:rPr>
              <a:t>: Caddy → localhost:9090 </a:t>
            </a:r>
            <a:r>
              <a:rPr sz="1000" b="0" dirty="0" err="1">
                <a:solidFill>
                  <a:srgbClr val="1A1A1A"/>
                </a:solidFill>
                <a:latin typeface="Arial"/>
              </a:rPr>
              <a:t>direkt</a:t>
            </a:r>
            <a:r>
              <a:rPr sz="1000" b="0" dirty="0">
                <a:solidFill>
                  <a:srgbClr val="1A1A1A"/>
                </a:solidFill>
                <a:latin typeface="Arial"/>
              </a:rPr>
              <a:t> zum </a:t>
            </a:r>
            <a:r>
              <a:rPr sz="1000" b="0" dirty="0" err="1">
                <a:solidFill>
                  <a:srgbClr val="1A1A1A"/>
                </a:solidFill>
                <a:latin typeface="Arial"/>
              </a:rPr>
              <a:t>Prozess</a:t>
            </a:r>
            <a:r>
              <a:rPr sz="1000" b="0" dirty="0">
                <a:solidFill>
                  <a:srgbClr val="1A1A1A"/>
                </a:solidFill>
                <a:latin typeface="Arial"/>
              </a:rPr>
              <a:t>.</a:t>
            </a:r>
          </a:p>
          <a:p>
            <a:pPr algn="l"/>
            <a:endParaRPr lang="de-DE" sz="1000" b="0" dirty="0">
              <a:solidFill>
                <a:srgbClr val="1A1A1A"/>
              </a:solidFill>
              <a:latin typeface="Arial"/>
            </a:endParaRPr>
          </a:p>
          <a:p>
            <a:pPr algn="l"/>
            <a:r>
              <a:rPr sz="1000" b="0" dirty="0">
                <a:solidFill>
                  <a:srgbClr val="1A1A1A"/>
                </a:solidFill>
                <a:latin typeface="Arial"/>
              </a:rPr>
              <a:t>Container: Caddy → 127.0.0.1:8080 → docker-proxy → docker0 → Container. </a:t>
            </a:r>
            <a:r>
              <a:rPr sz="1000" b="0" dirty="0" err="1">
                <a:solidFill>
                  <a:srgbClr val="1A1A1A"/>
                </a:solidFill>
                <a:latin typeface="Arial"/>
              </a:rPr>
              <a:t>Diese</a:t>
            </a:r>
            <a:r>
              <a:rPr sz="1000" b="0" dirty="0">
                <a:solidFill>
                  <a:srgbClr val="1A1A1A"/>
                </a:solidFill>
                <a:latin typeface="Arial"/>
              </a:rPr>
              <a:t> </a:t>
            </a:r>
            <a:r>
              <a:rPr sz="1000" b="0" dirty="0" err="1">
                <a:solidFill>
                  <a:srgbClr val="1A1A1A"/>
                </a:solidFill>
                <a:latin typeface="Arial"/>
              </a:rPr>
              <a:t>Verbindungen</a:t>
            </a:r>
            <a:r>
              <a:rPr sz="1000" b="0" dirty="0">
                <a:solidFill>
                  <a:srgbClr val="1A1A1A"/>
                </a:solidFill>
                <a:latin typeface="Arial"/>
              </a:rPr>
              <a:t> </a:t>
            </a:r>
            <a:r>
              <a:rPr sz="1000" b="0" dirty="0" err="1">
                <a:solidFill>
                  <a:srgbClr val="1A1A1A"/>
                </a:solidFill>
                <a:latin typeface="Arial"/>
              </a:rPr>
              <a:t>erzeugt</a:t>
            </a:r>
            <a:r>
              <a:rPr sz="1000" b="0" dirty="0">
                <a:solidFill>
                  <a:srgbClr val="1A1A1A"/>
                </a:solidFill>
                <a:latin typeface="Arial"/>
              </a:rPr>
              <a:t> der Host </a:t>
            </a:r>
            <a:r>
              <a:rPr sz="1000" b="0" dirty="0" err="1">
                <a:solidFill>
                  <a:srgbClr val="1A1A1A"/>
                </a:solidFill>
                <a:latin typeface="Arial"/>
              </a:rPr>
              <a:t>selbst</a:t>
            </a:r>
            <a:r>
              <a:rPr sz="1000" b="0" dirty="0">
                <a:solidFill>
                  <a:srgbClr val="1A1A1A"/>
                </a:solidFill>
                <a:latin typeface="Arial"/>
              </a:rPr>
              <a:t> – </a:t>
            </a:r>
            <a:r>
              <a:rPr sz="1000" b="0" dirty="0" err="1">
                <a:solidFill>
                  <a:srgbClr val="1A1A1A"/>
                </a:solidFill>
                <a:latin typeface="Arial"/>
              </a:rPr>
              <a:t>keine</a:t>
            </a:r>
            <a:r>
              <a:rPr sz="1000" b="0" dirty="0">
                <a:solidFill>
                  <a:srgbClr val="1A1A1A"/>
                </a:solidFill>
                <a:latin typeface="Arial"/>
              </a:rPr>
              <a:t> </a:t>
            </a:r>
            <a:r>
              <a:rPr sz="1000" b="0" dirty="0" err="1">
                <a:solidFill>
                  <a:srgbClr val="1A1A1A"/>
                </a:solidFill>
                <a:latin typeface="Arial"/>
              </a:rPr>
              <a:t>weitere</a:t>
            </a:r>
            <a:r>
              <a:rPr sz="1000" b="0" dirty="0">
                <a:solidFill>
                  <a:srgbClr val="1A1A1A"/>
                </a:solidFill>
                <a:latin typeface="Arial"/>
              </a:rPr>
              <a:t> </a:t>
            </a:r>
            <a:r>
              <a:rPr sz="1000" b="0" dirty="0" err="1">
                <a:solidFill>
                  <a:srgbClr val="1A1A1A"/>
                </a:solidFill>
                <a:latin typeface="Arial"/>
              </a:rPr>
              <a:t>ufw-Prüfung</a:t>
            </a:r>
            <a:r>
              <a:rPr sz="1000" b="0" dirty="0">
                <a:solidFill>
                  <a:srgbClr val="1A1A1A"/>
                </a:solidFill>
                <a:latin typeface="Arial"/>
              </a:rPr>
              <a:t> </a:t>
            </a:r>
            <a:r>
              <a:rPr sz="1000" b="0" dirty="0" err="1">
                <a:solidFill>
                  <a:srgbClr val="1A1A1A"/>
                </a:solidFill>
                <a:latin typeface="Arial"/>
              </a:rPr>
              <a:t>nötig</a:t>
            </a:r>
            <a:r>
              <a:rPr sz="1000" b="0" dirty="0">
                <a:solidFill>
                  <a:srgbClr val="1A1A1A"/>
                </a:solidFill>
                <a:latin typeface="Aria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1" y="274638"/>
            <a:ext cx="10953313" cy="1143000"/>
          </a:xfrm>
        </p:spPr>
        <p:txBody>
          <a:bodyPr/>
          <a:lstStyle/>
          <a:p>
            <a:r>
              <a:rPr lang="de-DE" sz="2400" dirty="0"/>
              <a:t>Die DOCKER-USER-Falle: Ports und ufw</a:t>
            </a:r>
            <a:endParaRPr sz="2400" dirty="0"/>
          </a:p>
        </p:txBody>
      </p:sp>
      <p:sp>
        <p:nvSpPr>
          <p:cNvPr id="5" name="Rounded Rectangle 4"/>
          <p:cNvSpPr/>
          <p:nvPr/>
        </p:nvSpPr>
        <p:spPr>
          <a:xfrm>
            <a:off x="822960" y="1500251"/>
            <a:ext cx="1828800" cy="384048"/>
          </a:xfrm>
          <a:prstGeom prst="roundRect">
            <a:avLst>
              <a:gd name="adj" fmla="val 50000"/>
            </a:avLst>
          </a:prstGeom>
          <a:solidFill>
            <a:srgbClr val="FBE7E4"/>
          </a:solidFill>
          <a:ln w="12700">
            <a:solidFill>
              <a:srgbClr val="B03A2E"/>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B03A2E"/>
                </a:solidFill>
                <a:latin typeface="Arial"/>
              </a:rPr>
              <a:t>UNSICHER</a:t>
            </a:r>
          </a:p>
        </p:txBody>
      </p:sp>
      <p:sp>
        <p:nvSpPr>
          <p:cNvPr id="6" name="Rounded Rectangle 5"/>
          <p:cNvSpPr/>
          <p:nvPr/>
        </p:nvSpPr>
        <p:spPr>
          <a:xfrm>
            <a:off x="822960" y="2086023"/>
            <a:ext cx="4572000" cy="885777"/>
          </a:xfrm>
          <a:prstGeom prst="roundRect">
            <a:avLst>
              <a:gd name="adj" fmla="val 10000"/>
            </a:avLst>
          </a:prstGeom>
          <a:solidFill>
            <a:srgbClr val="F5F5F5"/>
          </a:solidFill>
          <a:ln w="12700">
            <a:solidFill>
              <a:srgbClr val="B03A2E"/>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500" b="0" dirty="0">
                <a:solidFill>
                  <a:srgbClr val="1A1A1A"/>
                </a:solidFill>
                <a:latin typeface="Courier New"/>
              </a:rPr>
              <a:t>-p 8080:80</a:t>
            </a:r>
            <a:endParaRPr lang="de-DE" sz="1500" b="0" dirty="0">
              <a:solidFill>
                <a:srgbClr val="1A1A1A"/>
              </a:solidFill>
              <a:latin typeface="Courier New"/>
            </a:endParaRPr>
          </a:p>
          <a:p>
            <a:pPr algn="ctr"/>
            <a:r>
              <a:rPr lang="de-DE" sz="1500" dirty="0">
                <a:solidFill>
                  <a:srgbClr val="1A1A1A"/>
                </a:solidFill>
                <a:latin typeface="Courier New"/>
              </a:rPr>
              <a:t>(Docker-Proxy)</a:t>
            </a:r>
            <a:br>
              <a:rPr lang="de-DE" sz="1500" dirty="0">
                <a:solidFill>
                  <a:srgbClr val="1A1A1A"/>
                </a:solidFill>
                <a:latin typeface="Courier New"/>
              </a:rPr>
            </a:br>
            <a:r>
              <a:rPr lang="de-DE" sz="1500" dirty="0">
                <a:solidFill>
                  <a:srgbClr val="1A1A1A"/>
                </a:solidFill>
                <a:latin typeface="Courier New"/>
              </a:rPr>
              <a:t>Was (Socket) nimmt der Proxy an?</a:t>
            </a:r>
            <a:endParaRPr sz="1500" b="0" dirty="0">
              <a:solidFill>
                <a:srgbClr val="1A1A1A"/>
              </a:solidFill>
              <a:latin typeface="Courier New"/>
            </a:endParaRPr>
          </a:p>
        </p:txBody>
      </p:sp>
      <p:cxnSp>
        <p:nvCxnSpPr>
          <p:cNvPr id="7" name="Connector 6"/>
          <p:cNvCxnSpPr>
            <a:cxnSpLocks/>
          </p:cNvCxnSpPr>
          <p:nvPr/>
        </p:nvCxnSpPr>
        <p:spPr>
          <a:xfrm>
            <a:off x="3108960" y="2971800"/>
            <a:ext cx="0" cy="259672"/>
          </a:xfrm>
          <a:prstGeom prst="line">
            <a:avLst/>
          </a:prstGeom>
          <a:ln w="25400">
            <a:solidFill>
              <a:srgbClr val="B03A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822960" y="3258905"/>
            <a:ext cx="4572000" cy="514564"/>
          </a:xfrm>
          <a:prstGeom prst="roundRect">
            <a:avLst>
              <a:gd name="adj" fmla="val 10000"/>
            </a:avLst>
          </a:prstGeom>
          <a:solidFill>
            <a:srgbClr val="FBE7E4"/>
          </a:solidFill>
          <a:ln w="12700">
            <a:solidFill>
              <a:srgbClr val="B03A2E"/>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dirty="0" err="1">
                <a:solidFill>
                  <a:srgbClr val="1A1A1A"/>
                </a:solidFill>
                <a:latin typeface="Arial"/>
              </a:rPr>
              <a:t>Bindung</a:t>
            </a:r>
            <a:r>
              <a:rPr sz="1300" b="1" dirty="0">
                <a:solidFill>
                  <a:srgbClr val="1A1A1A"/>
                </a:solidFill>
                <a:latin typeface="Arial"/>
              </a:rPr>
              <a:t>: 0.0.0.0</a:t>
            </a:r>
            <a:r>
              <a:rPr lang="de-DE" sz="1300" b="1" dirty="0">
                <a:solidFill>
                  <a:srgbClr val="1A1A1A"/>
                </a:solidFill>
                <a:latin typeface="Arial"/>
              </a:rPr>
              <a:t> (Zieladresse)</a:t>
            </a:r>
            <a:endParaRPr sz="1300" b="1" dirty="0">
              <a:solidFill>
                <a:srgbClr val="1A1A1A"/>
              </a:solidFill>
              <a:latin typeface="Arial"/>
            </a:endParaRPr>
          </a:p>
          <a:p>
            <a:pPr algn="ctr"/>
            <a:r>
              <a:rPr sz="1100" b="0" dirty="0">
                <a:solidFill>
                  <a:srgbClr val="1A1A1A"/>
                </a:solidFill>
                <a:latin typeface="Arial"/>
              </a:rPr>
              <a:t>alle </a:t>
            </a:r>
            <a:r>
              <a:rPr sz="1100" b="0" dirty="0" err="1">
                <a:solidFill>
                  <a:srgbClr val="1A1A1A"/>
                </a:solidFill>
                <a:latin typeface="Arial"/>
              </a:rPr>
              <a:t>Netzwerkschnittstellen</a:t>
            </a:r>
            <a:endParaRPr sz="1100" b="0" dirty="0">
              <a:solidFill>
                <a:srgbClr val="1A1A1A"/>
              </a:solidFill>
              <a:latin typeface="Arial"/>
            </a:endParaRPr>
          </a:p>
        </p:txBody>
      </p:sp>
      <p:cxnSp>
        <p:nvCxnSpPr>
          <p:cNvPr id="9" name="Connector 8"/>
          <p:cNvCxnSpPr>
            <a:cxnSpLocks/>
          </p:cNvCxnSpPr>
          <p:nvPr/>
        </p:nvCxnSpPr>
        <p:spPr>
          <a:xfrm>
            <a:off x="3108960" y="3773468"/>
            <a:ext cx="0" cy="319138"/>
          </a:xfrm>
          <a:prstGeom prst="line">
            <a:avLst/>
          </a:prstGeom>
          <a:ln w="25400">
            <a:solidFill>
              <a:srgbClr val="B03A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22960" y="4117249"/>
            <a:ext cx="4572000" cy="764049"/>
          </a:xfrm>
          <a:prstGeom prst="roundRect">
            <a:avLst>
              <a:gd name="adj" fmla="val 10000"/>
            </a:avLst>
          </a:prstGeom>
          <a:solidFill>
            <a:srgbClr val="FBE7E4"/>
          </a:solidFill>
          <a:ln w="12700">
            <a:solidFill>
              <a:srgbClr val="B03A2E"/>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a:solidFill>
                  <a:srgbClr val="1A1A1A"/>
                </a:solidFill>
                <a:latin typeface="Arial"/>
              </a:rPr>
              <a:t>Internet</a:t>
            </a:r>
          </a:p>
          <a:p>
            <a:pPr algn="ctr"/>
            <a:r>
              <a:rPr sz="1100" b="0">
                <a:solidFill>
                  <a:srgbClr val="1A1A1A"/>
                </a:solidFill>
                <a:latin typeface="Arial"/>
              </a:rPr>
              <a:t>direkt erreichbar –</a:t>
            </a:r>
          </a:p>
          <a:p>
            <a:pPr algn="ctr"/>
            <a:r>
              <a:rPr sz="1100" b="0">
                <a:solidFill>
                  <a:srgbClr val="1A1A1A"/>
                </a:solidFill>
                <a:latin typeface="Arial"/>
              </a:rPr>
              <a:t>ufw sieht diesen Traffic nicht</a:t>
            </a:r>
          </a:p>
        </p:txBody>
      </p:sp>
      <p:sp>
        <p:nvSpPr>
          <p:cNvPr id="11" name="Rounded Rectangle 10"/>
          <p:cNvSpPr/>
          <p:nvPr/>
        </p:nvSpPr>
        <p:spPr>
          <a:xfrm>
            <a:off x="6766560" y="1481557"/>
            <a:ext cx="1828800" cy="384048"/>
          </a:xfrm>
          <a:prstGeom prst="roundRect">
            <a:avLst>
              <a:gd name="adj" fmla="val 50000"/>
            </a:avLst>
          </a:prstGeom>
          <a:solidFill>
            <a:srgbClr val="E7F1EA"/>
          </a:solidFill>
          <a:ln w="12700">
            <a:solidFill>
              <a:srgbClr val="1E6B3C"/>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E6B3C"/>
                </a:solidFill>
                <a:latin typeface="Arial"/>
              </a:rPr>
              <a:t>SICHER</a:t>
            </a:r>
          </a:p>
        </p:txBody>
      </p:sp>
      <p:sp>
        <p:nvSpPr>
          <p:cNvPr id="12" name="Rounded Rectangle 11"/>
          <p:cNvSpPr/>
          <p:nvPr/>
        </p:nvSpPr>
        <p:spPr>
          <a:xfrm>
            <a:off x="6766560" y="2067329"/>
            <a:ext cx="4572000" cy="904471"/>
          </a:xfrm>
          <a:prstGeom prst="roundRect">
            <a:avLst>
              <a:gd name="adj" fmla="val 10000"/>
            </a:avLst>
          </a:prstGeom>
          <a:solidFill>
            <a:srgbClr val="F5F5F5"/>
          </a:solidFill>
          <a:ln w="12700">
            <a:solidFill>
              <a:srgbClr val="1E6B3C"/>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lang="de-DE" sz="1500" b="0" dirty="0">
                <a:solidFill>
                  <a:srgbClr val="1A1A1A"/>
                </a:solidFill>
                <a:latin typeface="Courier New"/>
              </a:rPr>
              <a:t>-p 127.0.0.1:8080:80</a:t>
            </a:r>
          </a:p>
          <a:p>
            <a:pPr algn="ctr"/>
            <a:r>
              <a:rPr lang="de-DE" sz="1500" dirty="0">
                <a:solidFill>
                  <a:srgbClr val="1A1A1A"/>
                </a:solidFill>
                <a:latin typeface="Courier New"/>
              </a:rPr>
              <a:t>(Docker-Proxy)</a:t>
            </a:r>
            <a:br>
              <a:rPr lang="de-DE" sz="1500" dirty="0">
                <a:solidFill>
                  <a:srgbClr val="1A1A1A"/>
                </a:solidFill>
                <a:latin typeface="Courier New"/>
              </a:rPr>
            </a:br>
            <a:r>
              <a:rPr lang="de-DE" sz="1500" dirty="0">
                <a:solidFill>
                  <a:srgbClr val="1A1A1A"/>
                </a:solidFill>
                <a:latin typeface="Courier New"/>
              </a:rPr>
              <a:t>Der Proxy nimmt nur Verbindungen an, die an die Loopback-Adresse gehen.</a:t>
            </a:r>
            <a:endParaRPr lang="de-DE" sz="1500" b="0" dirty="0">
              <a:solidFill>
                <a:srgbClr val="1A1A1A"/>
              </a:solidFill>
              <a:latin typeface="Courier New"/>
            </a:endParaRPr>
          </a:p>
        </p:txBody>
      </p:sp>
      <p:cxnSp>
        <p:nvCxnSpPr>
          <p:cNvPr id="13" name="Connector 12"/>
          <p:cNvCxnSpPr>
            <a:cxnSpLocks/>
          </p:cNvCxnSpPr>
          <p:nvPr/>
        </p:nvCxnSpPr>
        <p:spPr>
          <a:xfrm>
            <a:off x="9052560" y="2971800"/>
            <a:ext cx="0" cy="188650"/>
          </a:xfrm>
          <a:prstGeom prst="line">
            <a:avLst/>
          </a:prstGeom>
          <a:ln w="25400">
            <a:solidFill>
              <a:srgbClr val="1E6B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766560" y="3258904"/>
            <a:ext cx="4572000" cy="514564"/>
          </a:xfrm>
          <a:prstGeom prst="roundRect">
            <a:avLst>
              <a:gd name="adj" fmla="val 10000"/>
            </a:avLst>
          </a:prstGeom>
          <a:solidFill>
            <a:srgbClr val="E7F1EA"/>
          </a:solidFill>
          <a:ln w="12700">
            <a:solidFill>
              <a:srgbClr val="1E6B3C"/>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dirty="0" err="1">
                <a:solidFill>
                  <a:srgbClr val="1A1A1A"/>
                </a:solidFill>
                <a:latin typeface="Arial"/>
              </a:rPr>
              <a:t>Bindung</a:t>
            </a:r>
            <a:r>
              <a:rPr sz="1300" b="1" dirty="0">
                <a:solidFill>
                  <a:srgbClr val="1A1A1A"/>
                </a:solidFill>
                <a:latin typeface="Arial"/>
              </a:rPr>
              <a:t>: </a:t>
            </a:r>
            <a:r>
              <a:rPr sz="1300" b="1" dirty="0" err="1">
                <a:solidFill>
                  <a:srgbClr val="1A1A1A"/>
                </a:solidFill>
                <a:latin typeface="Arial"/>
              </a:rPr>
              <a:t>nur</a:t>
            </a:r>
            <a:r>
              <a:rPr sz="1300" b="1" dirty="0">
                <a:solidFill>
                  <a:srgbClr val="1A1A1A"/>
                </a:solidFill>
                <a:latin typeface="Arial"/>
              </a:rPr>
              <a:t> localhost</a:t>
            </a:r>
            <a:r>
              <a:rPr lang="de-DE" sz="1300" b="1" dirty="0">
                <a:solidFill>
                  <a:srgbClr val="1A1A1A"/>
                </a:solidFill>
                <a:latin typeface="Arial"/>
              </a:rPr>
              <a:t> (Zieladresse)</a:t>
            </a:r>
            <a:endParaRPr sz="1300" b="1" dirty="0">
              <a:solidFill>
                <a:srgbClr val="1A1A1A"/>
              </a:solidFill>
              <a:latin typeface="Arial"/>
            </a:endParaRPr>
          </a:p>
          <a:p>
            <a:pPr algn="ctr"/>
            <a:r>
              <a:rPr sz="1100" b="0" dirty="0">
                <a:solidFill>
                  <a:srgbClr val="1A1A1A"/>
                </a:solidFill>
                <a:latin typeface="Arial"/>
              </a:rPr>
              <a:t>Loopback-</a:t>
            </a:r>
            <a:r>
              <a:rPr sz="1100" b="0" dirty="0" err="1">
                <a:solidFill>
                  <a:srgbClr val="1A1A1A"/>
                </a:solidFill>
                <a:latin typeface="Arial"/>
              </a:rPr>
              <a:t>Schnittstelle</a:t>
            </a:r>
            <a:r>
              <a:rPr sz="1100" b="0" dirty="0">
                <a:solidFill>
                  <a:srgbClr val="1A1A1A"/>
                </a:solidFill>
                <a:latin typeface="Arial"/>
              </a:rPr>
              <a:t> 127.0.0.1</a:t>
            </a:r>
          </a:p>
        </p:txBody>
      </p:sp>
      <p:cxnSp>
        <p:nvCxnSpPr>
          <p:cNvPr id="15" name="Connector 14"/>
          <p:cNvCxnSpPr>
            <a:cxnSpLocks/>
          </p:cNvCxnSpPr>
          <p:nvPr/>
        </p:nvCxnSpPr>
        <p:spPr>
          <a:xfrm>
            <a:off x="9052560" y="3773468"/>
            <a:ext cx="0" cy="319138"/>
          </a:xfrm>
          <a:prstGeom prst="line">
            <a:avLst/>
          </a:prstGeom>
          <a:ln w="25400">
            <a:solidFill>
              <a:srgbClr val="1E6B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766560" y="4077853"/>
            <a:ext cx="4572000" cy="803445"/>
          </a:xfrm>
          <a:prstGeom prst="roundRect">
            <a:avLst>
              <a:gd name="adj" fmla="val 10000"/>
            </a:avLst>
          </a:prstGeom>
          <a:solidFill>
            <a:srgbClr val="E7F1EA"/>
          </a:solidFill>
          <a:ln w="12700">
            <a:solidFill>
              <a:srgbClr val="1E6B3C"/>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dirty="0">
                <a:solidFill>
                  <a:srgbClr val="1A1A1A"/>
                </a:solidFill>
                <a:latin typeface="Arial"/>
              </a:rPr>
              <a:t>Nur Caddy (localhost)</a:t>
            </a:r>
          </a:p>
          <a:p>
            <a:pPr algn="ctr"/>
            <a:r>
              <a:rPr sz="1100" b="0" dirty="0" err="1">
                <a:solidFill>
                  <a:srgbClr val="1A1A1A"/>
                </a:solidFill>
                <a:latin typeface="Arial"/>
              </a:rPr>
              <a:t>erreicht</a:t>
            </a:r>
            <a:r>
              <a:rPr sz="1100" b="0" dirty="0">
                <a:solidFill>
                  <a:srgbClr val="1A1A1A"/>
                </a:solidFill>
                <a:latin typeface="Arial"/>
              </a:rPr>
              <a:t> den Container –</a:t>
            </a:r>
          </a:p>
          <a:p>
            <a:pPr algn="ctr"/>
            <a:r>
              <a:rPr sz="1100" b="0" dirty="0">
                <a:solidFill>
                  <a:srgbClr val="1A1A1A"/>
                </a:solidFill>
                <a:latin typeface="Arial"/>
              </a:rPr>
              <a:t>von </a:t>
            </a:r>
            <a:r>
              <a:rPr sz="1100" b="0" dirty="0" err="1">
                <a:solidFill>
                  <a:srgbClr val="1A1A1A"/>
                </a:solidFill>
                <a:latin typeface="Arial"/>
              </a:rPr>
              <a:t>außen</a:t>
            </a:r>
            <a:r>
              <a:rPr sz="1100" b="0" dirty="0">
                <a:solidFill>
                  <a:srgbClr val="1A1A1A"/>
                </a:solidFill>
                <a:latin typeface="Arial"/>
              </a:rPr>
              <a:t> </a:t>
            </a:r>
            <a:r>
              <a:rPr sz="1100" b="0" dirty="0" err="1">
                <a:solidFill>
                  <a:srgbClr val="1A1A1A"/>
                </a:solidFill>
                <a:latin typeface="Arial"/>
              </a:rPr>
              <a:t>kein</a:t>
            </a:r>
            <a:r>
              <a:rPr sz="1100" b="0" dirty="0">
                <a:solidFill>
                  <a:srgbClr val="1A1A1A"/>
                </a:solidFill>
                <a:latin typeface="Arial"/>
              </a:rPr>
              <a:t> </a:t>
            </a:r>
            <a:r>
              <a:rPr sz="1100" b="0" dirty="0" err="1">
                <a:solidFill>
                  <a:srgbClr val="1A1A1A"/>
                </a:solidFill>
                <a:latin typeface="Arial"/>
              </a:rPr>
              <a:t>Zugriff</a:t>
            </a:r>
            <a:endParaRPr sz="1100" b="0" dirty="0">
              <a:solidFill>
                <a:srgbClr val="1A1A1A"/>
              </a:solidFill>
              <a:latin typeface="Arial"/>
            </a:endParaRPr>
          </a:p>
        </p:txBody>
      </p:sp>
      <p:sp>
        <p:nvSpPr>
          <p:cNvPr id="2" name="Foliennummernplatzhalter 4"/>
          <p:cNvSpPr>
            <a:spLocks noGrp="1"/>
          </p:cNvSpPr>
          <p:nvPr>
            <p:ph type="sldNum" sz="quarter" idx="4"/>
          </p:nvPr>
        </p:nvSpPr>
        <p:spPr>
          <a:xfrm>
            <a:off x="8737601" y="6258694"/>
            <a:ext cx="2844800" cy="365125"/>
          </a:xfrm>
        </p:spPr>
        <p:txBody>
          <a:bodyPr/>
          <a:lstStyle/>
          <a:p>
            <a:fld id="{43A6DCFB-163F-4561-BF28-3CD1FE47EE20}" type="slidenum">
              <a:rPr lang="de-DE" smtClean="0"/>
              <a:pPr/>
              <a:t>7</a:t>
            </a:fld>
            <a:endParaRPr lang="de-DE" dirty="0"/>
          </a:p>
        </p:txBody>
      </p:sp>
      <p:sp>
        <p:nvSpPr>
          <p:cNvPr id="3" name="Rectangle 1">
            <a:extLst>
              <a:ext uri="{FF2B5EF4-FFF2-40B4-BE49-F238E27FC236}">
                <a16:creationId xmlns:a16="http://schemas.microsoft.com/office/drawing/2014/main" id="{834CF789-629B-42B1-8C49-0E3A11FFFC21}"/>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800" b="0" i="0" u="none" strike="noStrike" cap="none" normalizeH="0" baseline="0">
                <a:ln>
                  <a:noFill/>
                </a:ln>
                <a:solidFill>
                  <a:schemeClr val="tx1"/>
                </a:solidFill>
                <a:effectLst/>
                <a:latin typeface="Arial" panose="020B0604020202020204" pitchFamily="34" charset="0"/>
              </a:rPr>
              <a:t>Ohne IP gilt </a:t>
            </a:r>
            <a:r>
              <a:rPr kumimoji="0" lang="de-DE" altLang="de-DE" sz="1000" b="0" i="0" u="none" strike="noStrike" cap="none" normalizeH="0" baseline="0">
                <a:ln>
                  <a:noFill/>
                </a:ln>
                <a:solidFill>
                  <a:schemeClr val="tx1"/>
                </a:solidFill>
                <a:effectLst/>
                <a:latin typeface="Arial Unicode MS"/>
              </a:rPr>
              <a:t>0.0.0.0</a:t>
            </a:r>
            <a:r>
              <a:rPr kumimoji="0" lang="de-DE" altLang="de-DE" sz="800" b="0" i="0" u="none" strike="noStrike" cap="none" normalizeH="0" baseline="0">
                <a:ln>
                  <a:noFill/>
                </a:ln>
                <a:solidFill>
                  <a:schemeClr val="tx1"/>
                </a:solidFill>
                <a:effectLst/>
              </a:rPr>
              <a:t>: Der Port ist auf allen Adressen des Hosts offen, auch auf der öffentlichen, und Docker leitet ihn an ufw vorbei. Mit </a:t>
            </a:r>
            <a:r>
              <a:rPr kumimoji="0" lang="de-DE" altLang="de-DE" sz="1000" b="0" i="0" u="none" strike="noStrike" cap="none" normalizeH="0" baseline="0">
                <a:ln>
                  <a:noFill/>
                </a:ln>
                <a:solidFill>
                  <a:schemeClr val="tx1"/>
                </a:solidFill>
                <a:effectLst/>
                <a:latin typeface="Arial Unicode MS"/>
              </a:rPr>
              <a:t>127.0.0.1</a:t>
            </a:r>
            <a:r>
              <a:rPr kumimoji="0" lang="de-DE" altLang="de-DE" sz="800" b="0" i="0" u="none" strike="noStrike" cap="none" normalizeH="0" baseline="0">
                <a:ln>
                  <a:noFill/>
                </a:ln>
                <a:solidFill>
                  <a:schemeClr val="tx1"/>
                </a:solidFill>
                <a:effectLst/>
              </a:rPr>
              <a:t> erreicht ihn nur der Host selbst. </a:t>
            </a:r>
            <a:endParaRPr kumimoji="0" lang="de-DE" altLang="de-DE" sz="1800" b="0" i="0" u="none" strike="noStrike" cap="none" normalizeH="0" baseline="0">
              <a:ln>
                <a:noFill/>
              </a:ln>
              <a:solidFill>
                <a:schemeClr val="tx1"/>
              </a:solidFill>
              <a:effectLst/>
              <a:latin typeface="Arial" panose="020B0604020202020204" pitchFamily="34" charset="0"/>
            </a:endParaRPr>
          </a:p>
        </p:txBody>
      </p:sp>
      <p:sp>
        <p:nvSpPr>
          <p:cNvPr id="43" name="TextBox 18">
            <a:extLst>
              <a:ext uri="{FF2B5EF4-FFF2-40B4-BE49-F238E27FC236}">
                <a16:creationId xmlns:a16="http://schemas.microsoft.com/office/drawing/2014/main" id="{8038EA2F-7315-483C-A20A-128824B9F81E}"/>
              </a:ext>
            </a:extLst>
          </p:cNvPr>
          <p:cNvSpPr txBox="1"/>
          <p:nvPr/>
        </p:nvSpPr>
        <p:spPr>
          <a:xfrm>
            <a:off x="822960" y="5227168"/>
            <a:ext cx="4572000" cy="256032"/>
          </a:xfrm>
          <a:prstGeom prst="rect">
            <a:avLst/>
          </a:prstGeom>
          <a:noFill/>
        </p:spPr>
        <p:txBody>
          <a:bodyPr wrap="square" lIns="0" tIns="0" rIns="0" bIns="0">
            <a:spAutoFit/>
          </a:bodyPr>
          <a:lstStyle/>
          <a:p>
            <a:pPr algn="l"/>
            <a:r>
              <a:rPr sz="1200" b="1">
                <a:solidFill>
                  <a:srgbClr val="B03A2E"/>
                </a:solidFill>
                <a:latin typeface="Arial"/>
              </a:rPr>
              <a:t>Warum ufw hier nicht schützt</a:t>
            </a:r>
          </a:p>
        </p:txBody>
      </p:sp>
      <p:sp>
        <p:nvSpPr>
          <p:cNvPr id="44" name="Rounded Rectangle 19">
            <a:extLst>
              <a:ext uri="{FF2B5EF4-FFF2-40B4-BE49-F238E27FC236}">
                <a16:creationId xmlns:a16="http://schemas.microsoft.com/office/drawing/2014/main" id="{391504D2-F988-4754-BCE6-B8EF73C5B673}"/>
              </a:ext>
            </a:extLst>
          </p:cNvPr>
          <p:cNvSpPr/>
          <p:nvPr/>
        </p:nvSpPr>
        <p:spPr>
          <a:xfrm>
            <a:off x="822960" y="5547208"/>
            <a:ext cx="1371600" cy="868680"/>
          </a:xfrm>
          <a:prstGeom prst="roundRect">
            <a:avLst>
              <a:gd name="adj" fmla="val 12000"/>
            </a:avLst>
          </a:prstGeom>
          <a:solidFill>
            <a:srgbClr val="F5F5F5"/>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100" b="1">
                <a:solidFill>
                  <a:srgbClr val="1A1A1A"/>
                </a:solidFill>
                <a:latin typeface="Arial"/>
              </a:rPr>
              <a:t>① DNAT</a:t>
            </a:r>
          </a:p>
          <a:p>
            <a:pPr algn="ctr"/>
            <a:r>
              <a:rPr sz="900" b="0">
                <a:solidFill>
                  <a:srgbClr val="5B6472"/>
                </a:solidFill>
                <a:latin typeface="Arial"/>
              </a:rPr>
              <a:t>PREROUTING: Ziel</a:t>
            </a:r>
          </a:p>
          <a:p>
            <a:pPr algn="ctr"/>
            <a:r>
              <a:rPr sz="900" b="0">
                <a:solidFill>
                  <a:srgbClr val="5B6472"/>
                </a:solidFill>
                <a:latin typeface="Arial"/>
              </a:rPr>
              <a:t>→ 172.17.0.2:80</a:t>
            </a:r>
          </a:p>
        </p:txBody>
      </p:sp>
      <p:cxnSp>
        <p:nvCxnSpPr>
          <p:cNvPr id="45" name="Connector 20">
            <a:extLst>
              <a:ext uri="{FF2B5EF4-FFF2-40B4-BE49-F238E27FC236}">
                <a16:creationId xmlns:a16="http://schemas.microsoft.com/office/drawing/2014/main" id="{A685FA7C-9B9C-4082-9E43-1762854A38F2}"/>
              </a:ext>
            </a:extLst>
          </p:cNvPr>
          <p:cNvCxnSpPr/>
          <p:nvPr/>
        </p:nvCxnSpPr>
        <p:spPr>
          <a:xfrm>
            <a:off x="2194560" y="5976976"/>
            <a:ext cx="228600" cy="0"/>
          </a:xfrm>
          <a:prstGeom prst="line">
            <a:avLst/>
          </a:prstGeom>
          <a:ln w="19050">
            <a:solidFill>
              <a:srgbClr val="B03A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ounded Rectangle 21">
            <a:extLst>
              <a:ext uri="{FF2B5EF4-FFF2-40B4-BE49-F238E27FC236}">
                <a16:creationId xmlns:a16="http://schemas.microsoft.com/office/drawing/2014/main" id="{85C9353E-DDB3-41A8-9117-E37202154D36}"/>
              </a:ext>
            </a:extLst>
          </p:cNvPr>
          <p:cNvSpPr/>
          <p:nvPr/>
        </p:nvSpPr>
        <p:spPr>
          <a:xfrm>
            <a:off x="2423160" y="5547208"/>
            <a:ext cx="1371600" cy="868680"/>
          </a:xfrm>
          <a:prstGeom prst="roundRect">
            <a:avLst>
              <a:gd name="adj" fmla="val 12000"/>
            </a:avLst>
          </a:prstGeom>
          <a:solidFill>
            <a:srgbClr val="F5F5F5"/>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100" b="1">
                <a:solidFill>
                  <a:srgbClr val="1A1A1A"/>
                </a:solidFill>
                <a:latin typeface="Arial"/>
              </a:rPr>
              <a:t>② Weiche</a:t>
            </a:r>
          </a:p>
          <a:p>
            <a:pPr algn="ctr"/>
            <a:r>
              <a:rPr sz="900" b="0">
                <a:solidFill>
                  <a:srgbClr val="5B6472"/>
                </a:solidFill>
                <a:latin typeface="Arial"/>
              </a:rPr>
              <a:t>Ziel ist nicht mehr</a:t>
            </a:r>
          </a:p>
          <a:p>
            <a:pPr algn="ctr"/>
            <a:r>
              <a:rPr sz="900" b="0">
                <a:solidFill>
                  <a:srgbClr val="5B6472"/>
                </a:solidFill>
                <a:latin typeface="Arial"/>
              </a:rPr>
              <a:t>der Host</a:t>
            </a:r>
          </a:p>
        </p:txBody>
      </p:sp>
      <p:cxnSp>
        <p:nvCxnSpPr>
          <p:cNvPr id="47" name="Connector 22">
            <a:extLst>
              <a:ext uri="{FF2B5EF4-FFF2-40B4-BE49-F238E27FC236}">
                <a16:creationId xmlns:a16="http://schemas.microsoft.com/office/drawing/2014/main" id="{F5609E8C-E7A2-4DA6-A6DF-4B8B38DAFC20}"/>
              </a:ext>
            </a:extLst>
          </p:cNvPr>
          <p:cNvCxnSpPr/>
          <p:nvPr/>
        </p:nvCxnSpPr>
        <p:spPr>
          <a:xfrm>
            <a:off x="3794760" y="5976976"/>
            <a:ext cx="228600" cy="0"/>
          </a:xfrm>
          <a:prstGeom prst="line">
            <a:avLst/>
          </a:prstGeom>
          <a:ln w="19050">
            <a:solidFill>
              <a:srgbClr val="B03A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23">
            <a:extLst>
              <a:ext uri="{FF2B5EF4-FFF2-40B4-BE49-F238E27FC236}">
                <a16:creationId xmlns:a16="http://schemas.microsoft.com/office/drawing/2014/main" id="{A254C0AF-D4E9-4340-9CC4-1CAAE29A2BAB}"/>
              </a:ext>
            </a:extLst>
          </p:cNvPr>
          <p:cNvSpPr/>
          <p:nvPr/>
        </p:nvSpPr>
        <p:spPr>
          <a:xfrm>
            <a:off x="4023360" y="5547208"/>
            <a:ext cx="1371600" cy="868680"/>
          </a:xfrm>
          <a:prstGeom prst="roundRect">
            <a:avLst>
              <a:gd name="adj" fmla="val 12000"/>
            </a:avLst>
          </a:prstGeom>
          <a:solidFill>
            <a:srgbClr val="FBE7E4"/>
          </a:solidFill>
          <a:ln w="12700">
            <a:solidFill>
              <a:srgbClr val="B03A2E"/>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100" b="1">
                <a:solidFill>
                  <a:srgbClr val="B03A2E"/>
                </a:solidFill>
                <a:latin typeface="Arial"/>
              </a:rPr>
              <a:t>③ FORWARD</a:t>
            </a:r>
          </a:p>
          <a:p>
            <a:pPr algn="ctr"/>
            <a:r>
              <a:rPr sz="900" b="0">
                <a:solidFill>
                  <a:srgbClr val="5B6472"/>
                </a:solidFill>
                <a:latin typeface="Arial"/>
              </a:rPr>
              <a:t>statt INPUT: ufw-</a:t>
            </a:r>
          </a:p>
          <a:p>
            <a:pPr algn="ctr"/>
            <a:r>
              <a:rPr sz="900" b="0">
                <a:solidFill>
                  <a:srgbClr val="5B6472"/>
                </a:solidFill>
                <a:latin typeface="Arial"/>
              </a:rPr>
              <a:t>Regeln nie geprüft</a:t>
            </a:r>
          </a:p>
        </p:txBody>
      </p:sp>
      <p:sp>
        <p:nvSpPr>
          <p:cNvPr id="49" name="TextBox 24">
            <a:extLst>
              <a:ext uri="{FF2B5EF4-FFF2-40B4-BE49-F238E27FC236}">
                <a16:creationId xmlns:a16="http://schemas.microsoft.com/office/drawing/2014/main" id="{B6F24575-70DD-4DE1-979C-94174B6683BC}"/>
              </a:ext>
            </a:extLst>
          </p:cNvPr>
          <p:cNvSpPr txBox="1"/>
          <p:nvPr/>
        </p:nvSpPr>
        <p:spPr>
          <a:xfrm>
            <a:off x="6766560" y="5129510"/>
            <a:ext cx="4572000" cy="256032"/>
          </a:xfrm>
          <a:prstGeom prst="rect">
            <a:avLst/>
          </a:prstGeom>
          <a:noFill/>
        </p:spPr>
        <p:txBody>
          <a:bodyPr wrap="square" lIns="0" tIns="0" rIns="0" bIns="0">
            <a:spAutoFit/>
          </a:bodyPr>
          <a:lstStyle/>
          <a:p>
            <a:pPr algn="l"/>
            <a:r>
              <a:rPr sz="1200" b="1">
                <a:solidFill>
                  <a:srgbClr val="1E2761"/>
                </a:solidFill>
                <a:latin typeface="Arial"/>
              </a:rPr>
              <a:t>Zwei Türen zum selben Container bei -p 8080:80</a:t>
            </a:r>
          </a:p>
        </p:txBody>
      </p:sp>
      <p:sp>
        <p:nvSpPr>
          <p:cNvPr id="50" name="Rounded Rectangle 25">
            <a:extLst>
              <a:ext uri="{FF2B5EF4-FFF2-40B4-BE49-F238E27FC236}">
                <a16:creationId xmlns:a16="http://schemas.microsoft.com/office/drawing/2014/main" id="{853D94C0-5554-4D44-B1A5-A0061CCADBA7}"/>
              </a:ext>
            </a:extLst>
          </p:cNvPr>
          <p:cNvSpPr/>
          <p:nvPr/>
        </p:nvSpPr>
        <p:spPr>
          <a:xfrm>
            <a:off x="6766560" y="5449550"/>
            <a:ext cx="914400" cy="365760"/>
          </a:xfrm>
          <a:prstGeom prst="roundRect">
            <a:avLst>
              <a:gd name="adj" fmla="val 12000"/>
            </a:avLst>
          </a:prstGeom>
          <a:solidFill>
            <a:srgbClr val="F4F6FA"/>
          </a:solidFill>
          <a:ln w="9525">
            <a:solidFill>
              <a:srgbClr val="005AA8"/>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900" b="1">
                <a:solidFill>
                  <a:srgbClr val="005AA8"/>
                </a:solidFill>
                <a:latin typeface="Arial"/>
              </a:rPr>
              <a:t>Tür 1 · :443</a:t>
            </a:r>
          </a:p>
        </p:txBody>
      </p:sp>
      <p:sp>
        <p:nvSpPr>
          <p:cNvPr id="51" name="Rounded Rectangle 26">
            <a:extLst>
              <a:ext uri="{FF2B5EF4-FFF2-40B4-BE49-F238E27FC236}">
                <a16:creationId xmlns:a16="http://schemas.microsoft.com/office/drawing/2014/main" id="{9A0CE5CE-CA76-41CA-AE08-5E58D32C10EB}"/>
              </a:ext>
            </a:extLst>
          </p:cNvPr>
          <p:cNvSpPr/>
          <p:nvPr/>
        </p:nvSpPr>
        <p:spPr>
          <a:xfrm>
            <a:off x="7863840" y="5449550"/>
            <a:ext cx="777240" cy="365760"/>
          </a:xfrm>
          <a:prstGeom prst="roundRect">
            <a:avLst>
              <a:gd name="adj" fmla="val 12000"/>
            </a:avLst>
          </a:prstGeom>
          <a:solidFill>
            <a:srgbClr val="F4F6FA"/>
          </a:solidFill>
          <a:ln w="9525">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000" b="1">
                <a:solidFill>
                  <a:srgbClr val="1E2761"/>
                </a:solidFill>
                <a:latin typeface="Arial"/>
              </a:rPr>
              <a:t>ufw</a:t>
            </a:r>
          </a:p>
        </p:txBody>
      </p:sp>
      <p:sp>
        <p:nvSpPr>
          <p:cNvPr id="52" name="Rounded Rectangle 27">
            <a:extLst>
              <a:ext uri="{FF2B5EF4-FFF2-40B4-BE49-F238E27FC236}">
                <a16:creationId xmlns:a16="http://schemas.microsoft.com/office/drawing/2014/main" id="{8611B83E-C834-47D2-A9B5-B202095D6B16}"/>
              </a:ext>
            </a:extLst>
          </p:cNvPr>
          <p:cNvSpPr/>
          <p:nvPr/>
        </p:nvSpPr>
        <p:spPr>
          <a:xfrm>
            <a:off x="8823960" y="5449550"/>
            <a:ext cx="1051560" cy="365760"/>
          </a:xfrm>
          <a:prstGeom prst="roundRect">
            <a:avLst>
              <a:gd name="adj" fmla="val 12000"/>
            </a:avLst>
          </a:prstGeom>
          <a:solidFill>
            <a:srgbClr val="F4F6FA"/>
          </a:solidFill>
          <a:ln w="9525">
            <a:solidFill>
              <a:srgbClr val="005AA8"/>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000" b="1">
                <a:solidFill>
                  <a:srgbClr val="1A1A1A"/>
                </a:solidFill>
                <a:latin typeface="Arial"/>
              </a:rPr>
              <a:t>Caddy</a:t>
            </a:r>
          </a:p>
        </p:txBody>
      </p:sp>
      <p:sp>
        <p:nvSpPr>
          <p:cNvPr id="53" name="Rounded Rectangle 28">
            <a:extLst>
              <a:ext uri="{FF2B5EF4-FFF2-40B4-BE49-F238E27FC236}">
                <a16:creationId xmlns:a16="http://schemas.microsoft.com/office/drawing/2014/main" id="{1E7B514C-1515-4CF3-9C42-029F5CB0E18C}"/>
              </a:ext>
            </a:extLst>
          </p:cNvPr>
          <p:cNvSpPr/>
          <p:nvPr/>
        </p:nvSpPr>
        <p:spPr>
          <a:xfrm>
            <a:off x="6766560" y="5952470"/>
            <a:ext cx="914400" cy="365760"/>
          </a:xfrm>
          <a:prstGeom prst="roundRect">
            <a:avLst>
              <a:gd name="adj" fmla="val 12000"/>
            </a:avLst>
          </a:prstGeom>
          <a:solidFill>
            <a:srgbClr val="FBE7E4"/>
          </a:solidFill>
          <a:ln w="9525">
            <a:solidFill>
              <a:srgbClr val="B03A2E"/>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900" b="1">
                <a:solidFill>
                  <a:srgbClr val="B03A2E"/>
                </a:solidFill>
                <a:latin typeface="Arial"/>
              </a:rPr>
              <a:t>Tür 2 · :8080</a:t>
            </a:r>
          </a:p>
        </p:txBody>
      </p:sp>
      <p:sp>
        <p:nvSpPr>
          <p:cNvPr id="54" name="Rounded Rectangle 29">
            <a:extLst>
              <a:ext uri="{FF2B5EF4-FFF2-40B4-BE49-F238E27FC236}">
                <a16:creationId xmlns:a16="http://schemas.microsoft.com/office/drawing/2014/main" id="{9BA36F00-1A76-4E4B-9486-C5EFC783ECBC}"/>
              </a:ext>
            </a:extLst>
          </p:cNvPr>
          <p:cNvSpPr/>
          <p:nvPr/>
        </p:nvSpPr>
        <p:spPr>
          <a:xfrm>
            <a:off x="7863840" y="5952470"/>
            <a:ext cx="2011680" cy="365760"/>
          </a:xfrm>
          <a:prstGeom prst="roundRect">
            <a:avLst>
              <a:gd name="adj" fmla="val 12000"/>
            </a:avLst>
          </a:prstGeom>
          <a:solidFill>
            <a:srgbClr val="FBE7E4"/>
          </a:solidFill>
          <a:ln w="9525">
            <a:solidFill>
              <a:srgbClr val="B03A2E"/>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900" b="1">
                <a:solidFill>
                  <a:srgbClr val="B03A2E"/>
                </a:solidFill>
                <a:latin typeface="Arial"/>
              </a:rPr>
              <a:t>DNAT – kein ufw, kein Caddy</a:t>
            </a:r>
          </a:p>
        </p:txBody>
      </p:sp>
      <p:sp>
        <p:nvSpPr>
          <p:cNvPr id="55" name="Rounded Rectangle 30">
            <a:extLst>
              <a:ext uri="{FF2B5EF4-FFF2-40B4-BE49-F238E27FC236}">
                <a16:creationId xmlns:a16="http://schemas.microsoft.com/office/drawing/2014/main" id="{A4173EB1-3846-4ED9-9761-145DFE699BC7}"/>
              </a:ext>
            </a:extLst>
          </p:cNvPr>
          <p:cNvSpPr/>
          <p:nvPr/>
        </p:nvSpPr>
        <p:spPr>
          <a:xfrm>
            <a:off x="10195560" y="5449550"/>
            <a:ext cx="1143000" cy="868680"/>
          </a:xfrm>
          <a:prstGeom prst="roundRect">
            <a:avLst>
              <a:gd name="adj" fmla="val 12000"/>
            </a:avLst>
          </a:prstGeom>
          <a:solidFill>
            <a:srgbClr val="E7F1EA"/>
          </a:solidFill>
          <a:ln w="12700">
            <a:solidFill>
              <a:srgbClr val="1E6B3C"/>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000" b="1">
                <a:solidFill>
                  <a:srgbClr val="1A1A1A"/>
                </a:solidFill>
                <a:latin typeface="Arial"/>
              </a:rPr>
              <a:t>Container</a:t>
            </a:r>
          </a:p>
          <a:p>
            <a:pPr algn="ctr"/>
            <a:r>
              <a:rPr sz="900" b="0">
                <a:solidFill>
                  <a:srgbClr val="5B6472"/>
                </a:solidFill>
                <a:latin typeface="Arial"/>
              </a:rPr>
              <a:t>172.17.0.2:80</a:t>
            </a:r>
          </a:p>
        </p:txBody>
      </p:sp>
      <p:cxnSp>
        <p:nvCxnSpPr>
          <p:cNvPr id="56" name="Connector 31">
            <a:extLst>
              <a:ext uri="{FF2B5EF4-FFF2-40B4-BE49-F238E27FC236}">
                <a16:creationId xmlns:a16="http://schemas.microsoft.com/office/drawing/2014/main" id="{F9655533-9D57-4637-8B63-1D8A5EAFC0FF}"/>
              </a:ext>
            </a:extLst>
          </p:cNvPr>
          <p:cNvCxnSpPr/>
          <p:nvPr/>
        </p:nvCxnSpPr>
        <p:spPr>
          <a:xfrm>
            <a:off x="7680960" y="5632430"/>
            <a:ext cx="182880" cy="0"/>
          </a:xfrm>
          <a:prstGeom prst="line">
            <a:avLst/>
          </a:prstGeom>
          <a:ln w="19050">
            <a:solidFill>
              <a:srgbClr val="005AA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Connector 32">
            <a:extLst>
              <a:ext uri="{FF2B5EF4-FFF2-40B4-BE49-F238E27FC236}">
                <a16:creationId xmlns:a16="http://schemas.microsoft.com/office/drawing/2014/main" id="{516ECB6A-0695-48C9-A0F9-3CAA728DC3B7}"/>
              </a:ext>
            </a:extLst>
          </p:cNvPr>
          <p:cNvCxnSpPr/>
          <p:nvPr/>
        </p:nvCxnSpPr>
        <p:spPr>
          <a:xfrm>
            <a:off x="8641080" y="5632430"/>
            <a:ext cx="182880" cy="0"/>
          </a:xfrm>
          <a:prstGeom prst="line">
            <a:avLst/>
          </a:prstGeom>
          <a:ln w="19050">
            <a:solidFill>
              <a:srgbClr val="005AA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33">
            <a:extLst>
              <a:ext uri="{FF2B5EF4-FFF2-40B4-BE49-F238E27FC236}">
                <a16:creationId xmlns:a16="http://schemas.microsoft.com/office/drawing/2014/main" id="{B794A377-71D6-471D-A224-034874538C4C}"/>
              </a:ext>
            </a:extLst>
          </p:cNvPr>
          <p:cNvCxnSpPr/>
          <p:nvPr/>
        </p:nvCxnSpPr>
        <p:spPr>
          <a:xfrm>
            <a:off x="9875520" y="5632430"/>
            <a:ext cx="320040" cy="0"/>
          </a:xfrm>
          <a:prstGeom prst="line">
            <a:avLst/>
          </a:prstGeom>
          <a:ln w="19050">
            <a:solidFill>
              <a:srgbClr val="005AA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Connector 34">
            <a:extLst>
              <a:ext uri="{FF2B5EF4-FFF2-40B4-BE49-F238E27FC236}">
                <a16:creationId xmlns:a16="http://schemas.microsoft.com/office/drawing/2014/main" id="{22D49A37-090A-4334-9DBA-C4FB2F96EDDE}"/>
              </a:ext>
            </a:extLst>
          </p:cNvPr>
          <p:cNvCxnSpPr/>
          <p:nvPr/>
        </p:nvCxnSpPr>
        <p:spPr>
          <a:xfrm>
            <a:off x="7680960" y="6135350"/>
            <a:ext cx="182880" cy="0"/>
          </a:xfrm>
          <a:prstGeom prst="line">
            <a:avLst/>
          </a:prstGeom>
          <a:ln w="19050">
            <a:solidFill>
              <a:srgbClr val="B03A2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Connector 35">
            <a:extLst>
              <a:ext uri="{FF2B5EF4-FFF2-40B4-BE49-F238E27FC236}">
                <a16:creationId xmlns:a16="http://schemas.microsoft.com/office/drawing/2014/main" id="{ED20A176-276B-43E7-83E0-A8495206CAB4}"/>
              </a:ext>
            </a:extLst>
          </p:cNvPr>
          <p:cNvCxnSpPr/>
          <p:nvPr/>
        </p:nvCxnSpPr>
        <p:spPr>
          <a:xfrm>
            <a:off x="9875520" y="6135350"/>
            <a:ext cx="320040" cy="0"/>
          </a:xfrm>
          <a:prstGeom prst="line">
            <a:avLst/>
          </a:prstGeom>
          <a:ln w="19050">
            <a:solidFill>
              <a:srgbClr val="B03A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TextBox 36">
            <a:extLst>
              <a:ext uri="{FF2B5EF4-FFF2-40B4-BE49-F238E27FC236}">
                <a16:creationId xmlns:a16="http://schemas.microsoft.com/office/drawing/2014/main" id="{C4EF1CD7-5903-48FC-A821-756740904E6C}"/>
              </a:ext>
            </a:extLst>
          </p:cNvPr>
          <p:cNvSpPr txBox="1"/>
          <p:nvPr/>
        </p:nvSpPr>
        <p:spPr>
          <a:xfrm>
            <a:off x="6766560" y="6391382"/>
            <a:ext cx="4572000" cy="201168"/>
          </a:xfrm>
          <a:prstGeom prst="rect">
            <a:avLst/>
          </a:prstGeom>
          <a:noFill/>
        </p:spPr>
        <p:txBody>
          <a:bodyPr wrap="square" lIns="0" tIns="0" rIns="0" bIns="0">
            <a:spAutoFit/>
          </a:bodyPr>
          <a:lstStyle/>
          <a:p>
            <a:pPr algn="l"/>
            <a:r>
              <a:rPr sz="900" b="0">
                <a:solidFill>
                  <a:srgbClr val="5B6472"/>
                </a:solidFill>
                <a:latin typeface="Arial"/>
              </a:rPr>
              <a:t>Mit 127.0.0.1 gibt es Tür 2 nicht – nur Tür 1 bleibt.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1" y="274638"/>
            <a:ext cx="10953313" cy="1143000"/>
          </a:xfrm>
        </p:spPr>
        <p:txBody>
          <a:bodyPr/>
          <a:lstStyle/>
          <a:p>
            <a:r>
              <a:rPr lang="de-DE" sz="2400" dirty="0"/>
              <a:t>Der sichere Weg vom Browser bis zur Container-IP</a:t>
            </a:r>
            <a:endParaRPr sz="2400" dirty="0"/>
          </a:p>
        </p:txBody>
      </p:sp>
      <p:sp>
        <p:nvSpPr>
          <p:cNvPr id="5" name="TextBox 4"/>
          <p:cNvSpPr txBox="1"/>
          <p:nvPr/>
        </p:nvSpPr>
        <p:spPr>
          <a:xfrm>
            <a:off x="548640" y="1691640"/>
            <a:ext cx="11091672" cy="256032"/>
          </a:xfrm>
          <a:prstGeom prst="rect">
            <a:avLst/>
          </a:prstGeom>
          <a:noFill/>
        </p:spPr>
        <p:txBody>
          <a:bodyPr wrap="square" lIns="0" tIns="0" rIns="0" bIns="0">
            <a:spAutoFit/>
          </a:bodyPr>
          <a:lstStyle/>
          <a:p>
            <a:pPr algn="ctr"/>
            <a:r>
              <a:rPr sz="1300" b="1" i="0">
                <a:solidFill>
                  <a:srgbClr val="1E2761"/>
                </a:solidFill>
                <a:latin typeface="Arial"/>
              </a:rPr>
              <a:t>Beispiel: Aufruf von www.&lt;IHRE-DOMAIN&gt;  (Dienst nginx-web) — jeder Pfeil ist ein eigener Paketweg durch den Host</a:t>
            </a:r>
          </a:p>
        </p:txBody>
      </p:sp>
      <p:sp>
        <p:nvSpPr>
          <p:cNvPr id="6" name="Rounded Rectangle 5"/>
          <p:cNvSpPr/>
          <p:nvPr/>
        </p:nvSpPr>
        <p:spPr>
          <a:xfrm>
            <a:off x="548640" y="2240280"/>
            <a:ext cx="1645920" cy="1508760"/>
          </a:xfrm>
          <a:prstGeom prst="roundRect">
            <a:avLst>
              <a:gd name="adj" fmla="val 10000"/>
            </a:avLst>
          </a:prstGeom>
          <a:solidFill>
            <a:srgbClr val="F5F5F5"/>
          </a:solidFill>
          <a:ln w="127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a:solidFill>
                  <a:srgbClr val="1A1A1A"/>
                </a:solidFill>
                <a:latin typeface="Arial"/>
              </a:rPr>
              <a:t>Client</a:t>
            </a:r>
          </a:p>
          <a:p>
            <a:pPr algn="ctr"/>
            <a:r>
              <a:rPr sz="1000" b="0">
                <a:solidFill>
                  <a:srgbClr val="1A1A1A"/>
                </a:solidFill>
                <a:latin typeface="Arial"/>
              </a:rPr>
              <a:t>(Internet)</a:t>
            </a:r>
          </a:p>
          <a:p>
            <a:pPr algn="ctr"/>
            <a:r>
              <a:rPr sz="900" b="0">
                <a:solidFill>
                  <a:srgbClr val="5B6472"/>
                </a:solidFill>
                <a:latin typeface="Arial"/>
              </a:rPr>
              <a:t>ruft auf: www.&lt;…&gt;</a:t>
            </a:r>
          </a:p>
        </p:txBody>
      </p:sp>
      <p:sp>
        <p:nvSpPr>
          <p:cNvPr id="7" name="Rounded Rectangle 6"/>
          <p:cNvSpPr/>
          <p:nvPr/>
        </p:nvSpPr>
        <p:spPr>
          <a:xfrm>
            <a:off x="2437790" y="2240280"/>
            <a:ext cx="1645920" cy="1508760"/>
          </a:xfrm>
          <a:prstGeom prst="roundRect">
            <a:avLst>
              <a:gd name="adj" fmla="val 10000"/>
            </a:avLst>
          </a:prstGeom>
          <a:solidFill>
            <a:srgbClr val="F5F5F5"/>
          </a:solidFill>
          <a:ln w="12700">
            <a:solidFill>
              <a:srgbClr val="005AA8"/>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a:solidFill>
                  <a:srgbClr val="1A1A1A"/>
                </a:solidFill>
                <a:latin typeface="Arial"/>
              </a:rPr>
              <a:t>Host: Caddy</a:t>
            </a:r>
          </a:p>
          <a:p>
            <a:pPr algn="ctr"/>
            <a:r>
              <a:rPr sz="1000" b="0">
                <a:solidFill>
                  <a:srgbClr val="1A1A1A"/>
                </a:solidFill>
                <a:latin typeface="Arial"/>
              </a:rPr>
              <a:t>(Reverse Proxy)</a:t>
            </a:r>
          </a:p>
          <a:p>
            <a:pPr algn="ctr"/>
            <a:r>
              <a:rPr sz="900" b="0">
                <a:solidFill>
                  <a:srgbClr val="5B6472"/>
                </a:solidFill>
                <a:latin typeface="Arial"/>
              </a:rPr>
              <a:t>Host-IP:443</a:t>
            </a:r>
          </a:p>
        </p:txBody>
      </p:sp>
      <p:sp>
        <p:nvSpPr>
          <p:cNvPr id="8" name="Rounded Rectangle 7"/>
          <p:cNvSpPr/>
          <p:nvPr/>
        </p:nvSpPr>
        <p:spPr>
          <a:xfrm>
            <a:off x="4326940" y="2240280"/>
            <a:ext cx="1645920" cy="1508760"/>
          </a:xfrm>
          <a:prstGeom prst="roundRect">
            <a:avLst>
              <a:gd name="adj" fmla="val 10000"/>
            </a:avLst>
          </a:prstGeom>
          <a:solidFill>
            <a:srgbClr val="F5F5F5"/>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a:solidFill>
                  <a:srgbClr val="1A1A1A"/>
                </a:solidFill>
                <a:latin typeface="Arial"/>
              </a:rPr>
              <a:t>Loopback lo</a:t>
            </a:r>
          </a:p>
          <a:p>
            <a:pPr algn="ctr"/>
            <a:r>
              <a:rPr sz="1000" b="0">
                <a:solidFill>
                  <a:srgbClr val="1A1A1A"/>
                </a:solidFill>
                <a:latin typeface="Arial"/>
              </a:rPr>
              <a:t>(Caddy → 127.0.0.1:8080)</a:t>
            </a:r>
          </a:p>
          <a:p>
            <a:pPr algn="ctr"/>
            <a:r>
              <a:rPr sz="900" b="0">
                <a:solidFill>
                  <a:srgbClr val="5B6472"/>
                </a:solidFill>
                <a:latin typeface="Arial"/>
              </a:rPr>
              <a:t>neue Verbindung</a:t>
            </a:r>
          </a:p>
        </p:txBody>
      </p:sp>
      <p:sp>
        <p:nvSpPr>
          <p:cNvPr id="9" name="Rounded Rectangle 8"/>
          <p:cNvSpPr/>
          <p:nvPr/>
        </p:nvSpPr>
        <p:spPr>
          <a:xfrm>
            <a:off x="6216091" y="2240280"/>
            <a:ext cx="1645920" cy="1508760"/>
          </a:xfrm>
          <a:prstGeom prst="roundRect">
            <a:avLst>
              <a:gd name="adj" fmla="val 10000"/>
            </a:avLst>
          </a:prstGeom>
          <a:solidFill>
            <a:srgbClr val="F4F6FA"/>
          </a:solidFill>
          <a:ln w="12700">
            <a:solidFill>
              <a:srgbClr val="005AA8"/>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a:solidFill>
                  <a:srgbClr val="1A1A1A"/>
                </a:solidFill>
                <a:latin typeface="Arial"/>
              </a:rPr>
              <a:t>docker-proxy</a:t>
            </a:r>
          </a:p>
          <a:p>
            <a:pPr algn="ctr"/>
            <a:r>
              <a:rPr sz="1000" b="0">
                <a:solidFill>
                  <a:srgbClr val="1A1A1A"/>
                </a:solidFill>
                <a:latin typeface="Arial"/>
              </a:rPr>
              <a:t>(lauscht auf</a:t>
            </a:r>
          </a:p>
          <a:p>
            <a:pPr algn="ctr"/>
            <a:r>
              <a:rPr sz="900" b="0">
                <a:solidFill>
                  <a:srgbClr val="5B6472"/>
                </a:solidFill>
                <a:latin typeface="Arial"/>
              </a:rPr>
              <a:t>127.0.0.1:8080)</a:t>
            </a:r>
          </a:p>
        </p:txBody>
      </p:sp>
      <p:sp>
        <p:nvSpPr>
          <p:cNvPr id="10" name="Rounded Rectangle 9"/>
          <p:cNvSpPr/>
          <p:nvPr/>
        </p:nvSpPr>
        <p:spPr>
          <a:xfrm>
            <a:off x="8105241" y="2240280"/>
            <a:ext cx="1645920" cy="1508760"/>
          </a:xfrm>
          <a:prstGeom prst="roundRect">
            <a:avLst>
              <a:gd name="adj" fmla="val 10000"/>
            </a:avLst>
          </a:prstGeom>
          <a:solidFill>
            <a:srgbClr val="F5F5F5"/>
          </a:solidFill>
          <a:ln w="12700">
            <a:solidFill>
              <a:srgbClr val="F2B84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a:solidFill>
                  <a:srgbClr val="1A1A1A"/>
                </a:solidFill>
                <a:latin typeface="Arial"/>
              </a:rPr>
              <a:t>docker0-Bridge</a:t>
            </a:r>
          </a:p>
          <a:p>
            <a:pPr algn="ctr"/>
            <a:r>
              <a:rPr sz="1000" b="0">
                <a:solidFill>
                  <a:srgbClr val="1A1A1A"/>
                </a:solidFill>
                <a:latin typeface="Arial"/>
              </a:rPr>
              <a:t>(Standardnetz)</a:t>
            </a:r>
          </a:p>
          <a:p>
            <a:pPr algn="ctr"/>
            <a:r>
              <a:rPr sz="900" b="0">
                <a:solidFill>
                  <a:srgbClr val="5B6472"/>
                </a:solidFill>
                <a:latin typeface="Arial"/>
              </a:rPr>
              <a:t>172.17.0.0/16</a:t>
            </a:r>
          </a:p>
        </p:txBody>
      </p:sp>
      <p:sp>
        <p:nvSpPr>
          <p:cNvPr id="11" name="Rounded Rectangle 10"/>
          <p:cNvSpPr/>
          <p:nvPr/>
        </p:nvSpPr>
        <p:spPr>
          <a:xfrm>
            <a:off x="9994391" y="2240280"/>
            <a:ext cx="1645920" cy="1508760"/>
          </a:xfrm>
          <a:prstGeom prst="roundRect">
            <a:avLst>
              <a:gd name="adj" fmla="val 10000"/>
            </a:avLst>
          </a:prstGeom>
          <a:solidFill>
            <a:srgbClr val="E7F1EA"/>
          </a:solidFill>
          <a:ln w="12700">
            <a:solidFill>
              <a:srgbClr val="1E6B3C"/>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300" b="1">
                <a:solidFill>
                  <a:srgbClr val="1A1A1A"/>
                </a:solidFill>
                <a:latin typeface="Arial"/>
              </a:rPr>
              <a:t>Container</a:t>
            </a:r>
          </a:p>
          <a:p>
            <a:pPr algn="ctr"/>
            <a:r>
              <a:rPr sz="1100" b="0">
                <a:solidFill>
                  <a:srgbClr val="1A1A1A"/>
                </a:solidFill>
                <a:latin typeface="Arial"/>
              </a:rPr>
              <a:t>nginx-web</a:t>
            </a:r>
          </a:p>
          <a:p>
            <a:pPr algn="ctr"/>
            <a:r>
              <a:rPr sz="900" b="0">
                <a:solidFill>
                  <a:srgbClr val="5B6472"/>
                </a:solidFill>
                <a:latin typeface="Arial"/>
              </a:rPr>
              <a:t>172.17.0.2 : 80</a:t>
            </a:r>
          </a:p>
        </p:txBody>
      </p:sp>
      <p:cxnSp>
        <p:nvCxnSpPr>
          <p:cNvPr id="12" name="Connector 11"/>
          <p:cNvCxnSpPr/>
          <p:nvPr/>
        </p:nvCxnSpPr>
        <p:spPr>
          <a:xfrm>
            <a:off x="2194560" y="2994660"/>
            <a:ext cx="243230" cy="0"/>
          </a:xfrm>
          <a:prstGeom prst="line">
            <a:avLst/>
          </a:prstGeom>
          <a:ln w="31750">
            <a:solidFill>
              <a:srgbClr val="005A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447495" y="3895344"/>
            <a:ext cx="1737360" cy="411480"/>
          </a:xfrm>
          <a:prstGeom prst="rect">
            <a:avLst/>
          </a:prstGeom>
          <a:noFill/>
        </p:spPr>
        <p:txBody>
          <a:bodyPr wrap="square" lIns="0" tIns="0" rIns="0" bIns="0">
            <a:spAutoFit/>
          </a:bodyPr>
          <a:lstStyle/>
          <a:p>
            <a:pPr algn="ctr"/>
            <a:r>
              <a:rPr sz="900" b="1" i="0">
                <a:solidFill>
                  <a:srgbClr val="005AA8"/>
                </a:solidFill>
                <a:latin typeface="Arial"/>
              </a:rPr>
              <a:t>INPUT · ufw allow https</a:t>
            </a:r>
          </a:p>
        </p:txBody>
      </p:sp>
      <p:cxnSp>
        <p:nvCxnSpPr>
          <p:cNvPr id="14" name="Connector 13"/>
          <p:cNvCxnSpPr/>
          <p:nvPr/>
        </p:nvCxnSpPr>
        <p:spPr>
          <a:xfrm>
            <a:off x="4083710" y="2994660"/>
            <a:ext cx="243230" cy="0"/>
          </a:xfrm>
          <a:prstGeom prst="line">
            <a:avLst/>
          </a:prstGeom>
          <a:ln w="31750">
            <a:solidFill>
              <a:srgbClr val="5B647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336645" y="3895344"/>
            <a:ext cx="1737360" cy="411480"/>
          </a:xfrm>
          <a:prstGeom prst="rect">
            <a:avLst/>
          </a:prstGeom>
          <a:noFill/>
        </p:spPr>
        <p:txBody>
          <a:bodyPr wrap="square" lIns="0" tIns="0" rIns="0" bIns="0">
            <a:spAutoFit/>
          </a:bodyPr>
          <a:lstStyle/>
          <a:p>
            <a:pPr algn="ctr"/>
            <a:r>
              <a:rPr sz="900" b="1" i="0">
                <a:solidFill>
                  <a:srgbClr val="5B6472"/>
                </a:solidFill>
                <a:latin typeface="Arial"/>
              </a:rPr>
              <a:t>OUTPUT (lokal erzeugt)</a:t>
            </a:r>
          </a:p>
        </p:txBody>
      </p:sp>
      <p:cxnSp>
        <p:nvCxnSpPr>
          <p:cNvPr id="16" name="Connector 15"/>
          <p:cNvCxnSpPr/>
          <p:nvPr/>
        </p:nvCxnSpPr>
        <p:spPr>
          <a:xfrm>
            <a:off x="5972860" y="2994660"/>
            <a:ext cx="243231" cy="0"/>
          </a:xfrm>
          <a:prstGeom prst="line">
            <a:avLst/>
          </a:prstGeom>
          <a:ln w="31750">
            <a:solidFill>
              <a:srgbClr val="005A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25795" y="3895344"/>
            <a:ext cx="1737360" cy="411480"/>
          </a:xfrm>
          <a:prstGeom prst="rect">
            <a:avLst/>
          </a:prstGeom>
          <a:noFill/>
        </p:spPr>
        <p:txBody>
          <a:bodyPr wrap="square" lIns="0" tIns="0" rIns="0" bIns="0">
            <a:spAutoFit/>
          </a:bodyPr>
          <a:lstStyle/>
          <a:p>
            <a:pPr algn="ctr"/>
            <a:r>
              <a:rPr sz="900" b="1" i="0">
                <a:solidFill>
                  <a:srgbClr val="005AA8"/>
                </a:solidFill>
                <a:latin typeface="Arial"/>
              </a:rPr>
              <a:t>INPUT · lo (127.0.0.1) erlaubt</a:t>
            </a:r>
          </a:p>
        </p:txBody>
      </p:sp>
      <p:cxnSp>
        <p:nvCxnSpPr>
          <p:cNvPr id="18" name="Connector 17"/>
          <p:cNvCxnSpPr/>
          <p:nvPr/>
        </p:nvCxnSpPr>
        <p:spPr>
          <a:xfrm>
            <a:off x="7862011" y="2994660"/>
            <a:ext cx="243230" cy="0"/>
          </a:xfrm>
          <a:prstGeom prst="line">
            <a:avLst/>
          </a:prstGeom>
          <a:ln w="31750">
            <a:solidFill>
              <a:srgbClr val="C99A2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114946" y="3895344"/>
            <a:ext cx="1737360" cy="411480"/>
          </a:xfrm>
          <a:prstGeom prst="rect">
            <a:avLst/>
          </a:prstGeom>
          <a:noFill/>
        </p:spPr>
        <p:txBody>
          <a:bodyPr wrap="square" lIns="0" tIns="0" rIns="0" bIns="0">
            <a:spAutoFit/>
          </a:bodyPr>
          <a:lstStyle/>
          <a:p>
            <a:pPr algn="ctr"/>
            <a:r>
              <a:rPr sz="900" b="1" i="0">
                <a:solidFill>
                  <a:srgbClr val="8A6D1F"/>
                </a:solidFill>
                <a:latin typeface="Arial"/>
              </a:rPr>
              <a:t>OUTPUT → POSTROUTING</a:t>
            </a:r>
          </a:p>
        </p:txBody>
      </p:sp>
      <p:cxnSp>
        <p:nvCxnSpPr>
          <p:cNvPr id="20" name="Connector 19"/>
          <p:cNvCxnSpPr/>
          <p:nvPr/>
        </p:nvCxnSpPr>
        <p:spPr>
          <a:xfrm>
            <a:off x="9751161" y="2994660"/>
            <a:ext cx="243230" cy="0"/>
          </a:xfrm>
          <a:prstGeom prst="line">
            <a:avLst/>
          </a:prstGeom>
          <a:ln w="31750">
            <a:solidFill>
              <a:srgbClr val="1E6B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004096" y="3895344"/>
            <a:ext cx="1737360" cy="411480"/>
          </a:xfrm>
          <a:prstGeom prst="rect">
            <a:avLst/>
          </a:prstGeom>
          <a:noFill/>
        </p:spPr>
        <p:txBody>
          <a:bodyPr wrap="square" lIns="0" tIns="0" rIns="0" bIns="0">
            <a:spAutoFit/>
          </a:bodyPr>
          <a:lstStyle/>
          <a:p>
            <a:pPr algn="ctr"/>
            <a:r>
              <a:rPr sz="900" b="1" i="0">
                <a:solidFill>
                  <a:srgbClr val="1E6B3C"/>
                </a:solidFill>
                <a:latin typeface="Arial"/>
              </a:rPr>
              <a:t>Bridge</a:t>
            </a:r>
          </a:p>
        </p:txBody>
      </p:sp>
      <p:sp>
        <p:nvSpPr>
          <p:cNvPr id="22" name="Rounded Rectangle 21"/>
          <p:cNvSpPr/>
          <p:nvPr/>
        </p:nvSpPr>
        <p:spPr>
          <a:xfrm>
            <a:off x="548640" y="4389120"/>
            <a:ext cx="11091672" cy="658368"/>
          </a:xfrm>
          <a:prstGeom prst="roundRect">
            <a:avLst>
              <a:gd name="adj" fmla="val 10000"/>
            </a:avLst>
          </a:prstGeom>
          <a:solidFill>
            <a:srgbClr val="F5F5F5"/>
          </a:solidFill>
          <a:ln w="127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lang="de-DE" sz="1300" b="1" dirty="0">
                <a:solidFill>
                  <a:srgbClr val="1A1A1A"/>
                </a:solidFill>
                <a:latin typeface="Arial"/>
              </a:rPr>
              <a:t>Filter-Chains</a:t>
            </a:r>
          </a:p>
          <a:p>
            <a:pPr algn="l"/>
            <a:r>
              <a:rPr sz="1100" b="0" dirty="0">
                <a:solidFill>
                  <a:srgbClr val="1A1A1A"/>
                </a:solidFill>
                <a:latin typeface="Arial"/>
              </a:rPr>
              <a:t>Nur Hop 1 (Client → Host:443) </a:t>
            </a:r>
            <a:r>
              <a:rPr sz="1100" b="0" dirty="0" err="1">
                <a:solidFill>
                  <a:srgbClr val="1A1A1A"/>
                </a:solidFill>
                <a:latin typeface="Arial"/>
              </a:rPr>
              <a:t>kommt</a:t>
            </a:r>
            <a:r>
              <a:rPr sz="1100" b="0" dirty="0">
                <a:solidFill>
                  <a:srgbClr val="1A1A1A"/>
                </a:solidFill>
                <a:latin typeface="Arial"/>
              </a:rPr>
              <a:t> von </a:t>
            </a:r>
            <a:r>
              <a:rPr sz="1100" b="0" dirty="0" err="1">
                <a:solidFill>
                  <a:srgbClr val="1A1A1A"/>
                </a:solidFill>
                <a:latin typeface="Arial"/>
              </a:rPr>
              <a:t>außen</a:t>
            </a:r>
            <a:r>
              <a:rPr sz="1100" b="0" dirty="0">
                <a:solidFill>
                  <a:srgbClr val="1A1A1A"/>
                </a:solidFill>
                <a:latin typeface="Arial"/>
              </a:rPr>
              <a:t> und </a:t>
            </a:r>
            <a:r>
              <a:rPr sz="1100" b="0" dirty="0" err="1">
                <a:solidFill>
                  <a:srgbClr val="1A1A1A"/>
                </a:solidFill>
                <a:latin typeface="Arial"/>
              </a:rPr>
              <a:t>wird</a:t>
            </a:r>
            <a:r>
              <a:rPr sz="1100" b="0" dirty="0">
                <a:solidFill>
                  <a:srgbClr val="1A1A1A"/>
                </a:solidFill>
                <a:latin typeface="Arial"/>
              </a:rPr>
              <a:t> von </a:t>
            </a:r>
            <a:r>
              <a:rPr sz="1100" b="0" dirty="0" err="1">
                <a:solidFill>
                  <a:srgbClr val="1A1A1A"/>
                </a:solidFill>
                <a:latin typeface="Arial"/>
              </a:rPr>
              <a:t>ufw</a:t>
            </a:r>
            <a:r>
              <a:rPr sz="1100" b="0" dirty="0">
                <a:solidFill>
                  <a:srgbClr val="1A1A1A"/>
                </a:solidFill>
                <a:latin typeface="Arial"/>
              </a:rPr>
              <a:t> </a:t>
            </a:r>
            <a:r>
              <a:rPr sz="1100" b="0" dirty="0" err="1">
                <a:solidFill>
                  <a:srgbClr val="1A1A1A"/>
                </a:solidFill>
                <a:latin typeface="Arial"/>
              </a:rPr>
              <a:t>geprüft</a:t>
            </a:r>
            <a:r>
              <a:rPr sz="1100" b="0" dirty="0">
                <a:solidFill>
                  <a:srgbClr val="1A1A1A"/>
                </a:solidFill>
                <a:latin typeface="Arial"/>
              </a:rPr>
              <a:t> (INPUT). Alle </a:t>
            </a:r>
            <a:r>
              <a:rPr sz="1100" b="0" dirty="0" err="1">
                <a:solidFill>
                  <a:srgbClr val="1A1A1A"/>
                </a:solidFill>
                <a:latin typeface="Arial"/>
              </a:rPr>
              <a:t>weiteren</a:t>
            </a:r>
            <a:r>
              <a:rPr sz="1100" b="0" dirty="0">
                <a:solidFill>
                  <a:srgbClr val="1A1A1A"/>
                </a:solidFill>
                <a:latin typeface="Arial"/>
              </a:rPr>
              <a:t> </a:t>
            </a:r>
            <a:r>
              <a:rPr sz="1100" b="0" dirty="0" err="1">
                <a:solidFill>
                  <a:srgbClr val="1A1A1A"/>
                </a:solidFill>
                <a:latin typeface="Arial"/>
              </a:rPr>
              <a:t>Verbindungen</a:t>
            </a:r>
            <a:r>
              <a:rPr sz="1100" b="0" dirty="0">
                <a:solidFill>
                  <a:srgbClr val="1A1A1A"/>
                </a:solidFill>
                <a:latin typeface="Arial"/>
              </a:rPr>
              <a:t> </a:t>
            </a:r>
            <a:r>
              <a:rPr sz="1100" b="0" dirty="0" err="1">
                <a:solidFill>
                  <a:srgbClr val="1A1A1A"/>
                </a:solidFill>
                <a:latin typeface="Arial"/>
              </a:rPr>
              <a:t>erzeugt</a:t>
            </a:r>
            <a:r>
              <a:rPr sz="1100" b="0" dirty="0">
                <a:solidFill>
                  <a:srgbClr val="1A1A1A"/>
                </a:solidFill>
                <a:latin typeface="Arial"/>
              </a:rPr>
              <a:t> der Host </a:t>
            </a:r>
            <a:r>
              <a:rPr sz="1100" b="0" dirty="0" err="1">
                <a:solidFill>
                  <a:srgbClr val="1A1A1A"/>
                </a:solidFill>
                <a:latin typeface="Arial"/>
              </a:rPr>
              <a:t>selbst</a:t>
            </a:r>
            <a:r>
              <a:rPr sz="1100" b="0" dirty="0">
                <a:solidFill>
                  <a:srgbClr val="1A1A1A"/>
                </a:solidFill>
                <a:latin typeface="Arial"/>
              </a:rPr>
              <a:t> (Caddy, docker-proxy): Sie </a:t>
            </a:r>
            <a:r>
              <a:rPr sz="1100" b="0" dirty="0" err="1">
                <a:solidFill>
                  <a:srgbClr val="1A1A1A"/>
                </a:solidFill>
                <a:latin typeface="Arial"/>
              </a:rPr>
              <a:t>laufen</a:t>
            </a:r>
            <a:r>
              <a:rPr sz="1100" b="0" dirty="0">
                <a:solidFill>
                  <a:srgbClr val="1A1A1A"/>
                </a:solidFill>
                <a:latin typeface="Arial"/>
              </a:rPr>
              <a:t> </a:t>
            </a:r>
            <a:r>
              <a:rPr sz="1100" b="0" dirty="0" err="1">
                <a:solidFill>
                  <a:srgbClr val="1A1A1A"/>
                </a:solidFill>
                <a:latin typeface="Arial"/>
              </a:rPr>
              <a:t>über</a:t>
            </a:r>
            <a:r>
              <a:rPr sz="1100" b="0" dirty="0">
                <a:solidFill>
                  <a:srgbClr val="1A1A1A"/>
                </a:solidFill>
                <a:latin typeface="Arial"/>
              </a:rPr>
              <a:t> OUTPUT </a:t>
            </a:r>
            <a:r>
              <a:rPr sz="1100" b="0" dirty="0" err="1">
                <a:solidFill>
                  <a:srgbClr val="1A1A1A"/>
                </a:solidFill>
                <a:latin typeface="Arial"/>
              </a:rPr>
              <a:t>bzw</a:t>
            </a:r>
            <a:r>
              <a:rPr sz="1100" b="0" dirty="0">
                <a:solidFill>
                  <a:srgbClr val="1A1A1A"/>
                </a:solidFill>
                <a:latin typeface="Arial"/>
              </a:rPr>
              <a:t>. lo – FORWARD und DOCKER-USER </a:t>
            </a:r>
            <a:r>
              <a:rPr sz="1100" b="0" dirty="0" err="1">
                <a:solidFill>
                  <a:srgbClr val="1A1A1A"/>
                </a:solidFill>
                <a:latin typeface="Arial"/>
              </a:rPr>
              <a:t>werden</a:t>
            </a:r>
            <a:r>
              <a:rPr sz="1100" b="0" dirty="0">
                <a:solidFill>
                  <a:srgbClr val="1A1A1A"/>
                </a:solidFill>
                <a:latin typeface="Arial"/>
              </a:rPr>
              <a:t> </a:t>
            </a:r>
            <a:r>
              <a:rPr sz="1100" b="0" dirty="0" err="1">
                <a:solidFill>
                  <a:srgbClr val="1A1A1A"/>
                </a:solidFill>
                <a:latin typeface="Arial"/>
              </a:rPr>
              <a:t>nie</a:t>
            </a:r>
            <a:r>
              <a:rPr sz="1100" b="0" dirty="0">
                <a:solidFill>
                  <a:srgbClr val="1A1A1A"/>
                </a:solidFill>
                <a:latin typeface="Arial"/>
              </a:rPr>
              <a:t> </a:t>
            </a:r>
            <a:r>
              <a:rPr sz="1100" b="0" dirty="0" err="1">
                <a:solidFill>
                  <a:srgbClr val="1A1A1A"/>
                </a:solidFill>
                <a:latin typeface="Arial"/>
              </a:rPr>
              <a:t>betreten</a:t>
            </a:r>
            <a:r>
              <a:rPr sz="1100" b="0" dirty="0">
                <a:solidFill>
                  <a:srgbClr val="1A1A1A"/>
                </a:solidFill>
                <a:latin typeface="Arial"/>
              </a:rPr>
              <a:t>.</a:t>
            </a:r>
          </a:p>
        </p:txBody>
      </p:sp>
      <p:sp>
        <p:nvSpPr>
          <p:cNvPr id="23" name="TextBox 22"/>
          <p:cNvSpPr txBox="1"/>
          <p:nvPr/>
        </p:nvSpPr>
        <p:spPr>
          <a:xfrm>
            <a:off x="548640" y="5166359"/>
            <a:ext cx="11091672" cy="274320"/>
          </a:xfrm>
          <a:prstGeom prst="rect">
            <a:avLst/>
          </a:prstGeom>
          <a:noFill/>
        </p:spPr>
        <p:txBody>
          <a:bodyPr wrap="square" lIns="0" tIns="0" rIns="0" bIns="0">
            <a:spAutoFit/>
          </a:bodyPr>
          <a:lstStyle/>
          <a:p>
            <a:pPr algn="ctr"/>
            <a:r>
              <a:rPr sz="1100" b="0" i="1">
                <a:solidFill>
                  <a:srgbClr val="5B6472"/>
                </a:solidFill>
                <a:latin typeface="Arial"/>
              </a:rPr>
              <a:t>Analog: dashboard.&lt;IHRE-DOMAIN&gt; → 127.0.0.1:1880 → docker-proxy → 172.17.0.3:1880 → Container nodered (identischer Mechanismus)</a:t>
            </a:r>
          </a:p>
        </p:txBody>
      </p:sp>
      <p:sp>
        <p:nvSpPr>
          <p:cNvPr id="24" name="Rounded Rectangle 23"/>
          <p:cNvSpPr/>
          <p:nvPr/>
        </p:nvSpPr>
        <p:spPr>
          <a:xfrm>
            <a:off x="548640" y="5577840"/>
            <a:ext cx="11091672" cy="594360"/>
          </a:xfrm>
          <a:prstGeom prst="roundRect">
            <a:avLst>
              <a:gd name="adj" fmla="val 19231"/>
            </a:avLst>
          </a:prstGeom>
          <a:solidFill>
            <a:srgbClr val="F4F6FA"/>
          </a:solidFill>
          <a:ln w="9525">
            <a:solidFill>
              <a:srgbClr val="D8DE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59" y="5674965"/>
            <a:ext cx="10543032" cy="400110"/>
          </a:xfrm>
          <a:prstGeom prst="rect">
            <a:avLst/>
          </a:prstGeom>
          <a:noFill/>
        </p:spPr>
        <p:txBody>
          <a:bodyPr wrap="square" lIns="0" tIns="0" rIns="0" bIns="0" anchor="ctr">
            <a:spAutoFit/>
          </a:bodyPr>
          <a:lstStyle/>
          <a:p>
            <a:r>
              <a:rPr sz="1300" b="1" dirty="0">
                <a:solidFill>
                  <a:srgbClr val="1E2761"/>
                </a:solidFill>
                <a:latin typeface="Calibri"/>
              </a:rPr>
              <a:t>Nur ein Filterpunkt mit Wirkung: ufw-INPUT für Port 443. Dass der Container von außen nicht erreichbar ist, sichert die Bindung an 127.0.0.1 – nicht ufw.</a:t>
            </a:r>
          </a:p>
        </p:txBody>
      </p:sp>
      <p:sp>
        <p:nvSpPr>
          <p:cNvPr id="2" name="Foliennummernplatzhalter 4"/>
          <p:cNvSpPr>
            <a:spLocks noGrp="1"/>
          </p:cNvSpPr>
          <p:nvPr>
            <p:ph type="sldNum" sz="quarter" idx="4"/>
          </p:nvPr>
        </p:nvSpPr>
        <p:spPr/>
        <p:txBody>
          <a:bodyPr/>
          <a:lstStyle/>
          <a:p>
            <a:fld id="{43A6DCFB-163F-4561-BF28-3CD1FE47EE20}" type="slidenum">
              <a:rPr lang="de-DE" smtClean="0"/>
              <a:pPr/>
              <a:t>8</a:t>
            </a:fld>
            <a:endParaRPr lang="de-DE"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534949"/>
            <a:ext cx="10953313" cy="1143000"/>
          </a:xfrm>
        </p:spPr>
        <p:txBody>
          <a:bodyPr/>
          <a:lstStyle/>
          <a:p>
            <a:r>
              <a:rPr lang="en-US" sz="2000" dirty="0"/>
              <a:t>nginx-Container mit Bind Mount</a:t>
            </a:r>
            <a:br>
              <a:rPr lang="en-US" sz="2000" dirty="0"/>
            </a:br>
            <a:br>
              <a:rPr lang="en-US" sz="2000" dirty="0"/>
            </a:br>
            <a:endParaRPr lang="de-DE" sz="1998" dirty="0"/>
          </a:p>
        </p:txBody>
      </p:sp>
      <p:sp>
        <p:nvSpPr>
          <p:cNvPr id="5" name="Foliennummernplatzhalter 4"/>
          <p:cNvSpPr>
            <a:spLocks noGrp="1"/>
          </p:cNvSpPr>
          <p:nvPr>
            <p:ph type="sldNum" sz="quarter" idx="4"/>
          </p:nvPr>
        </p:nvSpPr>
        <p:spPr/>
        <p:txBody>
          <a:bodyPr/>
          <a:lstStyle/>
          <a:p>
            <a:fld id="{43A6DCFB-163F-4561-BF28-3CD1FE47EE20}" type="slidenum">
              <a:rPr lang="de-DE" smtClean="0"/>
              <a:pPr/>
              <a:t>9</a:t>
            </a:fld>
            <a:endParaRPr lang="de-DE" dirty="0"/>
          </a:p>
        </p:txBody>
      </p:sp>
      <p:sp>
        <p:nvSpPr>
          <p:cNvPr id="41" name="Shape 2">
            <a:extLst>
              <a:ext uri="{FF2B5EF4-FFF2-40B4-BE49-F238E27FC236}">
                <a16:creationId xmlns:a16="http://schemas.microsoft.com/office/drawing/2014/main" id="{38C067B0-3936-41B1-A465-6CF531D3A8B9}"/>
              </a:ext>
            </a:extLst>
          </p:cNvPr>
          <p:cNvSpPr/>
          <p:nvPr/>
        </p:nvSpPr>
        <p:spPr>
          <a:xfrm>
            <a:off x="815896" y="1897817"/>
            <a:ext cx="4819610" cy="2860437"/>
          </a:xfrm>
          <a:prstGeom prst="roundRect">
            <a:avLst>
              <a:gd name="adj" fmla="val 4329"/>
            </a:avLst>
          </a:prstGeom>
          <a:solidFill>
            <a:srgbClr val="1A222C"/>
          </a:solidFill>
          <a:ln w="6350">
            <a:solidFill>
              <a:srgbClr val="2A3540"/>
            </a:solidFill>
            <a:prstDash val="solid"/>
          </a:ln>
        </p:spPr>
      </p:sp>
      <p:sp>
        <p:nvSpPr>
          <p:cNvPr id="42" name="Text 3">
            <a:extLst>
              <a:ext uri="{FF2B5EF4-FFF2-40B4-BE49-F238E27FC236}">
                <a16:creationId xmlns:a16="http://schemas.microsoft.com/office/drawing/2014/main" id="{1AAB280A-C58B-4600-91C2-05E8E72EA5FA}"/>
              </a:ext>
            </a:extLst>
          </p:cNvPr>
          <p:cNvSpPr/>
          <p:nvPr/>
        </p:nvSpPr>
        <p:spPr>
          <a:xfrm>
            <a:off x="1074301" y="2337554"/>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9BA8B5"/>
                </a:solidFill>
                <a:latin typeface="Courier New" pitchFamily="34" charset="0"/>
                <a:ea typeface="Courier New" pitchFamily="34" charset="-122"/>
                <a:cs typeface="Courier New" pitchFamily="34" charset="-120"/>
              </a:rPr>
              <a:t>$ mkdir -p /srv/www</a:t>
            </a:r>
            <a:endParaRPr lang="en-US" sz="1200" dirty="0"/>
          </a:p>
        </p:txBody>
      </p:sp>
      <p:sp>
        <p:nvSpPr>
          <p:cNvPr id="43" name="Text 4">
            <a:extLst>
              <a:ext uri="{FF2B5EF4-FFF2-40B4-BE49-F238E27FC236}">
                <a16:creationId xmlns:a16="http://schemas.microsoft.com/office/drawing/2014/main" id="{8AAEFDEB-D914-4800-867A-E1B2F3B52DA4}"/>
              </a:ext>
            </a:extLst>
          </p:cNvPr>
          <p:cNvSpPr/>
          <p:nvPr/>
        </p:nvSpPr>
        <p:spPr>
          <a:xfrm>
            <a:off x="1074301" y="2629614"/>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 nano /srv/www/index.html</a:t>
            </a:r>
            <a:endParaRPr lang="en-US" sz="1200" dirty="0"/>
          </a:p>
        </p:txBody>
      </p:sp>
      <p:sp>
        <p:nvSpPr>
          <p:cNvPr id="44" name="Text 5">
            <a:extLst>
              <a:ext uri="{FF2B5EF4-FFF2-40B4-BE49-F238E27FC236}">
                <a16:creationId xmlns:a16="http://schemas.microsoft.com/office/drawing/2014/main" id="{D23E1F0C-757A-42E1-AD49-385B2705298C}"/>
              </a:ext>
            </a:extLst>
          </p:cNvPr>
          <p:cNvSpPr/>
          <p:nvPr/>
        </p:nvSpPr>
        <p:spPr>
          <a:xfrm>
            <a:off x="1074301" y="2921675"/>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 docker run -d --name nginx-web \</a:t>
            </a:r>
            <a:endParaRPr lang="en-US" sz="1200" dirty="0"/>
          </a:p>
        </p:txBody>
      </p:sp>
      <p:sp>
        <p:nvSpPr>
          <p:cNvPr id="45" name="Text 6">
            <a:extLst>
              <a:ext uri="{FF2B5EF4-FFF2-40B4-BE49-F238E27FC236}">
                <a16:creationId xmlns:a16="http://schemas.microsoft.com/office/drawing/2014/main" id="{FF804CF7-5F0A-4A1A-825E-C719AE6AB240}"/>
              </a:ext>
            </a:extLst>
          </p:cNvPr>
          <p:cNvSpPr/>
          <p:nvPr/>
        </p:nvSpPr>
        <p:spPr>
          <a:xfrm>
            <a:off x="1074301" y="3213735"/>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    --restart unless-stopped \</a:t>
            </a:r>
            <a:endParaRPr lang="en-US" sz="1200" dirty="0"/>
          </a:p>
        </p:txBody>
      </p:sp>
      <p:sp>
        <p:nvSpPr>
          <p:cNvPr id="46" name="Text 7">
            <a:extLst>
              <a:ext uri="{FF2B5EF4-FFF2-40B4-BE49-F238E27FC236}">
                <a16:creationId xmlns:a16="http://schemas.microsoft.com/office/drawing/2014/main" id="{24A663C8-1008-4A42-9F39-02CC281DFE5F}"/>
              </a:ext>
            </a:extLst>
          </p:cNvPr>
          <p:cNvSpPr/>
          <p:nvPr/>
        </p:nvSpPr>
        <p:spPr>
          <a:xfrm>
            <a:off x="1074301" y="3505795"/>
            <a:ext cx="4431884" cy="254000"/>
          </a:xfrm>
          <a:prstGeom prst="rect">
            <a:avLst/>
          </a:prstGeom>
          <a:noFill/>
          <a:ln/>
        </p:spPr>
        <p:txBody>
          <a:bodyPr wrap="square" lIns="0" tIns="0" rIns="0" bIns="0" rtlCol="0" anchor="t">
            <a:normAutofit/>
          </a:bodyPr>
          <a:lstStyle/>
          <a:p>
            <a:pPr marL="0" indent="0" algn="l">
              <a:lnSpc>
                <a:spcPts val="1800"/>
              </a:lnSpc>
              <a:buNone/>
            </a:pPr>
            <a:r>
              <a:rPr lang="en-US" sz="1200" b="1" dirty="0">
                <a:solidFill>
                  <a:srgbClr val="F2B84B"/>
                </a:solidFill>
                <a:latin typeface="Courier New" pitchFamily="34" charset="0"/>
                <a:ea typeface="Courier New" pitchFamily="34" charset="-122"/>
                <a:cs typeface="Courier New" pitchFamily="34" charset="-120"/>
              </a:rPr>
              <a:t>    -p 127.0.0.1:8080:80 \</a:t>
            </a:r>
            <a:endParaRPr lang="en-US" sz="1200" dirty="0"/>
          </a:p>
        </p:txBody>
      </p:sp>
      <p:sp>
        <p:nvSpPr>
          <p:cNvPr id="47" name="Text 8">
            <a:extLst>
              <a:ext uri="{FF2B5EF4-FFF2-40B4-BE49-F238E27FC236}">
                <a16:creationId xmlns:a16="http://schemas.microsoft.com/office/drawing/2014/main" id="{532CD5DA-7718-4A8E-8831-B62B02F6B3C1}"/>
              </a:ext>
            </a:extLst>
          </p:cNvPr>
          <p:cNvSpPr/>
          <p:nvPr/>
        </p:nvSpPr>
        <p:spPr>
          <a:xfrm>
            <a:off x="1074301" y="3797856"/>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    -v /srv/www:/usr/share/nginx/html:ro nginx</a:t>
            </a:r>
            <a:endParaRPr lang="en-US" sz="1200" dirty="0"/>
          </a:p>
        </p:txBody>
      </p:sp>
      <p:sp>
        <p:nvSpPr>
          <p:cNvPr id="48" name="Text 9">
            <a:extLst>
              <a:ext uri="{FF2B5EF4-FFF2-40B4-BE49-F238E27FC236}">
                <a16:creationId xmlns:a16="http://schemas.microsoft.com/office/drawing/2014/main" id="{0FA88FCB-C79E-4161-BB07-82B54DE702AE}"/>
              </a:ext>
            </a:extLst>
          </p:cNvPr>
          <p:cNvSpPr/>
          <p:nvPr/>
        </p:nvSpPr>
        <p:spPr>
          <a:xfrm>
            <a:off x="1074301" y="4089916"/>
            <a:ext cx="4431884" cy="254000"/>
          </a:xfrm>
          <a:prstGeom prst="rect">
            <a:avLst/>
          </a:prstGeom>
          <a:noFill/>
          <a:ln/>
        </p:spPr>
        <p:txBody>
          <a:bodyPr wrap="square" lIns="0" tIns="0" rIns="0" bIns="0" rtlCol="0" anchor="t">
            <a:normAutofit/>
          </a:bodyPr>
          <a:lstStyle/>
          <a:p>
            <a:pPr marL="0" indent="0" algn="l">
              <a:lnSpc>
                <a:spcPts val="1800"/>
              </a:lnSpc>
              <a:buNone/>
            </a:pPr>
            <a:r>
              <a:rPr sz="1200" b="0">
                <a:solidFill>
                  <a:srgbClr val="F3F5F2"/>
                </a:solidFill>
                <a:latin typeface="Courier New"/>
              </a:rPr>
              <a:t>$ curl http://localhost:8080</a:t>
            </a:r>
            <a:endParaRPr lang="en-US" sz="1200" dirty="0"/>
          </a:p>
        </p:txBody>
      </p:sp>
      <p:sp>
        <p:nvSpPr>
          <p:cNvPr id="49" name="Shape 10">
            <a:extLst>
              <a:ext uri="{FF2B5EF4-FFF2-40B4-BE49-F238E27FC236}">
                <a16:creationId xmlns:a16="http://schemas.microsoft.com/office/drawing/2014/main" id="{8F857C7B-B20F-46F9-8EE1-DA98ED1AAE54}"/>
              </a:ext>
            </a:extLst>
          </p:cNvPr>
          <p:cNvSpPr/>
          <p:nvPr/>
        </p:nvSpPr>
        <p:spPr>
          <a:xfrm>
            <a:off x="5997377" y="2043906"/>
            <a:ext cx="349171" cy="349171"/>
          </a:xfrm>
          <a:prstGeom prst="roundRect">
            <a:avLst>
              <a:gd name="adj" fmla="val 50000"/>
            </a:avLst>
          </a:prstGeom>
          <a:solidFill>
            <a:srgbClr val="F2B84B">
              <a:alpha val="15000"/>
            </a:srgbClr>
          </a:solidFill>
          <a:ln w="6350">
            <a:solidFill>
              <a:srgbClr val="F2B84B"/>
            </a:solidFill>
            <a:prstDash val="solid"/>
          </a:ln>
        </p:spPr>
      </p:sp>
      <p:sp>
        <p:nvSpPr>
          <p:cNvPr id="50" name="Text 11">
            <a:extLst>
              <a:ext uri="{FF2B5EF4-FFF2-40B4-BE49-F238E27FC236}">
                <a16:creationId xmlns:a16="http://schemas.microsoft.com/office/drawing/2014/main" id="{1C8F9B9E-BF92-43F2-B472-F74A689D5FE6}"/>
              </a:ext>
            </a:extLst>
          </p:cNvPr>
          <p:cNvSpPr/>
          <p:nvPr/>
        </p:nvSpPr>
        <p:spPr>
          <a:xfrm>
            <a:off x="6122432" y="2094071"/>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1</a:t>
            </a:r>
            <a:endParaRPr lang="en-US" sz="1400" dirty="0"/>
          </a:p>
        </p:txBody>
      </p:sp>
      <p:sp>
        <p:nvSpPr>
          <p:cNvPr id="51" name="Text 12">
            <a:extLst>
              <a:ext uri="{FF2B5EF4-FFF2-40B4-BE49-F238E27FC236}">
                <a16:creationId xmlns:a16="http://schemas.microsoft.com/office/drawing/2014/main" id="{B9AA4CCF-E012-41F2-9846-BB357A6ADA52}"/>
              </a:ext>
            </a:extLst>
          </p:cNvPr>
          <p:cNvSpPr/>
          <p:nvPr/>
        </p:nvSpPr>
        <p:spPr>
          <a:xfrm>
            <a:off x="6502122" y="2040731"/>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Webinhalte vorbereiten</a:t>
            </a:r>
            <a:endParaRPr lang="en-US" sz="1400" dirty="0"/>
          </a:p>
        </p:txBody>
      </p:sp>
      <p:sp>
        <p:nvSpPr>
          <p:cNvPr id="52" name="Text 13">
            <a:extLst>
              <a:ext uri="{FF2B5EF4-FFF2-40B4-BE49-F238E27FC236}">
                <a16:creationId xmlns:a16="http://schemas.microsoft.com/office/drawing/2014/main" id="{8294DD96-C001-49F2-8130-4C473B854ED3}"/>
              </a:ext>
            </a:extLst>
          </p:cNvPr>
          <p:cNvSpPr/>
          <p:nvPr/>
        </p:nvSpPr>
        <p:spPr>
          <a:xfrm>
            <a:off x="6502122" y="2292072"/>
            <a:ext cx="5023472" cy="4164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index.html im Host-Verzeichnis /srv/www anlegen</a:t>
            </a:r>
            <a:endParaRPr lang="en-US" sz="1400" dirty="0"/>
          </a:p>
        </p:txBody>
      </p:sp>
      <p:sp>
        <p:nvSpPr>
          <p:cNvPr id="53" name="Text 14">
            <a:extLst>
              <a:ext uri="{FF2B5EF4-FFF2-40B4-BE49-F238E27FC236}">
                <a16:creationId xmlns:a16="http://schemas.microsoft.com/office/drawing/2014/main" id="{763870ED-19DF-43FF-A66E-56694F219C40}"/>
              </a:ext>
            </a:extLst>
          </p:cNvPr>
          <p:cNvSpPr/>
          <p:nvPr/>
        </p:nvSpPr>
        <p:spPr>
          <a:xfrm>
            <a:off x="6502122" y="2721174"/>
            <a:ext cx="5023472" cy="215900"/>
          </a:xfrm>
          <a:prstGeom prst="rect">
            <a:avLst/>
          </a:prstGeom>
          <a:noFill/>
          <a:ln/>
        </p:spPr>
        <p:txBody>
          <a:bodyPr wrap="square" lIns="0" tIns="0" rIns="0" bIns="0" rtlCol="0" anchor="t">
            <a:normAutofit/>
          </a:bodyPr>
          <a:lstStyle/>
          <a:p>
            <a:pPr marL="0" indent="0" algn="l">
              <a:lnSpc>
                <a:spcPts val="1500"/>
              </a:lnSpc>
              <a:buNone/>
            </a:pPr>
            <a:r>
              <a:rPr lang="en-US" sz="1400" dirty="0">
                <a:ea typeface="Courier New" pitchFamily="34" charset="-122"/>
                <a:cs typeface="Courier New" pitchFamily="34" charset="-120"/>
              </a:rPr>
              <a:t>mkdir -p /srv/www</a:t>
            </a:r>
            <a:endParaRPr lang="en-US" sz="1400" dirty="0"/>
          </a:p>
        </p:txBody>
      </p:sp>
      <p:sp>
        <p:nvSpPr>
          <p:cNvPr id="54" name="Shape 15">
            <a:extLst>
              <a:ext uri="{FF2B5EF4-FFF2-40B4-BE49-F238E27FC236}">
                <a16:creationId xmlns:a16="http://schemas.microsoft.com/office/drawing/2014/main" id="{FDA7ADAD-64AE-483B-AB8D-DFEA2D20D6F4}"/>
              </a:ext>
            </a:extLst>
          </p:cNvPr>
          <p:cNvSpPr/>
          <p:nvPr/>
        </p:nvSpPr>
        <p:spPr>
          <a:xfrm>
            <a:off x="5997377" y="3117969"/>
            <a:ext cx="349171" cy="349171"/>
          </a:xfrm>
          <a:prstGeom prst="roundRect">
            <a:avLst>
              <a:gd name="adj" fmla="val 50000"/>
            </a:avLst>
          </a:prstGeom>
          <a:solidFill>
            <a:srgbClr val="F2B84B">
              <a:alpha val="15000"/>
            </a:srgbClr>
          </a:solidFill>
          <a:ln w="6350">
            <a:solidFill>
              <a:srgbClr val="F2B84B"/>
            </a:solidFill>
            <a:prstDash val="solid"/>
          </a:ln>
        </p:spPr>
      </p:sp>
      <p:sp>
        <p:nvSpPr>
          <p:cNvPr id="55" name="Text 16">
            <a:extLst>
              <a:ext uri="{FF2B5EF4-FFF2-40B4-BE49-F238E27FC236}">
                <a16:creationId xmlns:a16="http://schemas.microsoft.com/office/drawing/2014/main" id="{4164429F-9F1E-424F-AFE2-43B367F37BE9}"/>
              </a:ext>
            </a:extLst>
          </p:cNvPr>
          <p:cNvSpPr/>
          <p:nvPr/>
        </p:nvSpPr>
        <p:spPr>
          <a:xfrm>
            <a:off x="6122432" y="3168134"/>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2</a:t>
            </a:r>
            <a:endParaRPr lang="en-US" sz="1400" dirty="0"/>
          </a:p>
        </p:txBody>
      </p:sp>
      <p:sp>
        <p:nvSpPr>
          <p:cNvPr id="56" name="Text 17">
            <a:extLst>
              <a:ext uri="{FF2B5EF4-FFF2-40B4-BE49-F238E27FC236}">
                <a16:creationId xmlns:a16="http://schemas.microsoft.com/office/drawing/2014/main" id="{10AD6FAB-7B0B-43BD-A629-8F05EEBBED60}"/>
              </a:ext>
            </a:extLst>
          </p:cNvPr>
          <p:cNvSpPr/>
          <p:nvPr/>
        </p:nvSpPr>
        <p:spPr>
          <a:xfrm>
            <a:off x="6502122" y="3114794"/>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Bind Mount verstehen</a:t>
            </a:r>
            <a:endParaRPr lang="en-US" sz="1400" dirty="0"/>
          </a:p>
        </p:txBody>
      </p:sp>
      <p:sp>
        <p:nvSpPr>
          <p:cNvPr id="57" name="Text 18">
            <a:extLst>
              <a:ext uri="{FF2B5EF4-FFF2-40B4-BE49-F238E27FC236}">
                <a16:creationId xmlns:a16="http://schemas.microsoft.com/office/drawing/2014/main" id="{C21BBB92-8131-4FF5-883C-DB37F1896D0C}"/>
              </a:ext>
            </a:extLst>
          </p:cNvPr>
          <p:cNvSpPr/>
          <p:nvPr/>
        </p:nvSpPr>
        <p:spPr>
          <a:xfrm>
            <a:off x="6502122" y="3366135"/>
            <a:ext cx="5023472" cy="4164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Sie bestimmen den Host-Pfad – Docker verwaltet ihn nicht</a:t>
            </a:r>
            <a:endParaRPr lang="en-US" sz="1400" dirty="0"/>
          </a:p>
        </p:txBody>
      </p:sp>
      <p:sp>
        <p:nvSpPr>
          <p:cNvPr id="58" name="Shape 19">
            <a:extLst>
              <a:ext uri="{FF2B5EF4-FFF2-40B4-BE49-F238E27FC236}">
                <a16:creationId xmlns:a16="http://schemas.microsoft.com/office/drawing/2014/main" id="{21AAD443-ED9F-4532-835D-74575E2EFA63}"/>
              </a:ext>
            </a:extLst>
          </p:cNvPr>
          <p:cNvSpPr/>
          <p:nvPr/>
        </p:nvSpPr>
        <p:spPr>
          <a:xfrm>
            <a:off x="5997377" y="3963432"/>
            <a:ext cx="349171" cy="349171"/>
          </a:xfrm>
          <a:prstGeom prst="roundRect">
            <a:avLst>
              <a:gd name="adj" fmla="val 50000"/>
            </a:avLst>
          </a:prstGeom>
          <a:solidFill>
            <a:srgbClr val="F2B84B">
              <a:alpha val="15000"/>
            </a:srgbClr>
          </a:solidFill>
          <a:ln w="6350">
            <a:solidFill>
              <a:srgbClr val="F2B84B"/>
            </a:solidFill>
            <a:prstDash val="solid"/>
          </a:ln>
        </p:spPr>
      </p:sp>
      <p:sp>
        <p:nvSpPr>
          <p:cNvPr id="59" name="Text 20">
            <a:extLst>
              <a:ext uri="{FF2B5EF4-FFF2-40B4-BE49-F238E27FC236}">
                <a16:creationId xmlns:a16="http://schemas.microsoft.com/office/drawing/2014/main" id="{0F6A2A80-7820-4F44-8E7A-61751819FAFC}"/>
              </a:ext>
            </a:extLst>
          </p:cNvPr>
          <p:cNvSpPr/>
          <p:nvPr/>
        </p:nvSpPr>
        <p:spPr>
          <a:xfrm>
            <a:off x="6122432" y="4013597"/>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3</a:t>
            </a:r>
            <a:endParaRPr lang="en-US" sz="1400" dirty="0"/>
          </a:p>
        </p:txBody>
      </p:sp>
      <p:sp>
        <p:nvSpPr>
          <p:cNvPr id="60" name="Text 21">
            <a:extLst>
              <a:ext uri="{FF2B5EF4-FFF2-40B4-BE49-F238E27FC236}">
                <a16:creationId xmlns:a16="http://schemas.microsoft.com/office/drawing/2014/main" id="{477E6D75-3A3B-475F-8766-52DFA7645D93}"/>
              </a:ext>
            </a:extLst>
          </p:cNvPr>
          <p:cNvSpPr/>
          <p:nvPr/>
        </p:nvSpPr>
        <p:spPr>
          <a:xfrm>
            <a:off x="6502122" y="3960257"/>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Container starten &amp; testen</a:t>
            </a:r>
            <a:endParaRPr lang="en-US" sz="1400" dirty="0"/>
          </a:p>
        </p:txBody>
      </p:sp>
      <p:sp>
        <p:nvSpPr>
          <p:cNvPr id="61" name="Text 22">
            <a:extLst>
              <a:ext uri="{FF2B5EF4-FFF2-40B4-BE49-F238E27FC236}">
                <a16:creationId xmlns:a16="http://schemas.microsoft.com/office/drawing/2014/main" id="{3CE88406-4D3B-44C6-A32D-A5EF1D2984C7}"/>
              </a:ext>
            </a:extLst>
          </p:cNvPr>
          <p:cNvSpPr/>
          <p:nvPr/>
        </p:nvSpPr>
        <p:spPr>
          <a:xfrm>
            <a:off x="6502122" y="4198858"/>
            <a:ext cx="5023472" cy="2209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-v /srv/www:/usr/share/nginx/html:ro</a:t>
            </a:r>
            <a:endParaRPr lang="en-US" sz="1400" dirty="0"/>
          </a:p>
        </p:txBody>
      </p:sp>
      <p:sp>
        <p:nvSpPr>
          <p:cNvPr id="62" name="Text 23">
            <a:extLst>
              <a:ext uri="{FF2B5EF4-FFF2-40B4-BE49-F238E27FC236}">
                <a16:creationId xmlns:a16="http://schemas.microsoft.com/office/drawing/2014/main" id="{797138DB-BC51-4397-BF84-450B27ADBDB3}"/>
              </a:ext>
            </a:extLst>
          </p:cNvPr>
          <p:cNvSpPr/>
          <p:nvPr/>
        </p:nvSpPr>
        <p:spPr>
          <a:xfrm>
            <a:off x="6502122" y="4419719"/>
            <a:ext cx="5023472" cy="2209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curl http://localhost:8080</a:t>
            </a:r>
            <a:endParaRPr lang="en-US" sz="1400" dirty="0"/>
          </a:p>
        </p:txBody>
      </p:sp>
      <p:sp>
        <p:nvSpPr>
          <p:cNvPr id="67" name="Text 27">
            <a:extLst>
              <a:ext uri="{FF2B5EF4-FFF2-40B4-BE49-F238E27FC236}">
                <a16:creationId xmlns:a16="http://schemas.microsoft.com/office/drawing/2014/main" id="{1A300C58-C33C-4563-9481-8813CF0D164F}"/>
              </a:ext>
            </a:extLst>
          </p:cNvPr>
          <p:cNvSpPr/>
          <p:nvPr/>
        </p:nvSpPr>
        <p:spPr>
          <a:xfrm>
            <a:off x="1382185" y="5256883"/>
            <a:ext cx="9928725" cy="473830"/>
          </a:xfrm>
          <a:prstGeom prst="rect">
            <a:avLst/>
          </a:prstGeom>
          <a:noFill/>
          <a:ln/>
        </p:spPr>
        <p:txBody>
          <a:bodyPr wrap="square" lIns="0" tIns="0" rIns="0" bIns="0" rtlCol="0" anchor="t">
            <a:normAutofit/>
          </a:bodyPr>
          <a:lstStyle/>
          <a:p>
            <a:pPr marL="0" indent="0" algn="l">
              <a:lnSpc>
                <a:spcPts val="1560"/>
              </a:lnSpc>
              <a:buNone/>
            </a:pPr>
            <a:r>
              <a:rPr lang="en-US" sz="1400" dirty="0">
                <a:latin typeface="Arial" pitchFamily="34" charset="0"/>
                <a:ea typeface="Arial" pitchFamily="34" charset="-122"/>
                <a:cs typeface="Arial" pitchFamily="34" charset="-120"/>
              </a:rPr>
              <a:t>Bind Mount </a:t>
            </a:r>
            <a:r>
              <a:rPr lang="en-US" sz="1400" dirty="0" err="1">
                <a:latin typeface="Arial" pitchFamily="34" charset="0"/>
                <a:ea typeface="Arial" pitchFamily="34" charset="-122"/>
                <a:cs typeface="Arial" pitchFamily="34" charset="-120"/>
              </a:rPr>
              <a:t>überdeckt</a:t>
            </a:r>
            <a:r>
              <a:rPr lang="en-US" sz="1400" dirty="0">
                <a:latin typeface="Arial" pitchFamily="34" charset="0"/>
                <a:ea typeface="Arial" pitchFamily="34" charset="-122"/>
                <a:cs typeface="Arial" pitchFamily="34" charset="-120"/>
              </a:rPr>
              <a:t> die nginx-Standardseite vollständig – Verzeichnis vorher anlegen und </a:t>
            </a:r>
            <a:r>
              <a:rPr lang="en-US" sz="1400" dirty="0" err="1">
                <a:latin typeface="Arial" pitchFamily="34" charset="0"/>
                <a:ea typeface="Arial" pitchFamily="34" charset="-122"/>
                <a:cs typeface="Arial" pitchFamily="34" charset="-120"/>
              </a:rPr>
              <a:t>befüllen</a:t>
            </a:r>
            <a:r>
              <a:rPr lang="en-US" sz="1400" dirty="0">
                <a:latin typeface="Arial" pitchFamily="34" charset="0"/>
                <a:ea typeface="Arial" pitchFamily="34" charset="-122"/>
                <a:cs typeface="Arial" pitchFamily="34" charset="-120"/>
              </a:rPr>
              <a:t>. D. h. </a:t>
            </a:r>
            <a:r>
              <a:rPr lang="en-US" sz="1400" dirty="0" err="1">
                <a:latin typeface="Arial" pitchFamily="34" charset="0"/>
                <a:ea typeface="Arial" pitchFamily="34" charset="-122"/>
                <a:cs typeface="Arial" pitchFamily="34" charset="-120"/>
              </a:rPr>
              <a:t>Ohne</a:t>
            </a:r>
            <a:r>
              <a:rPr lang="en-US" sz="1400" dirty="0">
                <a:latin typeface="Arial" pitchFamily="34" charset="0"/>
                <a:ea typeface="Arial" pitchFamily="34" charset="-122"/>
                <a:cs typeface="Arial" pitchFamily="34" charset="-120"/>
              </a:rPr>
              <a:t> </a:t>
            </a:r>
            <a:r>
              <a:rPr lang="en-US" sz="1400" dirty="0" err="1">
                <a:latin typeface="Arial" pitchFamily="34" charset="0"/>
                <a:ea typeface="Arial" pitchFamily="34" charset="-122"/>
                <a:cs typeface="Arial" pitchFamily="34" charset="-120"/>
              </a:rPr>
              <a:t>vorher</a:t>
            </a:r>
            <a:r>
              <a:rPr lang="en-US" sz="1400" dirty="0">
                <a:latin typeface="Arial" pitchFamily="34" charset="0"/>
                <a:ea typeface="Arial" pitchFamily="34" charset="-122"/>
                <a:cs typeface="Arial" pitchFamily="34" charset="-120"/>
              </a:rPr>
              <a:t> </a:t>
            </a:r>
            <a:r>
              <a:rPr lang="en-US" sz="1400" dirty="0" err="1">
                <a:latin typeface="Arial" pitchFamily="34" charset="0"/>
                <a:ea typeface="Arial" pitchFamily="34" charset="-122"/>
                <a:cs typeface="Arial" pitchFamily="34" charset="-120"/>
              </a:rPr>
              <a:t>angelegtes</a:t>
            </a:r>
            <a:r>
              <a:rPr lang="en-US" sz="1400" dirty="0">
                <a:latin typeface="Arial" pitchFamily="34" charset="0"/>
                <a:ea typeface="Arial" pitchFamily="34" charset="-122"/>
                <a:cs typeface="Arial" pitchFamily="34" charset="-120"/>
              </a:rPr>
              <a:t> </a:t>
            </a:r>
            <a:r>
              <a:rPr lang="en-US" sz="1400" dirty="0" err="1">
                <a:latin typeface="Arial" pitchFamily="34" charset="0"/>
                <a:ea typeface="Arial" pitchFamily="34" charset="-122"/>
                <a:cs typeface="Arial" pitchFamily="34" charset="-120"/>
              </a:rPr>
              <a:t>Verzeichnis</a:t>
            </a:r>
            <a:r>
              <a:rPr lang="en-US" sz="1400" dirty="0">
                <a:latin typeface="Arial" pitchFamily="34" charset="0"/>
                <a:ea typeface="Arial" pitchFamily="34" charset="-122"/>
                <a:cs typeface="Arial" pitchFamily="34" charset="-120"/>
              </a:rPr>
              <a:t> </a:t>
            </a:r>
            <a:r>
              <a:rPr lang="en-US" sz="1400" dirty="0" err="1">
                <a:latin typeface="Arial" pitchFamily="34" charset="0"/>
                <a:ea typeface="Arial" pitchFamily="34" charset="-122"/>
                <a:cs typeface="Arial" pitchFamily="34" charset="-120"/>
              </a:rPr>
              <a:t>findet</a:t>
            </a:r>
            <a:r>
              <a:rPr lang="en-US" sz="1400" dirty="0">
                <a:latin typeface="Arial" pitchFamily="34" charset="0"/>
                <a:ea typeface="Arial" pitchFamily="34" charset="-122"/>
                <a:cs typeface="Arial" pitchFamily="34" charset="-120"/>
              </a:rPr>
              <a:t> </a:t>
            </a:r>
            <a:r>
              <a:rPr lang="en-US" sz="1400" dirty="0" err="1">
                <a:latin typeface="Arial" pitchFamily="34" charset="0"/>
                <a:ea typeface="Arial" pitchFamily="34" charset="-122"/>
                <a:cs typeface="Arial" pitchFamily="34" charset="-120"/>
              </a:rPr>
              <a:t>ngix</a:t>
            </a:r>
            <a:r>
              <a:rPr lang="en-US" sz="1400" dirty="0">
                <a:latin typeface="Arial" pitchFamily="34" charset="0"/>
                <a:ea typeface="Arial" pitchFamily="34" charset="-122"/>
                <a:cs typeface="Arial" pitchFamily="34" charset="-120"/>
              </a:rPr>
              <a:t> </a:t>
            </a:r>
            <a:r>
              <a:rPr lang="en-US" sz="1400" dirty="0" err="1">
                <a:latin typeface="Arial" pitchFamily="34" charset="0"/>
                <a:ea typeface="Arial" pitchFamily="34" charset="-122"/>
                <a:cs typeface="Arial" pitchFamily="34" charset="-120"/>
              </a:rPr>
              <a:t>keine</a:t>
            </a:r>
            <a:r>
              <a:rPr lang="en-US" sz="1400" dirty="0">
                <a:latin typeface="Arial" pitchFamily="34" charset="0"/>
                <a:ea typeface="Arial" pitchFamily="34" charset="-122"/>
                <a:cs typeface="Arial" pitchFamily="34" charset="-120"/>
              </a:rPr>
              <a:t> </a:t>
            </a:r>
            <a:r>
              <a:rPr lang="en-US" sz="1400" dirty="0" err="1">
                <a:latin typeface="Arial" pitchFamily="34" charset="0"/>
                <a:ea typeface="Arial" pitchFamily="34" charset="-122"/>
                <a:cs typeface="Arial" pitchFamily="34" charset="-120"/>
              </a:rPr>
              <a:t>Startseite</a:t>
            </a:r>
            <a:r>
              <a:rPr lang="en-US" sz="1400" dirty="0">
                <a:latin typeface="Arial" pitchFamily="34" charset="0"/>
                <a:ea typeface="Arial" pitchFamily="34" charset="-122"/>
                <a:cs typeface="Arial" pitchFamily="34" charset="-120"/>
              </a:rPr>
              <a:t>, 403 Forbidden</a:t>
            </a:r>
            <a:endParaRPr lang="en-US" sz="1400" dirty="0"/>
          </a:p>
        </p:txBody>
      </p:sp>
      <p:pic>
        <p:nvPicPr>
          <p:cNvPr id="68" name="Grafik 67" descr="Ausrufezeichen mit einfarbiger Füllung">
            <a:extLst>
              <a:ext uri="{FF2B5EF4-FFF2-40B4-BE49-F238E27FC236}">
                <a16:creationId xmlns:a16="http://schemas.microsoft.com/office/drawing/2014/main" id="{0254A55C-46A4-4C6E-8348-4E04132019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6741" y="5008960"/>
            <a:ext cx="914400" cy="914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534949"/>
            <a:ext cx="10953313" cy="1143000"/>
          </a:xfrm>
        </p:spPr>
        <p:txBody>
          <a:bodyPr/>
          <a:lstStyle/>
          <a:p>
            <a:r>
              <a:rPr lang="en-US" sz="2000" dirty="0"/>
              <a:t>Node-RED-Container mit benanntem Volume</a:t>
            </a:r>
            <a:br>
              <a:rPr lang="en-US" sz="2000" dirty="0"/>
            </a:br>
            <a:br>
              <a:rPr lang="en-US" sz="2000" dirty="0"/>
            </a:br>
            <a:endParaRPr lang="de-DE" sz="1998" dirty="0"/>
          </a:p>
        </p:txBody>
      </p:sp>
      <p:sp>
        <p:nvSpPr>
          <p:cNvPr id="5" name="Foliennummernplatzhalter 4"/>
          <p:cNvSpPr>
            <a:spLocks noGrp="1"/>
          </p:cNvSpPr>
          <p:nvPr>
            <p:ph type="sldNum" sz="quarter" idx="4"/>
          </p:nvPr>
        </p:nvSpPr>
        <p:spPr/>
        <p:txBody>
          <a:bodyPr/>
          <a:lstStyle/>
          <a:p>
            <a:fld id="{43A6DCFB-163F-4561-BF28-3CD1FE47EE20}" type="slidenum">
              <a:rPr lang="de-DE" smtClean="0"/>
              <a:pPr/>
              <a:t>10</a:t>
            </a:fld>
            <a:endParaRPr lang="de-DE" dirty="0"/>
          </a:p>
        </p:txBody>
      </p:sp>
      <p:sp>
        <p:nvSpPr>
          <p:cNvPr id="41" name="Shape 2">
            <a:extLst>
              <a:ext uri="{FF2B5EF4-FFF2-40B4-BE49-F238E27FC236}">
                <a16:creationId xmlns:a16="http://schemas.microsoft.com/office/drawing/2014/main" id="{38C067B0-3936-41B1-A465-6CF531D3A8B9}"/>
              </a:ext>
            </a:extLst>
          </p:cNvPr>
          <p:cNvSpPr/>
          <p:nvPr/>
        </p:nvSpPr>
        <p:spPr>
          <a:xfrm>
            <a:off x="815896" y="1897817"/>
            <a:ext cx="4819610" cy="2860437"/>
          </a:xfrm>
          <a:prstGeom prst="roundRect">
            <a:avLst>
              <a:gd name="adj" fmla="val 4329"/>
            </a:avLst>
          </a:prstGeom>
          <a:solidFill>
            <a:srgbClr val="1A222C"/>
          </a:solidFill>
          <a:ln w="6350">
            <a:solidFill>
              <a:srgbClr val="2A3540"/>
            </a:solidFill>
            <a:prstDash val="solid"/>
          </a:ln>
        </p:spPr>
      </p:sp>
      <p:sp>
        <p:nvSpPr>
          <p:cNvPr id="42" name="Text 3">
            <a:extLst>
              <a:ext uri="{FF2B5EF4-FFF2-40B4-BE49-F238E27FC236}">
                <a16:creationId xmlns:a16="http://schemas.microsoft.com/office/drawing/2014/main" id="{1AAB280A-C58B-4600-91C2-05E8E72EA5FA}"/>
              </a:ext>
            </a:extLst>
          </p:cNvPr>
          <p:cNvSpPr/>
          <p:nvPr/>
        </p:nvSpPr>
        <p:spPr>
          <a:xfrm>
            <a:off x="1074301" y="2337554"/>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9BA8B5"/>
                </a:solidFill>
                <a:latin typeface="Courier New" pitchFamily="34" charset="0"/>
                <a:ea typeface="Courier New" pitchFamily="34" charset="-122"/>
                <a:cs typeface="Courier New" pitchFamily="34" charset="-120"/>
              </a:rPr>
              <a:t>$ docker run -d --name nodered \</a:t>
            </a:r>
            <a:endParaRPr lang="en-US" sz="1200" dirty="0"/>
          </a:p>
        </p:txBody>
      </p:sp>
      <p:sp>
        <p:nvSpPr>
          <p:cNvPr id="43" name="Text 4">
            <a:extLst>
              <a:ext uri="{FF2B5EF4-FFF2-40B4-BE49-F238E27FC236}">
                <a16:creationId xmlns:a16="http://schemas.microsoft.com/office/drawing/2014/main" id="{8AAEFDEB-D914-4800-867A-E1B2F3B52DA4}"/>
              </a:ext>
            </a:extLst>
          </p:cNvPr>
          <p:cNvSpPr/>
          <p:nvPr/>
        </p:nvSpPr>
        <p:spPr>
          <a:xfrm>
            <a:off x="1074301" y="2629614"/>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    --restart unless-stopped \</a:t>
            </a:r>
            <a:endParaRPr lang="en-US" sz="1200" dirty="0"/>
          </a:p>
        </p:txBody>
      </p:sp>
      <p:sp>
        <p:nvSpPr>
          <p:cNvPr id="44" name="Text 5">
            <a:extLst>
              <a:ext uri="{FF2B5EF4-FFF2-40B4-BE49-F238E27FC236}">
                <a16:creationId xmlns:a16="http://schemas.microsoft.com/office/drawing/2014/main" id="{D23E1F0C-757A-42E1-AD49-385B2705298C}"/>
              </a:ext>
            </a:extLst>
          </p:cNvPr>
          <p:cNvSpPr/>
          <p:nvPr/>
        </p:nvSpPr>
        <p:spPr>
          <a:xfrm>
            <a:off x="1074301" y="2921675"/>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    -p 127.0.0.1:1880:1880 \</a:t>
            </a:r>
            <a:endParaRPr lang="en-US" sz="1200" dirty="0"/>
          </a:p>
        </p:txBody>
      </p:sp>
      <p:sp>
        <p:nvSpPr>
          <p:cNvPr id="45" name="Text 6">
            <a:extLst>
              <a:ext uri="{FF2B5EF4-FFF2-40B4-BE49-F238E27FC236}">
                <a16:creationId xmlns:a16="http://schemas.microsoft.com/office/drawing/2014/main" id="{FF804CF7-5F0A-4A1A-825E-C719AE6AB240}"/>
              </a:ext>
            </a:extLst>
          </p:cNvPr>
          <p:cNvSpPr/>
          <p:nvPr/>
        </p:nvSpPr>
        <p:spPr>
          <a:xfrm>
            <a:off x="1074301" y="3213735"/>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    -v nodered-data:/data nodered/node-red</a:t>
            </a:r>
            <a:endParaRPr lang="en-US" sz="1200" dirty="0"/>
          </a:p>
        </p:txBody>
      </p:sp>
      <p:sp>
        <p:nvSpPr>
          <p:cNvPr id="46" name="Text 7">
            <a:extLst>
              <a:ext uri="{FF2B5EF4-FFF2-40B4-BE49-F238E27FC236}">
                <a16:creationId xmlns:a16="http://schemas.microsoft.com/office/drawing/2014/main" id="{24A663C8-1008-4A42-9F39-02CC281DFE5F}"/>
              </a:ext>
            </a:extLst>
          </p:cNvPr>
          <p:cNvSpPr/>
          <p:nvPr/>
        </p:nvSpPr>
        <p:spPr>
          <a:xfrm>
            <a:off x="1074301" y="3505795"/>
            <a:ext cx="4431884" cy="254000"/>
          </a:xfrm>
          <a:prstGeom prst="rect">
            <a:avLst/>
          </a:prstGeom>
          <a:noFill/>
          <a:ln/>
        </p:spPr>
        <p:txBody>
          <a:bodyPr wrap="square" lIns="0" tIns="0" rIns="0" bIns="0" rtlCol="0" anchor="t">
            <a:normAutofit/>
          </a:bodyPr>
          <a:lstStyle/>
          <a:p>
            <a:pPr marL="0" indent="0" algn="l">
              <a:lnSpc>
                <a:spcPts val="1800"/>
              </a:lnSpc>
              <a:buNone/>
            </a:pPr>
            <a:r>
              <a:rPr lang="en-US" sz="1200" b="1" dirty="0">
                <a:solidFill>
                  <a:srgbClr val="F2B84B"/>
                </a:solidFill>
                <a:latin typeface="Courier New" pitchFamily="34" charset="0"/>
                <a:ea typeface="Courier New" pitchFamily="34" charset="-122"/>
                <a:cs typeface="Courier New" pitchFamily="34" charset="-120"/>
              </a:rPr>
              <a:t>$ docker volume inspect nodered-data</a:t>
            </a:r>
            <a:endParaRPr lang="en-US" sz="1200" dirty="0"/>
          </a:p>
        </p:txBody>
      </p:sp>
      <p:sp>
        <p:nvSpPr>
          <p:cNvPr id="47" name="Text 8">
            <a:extLst>
              <a:ext uri="{FF2B5EF4-FFF2-40B4-BE49-F238E27FC236}">
                <a16:creationId xmlns:a16="http://schemas.microsoft.com/office/drawing/2014/main" id="{532CD5DA-7718-4A8E-8831-B62B02F6B3C1}"/>
              </a:ext>
            </a:extLst>
          </p:cNvPr>
          <p:cNvSpPr/>
          <p:nvPr/>
        </p:nvSpPr>
        <p:spPr>
          <a:xfrm>
            <a:off x="1074301" y="3797856"/>
            <a:ext cx="4431884" cy="254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3F5F2"/>
                </a:solidFill>
                <a:latin typeface="Courier New" pitchFamily="34" charset="0"/>
                <a:ea typeface="Courier New" pitchFamily="34" charset="-122"/>
                <a:cs typeface="Courier New" pitchFamily="34" charset="-120"/>
              </a:rPr>
              <a:t>$ docker exec -it nodered \</a:t>
            </a:r>
            <a:endParaRPr lang="en-US" sz="1200" dirty="0"/>
          </a:p>
        </p:txBody>
      </p:sp>
      <p:sp>
        <p:nvSpPr>
          <p:cNvPr id="48" name="Text 9">
            <a:extLst>
              <a:ext uri="{FF2B5EF4-FFF2-40B4-BE49-F238E27FC236}">
                <a16:creationId xmlns:a16="http://schemas.microsoft.com/office/drawing/2014/main" id="{0FA88FCB-C79E-4161-BB07-82B54DE702AE}"/>
              </a:ext>
            </a:extLst>
          </p:cNvPr>
          <p:cNvSpPr/>
          <p:nvPr/>
        </p:nvSpPr>
        <p:spPr>
          <a:xfrm>
            <a:off x="1074301" y="4089916"/>
            <a:ext cx="4431884" cy="254000"/>
          </a:xfrm>
          <a:prstGeom prst="rect">
            <a:avLst/>
          </a:prstGeom>
          <a:noFill/>
          <a:ln/>
        </p:spPr>
        <p:txBody>
          <a:bodyPr wrap="square" lIns="0" tIns="0" rIns="0" bIns="0" rtlCol="0" anchor="t">
            <a:normAutofit/>
          </a:bodyPr>
          <a:lstStyle/>
          <a:p>
            <a:pPr marL="0" indent="0" algn="l">
              <a:lnSpc>
                <a:spcPts val="1800"/>
              </a:lnSpc>
              <a:buNone/>
            </a:pPr>
            <a:r>
              <a:rPr sz="1200" b="0">
                <a:solidFill>
                  <a:srgbClr val="F3F5F2"/>
                </a:solidFill>
                <a:latin typeface="Courier New"/>
              </a:rPr>
              <a:t>    node-red admin hash-pw</a:t>
            </a:r>
            <a:endParaRPr lang="en-US" sz="1200" dirty="0"/>
          </a:p>
        </p:txBody>
      </p:sp>
      <p:sp>
        <p:nvSpPr>
          <p:cNvPr id="49" name="Shape 10">
            <a:extLst>
              <a:ext uri="{FF2B5EF4-FFF2-40B4-BE49-F238E27FC236}">
                <a16:creationId xmlns:a16="http://schemas.microsoft.com/office/drawing/2014/main" id="{8F857C7B-B20F-46F9-8EE1-DA98ED1AAE54}"/>
              </a:ext>
            </a:extLst>
          </p:cNvPr>
          <p:cNvSpPr/>
          <p:nvPr/>
        </p:nvSpPr>
        <p:spPr>
          <a:xfrm>
            <a:off x="5997377" y="2043906"/>
            <a:ext cx="349171" cy="349171"/>
          </a:xfrm>
          <a:prstGeom prst="roundRect">
            <a:avLst>
              <a:gd name="adj" fmla="val 50000"/>
            </a:avLst>
          </a:prstGeom>
          <a:solidFill>
            <a:srgbClr val="F2B84B">
              <a:alpha val="15000"/>
            </a:srgbClr>
          </a:solidFill>
          <a:ln w="6350">
            <a:solidFill>
              <a:srgbClr val="F2B84B"/>
            </a:solidFill>
            <a:prstDash val="solid"/>
          </a:ln>
        </p:spPr>
      </p:sp>
      <p:sp>
        <p:nvSpPr>
          <p:cNvPr id="50" name="Text 11">
            <a:extLst>
              <a:ext uri="{FF2B5EF4-FFF2-40B4-BE49-F238E27FC236}">
                <a16:creationId xmlns:a16="http://schemas.microsoft.com/office/drawing/2014/main" id="{1C8F9B9E-BF92-43F2-B472-F74A689D5FE6}"/>
              </a:ext>
            </a:extLst>
          </p:cNvPr>
          <p:cNvSpPr/>
          <p:nvPr/>
        </p:nvSpPr>
        <p:spPr>
          <a:xfrm>
            <a:off x="6122432" y="2094071"/>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1</a:t>
            </a:r>
            <a:endParaRPr lang="en-US" sz="1400" dirty="0"/>
          </a:p>
        </p:txBody>
      </p:sp>
      <p:sp>
        <p:nvSpPr>
          <p:cNvPr id="51" name="Text 12">
            <a:extLst>
              <a:ext uri="{FF2B5EF4-FFF2-40B4-BE49-F238E27FC236}">
                <a16:creationId xmlns:a16="http://schemas.microsoft.com/office/drawing/2014/main" id="{B9AA4CCF-E012-41F2-9846-BB357A6ADA52}"/>
              </a:ext>
            </a:extLst>
          </p:cNvPr>
          <p:cNvSpPr/>
          <p:nvPr/>
        </p:nvSpPr>
        <p:spPr>
          <a:xfrm>
            <a:off x="6502122" y="2040731"/>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Benanntes Volume starten</a:t>
            </a:r>
            <a:endParaRPr lang="en-US" sz="1400" dirty="0"/>
          </a:p>
        </p:txBody>
      </p:sp>
      <p:sp>
        <p:nvSpPr>
          <p:cNvPr id="52" name="Text 13">
            <a:extLst>
              <a:ext uri="{FF2B5EF4-FFF2-40B4-BE49-F238E27FC236}">
                <a16:creationId xmlns:a16="http://schemas.microsoft.com/office/drawing/2014/main" id="{8294DD96-C001-49F2-8130-4C473B854ED3}"/>
              </a:ext>
            </a:extLst>
          </p:cNvPr>
          <p:cNvSpPr/>
          <p:nvPr/>
        </p:nvSpPr>
        <p:spPr>
          <a:xfrm>
            <a:off x="6502122" y="2292072"/>
            <a:ext cx="5023472" cy="4164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Docker legt nodered-data beim ersten Start automatisch an</a:t>
            </a:r>
            <a:endParaRPr lang="en-US" sz="1400" dirty="0"/>
          </a:p>
        </p:txBody>
      </p:sp>
      <p:sp>
        <p:nvSpPr>
          <p:cNvPr id="53" name="Text 14">
            <a:extLst>
              <a:ext uri="{FF2B5EF4-FFF2-40B4-BE49-F238E27FC236}">
                <a16:creationId xmlns:a16="http://schemas.microsoft.com/office/drawing/2014/main" id="{763870ED-19DF-43FF-A66E-56694F219C40}"/>
              </a:ext>
            </a:extLst>
          </p:cNvPr>
          <p:cNvSpPr/>
          <p:nvPr/>
        </p:nvSpPr>
        <p:spPr>
          <a:xfrm>
            <a:off x="6502122" y="2721174"/>
            <a:ext cx="5023472" cy="215900"/>
          </a:xfrm>
          <a:prstGeom prst="rect">
            <a:avLst/>
          </a:prstGeom>
          <a:noFill/>
          <a:ln/>
        </p:spPr>
        <p:txBody>
          <a:bodyPr wrap="square" lIns="0" tIns="0" rIns="0" bIns="0" rtlCol="0" anchor="t">
            <a:normAutofit/>
          </a:bodyPr>
          <a:lstStyle/>
          <a:p>
            <a:pPr marL="0" indent="0" algn="l">
              <a:lnSpc>
                <a:spcPts val="1500"/>
              </a:lnSpc>
              <a:buNone/>
            </a:pPr>
            <a:r>
              <a:rPr lang="en-US" sz="1400" dirty="0">
                <a:ea typeface="Courier New" pitchFamily="34" charset="-122"/>
                <a:cs typeface="Courier New" pitchFamily="34" charset="-120"/>
              </a:rPr>
              <a:t>-v nodered-data:/data</a:t>
            </a:r>
            <a:endParaRPr lang="en-US" sz="1400" dirty="0"/>
          </a:p>
        </p:txBody>
      </p:sp>
      <p:sp>
        <p:nvSpPr>
          <p:cNvPr id="54" name="Shape 15">
            <a:extLst>
              <a:ext uri="{FF2B5EF4-FFF2-40B4-BE49-F238E27FC236}">
                <a16:creationId xmlns:a16="http://schemas.microsoft.com/office/drawing/2014/main" id="{FDA7ADAD-64AE-483B-AB8D-DFEA2D20D6F4}"/>
              </a:ext>
            </a:extLst>
          </p:cNvPr>
          <p:cNvSpPr/>
          <p:nvPr/>
        </p:nvSpPr>
        <p:spPr>
          <a:xfrm>
            <a:off x="5997377" y="3117969"/>
            <a:ext cx="349171" cy="349171"/>
          </a:xfrm>
          <a:prstGeom prst="roundRect">
            <a:avLst>
              <a:gd name="adj" fmla="val 50000"/>
            </a:avLst>
          </a:prstGeom>
          <a:solidFill>
            <a:srgbClr val="F2B84B">
              <a:alpha val="15000"/>
            </a:srgbClr>
          </a:solidFill>
          <a:ln w="6350">
            <a:solidFill>
              <a:srgbClr val="F2B84B"/>
            </a:solidFill>
            <a:prstDash val="solid"/>
          </a:ln>
        </p:spPr>
      </p:sp>
      <p:sp>
        <p:nvSpPr>
          <p:cNvPr id="55" name="Text 16">
            <a:extLst>
              <a:ext uri="{FF2B5EF4-FFF2-40B4-BE49-F238E27FC236}">
                <a16:creationId xmlns:a16="http://schemas.microsoft.com/office/drawing/2014/main" id="{4164429F-9F1E-424F-AFE2-43B367F37BE9}"/>
              </a:ext>
            </a:extLst>
          </p:cNvPr>
          <p:cNvSpPr/>
          <p:nvPr/>
        </p:nvSpPr>
        <p:spPr>
          <a:xfrm>
            <a:off x="6122432" y="3168134"/>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2</a:t>
            </a:r>
            <a:endParaRPr lang="en-US" sz="1400" dirty="0"/>
          </a:p>
        </p:txBody>
      </p:sp>
      <p:sp>
        <p:nvSpPr>
          <p:cNvPr id="56" name="Text 17">
            <a:extLst>
              <a:ext uri="{FF2B5EF4-FFF2-40B4-BE49-F238E27FC236}">
                <a16:creationId xmlns:a16="http://schemas.microsoft.com/office/drawing/2014/main" id="{10AD6FAB-7B0B-43BD-A629-8F05EEBBED60}"/>
              </a:ext>
            </a:extLst>
          </p:cNvPr>
          <p:cNvSpPr/>
          <p:nvPr/>
        </p:nvSpPr>
        <p:spPr>
          <a:xfrm>
            <a:off x="6502122" y="3114794"/>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Volume prüfen</a:t>
            </a:r>
            <a:endParaRPr lang="en-US" sz="1400" dirty="0"/>
          </a:p>
        </p:txBody>
      </p:sp>
      <p:sp>
        <p:nvSpPr>
          <p:cNvPr id="57" name="Text 18">
            <a:extLst>
              <a:ext uri="{FF2B5EF4-FFF2-40B4-BE49-F238E27FC236}">
                <a16:creationId xmlns:a16="http://schemas.microsoft.com/office/drawing/2014/main" id="{C21BBB92-8131-4FF5-883C-DB37F1896D0C}"/>
              </a:ext>
            </a:extLst>
          </p:cNvPr>
          <p:cNvSpPr/>
          <p:nvPr/>
        </p:nvSpPr>
        <p:spPr>
          <a:xfrm>
            <a:off x="6502122" y="3366135"/>
            <a:ext cx="5023472" cy="4164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Mountpoint zeigt den tatsächlichen Speicherort auf dem Host</a:t>
            </a:r>
            <a:endParaRPr lang="en-US" sz="1400" dirty="0"/>
          </a:p>
        </p:txBody>
      </p:sp>
      <p:sp>
        <p:nvSpPr>
          <p:cNvPr id="58" name="Shape 19">
            <a:extLst>
              <a:ext uri="{FF2B5EF4-FFF2-40B4-BE49-F238E27FC236}">
                <a16:creationId xmlns:a16="http://schemas.microsoft.com/office/drawing/2014/main" id="{21AAD443-ED9F-4532-835D-74575E2EFA63}"/>
              </a:ext>
            </a:extLst>
          </p:cNvPr>
          <p:cNvSpPr/>
          <p:nvPr/>
        </p:nvSpPr>
        <p:spPr>
          <a:xfrm>
            <a:off x="5997377" y="3963432"/>
            <a:ext cx="349171" cy="349171"/>
          </a:xfrm>
          <a:prstGeom prst="roundRect">
            <a:avLst>
              <a:gd name="adj" fmla="val 50000"/>
            </a:avLst>
          </a:prstGeom>
          <a:solidFill>
            <a:srgbClr val="F2B84B">
              <a:alpha val="15000"/>
            </a:srgbClr>
          </a:solidFill>
          <a:ln w="6350">
            <a:solidFill>
              <a:srgbClr val="F2B84B"/>
            </a:solidFill>
            <a:prstDash val="solid"/>
          </a:ln>
        </p:spPr>
      </p:sp>
      <p:sp>
        <p:nvSpPr>
          <p:cNvPr id="59" name="Text 20">
            <a:extLst>
              <a:ext uri="{FF2B5EF4-FFF2-40B4-BE49-F238E27FC236}">
                <a16:creationId xmlns:a16="http://schemas.microsoft.com/office/drawing/2014/main" id="{0F6A2A80-7820-4F44-8E7A-61751819FAFC}"/>
              </a:ext>
            </a:extLst>
          </p:cNvPr>
          <p:cNvSpPr/>
          <p:nvPr/>
        </p:nvSpPr>
        <p:spPr>
          <a:xfrm>
            <a:off x="6122432" y="4013597"/>
            <a:ext cx="14974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B84B"/>
                </a:solidFill>
                <a:latin typeface="Arial" pitchFamily="34" charset="0"/>
                <a:ea typeface="Arial" pitchFamily="34" charset="-122"/>
                <a:cs typeface="Arial" pitchFamily="34" charset="-120"/>
              </a:rPr>
              <a:t>3</a:t>
            </a:r>
            <a:endParaRPr lang="en-US" sz="1400" dirty="0"/>
          </a:p>
        </p:txBody>
      </p:sp>
      <p:sp>
        <p:nvSpPr>
          <p:cNvPr id="60" name="Text 21">
            <a:extLst>
              <a:ext uri="{FF2B5EF4-FFF2-40B4-BE49-F238E27FC236}">
                <a16:creationId xmlns:a16="http://schemas.microsoft.com/office/drawing/2014/main" id="{477E6D75-3A3B-475F-8766-52DFA7645D93}"/>
              </a:ext>
            </a:extLst>
          </p:cNvPr>
          <p:cNvSpPr/>
          <p:nvPr/>
        </p:nvSpPr>
        <p:spPr>
          <a:xfrm>
            <a:off x="6502122" y="3960257"/>
            <a:ext cx="5023472"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Editor mit adminAuth absichern</a:t>
            </a:r>
            <a:endParaRPr lang="en-US" sz="1400" dirty="0"/>
          </a:p>
        </p:txBody>
      </p:sp>
      <p:sp>
        <p:nvSpPr>
          <p:cNvPr id="61" name="Text 22">
            <a:extLst>
              <a:ext uri="{FF2B5EF4-FFF2-40B4-BE49-F238E27FC236}">
                <a16:creationId xmlns:a16="http://schemas.microsoft.com/office/drawing/2014/main" id="{3CE88406-4D3B-44C6-A32D-A5EF1D2984C7}"/>
              </a:ext>
            </a:extLst>
          </p:cNvPr>
          <p:cNvSpPr/>
          <p:nvPr/>
        </p:nvSpPr>
        <p:spPr>
          <a:xfrm>
            <a:off x="6502122" y="4198858"/>
            <a:ext cx="5023472" cy="2209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bcrypt-Hash erzeugen, settings.js aktivieren</a:t>
            </a:r>
            <a:endParaRPr lang="en-US" sz="1400" dirty="0"/>
          </a:p>
        </p:txBody>
      </p:sp>
      <p:sp>
        <p:nvSpPr>
          <p:cNvPr id="62" name="Text 23">
            <a:extLst>
              <a:ext uri="{FF2B5EF4-FFF2-40B4-BE49-F238E27FC236}">
                <a16:creationId xmlns:a16="http://schemas.microsoft.com/office/drawing/2014/main" id="{797138DB-BC51-4397-BF84-450B27ADBDB3}"/>
              </a:ext>
            </a:extLst>
          </p:cNvPr>
          <p:cNvSpPr/>
          <p:nvPr/>
        </p:nvSpPr>
        <p:spPr>
          <a:xfrm>
            <a:off x="6502122" y="4419719"/>
            <a:ext cx="5023472" cy="220901"/>
          </a:xfrm>
          <a:prstGeom prst="rect">
            <a:avLst/>
          </a:prstGeom>
          <a:noFill/>
          <a:ln/>
        </p:spPr>
        <p:txBody>
          <a:bodyPr wrap="square" lIns="0" tIns="0" rIns="0" bIns="0" rtlCol="0" anchor="t">
            <a:normAutofit/>
          </a:bodyPr>
          <a:lstStyle/>
          <a:p>
            <a:pPr marL="0" indent="0" algn="l">
              <a:lnSpc>
                <a:spcPts val="1540"/>
              </a:lnSpc>
              <a:buNone/>
            </a:pPr>
            <a:r>
              <a:rPr lang="en-US" sz="1400" dirty="0">
                <a:ea typeface="Arial" pitchFamily="34" charset="-122"/>
                <a:cs typeface="Arial" pitchFamily="34" charset="-120"/>
              </a:rPr>
              <a:t>docker restart nodered</a:t>
            </a:r>
            <a:endParaRPr lang="en-US" sz="1400" dirty="0"/>
          </a:p>
        </p:txBody>
      </p:sp>
      <p:sp>
        <p:nvSpPr>
          <p:cNvPr id="67" name="Text 27">
            <a:extLst>
              <a:ext uri="{FF2B5EF4-FFF2-40B4-BE49-F238E27FC236}">
                <a16:creationId xmlns:a16="http://schemas.microsoft.com/office/drawing/2014/main" id="{1A300C58-C33C-4563-9481-8813CF0D164F}"/>
              </a:ext>
            </a:extLst>
          </p:cNvPr>
          <p:cNvSpPr/>
          <p:nvPr/>
        </p:nvSpPr>
        <p:spPr>
          <a:xfrm>
            <a:off x="1511141" y="5466160"/>
            <a:ext cx="9928725" cy="223520"/>
          </a:xfrm>
          <a:prstGeom prst="rect">
            <a:avLst/>
          </a:prstGeom>
          <a:noFill/>
          <a:ln/>
        </p:spPr>
        <p:txBody>
          <a:bodyPr wrap="square" lIns="0" tIns="0" rIns="0" bIns="0" rtlCol="0" anchor="t">
            <a:normAutofit/>
          </a:bodyPr>
          <a:lstStyle/>
          <a:p>
            <a:pPr marL="0" indent="0" algn="l">
              <a:lnSpc>
                <a:spcPts val="1560"/>
              </a:lnSpc>
              <a:buNone/>
            </a:pPr>
            <a:r>
              <a:rPr lang="en-US" sz="1400" dirty="0">
                <a:latin typeface="Arial" pitchFamily="34" charset="0"/>
                <a:ea typeface="Arial" pitchFamily="34" charset="-122"/>
                <a:cs typeface="Arial" pitchFamily="34" charset="-120"/>
              </a:rPr>
              <a:t>Ohne adminAuth kann jeder mit Zugriff auf den Editor über exec-Nodes beliebigen Code ausführen.</a:t>
            </a:r>
            <a:endParaRPr lang="en-US" sz="1400" dirty="0"/>
          </a:p>
        </p:txBody>
      </p:sp>
      <p:pic>
        <p:nvPicPr>
          <p:cNvPr id="68" name="Grafik 67" descr="Ausrufezeichen mit einfarbiger Füllung">
            <a:extLst>
              <a:ext uri="{FF2B5EF4-FFF2-40B4-BE49-F238E27FC236}">
                <a16:creationId xmlns:a16="http://schemas.microsoft.com/office/drawing/2014/main" id="{0254A55C-46A4-4C6E-8348-4E041320194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6741" y="5008960"/>
            <a:ext cx="914400" cy="914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3955" y="331336"/>
            <a:ext cx="10953313" cy="1143000"/>
          </a:xfrm>
        </p:spPr>
        <p:txBody>
          <a:bodyPr/>
          <a:lstStyle/>
          <a:p>
            <a:r>
              <a:rPr lang="de-DE" sz="2400" dirty="0"/>
              <a:t>Caddyfile erweitern: www &amp; dashboard</a:t>
            </a:r>
            <a:endParaRPr sz="2400" dirty="0"/>
          </a:p>
        </p:txBody>
      </p:sp>
      <p:sp>
        <p:nvSpPr>
          <p:cNvPr id="5" name="Rounded Rectangle 4"/>
          <p:cNvSpPr/>
          <p:nvPr/>
        </p:nvSpPr>
        <p:spPr>
          <a:xfrm>
            <a:off x="548640" y="2761488"/>
            <a:ext cx="1554480" cy="914400"/>
          </a:xfrm>
          <a:prstGeom prst="roundRect">
            <a:avLst>
              <a:gd name="adj" fmla="val 10000"/>
            </a:avLst>
          </a:prstGeom>
          <a:solidFill>
            <a:srgbClr val="1E2761"/>
          </a:solidFill>
          <a:ln w="12700">
            <a:solidFill>
              <a:srgbClr val="1E2761"/>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400" b="1">
                <a:solidFill>
                  <a:srgbClr val="FFFFFF"/>
                </a:solidFill>
                <a:latin typeface="Arial"/>
              </a:rPr>
              <a:t>Caddy</a:t>
            </a:r>
          </a:p>
          <a:p>
            <a:pPr algn="ctr"/>
            <a:r>
              <a:rPr sz="900" b="0">
                <a:solidFill>
                  <a:srgbClr val="FFFFFF"/>
                </a:solidFill>
                <a:latin typeface="Arial"/>
              </a:rPr>
              <a:t>Port 443</a:t>
            </a:r>
          </a:p>
        </p:txBody>
      </p:sp>
      <p:sp>
        <p:nvSpPr>
          <p:cNvPr id="6" name="Rounded Rectangle 5"/>
          <p:cNvSpPr/>
          <p:nvPr/>
        </p:nvSpPr>
        <p:spPr>
          <a:xfrm>
            <a:off x="2514600" y="2340864"/>
            <a:ext cx="2788920" cy="749808"/>
          </a:xfrm>
          <a:prstGeom prst="roundRect">
            <a:avLst>
              <a:gd name="adj" fmla="val 10000"/>
            </a:avLst>
          </a:prstGeom>
          <a:solidFill>
            <a:srgbClr val="F5F5F5"/>
          </a:solidFill>
          <a:ln w="12700">
            <a:solidFill>
              <a:srgbClr val="005AA8"/>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www</a:t>
            </a:r>
          </a:p>
          <a:p>
            <a:pPr algn="ctr"/>
            <a:r>
              <a:rPr sz="1200" b="1">
                <a:solidFill>
                  <a:srgbClr val="1A1A1A"/>
                </a:solidFill>
                <a:latin typeface="Arial"/>
              </a:rPr>
              <a:t>localhost:8080</a:t>
            </a:r>
          </a:p>
        </p:txBody>
      </p:sp>
      <p:sp>
        <p:nvSpPr>
          <p:cNvPr id="7" name="Rounded Rectangle 6"/>
          <p:cNvSpPr/>
          <p:nvPr/>
        </p:nvSpPr>
        <p:spPr>
          <a:xfrm>
            <a:off x="2514600" y="3346704"/>
            <a:ext cx="2788920" cy="749808"/>
          </a:xfrm>
          <a:prstGeom prst="roundRect">
            <a:avLst>
              <a:gd name="adj" fmla="val 10000"/>
            </a:avLst>
          </a:prstGeom>
          <a:solidFill>
            <a:srgbClr val="F5F5F5"/>
          </a:solidFill>
          <a:ln w="12700">
            <a:solidFill>
              <a:srgbClr val="5B6472"/>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ctr"/>
            <a:r>
              <a:rPr sz="1200" b="1">
                <a:solidFill>
                  <a:srgbClr val="1A1A1A"/>
                </a:solidFill>
                <a:latin typeface="Arial"/>
              </a:rPr>
              <a:t>dashboard</a:t>
            </a:r>
          </a:p>
          <a:p>
            <a:pPr algn="ctr"/>
            <a:r>
              <a:rPr sz="1200" b="1">
                <a:solidFill>
                  <a:srgbClr val="1A1A1A"/>
                </a:solidFill>
                <a:latin typeface="Arial"/>
              </a:rPr>
              <a:t>localhost:1880</a:t>
            </a:r>
          </a:p>
        </p:txBody>
      </p:sp>
      <p:sp>
        <p:nvSpPr>
          <p:cNvPr id="12" name="Rounded Rectangle 11"/>
          <p:cNvSpPr/>
          <p:nvPr/>
        </p:nvSpPr>
        <p:spPr>
          <a:xfrm>
            <a:off x="5806440" y="1783080"/>
            <a:ext cx="5833872" cy="4251960"/>
          </a:xfrm>
          <a:prstGeom prst="roundRect">
            <a:avLst>
              <a:gd name="adj" fmla="val 10000"/>
            </a:avLst>
          </a:prstGeom>
          <a:solidFill>
            <a:srgbClr val="F5F5F5"/>
          </a:solidFill>
          <a:ln w="12700">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320040" tIns="109728" bIns="36576" rtlCol="0" anchor="t"/>
          <a:lstStyle/>
          <a:p>
            <a:pPr algn="l">
              <a:lnSpc>
                <a:spcPts val="1500"/>
              </a:lnSpc>
            </a:pPr>
            <a:r>
              <a:rPr sz="1100" b="1">
                <a:solidFill>
                  <a:srgbClr val="005AA8"/>
                </a:solidFill>
                <a:latin typeface="Courier New"/>
              </a:rPr>
              <a:t>www.&lt;IHRE-DOMAIN&gt; {</a:t>
            </a:r>
          </a:p>
          <a:p>
            <a:pPr algn="l">
              <a:lnSpc>
                <a:spcPts val="1500"/>
              </a:lnSpc>
            </a:pPr>
            <a:r>
              <a:rPr sz="1100" b="0">
                <a:solidFill>
                  <a:srgbClr val="1A1A1A"/>
                </a:solidFill>
                <a:latin typeface="Courier New"/>
              </a:rPr>
              <a:t>    reverse_proxy localhost:8080</a:t>
            </a:r>
          </a:p>
          <a:p>
            <a:pPr algn="l">
              <a:lnSpc>
                <a:spcPts val="1500"/>
              </a:lnSpc>
            </a:pPr>
            <a:r>
              <a:rPr sz="1100" b="0">
                <a:solidFill>
                  <a:srgbClr val="1A1A1A"/>
                </a:solidFill>
                <a:latin typeface="Courier New"/>
              </a:rPr>
              <a:t>}</a:t>
            </a:r>
          </a:p>
          <a:p>
            <a:pPr algn="l">
              <a:lnSpc>
                <a:spcPts val="1500"/>
              </a:lnSpc>
            </a:pPr>
            <a:r>
              <a:rPr sz="1100" b="0">
                <a:solidFill>
                  <a:srgbClr val="1A1A1A"/>
                </a:solidFill>
                <a:latin typeface="Courier New"/>
              </a:rPr>
              <a:t> </a:t>
            </a:r>
          </a:p>
          <a:p>
            <a:pPr algn="l">
              <a:lnSpc>
                <a:spcPts val="1500"/>
              </a:lnSpc>
            </a:pPr>
            <a:r>
              <a:rPr sz="1100" b="1">
                <a:solidFill>
                  <a:srgbClr val="F2B84B"/>
                </a:solidFill>
                <a:latin typeface="Courier New"/>
              </a:rPr>
              <a:t>dashboard.&lt;IHRE-DOMAIN&gt; {</a:t>
            </a:r>
          </a:p>
          <a:p>
            <a:pPr algn="l">
              <a:lnSpc>
                <a:spcPts val="1500"/>
              </a:lnSpc>
            </a:pPr>
            <a:r>
              <a:rPr sz="1100" b="0">
                <a:solidFill>
                  <a:srgbClr val="1A1A1A"/>
                </a:solidFill>
                <a:latin typeface="Courier New"/>
              </a:rPr>
              <a:t>    reverse_proxy localhost:1880</a:t>
            </a:r>
          </a:p>
          <a:p>
            <a:pPr algn="l">
              <a:lnSpc>
                <a:spcPts val="1500"/>
              </a:lnSpc>
            </a:pPr>
            <a:r>
              <a:rPr sz="1100" b="0">
                <a:solidFill>
                  <a:srgbClr val="1A1A1A"/>
                </a:solidFill>
                <a:latin typeface="Courier New"/>
              </a:rPr>
              <a:t>}</a:t>
            </a:r>
          </a:p>
        </p:txBody>
      </p:sp>
      <p:sp>
        <p:nvSpPr>
          <p:cNvPr id="13" name="Rectangle 12"/>
          <p:cNvSpPr/>
          <p:nvPr/>
        </p:nvSpPr>
        <p:spPr>
          <a:xfrm>
            <a:off x="5916168" y="1911096"/>
            <a:ext cx="54864" cy="571500"/>
          </a:xfrm>
          <a:prstGeom prst="rect">
            <a:avLst/>
          </a:prstGeom>
          <a:solidFill>
            <a:srgbClr val="005A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916168" y="2673096"/>
            <a:ext cx="54864" cy="571500"/>
          </a:xfrm>
          <a:prstGeom prst="rect">
            <a:avLst/>
          </a:prstGeom>
          <a:solidFill>
            <a:srgbClr val="F2B8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flipV="1">
            <a:off x="2103120" y="2715768"/>
            <a:ext cx="411480" cy="502920"/>
          </a:xfrm>
          <a:prstGeom prst="line">
            <a:avLst/>
          </a:prstGeom>
          <a:ln w="19050">
            <a:solidFill>
              <a:srgbClr val="005AA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03120" y="3218688"/>
            <a:ext cx="411480" cy="502920"/>
          </a:xfrm>
          <a:prstGeom prst="line">
            <a:avLst/>
          </a:prstGeom>
          <a:ln w="19050">
            <a:solidFill>
              <a:srgbClr val="F2B84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 name="Foliennummernplatzhalter 4"/>
          <p:cNvSpPr>
            <a:spLocks noGrp="1"/>
          </p:cNvSpPr>
          <p:nvPr>
            <p:ph type="sldNum" sz="quarter" idx="4"/>
          </p:nvPr>
        </p:nvSpPr>
        <p:spPr/>
        <p:txBody>
          <a:bodyPr/>
          <a:lstStyle/>
          <a:p>
            <a:fld id="{43A6DCFB-163F-4561-BF28-3CD1FE47EE20}" type="slidenum">
              <a:rPr lang="de-DE" smtClean="0"/>
              <a:pPr/>
              <a:t>11</a:t>
            </a:fld>
            <a:endParaRPr lang="de-DE"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8F102084-4CA6-40E8-879C-5BE2D257AA1C}"/>
              </a:ext>
            </a:extLst>
          </p:cNvPr>
          <p:cNvSpPr>
            <a:spLocks noGrp="1"/>
          </p:cNvSpPr>
          <p:nvPr>
            <p:ph type="title"/>
          </p:nvPr>
        </p:nvSpPr>
        <p:spPr/>
        <p:txBody>
          <a:bodyPr/>
          <a:lstStyle/>
          <a:p>
            <a:r>
              <a:rPr lang="de-DE" dirty="0"/>
              <a:t>DNS-Voraussetzungen für die neuen Subdomains</a:t>
            </a:r>
          </a:p>
        </p:txBody>
      </p:sp>
      <p:sp>
        <p:nvSpPr>
          <p:cNvPr id="6" name="Foliennummernplatzhalter 5">
            <a:extLst>
              <a:ext uri="{FF2B5EF4-FFF2-40B4-BE49-F238E27FC236}">
                <a16:creationId xmlns:a16="http://schemas.microsoft.com/office/drawing/2014/main" id="{536FD45C-CF83-4995-92CB-AB2759D5A9E5}"/>
              </a:ext>
            </a:extLst>
          </p:cNvPr>
          <p:cNvSpPr>
            <a:spLocks noGrp="1"/>
          </p:cNvSpPr>
          <p:nvPr>
            <p:ph type="sldNum" sz="quarter" idx="4"/>
          </p:nvPr>
        </p:nvSpPr>
        <p:spPr/>
        <p:txBody>
          <a:bodyPr/>
          <a:lstStyle/>
          <a:p>
            <a:fld id="{43A6DCFB-163F-4561-BF28-3CD1FE47EE20}" type="slidenum">
              <a:rPr lang="de-DE" smtClean="0"/>
              <a:pPr/>
              <a:t>12</a:t>
            </a:fld>
            <a:endParaRPr lang="de-DE" dirty="0"/>
          </a:p>
        </p:txBody>
      </p:sp>
      <p:sp>
        <p:nvSpPr>
          <p:cNvPr id="7" name="Shape 2">
            <a:extLst>
              <a:ext uri="{FF2B5EF4-FFF2-40B4-BE49-F238E27FC236}">
                <a16:creationId xmlns:a16="http://schemas.microsoft.com/office/drawing/2014/main" id="{7A90ADDA-0FAA-4B88-AF4D-A3FAA575490A}"/>
              </a:ext>
            </a:extLst>
          </p:cNvPr>
          <p:cNvSpPr/>
          <p:nvPr/>
        </p:nvSpPr>
        <p:spPr>
          <a:xfrm>
            <a:off x="483476" y="1930797"/>
            <a:ext cx="5152030" cy="3908068"/>
          </a:xfrm>
          <a:prstGeom prst="roundRect">
            <a:avLst>
              <a:gd name="adj" fmla="val 3168"/>
            </a:avLst>
          </a:prstGeom>
          <a:solidFill>
            <a:srgbClr val="F5F5F5"/>
          </a:solidFill>
          <a:ln w="6350">
            <a:solidFill>
              <a:srgbClr val="D1D5DB"/>
            </a:solidFill>
            <a:prstDash val="solid"/>
          </a:ln>
        </p:spPr>
      </p:sp>
      <p:sp>
        <p:nvSpPr>
          <p:cNvPr id="8" name="Text 3">
            <a:extLst>
              <a:ext uri="{FF2B5EF4-FFF2-40B4-BE49-F238E27FC236}">
                <a16:creationId xmlns:a16="http://schemas.microsoft.com/office/drawing/2014/main" id="{DAF2E98A-AEEF-4413-B440-EA30D5C4071D}"/>
              </a:ext>
            </a:extLst>
          </p:cNvPr>
          <p:cNvSpPr/>
          <p:nvPr/>
        </p:nvSpPr>
        <p:spPr>
          <a:xfrm>
            <a:off x="749694" y="2201019"/>
            <a:ext cx="4431884"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Benötigte A-Records</a:t>
            </a:r>
            <a:endParaRPr lang="en-US" sz="1400" dirty="0"/>
          </a:p>
        </p:txBody>
      </p:sp>
      <p:graphicFrame>
        <p:nvGraphicFramePr>
          <p:cNvPr id="9" name="Table 0">
            <a:extLst>
              <a:ext uri="{FF2B5EF4-FFF2-40B4-BE49-F238E27FC236}">
                <a16:creationId xmlns:a16="http://schemas.microsoft.com/office/drawing/2014/main" id="{6E51F3E8-3C73-473A-B2AF-4DE577FC8245}"/>
              </a:ext>
            </a:extLst>
          </p:cNvPr>
          <p:cNvGraphicFramePr>
            <a:graphicFrameLocks noGrp="1"/>
          </p:cNvGraphicFramePr>
          <p:nvPr>
            <p:extLst>
              <p:ext uri="{D42A27DB-BD31-4B8C-83A1-F6EECF244321}">
                <p14:modId xmlns:p14="http://schemas.microsoft.com/office/powerpoint/2010/main" val="4053979559"/>
              </p:ext>
            </p:extLst>
          </p:nvPr>
        </p:nvGraphicFramePr>
        <p:xfrm>
          <a:off x="749694" y="2554843"/>
          <a:ext cx="4697099" cy="1064483"/>
        </p:xfrm>
        <a:graphic>
          <a:graphicData uri="http://schemas.openxmlformats.org/drawingml/2006/table">
            <a:tbl>
              <a:tblPr/>
              <a:tblGrid>
                <a:gridCol w="1784898">
                  <a:extLst>
                    <a:ext uri="{9D8B030D-6E8A-4147-A177-3AD203B41FA5}">
                      <a16:colId xmlns:a16="http://schemas.microsoft.com/office/drawing/2014/main" val="20000"/>
                    </a:ext>
                  </a:extLst>
                </a:gridCol>
                <a:gridCol w="2912201">
                  <a:extLst>
                    <a:ext uri="{9D8B030D-6E8A-4147-A177-3AD203B41FA5}">
                      <a16:colId xmlns:a16="http://schemas.microsoft.com/office/drawing/2014/main" val="20001"/>
                    </a:ext>
                  </a:extLst>
                </a:gridCol>
              </a:tblGrid>
              <a:tr h="300752">
                <a:tc>
                  <a:txBody>
                    <a:bodyPr/>
                    <a:lstStyle/>
                    <a:p>
                      <a:pPr marL="0" indent="0">
                        <a:lnSpc>
                          <a:spcPts val="1540"/>
                        </a:lnSpc>
                        <a:buNone/>
                      </a:pPr>
                      <a:r>
                        <a:rPr lang="en-US" sz="1100" b="1" dirty="0">
                          <a:solidFill>
                            <a:srgbClr val="1A1A1A"/>
                          </a:solidFill>
                          <a:latin typeface="Arial" pitchFamily="34" charset="0"/>
                          <a:ea typeface="Arial" pitchFamily="34" charset="-122"/>
                          <a:cs typeface="Arial" pitchFamily="34" charset="-120"/>
                        </a:rPr>
                        <a:t>Hostname</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5E7EB"/>
                    </a:solidFill>
                  </a:tcPr>
                </a:tc>
                <a:tc>
                  <a:txBody>
                    <a:bodyPr/>
                    <a:lstStyle/>
                    <a:p>
                      <a:pPr marL="0" indent="0">
                        <a:lnSpc>
                          <a:spcPts val="1540"/>
                        </a:lnSpc>
                        <a:buNone/>
                      </a:pPr>
                      <a:r>
                        <a:rPr lang="en-US" sz="1100" b="1" dirty="0">
                          <a:solidFill>
                            <a:srgbClr val="1A1A1A"/>
                          </a:solidFill>
                          <a:latin typeface="Arial" pitchFamily="34" charset="0"/>
                          <a:ea typeface="Arial" pitchFamily="34" charset="-122"/>
                          <a:cs typeface="Arial" pitchFamily="34" charset="-120"/>
                        </a:rPr>
                        <a:t>Ziel</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5E7EB"/>
                    </a:solidFill>
                  </a:tcPr>
                </a:tc>
                <a:extLst>
                  <a:ext uri="{0D108BD9-81ED-4DB2-BD59-A6C34878D82A}">
                    <a16:rowId xmlns:a16="http://schemas.microsoft.com/office/drawing/2014/main" val="10000"/>
                  </a:ext>
                </a:extLst>
              </a:tr>
              <a:tr h="300752">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www.&lt;IHRE-DOMAIN&gt;</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&lt;IPv4 des Servers&gt;</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tcPr>
                </a:tc>
                <a:extLst>
                  <a:ext uri="{0D108BD9-81ED-4DB2-BD59-A6C34878D82A}">
                    <a16:rowId xmlns:a16="http://schemas.microsoft.com/office/drawing/2014/main" val="10001"/>
                  </a:ext>
                </a:extLst>
              </a:tr>
              <a:tr h="300752">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dashboard.&lt;IHRE-DOMAIN&gt;</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DEDED"/>
                    </a:solidFill>
                  </a:tcPr>
                </a:tc>
                <a:tc>
                  <a:txBody>
                    <a:bodyPr/>
                    <a:lstStyle/>
                    <a:p>
                      <a:pPr marL="0" indent="0">
                        <a:lnSpc>
                          <a:spcPts val="1540"/>
                        </a:lnSpc>
                        <a:buNone/>
                      </a:pPr>
                      <a:r>
                        <a:rPr lang="en-US" sz="1100" dirty="0">
                          <a:solidFill>
                            <a:srgbClr val="1A1A1A"/>
                          </a:solidFill>
                          <a:latin typeface="Arial" pitchFamily="34" charset="0"/>
                          <a:ea typeface="Arial" pitchFamily="34" charset="-122"/>
                          <a:cs typeface="Arial" pitchFamily="34" charset="-120"/>
                        </a:rPr>
                        <a:t>&lt;IPv4 des Servers&gt;</a:t>
                      </a:r>
                      <a:endParaRPr lang="en-US" sz="1100" dirty="0">
                        <a:latin typeface="Arial" charset="0"/>
                        <a:ea typeface="Arial" charset="0"/>
                        <a:cs typeface="Arial" charset="0"/>
                      </a:endParaRPr>
                    </a:p>
                  </a:txBody>
                  <a:tcPr marL="48895" marR="48895" marT="48895" marB="48895">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EDEDED"/>
                    </a:solidFill>
                  </a:tcPr>
                </a:tc>
                <a:extLst>
                  <a:ext uri="{0D108BD9-81ED-4DB2-BD59-A6C34878D82A}">
                    <a16:rowId xmlns:a16="http://schemas.microsoft.com/office/drawing/2014/main" val="10002"/>
                  </a:ext>
                </a:extLst>
              </a:tr>
            </a:tbl>
          </a:graphicData>
        </a:graphic>
      </p:graphicFrame>
      <p:sp>
        <p:nvSpPr>
          <p:cNvPr id="10" name="Shape 4">
            <a:extLst>
              <a:ext uri="{FF2B5EF4-FFF2-40B4-BE49-F238E27FC236}">
                <a16:creationId xmlns:a16="http://schemas.microsoft.com/office/drawing/2014/main" id="{0BB161B0-3808-4772-B205-12602CA483E7}"/>
              </a:ext>
            </a:extLst>
          </p:cNvPr>
          <p:cNvSpPr/>
          <p:nvPr/>
        </p:nvSpPr>
        <p:spPr>
          <a:xfrm>
            <a:off x="819387" y="3873034"/>
            <a:ext cx="4627406" cy="1800401"/>
          </a:xfrm>
          <a:prstGeom prst="roundRect">
            <a:avLst>
              <a:gd name="adj" fmla="val 11367"/>
            </a:avLst>
          </a:prstGeom>
          <a:solidFill>
            <a:srgbClr val="EDEDED"/>
          </a:solidFill>
          <a:ln/>
        </p:spPr>
      </p:sp>
      <p:sp>
        <p:nvSpPr>
          <p:cNvPr id="11" name="Shape 5">
            <a:extLst>
              <a:ext uri="{FF2B5EF4-FFF2-40B4-BE49-F238E27FC236}">
                <a16:creationId xmlns:a16="http://schemas.microsoft.com/office/drawing/2014/main" id="{1DC949E1-398D-4BDC-98E9-2E7A0ED36CDB}"/>
              </a:ext>
            </a:extLst>
          </p:cNvPr>
          <p:cNvSpPr/>
          <p:nvPr/>
        </p:nvSpPr>
        <p:spPr>
          <a:xfrm flipH="1">
            <a:off x="808669" y="4144685"/>
            <a:ext cx="7226" cy="1289760"/>
          </a:xfrm>
          <a:prstGeom prst="line">
            <a:avLst/>
          </a:prstGeom>
          <a:noFill/>
          <a:ln w="25400">
            <a:solidFill>
              <a:srgbClr val="1A1A1A"/>
            </a:solidFill>
            <a:prstDash val="solid"/>
          </a:ln>
        </p:spPr>
      </p:sp>
      <p:sp>
        <p:nvSpPr>
          <p:cNvPr id="13" name="Text 6">
            <a:extLst>
              <a:ext uri="{FF2B5EF4-FFF2-40B4-BE49-F238E27FC236}">
                <a16:creationId xmlns:a16="http://schemas.microsoft.com/office/drawing/2014/main" id="{E516886C-81A3-440A-805D-E156C6EFC54D}"/>
              </a:ext>
            </a:extLst>
          </p:cNvPr>
          <p:cNvSpPr/>
          <p:nvPr/>
        </p:nvSpPr>
        <p:spPr>
          <a:xfrm>
            <a:off x="997381" y="3987840"/>
            <a:ext cx="4449412" cy="1812889"/>
          </a:xfrm>
          <a:prstGeom prst="rect">
            <a:avLst/>
          </a:prstGeom>
          <a:noFill/>
          <a:ln/>
        </p:spPr>
        <p:txBody>
          <a:bodyPr wrap="square" lIns="0" tIns="0" rIns="0" bIns="0" rtlCol="0" anchor="t">
            <a:normAutofit/>
          </a:bodyPr>
          <a:lstStyle/>
          <a:p>
            <a:pPr marL="0" indent="0" algn="l">
              <a:lnSpc>
                <a:spcPts val="1400"/>
              </a:lnSpc>
              <a:buNone/>
            </a:pPr>
            <a:r>
              <a:rPr lang="en-US" sz="1400" dirty="0">
                <a:ea typeface="Arial" pitchFamily="34" charset="-122"/>
                <a:cs typeface="Arial" pitchFamily="34" charset="-120"/>
              </a:rPr>
              <a:t>Statt einzelner Einträge deckt ein Wildcard-Record (Name *, Typ A) automatisch alle Subdomains ab – auch künftige.</a:t>
            </a:r>
          </a:p>
          <a:p>
            <a:pPr marL="0" indent="0" algn="l">
              <a:lnSpc>
                <a:spcPts val="1400"/>
              </a:lnSpc>
              <a:buNone/>
            </a:pPr>
            <a:endParaRPr lang="en-US" sz="1400" dirty="0">
              <a:ea typeface="Arial" pitchFamily="34" charset="-122"/>
              <a:cs typeface="Arial" pitchFamily="34" charset="-120"/>
            </a:endParaRPr>
          </a:p>
          <a:p>
            <a:pPr marL="0" indent="0" algn="l">
              <a:lnSpc>
                <a:spcPts val="1400"/>
              </a:lnSpc>
              <a:buNone/>
            </a:pPr>
            <a:r>
              <a:rPr lang="en-US" sz="1400" dirty="0">
                <a:ea typeface="Arial" pitchFamily="34" charset="-122"/>
                <a:cs typeface="Arial" pitchFamily="34" charset="-120"/>
              </a:rPr>
              <a:t>Sie besitzen alle die gleiche Second-Level-Domain. Jeder TN erhält in der Veranstaltung eigene Subdomains.</a:t>
            </a:r>
          </a:p>
          <a:p>
            <a:pPr marL="0" indent="0" algn="l">
              <a:lnSpc>
                <a:spcPts val="1400"/>
              </a:lnSpc>
              <a:buNone/>
            </a:pPr>
            <a:endParaRPr lang="en-US" sz="1400" dirty="0">
              <a:ea typeface="Arial" pitchFamily="34" charset="-122"/>
              <a:cs typeface="Arial" pitchFamily="34" charset="-120"/>
            </a:endParaRPr>
          </a:p>
          <a:p>
            <a:pPr marL="0" indent="0" algn="l">
              <a:lnSpc>
                <a:spcPts val="1400"/>
              </a:lnSpc>
              <a:buNone/>
            </a:pPr>
            <a:r>
              <a:rPr lang="en-US" sz="1400" dirty="0">
                <a:ea typeface="Arial" pitchFamily="34" charset="-122"/>
                <a:cs typeface="Arial" pitchFamily="34" charset="-120"/>
              </a:rPr>
              <a:t>Bitte berücksichtigen Sie dies:</a:t>
            </a:r>
          </a:p>
          <a:p>
            <a:pPr marL="0" indent="0" algn="l">
              <a:lnSpc>
                <a:spcPts val="1400"/>
              </a:lnSpc>
              <a:buNone/>
            </a:pPr>
            <a:r>
              <a:rPr lang="en-US" sz="1400" dirty="0">
                <a:ea typeface="Arial" pitchFamily="34" charset="-122"/>
                <a:cs typeface="Arial" pitchFamily="34" charset="-120"/>
              </a:rPr>
              <a:t> z. B. www.s1.&lt;IHRE-DOMAIN&gt;, www.s2.&lt;IHRE-DOMAIN&gt; usw.</a:t>
            </a:r>
          </a:p>
        </p:txBody>
      </p:sp>
      <p:sp>
        <p:nvSpPr>
          <p:cNvPr id="14" name="Text 7">
            <a:extLst>
              <a:ext uri="{FF2B5EF4-FFF2-40B4-BE49-F238E27FC236}">
                <a16:creationId xmlns:a16="http://schemas.microsoft.com/office/drawing/2014/main" id="{FBB295EC-0E8D-4553-8649-ADCB97B22A95}"/>
              </a:ext>
            </a:extLst>
          </p:cNvPr>
          <p:cNvSpPr/>
          <p:nvPr/>
        </p:nvSpPr>
        <p:spPr>
          <a:xfrm>
            <a:off x="5994202" y="1927622"/>
            <a:ext cx="5546630" cy="238641"/>
          </a:xfrm>
          <a:prstGeom prst="rect">
            <a:avLst/>
          </a:prstGeom>
          <a:noFill/>
          <a:ln/>
        </p:spPr>
        <p:txBody>
          <a:bodyPr wrap="square" lIns="0" tIns="0" rIns="0" bIns="0" rtlCol="0" anchor="t">
            <a:normAutofit/>
          </a:bodyPr>
          <a:lstStyle/>
          <a:p>
            <a:pPr marL="0" indent="0" algn="l">
              <a:lnSpc>
                <a:spcPts val="1680"/>
              </a:lnSpc>
              <a:buNone/>
            </a:pPr>
            <a:r>
              <a:rPr lang="en-US" sz="1400" b="1" dirty="0">
                <a:ea typeface="Arial" pitchFamily="34" charset="-122"/>
                <a:cs typeface="Arial" pitchFamily="34" charset="-120"/>
              </a:rPr>
              <a:t>Namensauflösung vorab prüfen</a:t>
            </a:r>
            <a:endParaRPr lang="en-US" sz="1400" dirty="0"/>
          </a:p>
        </p:txBody>
      </p:sp>
      <p:sp>
        <p:nvSpPr>
          <p:cNvPr id="15" name="Shape 8">
            <a:extLst>
              <a:ext uri="{FF2B5EF4-FFF2-40B4-BE49-F238E27FC236}">
                <a16:creationId xmlns:a16="http://schemas.microsoft.com/office/drawing/2014/main" id="{DEA6B0B6-29A4-4420-A9EE-B8BA16536109}"/>
              </a:ext>
            </a:extLst>
          </p:cNvPr>
          <p:cNvSpPr/>
          <p:nvPr/>
        </p:nvSpPr>
        <p:spPr>
          <a:xfrm>
            <a:off x="5997377" y="2296438"/>
            <a:ext cx="5378728" cy="712430"/>
          </a:xfrm>
          <a:prstGeom prst="roundRect">
            <a:avLst>
              <a:gd name="adj" fmla="val 12033"/>
            </a:avLst>
          </a:prstGeom>
          <a:solidFill>
            <a:srgbClr val="F5F5F5"/>
          </a:solidFill>
          <a:ln w="6350">
            <a:solidFill>
              <a:srgbClr val="D1D5DB"/>
            </a:solidFill>
            <a:prstDash val="solid"/>
          </a:ln>
        </p:spPr>
      </p:sp>
      <p:sp>
        <p:nvSpPr>
          <p:cNvPr id="16" name="Shape 9">
            <a:extLst>
              <a:ext uri="{FF2B5EF4-FFF2-40B4-BE49-F238E27FC236}">
                <a16:creationId xmlns:a16="http://schemas.microsoft.com/office/drawing/2014/main" id="{41915F3B-018A-43B6-8AC2-86AA5DB3B808}"/>
              </a:ext>
            </a:extLst>
          </p:cNvPr>
          <p:cNvSpPr/>
          <p:nvPr/>
        </p:nvSpPr>
        <p:spPr>
          <a:xfrm>
            <a:off x="6182757" y="2478008"/>
            <a:ext cx="349171" cy="349171"/>
          </a:xfrm>
          <a:prstGeom prst="roundRect">
            <a:avLst>
              <a:gd name="adj" fmla="val 50000"/>
            </a:avLst>
          </a:prstGeom>
          <a:solidFill>
            <a:srgbClr val="FFFFFF"/>
          </a:solidFill>
          <a:ln w="6350">
            <a:solidFill>
              <a:srgbClr val="1A1A1A"/>
            </a:solidFill>
            <a:prstDash val="solid"/>
          </a:ln>
        </p:spPr>
      </p:sp>
      <p:pic>
        <p:nvPicPr>
          <p:cNvPr id="17" name="Image 1" descr="Code">
            <a:extLst>
              <a:ext uri="{FF2B5EF4-FFF2-40B4-BE49-F238E27FC236}">
                <a16:creationId xmlns:a16="http://schemas.microsoft.com/office/drawing/2014/main" id="{1BAD41DA-0DC5-4550-A898-0579B450A6D3}"/>
              </a:ext>
            </a:extLst>
          </p:cNvPr>
          <p:cNvPicPr>
            <a:picLocks noChangeAspect="1"/>
          </p:cNvPicPr>
          <p:nvPr/>
        </p:nvPicPr>
        <p:blipFill>
          <a:blip r:embed="rId2"/>
          <a:srcRect/>
          <a:stretch/>
        </p:blipFill>
        <p:spPr>
          <a:xfrm>
            <a:off x="6274832" y="2570083"/>
            <a:ext cx="165021" cy="165021"/>
          </a:xfrm>
          <a:prstGeom prst="rect">
            <a:avLst/>
          </a:prstGeom>
        </p:spPr>
      </p:pic>
      <p:sp>
        <p:nvSpPr>
          <p:cNvPr id="18" name="Text 10">
            <a:extLst>
              <a:ext uri="{FF2B5EF4-FFF2-40B4-BE49-F238E27FC236}">
                <a16:creationId xmlns:a16="http://schemas.microsoft.com/office/drawing/2014/main" id="{C82FD302-9FB7-4EDC-A0E6-9479D448376D}"/>
              </a:ext>
            </a:extLst>
          </p:cNvPr>
          <p:cNvSpPr/>
          <p:nvPr/>
        </p:nvSpPr>
        <p:spPr>
          <a:xfrm>
            <a:off x="6662024" y="2453283"/>
            <a:ext cx="4667832" cy="208280"/>
          </a:xfrm>
          <a:prstGeom prst="rect">
            <a:avLst/>
          </a:prstGeom>
          <a:noFill/>
          <a:ln/>
        </p:spPr>
        <p:txBody>
          <a:bodyPr wrap="square" lIns="0" tIns="0" rIns="0" bIns="0" rtlCol="0" anchor="t">
            <a:normAutofit/>
          </a:bodyPr>
          <a:lstStyle/>
          <a:p>
            <a:pPr marL="0" indent="0" algn="l">
              <a:lnSpc>
                <a:spcPts val="1440"/>
              </a:lnSpc>
              <a:buNone/>
            </a:pPr>
            <a:r>
              <a:rPr lang="en-US" sz="1400" b="1" dirty="0">
                <a:ea typeface="Arial" pitchFamily="34" charset="-122"/>
                <a:cs typeface="Arial" pitchFamily="34" charset="-120"/>
              </a:rPr>
              <a:t>Linux / macOS</a:t>
            </a:r>
            <a:endParaRPr lang="en-US" sz="1400" dirty="0"/>
          </a:p>
        </p:txBody>
      </p:sp>
      <p:sp>
        <p:nvSpPr>
          <p:cNvPr id="19" name="Text 11">
            <a:extLst>
              <a:ext uri="{FF2B5EF4-FFF2-40B4-BE49-F238E27FC236}">
                <a16:creationId xmlns:a16="http://schemas.microsoft.com/office/drawing/2014/main" id="{336DE123-79A9-4CEC-BD22-014B29238086}"/>
              </a:ext>
            </a:extLst>
          </p:cNvPr>
          <p:cNvSpPr/>
          <p:nvPr/>
        </p:nvSpPr>
        <p:spPr>
          <a:xfrm>
            <a:off x="6662024" y="2674263"/>
            <a:ext cx="4667832" cy="203160"/>
          </a:xfrm>
          <a:prstGeom prst="rect">
            <a:avLst/>
          </a:prstGeom>
          <a:noFill/>
          <a:ln/>
        </p:spPr>
        <p:txBody>
          <a:bodyPr wrap="square" lIns="0" tIns="0" rIns="0" bIns="0" rtlCol="0" anchor="t">
            <a:normAutofit/>
          </a:bodyPr>
          <a:lstStyle/>
          <a:p>
            <a:pPr marL="0" indent="0" algn="l">
              <a:lnSpc>
                <a:spcPts val="1400"/>
              </a:lnSpc>
              <a:buNone/>
            </a:pPr>
            <a:r>
              <a:rPr lang="en-US" sz="1400" dirty="0">
                <a:ea typeface="Courier New" pitchFamily="34" charset="-122"/>
                <a:cs typeface="Courier New" pitchFamily="34" charset="-120"/>
              </a:rPr>
              <a:t>dig www.&lt;IHRE-DOMAIN&gt;</a:t>
            </a:r>
            <a:endParaRPr lang="en-US" sz="1400" dirty="0"/>
          </a:p>
        </p:txBody>
      </p:sp>
      <p:sp>
        <p:nvSpPr>
          <p:cNvPr id="20" name="Shape 12">
            <a:extLst>
              <a:ext uri="{FF2B5EF4-FFF2-40B4-BE49-F238E27FC236}">
                <a16:creationId xmlns:a16="http://schemas.microsoft.com/office/drawing/2014/main" id="{FD8670BD-9CA0-4E58-B6DC-B846FD56F921}"/>
              </a:ext>
            </a:extLst>
          </p:cNvPr>
          <p:cNvSpPr/>
          <p:nvPr/>
        </p:nvSpPr>
        <p:spPr>
          <a:xfrm>
            <a:off x="5997377" y="3142139"/>
            <a:ext cx="5378728" cy="712430"/>
          </a:xfrm>
          <a:prstGeom prst="roundRect">
            <a:avLst>
              <a:gd name="adj" fmla="val 12033"/>
            </a:avLst>
          </a:prstGeom>
          <a:solidFill>
            <a:srgbClr val="F5F5F5"/>
          </a:solidFill>
          <a:ln w="6350">
            <a:solidFill>
              <a:srgbClr val="D1D5DB"/>
            </a:solidFill>
            <a:prstDash val="solid"/>
          </a:ln>
        </p:spPr>
      </p:sp>
      <p:sp>
        <p:nvSpPr>
          <p:cNvPr id="21" name="Shape 13">
            <a:extLst>
              <a:ext uri="{FF2B5EF4-FFF2-40B4-BE49-F238E27FC236}">
                <a16:creationId xmlns:a16="http://schemas.microsoft.com/office/drawing/2014/main" id="{91C726BA-9CCD-43A0-A10F-476DFB58C73A}"/>
              </a:ext>
            </a:extLst>
          </p:cNvPr>
          <p:cNvSpPr/>
          <p:nvPr/>
        </p:nvSpPr>
        <p:spPr>
          <a:xfrm>
            <a:off x="6182757" y="3323710"/>
            <a:ext cx="349171" cy="349171"/>
          </a:xfrm>
          <a:prstGeom prst="roundRect">
            <a:avLst>
              <a:gd name="adj" fmla="val 50000"/>
            </a:avLst>
          </a:prstGeom>
          <a:solidFill>
            <a:srgbClr val="FFFFFF"/>
          </a:solidFill>
          <a:ln w="6350">
            <a:solidFill>
              <a:srgbClr val="1A1A1A"/>
            </a:solidFill>
            <a:prstDash val="solid"/>
          </a:ln>
        </p:spPr>
      </p:sp>
      <p:pic>
        <p:nvPicPr>
          <p:cNvPr id="22" name="Image 2" descr="Code">
            <a:extLst>
              <a:ext uri="{FF2B5EF4-FFF2-40B4-BE49-F238E27FC236}">
                <a16:creationId xmlns:a16="http://schemas.microsoft.com/office/drawing/2014/main" id="{46C2363A-D5DD-416C-AE2C-82C192EF6DF4}"/>
              </a:ext>
            </a:extLst>
          </p:cNvPr>
          <p:cNvPicPr>
            <a:picLocks noChangeAspect="1"/>
          </p:cNvPicPr>
          <p:nvPr/>
        </p:nvPicPr>
        <p:blipFill>
          <a:blip r:embed="rId2"/>
          <a:srcRect/>
          <a:stretch/>
        </p:blipFill>
        <p:spPr>
          <a:xfrm>
            <a:off x="6274832" y="3415785"/>
            <a:ext cx="165021" cy="165021"/>
          </a:xfrm>
          <a:prstGeom prst="rect">
            <a:avLst/>
          </a:prstGeom>
        </p:spPr>
      </p:pic>
      <p:sp>
        <p:nvSpPr>
          <p:cNvPr id="23" name="Text 14">
            <a:extLst>
              <a:ext uri="{FF2B5EF4-FFF2-40B4-BE49-F238E27FC236}">
                <a16:creationId xmlns:a16="http://schemas.microsoft.com/office/drawing/2014/main" id="{21EA3F88-0CBB-4FD3-A51D-FF57E1DF4C5E}"/>
              </a:ext>
            </a:extLst>
          </p:cNvPr>
          <p:cNvSpPr/>
          <p:nvPr/>
        </p:nvSpPr>
        <p:spPr>
          <a:xfrm>
            <a:off x="6662024" y="3298984"/>
            <a:ext cx="4667832" cy="208280"/>
          </a:xfrm>
          <a:prstGeom prst="rect">
            <a:avLst/>
          </a:prstGeom>
          <a:noFill/>
          <a:ln/>
        </p:spPr>
        <p:txBody>
          <a:bodyPr wrap="square" lIns="0" tIns="0" rIns="0" bIns="0" rtlCol="0" anchor="t">
            <a:normAutofit/>
          </a:bodyPr>
          <a:lstStyle/>
          <a:p>
            <a:pPr marL="0" indent="0" algn="l">
              <a:lnSpc>
                <a:spcPts val="1440"/>
              </a:lnSpc>
              <a:buNone/>
            </a:pPr>
            <a:r>
              <a:rPr lang="en-US" sz="1400" b="1" dirty="0">
                <a:ea typeface="Arial" pitchFamily="34" charset="-122"/>
                <a:cs typeface="Arial" pitchFamily="34" charset="-120"/>
              </a:rPr>
              <a:t>Windows (PowerShell)</a:t>
            </a:r>
            <a:endParaRPr lang="en-US" sz="1400" dirty="0"/>
          </a:p>
        </p:txBody>
      </p:sp>
      <p:sp>
        <p:nvSpPr>
          <p:cNvPr id="24" name="Text 15">
            <a:extLst>
              <a:ext uri="{FF2B5EF4-FFF2-40B4-BE49-F238E27FC236}">
                <a16:creationId xmlns:a16="http://schemas.microsoft.com/office/drawing/2014/main" id="{2C019C3F-B924-411C-B3B3-BC34D87324DA}"/>
              </a:ext>
            </a:extLst>
          </p:cNvPr>
          <p:cNvSpPr/>
          <p:nvPr/>
        </p:nvSpPr>
        <p:spPr>
          <a:xfrm>
            <a:off x="6662024" y="3519964"/>
            <a:ext cx="4667832" cy="203160"/>
          </a:xfrm>
          <a:prstGeom prst="rect">
            <a:avLst/>
          </a:prstGeom>
          <a:noFill/>
          <a:ln/>
        </p:spPr>
        <p:txBody>
          <a:bodyPr wrap="square" lIns="0" tIns="0" rIns="0" bIns="0" rtlCol="0" anchor="t">
            <a:normAutofit/>
          </a:bodyPr>
          <a:lstStyle/>
          <a:p>
            <a:pPr marL="0" indent="0" algn="l">
              <a:lnSpc>
                <a:spcPts val="1400"/>
              </a:lnSpc>
              <a:buNone/>
            </a:pPr>
            <a:r>
              <a:rPr lang="en-US" sz="1400" dirty="0">
                <a:ea typeface="Courier New" pitchFamily="34" charset="-122"/>
                <a:cs typeface="Courier New" pitchFamily="34" charset="-120"/>
              </a:rPr>
              <a:t>Resolve-DnsName www.&lt;IHRE-DOMAIN&gt;</a:t>
            </a:r>
            <a:endParaRPr lang="en-US" sz="1400" dirty="0"/>
          </a:p>
        </p:txBody>
      </p:sp>
      <p:sp>
        <p:nvSpPr>
          <p:cNvPr id="25" name="Shape 16">
            <a:extLst>
              <a:ext uri="{FF2B5EF4-FFF2-40B4-BE49-F238E27FC236}">
                <a16:creationId xmlns:a16="http://schemas.microsoft.com/office/drawing/2014/main" id="{38FAFFBC-3007-4771-A257-29A5299D5FF1}"/>
              </a:ext>
            </a:extLst>
          </p:cNvPr>
          <p:cNvSpPr/>
          <p:nvPr/>
        </p:nvSpPr>
        <p:spPr>
          <a:xfrm>
            <a:off x="5997377" y="3987840"/>
            <a:ext cx="5378728" cy="788115"/>
          </a:xfrm>
          <a:prstGeom prst="roundRect">
            <a:avLst>
              <a:gd name="adj" fmla="val 9534"/>
            </a:avLst>
          </a:prstGeom>
          <a:solidFill>
            <a:srgbClr val="F5F5F5"/>
          </a:solidFill>
          <a:ln w="6350">
            <a:solidFill>
              <a:srgbClr val="D1D5DB"/>
            </a:solidFill>
            <a:prstDash val="solid"/>
          </a:ln>
        </p:spPr>
      </p:sp>
      <p:sp>
        <p:nvSpPr>
          <p:cNvPr id="26" name="Shape 17">
            <a:extLst>
              <a:ext uri="{FF2B5EF4-FFF2-40B4-BE49-F238E27FC236}">
                <a16:creationId xmlns:a16="http://schemas.microsoft.com/office/drawing/2014/main" id="{702F7485-9318-4858-9D59-DB6D57B920A8}"/>
              </a:ext>
            </a:extLst>
          </p:cNvPr>
          <p:cNvSpPr/>
          <p:nvPr/>
        </p:nvSpPr>
        <p:spPr>
          <a:xfrm>
            <a:off x="6182757" y="4262755"/>
            <a:ext cx="349171" cy="349171"/>
          </a:xfrm>
          <a:prstGeom prst="roundRect">
            <a:avLst>
              <a:gd name="adj" fmla="val 50000"/>
            </a:avLst>
          </a:prstGeom>
          <a:solidFill>
            <a:srgbClr val="FFFFFF"/>
          </a:solidFill>
          <a:ln w="6350">
            <a:solidFill>
              <a:srgbClr val="1A1A1A"/>
            </a:solidFill>
            <a:prstDash val="solid"/>
          </a:ln>
        </p:spPr>
      </p:sp>
      <p:pic>
        <p:nvPicPr>
          <p:cNvPr id="27" name="Image 3" descr="Globe">
            <a:extLst>
              <a:ext uri="{FF2B5EF4-FFF2-40B4-BE49-F238E27FC236}">
                <a16:creationId xmlns:a16="http://schemas.microsoft.com/office/drawing/2014/main" id="{893F833C-D73B-4207-AAA2-72F532F643CF}"/>
              </a:ext>
            </a:extLst>
          </p:cNvPr>
          <p:cNvPicPr>
            <a:picLocks noChangeAspect="1"/>
          </p:cNvPicPr>
          <p:nvPr/>
        </p:nvPicPr>
        <p:blipFill>
          <a:blip r:embed="rId3"/>
          <a:srcRect/>
          <a:stretch/>
        </p:blipFill>
        <p:spPr>
          <a:xfrm>
            <a:off x="6274832" y="4354830"/>
            <a:ext cx="165021" cy="165021"/>
          </a:xfrm>
          <a:prstGeom prst="rect">
            <a:avLst/>
          </a:prstGeom>
        </p:spPr>
      </p:pic>
      <p:sp>
        <p:nvSpPr>
          <p:cNvPr id="28" name="Text 18">
            <a:extLst>
              <a:ext uri="{FF2B5EF4-FFF2-40B4-BE49-F238E27FC236}">
                <a16:creationId xmlns:a16="http://schemas.microsoft.com/office/drawing/2014/main" id="{6D2B96C8-7A83-4508-8DBF-FF2A62915B7D}"/>
              </a:ext>
            </a:extLst>
          </p:cNvPr>
          <p:cNvSpPr/>
          <p:nvPr/>
        </p:nvSpPr>
        <p:spPr>
          <a:xfrm>
            <a:off x="6662024" y="4144685"/>
            <a:ext cx="4667832" cy="208280"/>
          </a:xfrm>
          <a:prstGeom prst="rect">
            <a:avLst/>
          </a:prstGeom>
          <a:noFill/>
          <a:ln/>
        </p:spPr>
        <p:txBody>
          <a:bodyPr wrap="square" lIns="0" tIns="0" rIns="0" bIns="0" rtlCol="0" anchor="t">
            <a:normAutofit/>
          </a:bodyPr>
          <a:lstStyle/>
          <a:p>
            <a:pPr>
              <a:lnSpc>
                <a:spcPts val="1440"/>
              </a:lnSpc>
            </a:pPr>
            <a:r>
              <a:rPr lang="en-US" sz="1400" b="1" dirty="0">
                <a:ea typeface="Arial" pitchFamily="34" charset="-122"/>
                <a:cs typeface="Arial" pitchFamily="34" charset="-120"/>
              </a:rPr>
              <a:t>Online-Checker z. B. dnschecker.org</a:t>
            </a:r>
            <a:endParaRPr lang="en-US" sz="1400" dirty="0"/>
          </a:p>
        </p:txBody>
      </p:sp>
      <p:sp>
        <p:nvSpPr>
          <p:cNvPr id="30" name="Text 20">
            <a:extLst>
              <a:ext uri="{FF2B5EF4-FFF2-40B4-BE49-F238E27FC236}">
                <a16:creationId xmlns:a16="http://schemas.microsoft.com/office/drawing/2014/main" id="{2C4B9490-452B-457F-89E4-057A05E82D2B}"/>
              </a:ext>
            </a:extLst>
          </p:cNvPr>
          <p:cNvSpPr/>
          <p:nvPr/>
        </p:nvSpPr>
        <p:spPr>
          <a:xfrm>
            <a:off x="6662024" y="4415275"/>
            <a:ext cx="4667832" cy="173990"/>
          </a:xfrm>
          <a:prstGeom prst="rect">
            <a:avLst/>
          </a:prstGeom>
          <a:noFill/>
          <a:ln/>
        </p:spPr>
        <p:txBody>
          <a:bodyPr wrap="square" lIns="0" tIns="0" rIns="0" bIns="0" rtlCol="0" anchor="t">
            <a:normAutofit/>
          </a:bodyPr>
          <a:lstStyle/>
          <a:p>
            <a:pPr marL="0" indent="0" algn="l">
              <a:lnSpc>
                <a:spcPts val="1170"/>
              </a:lnSpc>
              <a:buNone/>
            </a:pPr>
            <a:r>
              <a:rPr lang="en-US" sz="1400" dirty="0">
                <a:ea typeface="Arial" pitchFamily="34" charset="-122"/>
                <a:cs typeface="Arial" pitchFamily="34" charset="-120"/>
              </a:rPr>
              <a:t>Prüft die weltweite Propagierung des Eintrags</a:t>
            </a:r>
            <a:endParaRPr lang="en-US" sz="1400" dirty="0"/>
          </a:p>
        </p:txBody>
      </p:sp>
      <p:pic>
        <p:nvPicPr>
          <p:cNvPr id="35" name="Grafik 34">
            <a:extLst>
              <a:ext uri="{FF2B5EF4-FFF2-40B4-BE49-F238E27FC236}">
                <a16:creationId xmlns:a16="http://schemas.microsoft.com/office/drawing/2014/main" id="{4633993E-731A-4DEF-8A9D-1E1CA6A9BF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60001" y="5115686"/>
            <a:ext cx="1129554" cy="129898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EA69A3DD-6FBD-40E7-B37A-03BD8D460E91}"/>
              </a:ext>
            </a:extLst>
          </p:cNvPr>
          <p:cNvSpPr>
            <a:spLocks noGrp="1"/>
          </p:cNvSpPr>
          <p:nvPr>
            <p:ph type="title"/>
          </p:nvPr>
        </p:nvSpPr>
        <p:spPr/>
        <p:txBody>
          <a:bodyPr/>
          <a:lstStyle/>
          <a:p>
            <a:r>
              <a:rPr lang="de-DE" dirty="0"/>
              <a:t>Laborübung 05</a:t>
            </a:r>
          </a:p>
        </p:txBody>
      </p:sp>
      <p:sp>
        <p:nvSpPr>
          <p:cNvPr id="5" name="Datumsplatzhalter 4">
            <a:extLst>
              <a:ext uri="{FF2B5EF4-FFF2-40B4-BE49-F238E27FC236}">
                <a16:creationId xmlns:a16="http://schemas.microsoft.com/office/drawing/2014/main" id="{816D55CA-6F4F-4E30-AA9E-71F6E14CB6C3}"/>
              </a:ext>
            </a:extLst>
          </p:cNvPr>
          <p:cNvSpPr>
            <a:spLocks noGrp="1"/>
          </p:cNvSpPr>
          <p:nvPr>
            <p:ph type="dt" sz="half" idx="10"/>
          </p:nvPr>
        </p:nvSpPr>
        <p:spPr/>
        <p:txBody>
          <a:bodyPr/>
          <a:lstStyle/>
          <a:p>
            <a:fld id="{757CD2D1-8C96-4412-8C0C-09C7E956F080}" type="datetime1">
              <a:rPr lang="de-DE" smtClean="0"/>
              <a:t>07.10.2026</a:t>
            </a:fld>
            <a:endParaRPr lang="de-DE" dirty="0"/>
          </a:p>
        </p:txBody>
      </p:sp>
      <p:sp>
        <p:nvSpPr>
          <p:cNvPr id="6" name="Foliennummernplatzhalter 5">
            <a:extLst>
              <a:ext uri="{FF2B5EF4-FFF2-40B4-BE49-F238E27FC236}">
                <a16:creationId xmlns:a16="http://schemas.microsoft.com/office/drawing/2014/main" id="{FADE0D9E-8259-484A-9508-2802F1E7C7A9}"/>
              </a:ext>
            </a:extLst>
          </p:cNvPr>
          <p:cNvSpPr>
            <a:spLocks noGrp="1"/>
          </p:cNvSpPr>
          <p:nvPr>
            <p:ph type="sldNum" sz="quarter" idx="4"/>
          </p:nvPr>
        </p:nvSpPr>
        <p:spPr/>
        <p:txBody>
          <a:bodyPr/>
          <a:lstStyle/>
          <a:p>
            <a:fld id="{43A6DCFB-163F-4561-BF28-3CD1FE47EE20}" type="slidenum">
              <a:rPr lang="de-DE" smtClean="0"/>
              <a:pPr/>
              <a:t>13</a:t>
            </a:fld>
            <a:endParaRPr lang="de-DE" dirty="0"/>
          </a:p>
        </p:txBody>
      </p:sp>
      <p:pic>
        <p:nvPicPr>
          <p:cNvPr id="8" name="Grafik 7">
            <a:extLst>
              <a:ext uri="{FF2B5EF4-FFF2-40B4-BE49-F238E27FC236}">
                <a16:creationId xmlns:a16="http://schemas.microsoft.com/office/drawing/2014/main" id="{2C85E1F9-33FE-45F1-BBF3-87B319A941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52597" y="1956084"/>
            <a:ext cx="3108344" cy="373001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01" y="274638"/>
            <a:ext cx="10953313" cy="1143000"/>
          </a:xfrm>
        </p:spPr>
        <p:txBody>
          <a:bodyPr/>
          <a:lstStyle/>
          <a:p>
            <a:r>
              <a:rPr lang="de-DE" sz="2400" dirty="0"/>
              <a:t>Docker-Befehle: Installation &amp; Verifikation</a:t>
            </a:r>
            <a:endParaRPr sz="2400" dirty="0"/>
          </a:p>
        </p:txBody>
      </p:sp>
      <p:sp>
        <p:nvSpPr>
          <p:cNvPr id="2" name="Foliennummernplatzhalter 4"/>
          <p:cNvSpPr>
            <a:spLocks noGrp="1"/>
          </p:cNvSpPr>
          <p:nvPr>
            <p:ph type="sldNum" sz="quarter" idx="4"/>
          </p:nvPr>
        </p:nvSpPr>
        <p:spPr/>
        <p:txBody>
          <a:bodyPr/>
          <a:lstStyle/>
          <a:p>
            <a:fld id="{43A6DCFB-163F-4561-BF28-3CD1FE47EE20}" type="slidenum">
              <a:rPr lang="de-DE" smtClean="0"/>
              <a:pPr/>
              <a:t>14</a:t>
            </a:fld>
            <a:endParaRPr lang="de-DE" dirty="0"/>
          </a:p>
        </p:txBody>
      </p:sp>
      <p:sp>
        <p:nvSpPr>
          <p:cNvPr id="5" name="TextBox 4"/>
          <p:cNvSpPr txBox="1"/>
          <p:nvPr/>
        </p:nvSpPr>
        <p:spPr>
          <a:xfrm>
            <a:off x="548640" y="2055897"/>
            <a:ext cx="5257800" cy="274320"/>
          </a:xfrm>
          <a:prstGeom prst="rect">
            <a:avLst/>
          </a:prstGeom>
          <a:noFill/>
        </p:spPr>
        <p:txBody>
          <a:bodyPr wrap="square" lIns="0" tIns="0" rIns="0" bIns="0">
            <a:spAutoFit/>
          </a:bodyPr>
          <a:lstStyle/>
          <a:p>
            <a:pPr algn="ctr"/>
            <a:r>
              <a:rPr sz="1500" b="1" i="0" dirty="0" err="1">
                <a:solidFill>
                  <a:srgbClr val="005AA8"/>
                </a:solidFill>
                <a:latin typeface="Arial"/>
              </a:rPr>
              <a:t>Inbetriebnahme</a:t>
            </a:r>
            <a:r>
              <a:rPr sz="1500" b="1" i="0" dirty="0">
                <a:solidFill>
                  <a:srgbClr val="005AA8"/>
                </a:solidFill>
                <a:latin typeface="Arial"/>
              </a:rPr>
              <a:t> &amp; Installation</a:t>
            </a:r>
          </a:p>
        </p:txBody>
      </p:sp>
      <p:sp>
        <p:nvSpPr>
          <p:cNvPr id="6" name="TextBox 5"/>
          <p:cNvSpPr txBox="1"/>
          <p:nvPr/>
        </p:nvSpPr>
        <p:spPr>
          <a:xfrm>
            <a:off x="6385255" y="2055897"/>
            <a:ext cx="5257800" cy="274320"/>
          </a:xfrm>
          <a:prstGeom prst="rect">
            <a:avLst/>
          </a:prstGeom>
          <a:noFill/>
        </p:spPr>
        <p:txBody>
          <a:bodyPr wrap="square" lIns="0" tIns="0" rIns="0" bIns="0">
            <a:spAutoFit/>
          </a:bodyPr>
          <a:lstStyle/>
          <a:p>
            <a:pPr algn="ctr"/>
            <a:r>
              <a:rPr sz="1500" b="1" i="0">
                <a:solidFill>
                  <a:srgbClr val="1E6B3C"/>
                </a:solidFill>
                <a:latin typeface="Arial"/>
              </a:rPr>
              <a:t>Verifikation</a:t>
            </a:r>
          </a:p>
        </p:txBody>
      </p:sp>
      <p:sp>
        <p:nvSpPr>
          <p:cNvPr id="7" name="Rounded Rectangle 6"/>
          <p:cNvSpPr/>
          <p:nvPr/>
        </p:nvSpPr>
        <p:spPr>
          <a:xfrm>
            <a:off x="374073" y="2621005"/>
            <a:ext cx="5432367" cy="256032"/>
          </a:xfrm>
          <a:prstGeom prst="roundRect">
            <a:avLst>
              <a:gd name="adj" fmla="val 18000"/>
            </a:avLst>
          </a:prstGeom>
          <a:solidFill>
            <a:srgbClr val="1A222C"/>
          </a:solidFill>
          <a:ln w="12700">
            <a:solidFill>
              <a:srgbClr val="2E3A4A"/>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100" b="0" dirty="0">
                <a:solidFill>
                  <a:srgbClr val="F3F5F2"/>
                </a:solidFill>
                <a:latin typeface="Courier New"/>
              </a:rPr>
              <a:t>apt install -y docker-</a:t>
            </a:r>
            <a:r>
              <a:rPr sz="1100" b="0" dirty="0" err="1">
                <a:solidFill>
                  <a:srgbClr val="F3F5F2"/>
                </a:solidFill>
                <a:latin typeface="Courier New"/>
              </a:rPr>
              <a:t>ce</a:t>
            </a:r>
            <a:r>
              <a:rPr sz="1100" b="0" dirty="0">
                <a:solidFill>
                  <a:srgbClr val="F3F5F2"/>
                </a:solidFill>
                <a:latin typeface="Courier New"/>
              </a:rPr>
              <a:t> docker-</a:t>
            </a:r>
            <a:r>
              <a:rPr sz="1100" b="0" dirty="0" err="1">
                <a:solidFill>
                  <a:srgbClr val="F3F5F2"/>
                </a:solidFill>
                <a:latin typeface="Courier New"/>
              </a:rPr>
              <a:t>ce</a:t>
            </a:r>
            <a:r>
              <a:rPr sz="1100" b="0" dirty="0">
                <a:solidFill>
                  <a:srgbClr val="F3F5F2"/>
                </a:solidFill>
                <a:latin typeface="Courier New"/>
              </a:rPr>
              <a:t>-cli containerd.io</a:t>
            </a:r>
          </a:p>
        </p:txBody>
      </p:sp>
      <p:sp>
        <p:nvSpPr>
          <p:cNvPr id="8" name="TextBox 7"/>
          <p:cNvSpPr txBox="1"/>
          <p:nvPr/>
        </p:nvSpPr>
        <p:spPr>
          <a:xfrm>
            <a:off x="548640" y="2895324"/>
            <a:ext cx="5257800" cy="169277"/>
          </a:xfrm>
          <a:prstGeom prst="rect">
            <a:avLst/>
          </a:prstGeom>
          <a:noFill/>
        </p:spPr>
        <p:txBody>
          <a:bodyPr wrap="square" lIns="0" tIns="0" rIns="0" bIns="0">
            <a:spAutoFit/>
          </a:bodyPr>
          <a:lstStyle/>
          <a:p>
            <a:pPr algn="l"/>
            <a:r>
              <a:rPr sz="1100" b="0" i="0">
                <a:solidFill>
                  <a:srgbClr val="5B6472"/>
                </a:solidFill>
                <a:latin typeface="Arial"/>
              </a:rPr>
              <a:t>Docker Engine, CLI und Container-Laufzeit installieren (Schritt 1)</a:t>
            </a:r>
          </a:p>
        </p:txBody>
      </p:sp>
      <p:sp>
        <p:nvSpPr>
          <p:cNvPr id="9" name="Rounded Rectangle 8"/>
          <p:cNvSpPr/>
          <p:nvPr/>
        </p:nvSpPr>
        <p:spPr>
          <a:xfrm>
            <a:off x="374073" y="3242797"/>
            <a:ext cx="5432367" cy="256032"/>
          </a:xfrm>
          <a:prstGeom prst="roundRect">
            <a:avLst>
              <a:gd name="adj" fmla="val 18000"/>
            </a:avLst>
          </a:prstGeom>
          <a:solidFill>
            <a:srgbClr val="1A222C"/>
          </a:solidFill>
          <a:ln w="12700">
            <a:solidFill>
              <a:srgbClr val="2E3A4A"/>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100" b="0">
                <a:solidFill>
                  <a:srgbClr val="F3F5F2"/>
                </a:solidFill>
                <a:latin typeface="Courier New"/>
              </a:rPr>
              <a:t>docker pull nginx</a:t>
            </a:r>
          </a:p>
        </p:txBody>
      </p:sp>
      <p:sp>
        <p:nvSpPr>
          <p:cNvPr id="10" name="TextBox 9"/>
          <p:cNvSpPr txBox="1"/>
          <p:nvPr/>
        </p:nvSpPr>
        <p:spPr>
          <a:xfrm>
            <a:off x="548640" y="3517117"/>
            <a:ext cx="5257800" cy="169277"/>
          </a:xfrm>
          <a:prstGeom prst="rect">
            <a:avLst/>
          </a:prstGeom>
          <a:noFill/>
        </p:spPr>
        <p:txBody>
          <a:bodyPr wrap="square" lIns="0" tIns="0" rIns="0" bIns="0">
            <a:spAutoFit/>
          </a:bodyPr>
          <a:lstStyle/>
          <a:p>
            <a:pPr algn="l"/>
            <a:r>
              <a:rPr sz="1100" b="0" i="0">
                <a:solidFill>
                  <a:srgbClr val="5B6472"/>
                </a:solidFill>
                <a:latin typeface="Arial"/>
              </a:rPr>
              <a:t>Aktuelles Image aus der Registry laden – z. B. vor einem Update</a:t>
            </a:r>
          </a:p>
        </p:txBody>
      </p:sp>
      <p:sp>
        <p:nvSpPr>
          <p:cNvPr id="11" name="Rounded Rectangle 10"/>
          <p:cNvSpPr/>
          <p:nvPr/>
        </p:nvSpPr>
        <p:spPr>
          <a:xfrm>
            <a:off x="374073" y="3773147"/>
            <a:ext cx="5432367" cy="347474"/>
          </a:xfrm>
          <a:prstGeom prst="roundRect">
            <a:avLst>
              <a:gd name="adj" fmla="val 18000"/>
            </a:avLst>
          </a:prstGeom>
          <a:solidFill>
            <a:srgbClr val="1A222C"/>
          </a:solidFill>
          <a:ln w="12700">
            <a:solidFill>
              <a:srgbClr val="2E3A4A"/>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100" b="0" dirty="0">
                <a:solidFill>
                  <a:srgbClr val="F3F5F2"/>
                </a:solidFill>
                <a:latin typeface="Courier New"/>
              </a:rPr>
              <a:t>docker run -d --name </a:t>
            </a:r>
            <a:r>
              <a:rPr sz="1100" b="0" dirty="0" err="1">
                <a:solidFill>
                  <a:srgbClr val="F3F5F2"/>
                </a:solidFill>
                <a:latin typeface="Courier New"/>
              </a:rPr>
              <a:t>nginx</a:t>
            </a:r>
            <a:r>
              <a:rPr sz="1100" b="0" dirty="0">
                <a:solidFill>
                  <a:srgbClr val="F3F5F2"/>
                </a:solidFill>
                <a:latin typeface="Courier New"/>
              </a:rPr>
              <a:t>-web -p 127.0.0.1:8080:80 -v /</a:t>
            </a:r>
            <a:r>
              <a:rPr sz="1100" b="0" dirty="0" err="1">
                <a:solidFill>
                  <a:srgbClr val="F3F5F2"/>
                </a:solidFill>
                <a:latin typeface="Courier New"/>
              </a:rPr>
              <a:t>srv</a:t>
            </a:r>
            <a:r>
              <a:rPr sz="1100" b="0" dirty="0">
                <a:solidFill>
                  <a:srgbClr val="F3F5F2"/>
                </a:solidFill>
                <a:latin typeface="Courier New"/>
              </a:rPr>
              <a:t>/www:...:</a:t>
            </a:r>
            <a:r>
              <a:rPr sz="1100" b="0" dirty="0" err="1">
                <a:solidFill>
                  <a:srgbClr val="F3F5F2"/>
                </a:solidFill>
                <a:latin typeface="Courier New"/>
              </a:rPr>
              <a:t>ro</a:t>
            </a:r>
            <a:r>
              <a:rPr sz="1100" b="0" dirty="0">
                <a:solidFill>
                  <a:srgbClr val="F3F5F2"/>
                </a:solidFill>
                <a:latin typeface="Courier New"/>
              </a:rPr>
              <a:t> </a:t>
            </a:r>
            <a:r>
              <a:rPr sz="1100" b="0" dirty="0" err="1">
                <a:solidFill>
                  <a:srgbClr val="F3F5F2"/>
                </a:solidFill>
                <a:latin typeface="Courier New"/>
              </a:rPr>
              <a:t>nginx</a:t>
            </a:r>
            <a:endParaRPr sz="1100" b="0" dirty="0">
              <a:solidFill>
                <a:srgbClr val="F3F5F2"/>
              </a:solidFill>
              <a:latin typeface="Courier New"/>
            </a:endParaRPr>
          </a:p>
        </p:txBody>
      </p:sp>
      <p:sp>
        <p:nvSpPr>
          <p:cNvPr id="12" name="TextBox 11"/>
          <p:cNvSpPr txBox="1"/>
          <p:nvPr/>
        </p:nvSpPr>
        <p:spPr>
          <a:xfrm>
            <a:off x="548640" y="4138908"/>
            <a:ext cx="5257800" cy="169277"/>
          </a:xfrm>
          <a:prstGeom prst="rect">
            <a:avLst/>
          </a:prstGeom>
          <a:noFill/>
        </p:spPr>
        <p:txBody>
          <a:bodyPr wrap="square" lIns="0" tIns="0" rIns="0" bIns="0">
            <a:spAutoFit/>
          </a:bodyPr>
          <a:lstStyle/>
          <a:p>
            <a:pPr algn="l"/>
            <a:r>
              <a:rPr sz="1100" b="0" i="0">
                <a:solidFill>
                  <a:srgbClr val="5B6472"/>
                </a:solidFill>
                <a:latin typeface="Arial"/>
              </a:rPr>
              <a:t>Container mit Bind Mount erzeugen &amp; starten (Unternehmenswebseite)</a:t>
            </a:r>
          </a:p>
        </p:txBody>
      </p:sp>
      <p:sp>
        <p:nvSpPr>
          <p:cNvPr id="13" name="Rounded Rectangle 12"/>
          <p:cNvSpPr/>
          <p:nvPr/>
        </p:nvSpPr>
        <p:spPr>
          <a:xfrm>
            <a:off x="374073" y="4394940"/>
            <a:ext cx="5432367" cy="347472"/>
          </a:xfrm>
          <a:prstGeom prst="roundRect">
            <a:avLst>
              <a:gd name="adj" fmla="val 18000"/>
            </a:avLst>
          </a:prstGeom>
          <a:solidFill>
            <a:srgbClr val="1A222C"/>
          </a:solidFill>
          <a:ln w="12700">
            <a:solidFill>
              <a:srgbClr val="2E3A4A"/>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100" b="0" dirty="0">
                <a:solidFill>
                  <a:srgbClr val="F3F5F2"/>
                </a:solidFill>
                <a:latin typeface="Courier New"/>
              </a:rPr>
              <a:t>docker run -d --name </a:t>
            </a:r>
            <a:r>
              <a:rPr sz="1100" b="0" dirty="0" err="1">
                <a:solidFill>
                  <a:srgbClr val="F3F5F2"/>
                </a:solidFill>
                <a:latin typeface="Courier New"/>
              </a:rPr>
              <a:t>nodered</a:t>
            </a:r>
            <a:r>
              <a:rPr sz="1100" b="0" dirty="0">
                <a:solidFill>
                  <a:srgbClr val="F3F5F2"/>
                </a:solidFill>
                <a:latin typeface="Courier New"/>
              </a:rPr>
              <a:t> -p 127.0.0.1:1880:1880 -v </a:t>
            </a:r>
            <a:r>
              <a:rPr sz="1100" b="0" dirty="0" err="1">
                <a:solidFill>
                  <a:srgbClr val="F3F5F2"/>
                </a:solidFill>
                <a:latin typeface="Courier New"/>
              </a:rPr>
              <a:t>nodered</a:t>
            </a:r>
            <a:r>
              <a:rPr sz="1100" b="0" dirty="0">
                <a:solidFill>
                  <a:srgbClr val="F3F5F2"/>
                </a:solidFill>
                <a:latin typeface="Courier New"/>
              </a:rPr>
              <a:t>-data:/data ...</a:t>
            </a:r>
          </a:p>
        </p:txBody>
      </p:sp>
      <p:sp>
        <p:nvSpPr>
          <p:cNvPr id="14" name="TextBox 13"/>
          <p:cNvSpPr txBox="1"/>
          <p:nvPr/>
        </p:nvSpPr>
        <p:spPr>
          <a:xfrm>
            <a:off x="548640" y="4760700"/>
            <a:ext cx="5257800" cy="169277"/>
          </a:xfrm>
          <a:prstGeom prst="rect">
            <a:avLst/>
          </a:prstGeom>
          <a:noFill/>
        </p:spPr>
        <p:txBody>
          <a:bodyPr wrap="square" lIns="0" tIns="0" rIns="0" bIns="0">
            <a:spAutoFit/>
          </a:bodyPr>
          <a:lstStyle/>
          <a:p>
            <a:pPr algn="l"/>
            <a:r>
              <a:rPr sz="1100" b="0" i="0">
                <a:solidFill>
                  <a:srgbClr val="5B6472"/>
                </a:solidFill>
                <a:latin typeface="Arial"/>
              </a:rPr>
              <a:t>Container mit benanntem Volume erzeugen &amp; starten (Node-RED)</a:t>
            </a:r>
          </a:p>
        </p:txBody>
      </p:sp>
      <p:sp>
        <p:nvSpPr>
          <p:cNvPr id="15" name="Rounded Rectangle 14"/>
          <p:cNvSpPr/>
          <p:nvPr/>
        </p:nvSpPr>
        <p:spPr>
          <a:xfrm>
            <a:off x="374073" y="5108173"/>
            <a:ext cx="5432367" cy="256032"/>
          </a:xfrm>
          <a:prstGeom prst="roundRect">
            <a:avLst>
              <a:gd name="adj" fmla="val 18000"/>
            </a:avLst>
          </a:prstGeom>
          <a:solidFill>
            <a:srgbClr val="1A222C"/>
          </a:solidFill>
          <a:ln w="12700">
            <a:solidFill>
              <a:srgbClr val="2E3A4A"/>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100" b="0" dirty="0">
                <a:solidFill>
                  <a:srgbClr val="F3F5F2"/>
                </a:solidFill>
                <a:latin typeface="Courier New"/>
              </a:rPr>
              <a:t>docker stop </a:t>
            </a:r>
            <a:r>
              <a:rPr sz="1100" b="0" dirty="0" err="1">
                <a:solidFill>
                  <a:srgbClr val="F3F5F2"/>
                </a:solidFill>
                <a:latin typeface="Courier New"/>
              </a:rPr>
              <a:t>nodered</a:t>
            </a:r>
            <a:r>
              <a:rPr sz="1100" b="0" dirty="0">
                <a:solidFill>
                  <a:srgbClr val="F3F5F2"/>
                </a:solidFill>
                <a:latin typeface="Courier New"/>
              </a:rPr>
              <a:t> &amp;&amp; docker rm </a:t>
            </a:r>
            <a:r>
              <a:rPr sz="1100" b="0" dirty="0" err="1">
                <a:solidFill>
                  <a:srgbClr val="F3F5F2"/>
                </a:solidFill>
                <a:latin typeface="Courier New"/>
              </a:rPr>
              <a:t>nodered</a:t>
            </a:r>
            <a:endParaRPr sz="1100" b="0" dirty="0">
              <a:solidFill>
                <a:srgbClr val="F3F5F2"/>
              </a:solidFill>
              <a:latin typeface="Courier New"/>
            </a:endParaRPr>
          </a:p>
        </p:txBody>
      </p:sp>
      <p:sp>
        <p:nvSpPr>
          <p:cNvPr id="16" name="TextBox 15"/>
          <p:cNvSpPr txBox="1"/>
          <p:nvPr/>
        </p:nvSpPr>
        <p:spPr>
          <a:xfrm>
            <a:off x="548640" y="5382493"/>
            <a:ext cx="5257800" cy="169277"/>
          </a:xfrm>
          <a:prstGeom prst="rect">
            <a:avLst/>
          </a:prstGeom>
          <a:noFill/>
        </p:spPr>
        <p:txBody>
          <a:bodyPr wrap="square" lIns="0" tIns="0" rIns="0" bIns="0">
            <a:spAutoFit/>
          </a:bodyPr>
          <a:lstStyle/>
          <a:p>
            <a:pPr algn="l"/>
            <a:r>
              <a:rPr sz="1100" b="0" i="0">
                <a:solidFill>
                  <a:srgbClr val="5B6472"/>
                </a:solidFill>
                <a:latin typeface="Arial"/>
              </a:rPr>
              <a:t>Container stoppen &amp; löschen – Daten in Volume/Bind Mount bleiben erhalten</a:t>
            </a:r>
          </a:p>
        </p:txBody>
      </p:sp>
      <p:sp>
        <p:nvSpPr>
          <p:cNvPr id="17" name="Rounded Rectangle 16"/>
          <p:cNvSpPr/>
          <p:nvPr/>
        </p:nvSpPr>
        <p:spPr>
          <a:xfrm>
            <a:off x="374073" y="5729965"/>
            <a:ext cx="5432367" cy="256032"/>
          </a:xfrm>
          <a:prstGeom prst="roundRect">
            <a:avLst>
              <a:gd name="adj" fmla="val 18000"/>
            </a:avLst>
          </a:prstGeom>
          <a:solidFill>
            <a:srgbClr val="1A222C"/>
          </a:solidFill>
          <a:ln w="12700">
            <a:solidFill>
              <a:srgbClr val="2E3A4A"/>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100" b="0" dirty="0">
                <a:solidFill>
                  <a:srgbClr val="F3F5F2"/>
                </a:solidFill>
                <a:latin typeface="Courier New"/>
              </a:rPr>
              <a:t>docker exec -it </a:t>
            </a:r>
            <a:r>
              <a:rPr sz="1100" b="0" dirty="0" err="1">
                <a:solidFill>
                  <a:srgbClr val="F3F5F2"/>
                </a:solidFill>
                <a:latin typeface="Courier New"/>
              </a:rPr>
              <a:t>nodered</a:t>
            </a:r>
            <a:r>
              <a:rPr sz="1100" b="0" dirty="0">
                <a:solidFill>
                  <a:srgbClr val="F3F5F2"/>
                </a:solidFill>
                <a:latin typeface="Courier New"/>
              </a:rPr>
              <a:t> node-red admin hash-pw</a:t>
            </a:r>
          </a:p>
        </p:txBody>
      </p:sp>
      <p:sp>
        <p:nvSpPr>
          <p:cNvPr id="18" name="TextBox 17"/>
          <p:cNvSpPr txBox="1"/>
          <p:nvPr/>
        </p:nvSpPr>
        <p:spPr>
          <a:xfrm>
            <a:off x="548640" y="6004285"/>
            <a:ext cx="5257800" cy="169277"/>
          </a:xfrm>
          <a:prstGeom prst="rect">
            <a:avLst/>
          </a:prstGeom>
          <a:noFill/>
        </p:spPr>
        <p:txBody>
          <a:bodyPr wrap="square" lIns="0" tIns="0" rIns="0" bIns="0">
            <a:spAutoFit/>
          </a:bodyPr>
          <a:lstStyle/>
          <a:p>
            <a:pPr algn="l"/>
            <a:r>
              <a:rPr sz="1100" b="0" i="0">
                <a:solidFill>
                  <a:srgbClr val="5B6472"/>
                </a:solidFill>
                <a:latin typeface="Arial"/>
              </a:rPr>
              <a:t>Befehl im laufenden Container ausführen – erzeugt bcrypt-Hash für adminAuth</a:t>
            </a:r>
          </a:p>
        </p:txBody>
      </p:sp>
      <p:sp>
        <p:nvSpPr>
          <p:cNvPr id="19" name="Rounded Rectangle 18"/>
          <p:cNvSpPr/>
          <p:nvPr/>
        </p:nvSpPr>
        <p:spPr>
          <a:xfrm>
            <a:off x="6385255" y="2621005"/>
            <a:ext cx="5257800" cy="256032"/>
          </a:xfrm>
          <a:prstGeom prst="roundRect">
            <a:avLst>
              <a:gd name="adj" fmla="val 18000"/>
            </a:avLst>
          </a:prstGeom>
          <a:solidFill>
            <a:srgbClr val="1A222C"/>
          </a:solidFill>
          <a:ln w="12700">
            <a:solidFill>
              <a:srgbClr val="2E3A4A"/>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100" b="0">
                <a:solidFill>
                  <a:srgbClr val="F3F5F2"/>
                </a:solidFill>
                <a:latin typeface="Courier New"/>
              </a:rPr>
              <a:t>docker version</a:t>
            </a:r>
          </a:p>
        </p:txBody>
      </p:sp>
      <p:sp>
        <p:nvSpPr>
          <p:cNvPr id="20" name="TextBox 19"/>
          <p:cNvSpPr txBox="1"/>
          <p:nvPr/>
        </p:nvSpPr>
        <p:spPr>
          <a:xfrm>
            <a:off x="6385255" y="2895324"/>
            <a:ext cx="5257800" cy="169277"/>
          </a:xfrm>
          <a:prstGeom prst="rect">
            <a:avLst/>
          </a:prstGeom>
          <a:noFill/>
        </p:spPr>
        <p:txBody>
          <a:bodyPr wrap="square" lIns="0" tIns="0" rIns="0" bIns="0">
            <a:spAutoFit/>
          </a:bodyPr>
          <a:lstStyle/>
          <a:p>
            <a:pPr algn="l"/>
            <a:r>
              <a:rPr sz="1100" b="0" i="0">
                <a:solidFill>
                  <a:srgbClr val="5B6472"/>
                </a:solidFill>
                <a:latin typeface="Arial"/>
              </a:rPr>
              <a:t>Installation sowie Client-/Server-Version prüfen</a:t>
            </a:r>
          </a:p>
        </p:txBody>
      </p:sp>
      <p:sp>
        <p:nvSpPr>
          <p:cNvPr id="21" name="Rounded Rectangle 20"/>
          <p:cNvSpPr/>
          <p:nvPr/>
        </p:nvSpPr>
        <p:spPr>
          <a:xfrm>
            <a:off x="6385255" y="3242797"/>
            <a:ext cx="5257800" cy="256032"/>
          </a:xfrm>
          <a:prstGeom prst="roundRect">
            <a:avLst>
              <a:gd name="adj" fmla="val 18000"/>
            </a:avLst>
          </a:prstGeom>
          <a:solidFill>
            <a:srgbClr val="1A222C"/>
          </a:solidFill>
          <a:ln w="12700">
            <a:solidFill>
              <a:srgbClr val="2E3A4A"/>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100" b="0">
                <a:solidFill>
                  <a:srgbClr val="F3F5F2"/>
                </a:solidFill>
                <a:latin typeface="Courier New"/>
              </a:rPr>
              <a:t>docker run --rm hello-world</a:t>
            </a:r>
          </a:p>
        </p:txBody>
      </p:sp>
      <p:sp>
        <p:nvSpPr>
          <p:cNvPr id="22" name="TextBox 21"/>
          <p:cNvSpPr txBox="1"/>
          <p:nvPr/>
        </p:nvSpPr>
        <p:spPr>
          <a:xfrm>
            <a:off x="6385255" y="3517117"/>
            <a:ext cx="5257800" cy="169277"/>
          </a:xfrm>
          <a:prstGeom prst="rect">
            <a:avLst/>
          </a:prstGeom>
          <a:noFill/>
        </p:spPr>
        <p:txBody>
          <a:bodyPr wrap="square" lIns="0" tIns="0" rIns="0" bIns="0">
            <a:spAutoFit/>
          </a:bodyPr>
          <a:lstStyle/>
          <a:p>
            <a:pPr algn="l"/>
            <a:r>
              <a:rPr sz="1100" b="0" i="0">
                <a:solidFill>
                  <a:srgbClr val="5B6472"/>
                </a:solidFill>
                <a:latin typeface="Arial"/>
              </a:rPr>
              <a:t>Funktionstest: Image laden, ausführen, danach automatisch entfernen</a:t>
            </a:r>
          </a:p>
        </p:txBody>
      </p:sp>
      <p:sp>
        <p:nvSpPr>
          <p:cNvPr id="23" name="Rounded Rectangle 22"/>
          <p:cNvSpPr/>
          <p:nvPr/>
        </p:nvSpPr>
        <p:spPr>
          <a:xfrm>
            <a:off x="6385255" y="3864589"/>
            <a:ext cx="5257800" cy="256032"/>
          </a:xfrm>
          <a:prstGeom prst="roundRect">
            <a:avLst>
              <a:gd name="adj" fmla="val 18000"/>
            </a:avLst>
          </a:prstGeom>
          <a:solidFill>
            <a:srgbClr val="1A222C"/>
          </a:solidFill>
          <a:ln w="12700">
            <a:solidFill>
              <a:srgbClr val="2E3A4A"/>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100" b="0">
                <a:solidFill>
                  <a:srgbClr val="F3F5F2"/>
                </a:solidFill>
                <a:latin typeface="Courier New"/>
              </a:rPr>
              <a:t>docker ps</a:t>
            </a:r>
          </a:p>
        </p:txBody>
      </p:sp>
      <p:sp>
        <p:nvSpPr>
          <p:cNvPr id="24" name="TextBox 23"/>
          <p:cNvSpPr txBox="1"/>
          <p:nvPr/>
        </p:nvSpPr>
        <p:spPr>
          <a:xfrm>
            <a:off x="6385255" y="4138908"/>
            <a:ext cx="5257800" cy="169277"/>
          </a:xfrm>
          <a:prstGeom prst="rect">
            <a:avLst/>
          </a:prstGeom>
          <a:noFill/>
        </p:spPr>
        <p:txBody>
          <a:bodyPr wrap="square" lIns="0" tIns="0" rIns="0" bIns="0">
            <a:spAutoFit/>
          </a:bodyPr>
          <a:lstStyle/>
          <a:p>
            <a:pPr algn="l"/>
            <a:r>
              <a:rPr sz="1100" b="0" i="0">
                <a:solidFill>
                  <a:srgbClr val="5B6472"/>
                </a:solidFill>
                <a:latin typeface="Arial"/>
              </a:rPr>
              <a:t>Laufende Container anzeigen (Name, Status, Ports)</a:t>
            </a:r>
          </a:p>
        </p:txBody>
      </p:sp>
      <p:sp>
        <p:nvSpPr>
          <p:cNvPr id="25" name="Rounded Rectangle 24"/>
          <p:cNvSpPr/>
          <p:nvPr/>
        </p:nvSpPr>
        <p:spPr>
          <a:xfrm>
            <a:off x="6385255" y="4486380"/>
            <a:ext cx="5257800" cy="256032"/>
          </a:xfrm>
          <a:prstGeom prst="roundRect">
            <a:avLst>
              <a:gd name="adj" fmla="val 18000"/>
            </a:avLst>
          </a:prstGeom>
          <a:solidFill>
            <a:srgbClr val="1A222C"/>
          </a:solidFill>
          <a:ln w="12700">
            <a:solidFill>
              <a:srgbClr val="2E3A4A"/>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100" b="0">
                <a:solidFill>
                  <a:srgbClr val="F3F5F2"/>
                </a:solidFill>
                <a:latin typeface="Courier New"/>
              </a:rPr>
              <a:t>docker volume inspect nodered-data</a:t>
            </a:r>
          </a:p>
        </p:txBody>
      </p:sp>
      <p:sp>
        <p:nvSpPr>
          <p:cNvPr id="26" name="TextBox 25"/>
          <p:cNvSpPr txBox="1"/>
          <p:nvPr/>
        </p:nvSpPr>
        <p:spPr>
          <a:xfrm>
            <a:off x="6385255" y="4760700"/>
            <a:ext cx="5257800" cy="169277"/>
          </a:xfrm>
          <a:prstGeom prst="rect">
            <a:avLst/>
          </a:prstGeom>
          <a:noFill/>
        </p:spPr>
        <p:txBody>
          <a:bodyPr wrap="square" lIns="0" tIns="0" rIns="0" bIns="0">
            <a:spAutoFit/>
          </a:bodyPr>
          <a:lstStyle/>
          <a:p>
            <a:pPr algn="l"/>
            <a:r>
              <a:rPr sz="1100" b="0" i="0">
                <a:solidFill>
                  <a:srgbClr val="5B6472"/>
                </a:solidFill>
                <a:latin typeface="Arial"/>
              </a:rPr>
              <a:t>Speicherort (Mountpoint) eines Volumes prüfen – docker volume ls listet alle</a:t>
            </a:r>
          </a:p>
        </p:txBody>
      </p:sp>
      <p:sp>
        <p:nvSpPr>
          <p:cNvPr id="27" name="Rounded Rectangle 26"/>
          <p:cNvSpPr/>
          <p:nvPr/>
        </p:nvSpPr>
        <p:spPr>
          <a:xfrm>
            <a:off x="6385255" y="5108173"/>
            <a:ext cx="5257800" cy="256032"/>
          </a:xfrm>
          <a:prstGeom prst="roundRect">
            <a:avLst>
              <a:gd name="adj" fmla="val 18000"/>
            </a:avLst>
          </a:prstGeom>
          <a:solidFill>
            <a:srgbClr val="1A222C"/>
          </a:solidFill>
          <a:ln w="12700">
            <a:solidFill>
              <a:srgbClr val="2E3A4A"/>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100" b="0">
                <a:solidFill>
                  <a:srgbClr val="F3F5F2"/>
                </a:solidFill>
                <a:latin typeface="Courier New"/>
              </a:rPr>
              <a:t>curl http://localhost:8080</a:t>
            </a:r>
          </a:p>
        </p:txBody>
      </p:sp>
      <p:sp>
        <p:nvSpPr>
          <p:cNvPr id="28" name="TextBox 27"/>
          <p:cNvSpPr txBox="1"/>
          <p:nvPr/>
        </p:nvSpPr>
        <p:spPr>
          <a:xfrm>
            <a:off x="6385255" y="5382493"/>
            <a:ext cx="5257800" cy="169277"/>
          </a:xfrm>
          <a:prstGeom prst="rect">
            <a:avLst/>
          </a:prstGeom>
          <a:noFill/>
        </p:spPr>
        <p:txBody>
          <a:bodyPr wrap="square" lIns="0" tIns="0" rIns="0" bIns="0">
            <a:spAutoFit/>
          </a:bodyPr>
          <a:lstStyle/>
          <a:p>
            <a:pPr algn="l"/>
            <a:r>
              <a:rPr sz="1100" b="0" i="0">
                <a:solidFill>
                  <a:srgbClr val="5B6472"/>
                </a:solidFill>
                <a:latin typeface="Arial"/>
              </a:rPr>
              <a:t>Dienst lokal auf dem Server testen (bzw. :1880 für Node-RED)</a:t>
            </a:r>
          </a:p>
        </p:txBody>
      </p:sp>
      <p:sp>
        <p:nvSpPr>
          <p:cNvPr id="29" name="Rounded Rectangle 28"/>
          <p:cNvSpPr/>
          <p:nvPr/>
        </p:nvSpPr>
        <p:spPr>
          <a:xfrm>
            <a:off x="6385255" y="5653866"/>
            <a:ext cx="5257800" cy="415939"/>
          </a:xfrm>
          <a:prstGeom prst="roundRect">
            <a:avLst>
              <a:gd name="adj" fmla="val 18000"/>
            </a:avLst>
          </a:prstGeom>
          <a:solidFill>
            <a:srgbClr val="1A222C"/>
          </a:solidFill>
          <a:ln w="12700">
            <a:solidFill>
              <a:srgbClr val="2E3A4A"/>
            </a:solidFill>
          </a:ln>
          <a:effectLst/>
        </p:spPr>
        <p:style>
          <a:lnRef idx="1">
            <a:schemeClr val="accent1"/>
          </a:lnRef>
          <a:fillRef idx="3">
            <a:schemeClr val="accent1"/>
          </a:fillRef>
          <a:effectRef idx="2">
            <a:schemeClr val="accent1"/>
          </a:effectRef>
          <a:fontRef idx="minor">
            <a:schemeClr val="lt1"/>
          </a:fontRef>
        </p:style>
        <p:txBody>
          <a:bodyPr wrap="square" tIns="36576" bIns="36576" rtlCol="0" anchor="ctr"/>
          <a:lstStyle/>
          <a:p>
            <a:pPr algn="l"/>
            <a:r>
              <a:rPr sz="1100" b="0" dirty="0">
                <a:solidFill>
                  <a:srgbClr val="F3F5F2"/>
                </a:solidFill>
                <a:latin typeface="Courier New"/>
              </a:rPr>
              <a:t>curl -s -o /dev/null -w "%{</a:t>
            </a:r>
            <a:r>
              <a:rPr sz="1100" b="0" dirty="0" err="1">
                <a:solidFill>
                  <a:srgbClr val="F3F5F2"/>
                </a:solidFill>
                <a:latin typeface="Courier New"/>
              </a:rPr>
              <a:t>http_code</a:t>
            </a:r>
            <a:r>
              <a:rPr sz="1100" b="0" dirty="0">
                <a:solidFill>
                  <a:srgbClr val="F3F5F2"/>
                </a:solidFill>
                <a:latin typeface="Courier New"/>
              </a:rPr>
              <a:t>}\n" http://localhost:1880/flows</a:t>
            </a:r>
          </a:p>
        </p:txBody>
      </p:sp>
      <p:sp>
        <p:nvSpPr>
          <p:cNvPr id="30" name="TextBox 29"/>
          <p:cNvSpPr txBox="1"/>
          <p:nvPr/>
        </p:nvSpPr>
        <p:spPr>
          <a:xfrm>
            <a:off x="6385255" y="6171902"/>
            <a:ext cx="5257800" cy="169277"/>
          </a:xfrm>
          <a:prstGeom prst="rect">
            <a:avLst/>
          </a:prstGeom>
          <a:noFill/>
        </p:spPr>
        <p:txBody>
          <a:bodyPr wrap="square" lIns="0" tIns="0" rIns="0" bIns="0">
            <a:spAutoFit/>
          </a:bodyPr>
          <a:lstStyle/>
          <a:p>
            <a:pPr algn="l"/>
            <a:r>
              <a:rPr sz="1100" b="0" i="0" dirty="0" err="1">
                <a:solidFill>
                  <a:srgbClr val="5B6472"/>
                </a:solidFill>
                <a:latin typeface="Arial"/>
              </a:rPr>
              <a:t>Zugriffsschutz</a:t>
            </a:r>
            <a:r>
              <a:rPr sz="1100" b="0" i="0" dirty="0">
                <a:solidFill>
                  <a:srgbClr val="5B6472"/>
                </a:solidFill>
                <a:latin typeface="Arial"/>
              </a:rPr>
              <a:t> </a:t>
            </a:r>
            <a:r>
              <a:rPr sz="1100" b="0" i="0" dirty="0" err="1">
                <a:solidFill>
                  <a:srgbClr val="5B6472"/>
                </a:solidFill>
                <a:latin typeface="Arial"/>
              </a:rPr>
              <a:t>verifizieren</a:t>
            </a:r>
            <a:r>
              <a:rPr sz="1100" b="0" i="0" dirty="0">
                <a:solidFill>
                  <a:srgbClr val="5B6472"/>
                </a:solidFill>
                <a:latin typeface="Arial"/>
              </a:rPr>
              <a:t> – </a:t>
            </a:r>
            <a:r>
              <a:rPr sz="1100" b="0" i="0" dirty="0" err="1">
                <a:solidFill>
                  <a:srgbClr val="5B6472"/>
                </a:solidFill>
                <a:latin typeface="Arial"/>
              </a:rPr>
              <a:t>Erwartung</a:t>
            </a:r>
            <a:r>
              <a:rPr sz="1100" b="0" i="0" dirty="0">
                <a:solidFill>
                  <a:srgbClr val="5B6472"/>
                </a:solidFill>
                <a:latin typeface="Arial"/>
              </a:rPr>
              <a:t>: 401 </a:t>
            </a:r>
            <a:r>
              <a:rPr sz="1100" b="0" i="0" dirty="0" err="1">
                <a:solidFill>
                  <a:srgbClr val="5B6472"/>
                </a:solidFill>
                <a:latin typeface="Arial"/>
              </a:rPr>
              <a:t>statt</a:t>
            </a:r>
            <a:r>
              <a:rPr sz="1100" b="0" i="0" dirty="0">
                <a:solidFill>
                  <a:srgbClr val="5B6472"/>
                </a:solidFill>
                <a:latin typeface="Arial"/>
              </a:rPr>
              <a:t> 200 (</a:t>
            </a:r>
            <a:r>
              <a:rPr sz="1100" b="0" i="0" dirty="0" err="1">
                <a:solidFill>
                  <a:srgbClr val="5B6472"/>
                </a:solidFill>
                <a:latin typeface="Arial"/>
              </a:rPr>
              <a:t>adminAuth</a:t>
            </a:r>
            <a:r>
              <a:rPr sz="1100" b="0" i="0" dirty="0">
                <a:solidFill>
                  <a:srgbClr val="5B6472"/>
                </a:solidFill>
                <a:latin typeface="Arial"/>
              </a:rPr>
              <a:t> </a:t>
            </a:r>
            <a:r>
              <a:rPr sz="1100" b="0" i="0" dirty="0" err="1">
                <a:solidFill>
                  <a:srgbClr val="5B6472"/>
                </a:solidFill>
                <a:latin typeface="Arial"/>
              </a:rPr>
              <a:t>aktiv</a:t>
            </a:r>
            <a:r>
              <a:rPr sz="1100" b="0" i="0" dirty="0">
                <a:solidFill>
                  <a:srgbClr val="5B6472"/>
                </a:solidFill>
                <a:latin typeface="Arial"/>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2308E33-0829-4981-BE0B-9CBD59D7698C}"/>
              </a:ext>
            </a:extLst>
          </p:cNvPr>
          <p:cNvSpPr>
            <a:spLocks noGrp="1"/>
          </p:cNvSpPr>
          <p:nvPr>
            <p:ph type="title"/>
          </p:nvPr>
        </p:nvSpPr>
        <p:spPr/>
        <p:txBody>
          <a:bodyPr/>
          <a:lstStyle/>
          <a:p>
            <a:r>
              <a:rPr lang="de-DE" dirty="0"/>
              <a:t>Reflexionsfragen (1/2): Volumes und Bind Mounts</a:t>
            </a:r>
          </a:p>
        </p:txBody>
      </p:sp>
      <p:sp>
        <p:nvSpPr>
          <p:cNvPr id="5" name="Datumsplatzhalter 4">
            <a:extLst>
              <a:ext uri="{FF2B5EF4-FFF2-40B4-BE49-F238E27FC236}">
                <a16:creationId xmlns:a16="http://schemas.microsoft.com/office/drawing/2014/main" id="{D6890CBD-364B-4CD5-AA70-68D434EA80E9}"/>
              </a:ext>
            </a:extLst>
          </p:cNvPr>
          <p:cNvSpPr>
            <a:spLocks noGrp="1"/>
          </p:cNvSpPr>
          <p:nvPr>
            <p:ph type="dt" sz="half" idx="10"/>
          </p:nvPr>
        </p:nvSpPr>
        <p:spPr/>
        <p:txBody>
          <a:bodyPr/>
          <a:lstStyle/>
          <a:p>
            <a:fld id="{757CD2D1-8C96-4412-8C0C-09C7E956F080}" type="datetime1">
              <a:rPr lang="de-DE" smtClean="0"/>
              <a:t>07.10.2026</a:t>
            </a:fld>
            <a:endParaRPr lang="de-DE" dirty="0"/>
          </a:p>
        </p:txBody>
      </p:sp>
      <p:sp>
        <p:nvSpPr>
          <p:cNvPr id="6" name="Foliennummernplatzhalter 5">
            <a:extLst>
              <a:ext uri="{FF2B5EF4-FFF2-40B4-BE49-F238E27FC236}">
                <a16:creationId xmlns:a16="http://schemas.microsoft.com/office/drawing/2014/main" id="{5271F5D2-381E-4F2B-8EDD-C91D481228C3}"/>
              </a:ext>
            </a:extLst>
          </p:cNvPr>
          <p:cNvSpPr>
            <a:spLocks noGrp="1"/>
          </p:cNvSpPr>
          <p:nvPr>
            <p:ph type="sldNum" sz="quarter" idx="4"/>
          </p:nvPr>
        </p:nvSpPr>
        <p:spPr/>
        <p:txBody>
          <a:bodyPr/>
          <a:lstStyle/>
          <a:p>
            <a:fld id="{43A6DCFB-163F-4561-BF28-3CD1FE47EE20}" type="slidenum">
              <a:rPr lang="de-DE" smtClean="0"/>
              <a:pPr/>
              <a:t>15</a:t>
            </a:fld>
            <a:endParaRPr lang="de-DE" dirty="0"/>
          </a:p>
        </p:txBody>
      </p:sp>
      <p:sp>
        <p:nvSpPr>
          <p:cNvPr id="7" name="Shape 2">
            <a:extLst>
              <a:ext uri="{FF2B5EF4-FFF2-40B4-BE49-F238E27FC236}">
                <a16:creationId xmlns:a16="http://schemas.microsoft.com/office/drawing/2014/main" id="{AE08837B-B0FC-4689-969E-6368EDF93EE3}"/>
              </a:ext>
            </a:extLst>
          </p:cNvPr>
          <p:cNvSpPr/>
          <p:nvPr/>
        </p:nvSpPr>
        <p:spPr>
          <a:xfrm>
            <a:off x="812721" y="2950000"/>
            <a:ext cx="10566559" cy="0"/>
          </a:xfrm>
          <a:prstGeom prst="line">
            <a:avLst/>
          </a:prstGeom>
          <a:noFill/>
          <a:ln w="6350">
            <a:solidFill>
              <a:srgbClr val="D1D5DB"/>
            </a:solidFill>
            <a:prstDash val="solid"/>
          </a:ln>
        </p:spPr>
      </p:sp>
      <p:sp>
        <p:nvSpPr>
          <p:cNvPr id="8" name="Text 3">
            <a:extLst>
              <a:ext uri="{FF2B5EF4-FFF2-40B4-BE49-F238E27FC236}">
                <a16:creationId xmlns:a16="http://schemas.microsoft.com/office/drawing/2014/main" id="{60C66E16-4654-4BCC-8ADA-11E50E8AC785}"/>
              </a:ext>
            </a:extLst>
          </p:cNvPr>
          <p:cNvSpPr/>
          <p:nvPr/>
        </p:nvSpPr>
        <p:spPr>
          <a:xfrm>
            <a:off x="812721" y="2130426"/>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01</a:t>
            </a:r>
            <a:endParaRPr lang="en-US" sz="3000" dirty="0"/>
          </a:p>
        </p:txBody>
      </p:sp>
      <p:sp>
        <p:nvSpPr>
          <p:cNvPr id="9" name="Text 4">
            <a:extLst>
              <a:ext uri="{FF2B5EF4-FFF2-40B4-BE49-F238E27FC236}">
                <a16:creationId xmlns:a16="http://schemas.microsoft.com/office/drawing/2014/main" id="{15CDA089-2BDF-405E-A1A2-07495C117106}"/>
              </a:ext>
            </a:extLst>
          </p:cNvPr>
          <p:cNvSpPr/>
          <p:nvPr/>
        </p:nvSpPr>
        <p:spPr>
          <a:xfrm>
            <a:off x="1625441" y="2130426"/>
            <a:ext cx="10046454" cy="6500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A1A1A"/>
                </a:solidFill>
                <a:latin typeface="Arial" pitchFamily="34" charset="0"/>
                <a:ea typeface="Arial" pitchFamily="34" charset="-122"/>
                <a:cs typeface="Arial" pitchFamily="34" charset="-120"/>
              </a:rPr>
              <a:t>Warum wird für die Webseite ein Bind Mount verwendet, für Node-RED-Daten aber ein benanntes Volume? Welche Anforderungen bestimmen diese Wahl?</a:t>
            </a:r>
            <a:endParaRPr lang="en-US" sz="1800" dirty="0"/>
          </a:p>
        </p:txBody>
      </p:sp>
      <p:sp>
        <p:nvSpPr>
          <p:cNvPr id="10" name="Shape 5">
            <a:extLst>
              <a:ext uri="{FF2B5EF4-FFF2-40B4-BE49-F238E27FC236}">
                <a16:creationId xmlns:a16="http://schemas.microsoft.com/office/drawing/2014/main" id="{5494341D-6130-4013-A63D-19BFA10702FB}"/>
              </a:ext>
            </a:extLst>
          </p:cNvPr>
          <p:cNvSpPr/>
          <p:nvPr/>
        </p:nvSpPr>
        <p:spPr>
          <a:xfrm>
            <a:off x="812721" y="3950000"/>
            <a:ext cx="10566559" cy="0"/>
          </a:xfrm>
          <a:prstGeom prst="line">
            <a:avLst/>
          </a:prstGeom>
          <a:noFill/>
          <a:ln w="6350">
            <a:solidFill>
              <a:srgbClr val="D1D5DB"/>
            </a:solidFill>
            <a:prstDash val="solid"/>
          </a:ln>
        </p:spPr>
      </p:sp>
      <p:sp>
        <p:nvSpPr>
          <p:cNvPr id="11" name="Text 6">
            <a:extLst>
              <a:ext uri="{FF2B5EF4-FFF2-40B4-BE49-F238E27FC236}">
                <a16:creationId xmlns:a16="http://schemas.microsoft.com/office/drawing/2014/main" id="{A7A46E7B-376D-4594-829A-8267F7A9486C}"/>
              </a:ext>
            </a:extLst>
          </p:cNvPr>
          <p:cNvSpPr/>
          <p:nvPr/>
        </p:nvSpPr>
        <p:spPr>
          <a:xfrm>
            <a:off x="812721" y="3130426"/>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02</a:t>
            </a:r>
            <a:endParaRPr lang="en-US" sz="3000" dirty="0"/>
          </a:p>
        </p:txBody>
      </p:sp>
      <p:sp>
        <p:nvSpPr>
          <p:cNvPr id="12" name="Text 7">
            <a:extLst>
              <a:ext uri="{FF2B5EF4-FFF2-40B4-BE49-F238E27FC236}">
                <a16:creationId xmlns:a16="http://schemas.microsoft.com/office/drawing/2014/main" id="{7582FEE8-0BEA-4B21-913E-A515528F264B}"/>
              </a:ext>
            </a:extLst>
          </p:cNvPr>
          <p:cNvSpPr/>
          <p:nvPr/>
        </p:nvSpPr>
        <p:spPr>
          <a:xfrm>
            <a:off x="1625441" y="3130426"/>
            <a:ext cx="10046454" cy="6500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A1A1A"/>
                </a:solidFill>
                <a:latin typeface="Arial" pitchFamily="34" charset="0"/>
                <a:ea typeface="Arial" pitchFamily="34" charset="-122"/>
                <a:cs typeface="Arial" pitchFamily="34" charset="-120"/>
              </a:rPr>
              <a:t>Was passiert, wenn Sie docker rm nodered ausführen? Was passiert zusätzlich, wenn Sie docker volume rm nodered-data ausführen?</a:t>
            </a:r>
            <a:endParaRPr lang="en-US" sz="1800" dirty="0"/>
          </a:p>
        </p:txBody>
      </p:sp>
      <p:pic>
        <p:nvPicPr>
          <p:cNvPr id="2" name="Grafik 1">
            <a:extLst>
              <a:ext uri="{FF2B5EF4-FFF2-40B4-BE49-F238E27FC236}">
                <a16:creationId xmlns:a16="http://schemas.microsoft.com/office/drawing/2014/main" id="{65BA1666-49F1-42CC-9B2D-322530CAD655}"/>
              </a:ext>
            </a:extLst>
          </p:cNvPr>
          <p:cNvPicPr>
            <a:picLocks noChangeAspect="1"/>
          </p:cNvPicPr>
          <p:nvPr/>
        </p:nvPicPr>
        <p:blipFill>
          <a:blip r:embed="rId3"/>
          <a:stretch>
            <a:fillRect/>
          </a:stretch>
        </p:blipFill>
        <p:spPr>
          <a:xfrm>
            <a:off x="5798668" y="5299486"/>
            <a:ext cx="850000" cy="850000"/>
          </a:xfrm>
          <a:prstGeom prst="rect">
            <a:avLst/>
          </a:prstGeom>
        </p:spPr>
      </p:pic>
      <p:sp>
        <p:nvSpPr>
          <p:cNvPr id="15" name="Text 8">
            <a:extLst>
              <a:ext uri="{FF2B5EF4-FFF2-40B4-BE49-F238E27FC236}">
                <a16:creationId xmlns:a16="http://schemas.microsoft.com/office/drawing/2014/main" id="{DB9A012B-4038-455F-960E-6DA6A60BA1CD}"/>
              </a:ext>
            </a:extLst>
          </p:cNvPr>
          <p:cNvSpPr/>
          <p:nvPr/>
        </p:nvSpPr>
        <p:spPr>
          <a:xfrm>
            <a:off x="812721" y="4110518"/>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03</a:t>
            </a:r>
            <a:endParaRPr lang="en-US" sz="3000" dirty="0"/>
          </a:p>
        </p:txBody>
      </p:sp>
      <p:sp>
        <p:nvSpPr>
          <p:cNvPr id="16" name="Text 9">
            <a:extLst>
              <a:ext uri="{FF2B5EF4-FFF2-40B4-BE49-F238E27FC236}">
                <a16:creationId xmlns:a16="http://schemas.microsoft.com/office/drawing/2014/main" id="{2D224168-BFCE-4E85-A425-72B73B62690C}"/>
              </a:ext>
            </a:extLst>
          </p:cNvPr>
          <p:cNvSpPr/>
          <p:nvPr/>
        </p:nvSpPr>
        <p:spPr>
          <a:xfrm>
            <a:off x="1625441" y="4093389"/>
            <a:ext cx="10046454" cy="6500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A1A1A"/>
                </a:solidFill>
                <a:latin typeface="Arial" pitchFamily="34" charset="0"/>
                <a:ea typeface="Arial" pitchFamily="34" charset="-122"/>
                <a:cs typeface="Arial" pitchFamily="34" charset="-120"/>
              </a:rPr>
              <a:t>Wählen Sie einen beliebigen Dienst und begründen Sie eine sinnvolle Speicherstrategie.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42308E33-0829-4981-BE0B-9CBD59D7698C}"/>
              </a:ext>
            </a:extLst>
          </p:cNvPr>
          <p:cNvSpPr>
            <a:spLocks noGrp="1"/>
          </p:cNvSpPr>
          <p:nvPr>
            <p:ph type="title"/>
          </p:nvPr>
        </p:nvSpPr>
        <p:spPr/>
        <p:txBody>
          <a:bodyPr/>
          <a:lstStyle/>
          <a:p>
            <a:r>
              <a:rPr lang="de-DE" dirty="0"/>
              <a:t>Reflexionsfragen (2/2): Docker absichern</a:t>
            </a:r>
          </a:p>
        </p:txBody>
      </p:sp>
      <p:sp>
        <p:nvSpPr>
          <p:cNvPr id="5" name="Datumsplatzhalter 4">
            <a:extLst>
              <a:ext uri="{FF2B5EF4-FFF2-40B4-BE49-F238E27FC236}">
                <a16:creationId xmlns:a16="http://schemas.microsoft.com/office/drawing/2014/main" id="{D6890CBD-364B-4CD5-AA70-68D434EA80E9}"/>
              </a:ext>
            </a:extLst>
          </p:cNvPr>
          <p:cNvSpPr>
            <a:spLocks noGrp="1"/>
          </p:cNvSpPr>
          <p:nvPr>
            <p:ph type="dt" sz="half" idx="10"/>
          </p:nvPr>
        </p:nvSpPr>
        <p:spPr/>
        <p:txBody>
          <a:bodyPr/>
          <a:lstStyle/>
          <a:p>
            <a:fld id="{757CD2D1-8C96-4412-8C0C-09C7E956F080}" type="datetime1">
              <a:rPr lang="de-DE" smtClean="0"/>
              <a:t>07.10.2026</a:t>
            </a:fld>
            <a:endParaRPr lang="de-DE" dirty="0"/>
          </a:p>
        </p:txBody>
      </p:sp>
      <p:sp>
        <p:nvSpPr>
          <p:cNvPr id="6" name="Foliennummernplatzhalter 5">
            <a:extLst>
              <a:ext uri="{FF2B5EF4-FFF2-40B4-BE49-F238E27FC236}">
                <a16:creationId xmlns:a16="http://schemas.microsoft.com/office/drawing/2014/main" id="{5271F5D2-381E-4F2B-8EDD-C91D481228C3}"/>
              </a:ext>
            </a:extLst>
          </p:cNvPr>
          <p:cNvSpPr>
            <a:spLocks noGrp="1"/>
          </p:cNvSpPr>
          <p:nvPr>
            <p:ph type="sldNum" sz="quarter" idx="4"/>
          </p:nvPr>
        </p:nvSpPr>
        <p:spPr/>
        <p:txBody>
          <a:bodyPr/>
          <a:lstStyle/>
          <a:p>
            <a:fld id="{43A6DCFB-163F-4561-BF28-3CD1FE47EE20}" type="slidenum">
              <a:rPr lang="de-DE" smtClean="0"/>
              <a:pPr/>
              <a:t>16</a:t>
            </a:fld>
            <a:endParaRPr lang="de-DE" dirty="0"/>
          </a:p>
        </p:txBody>
      </p:sp>
      <p:sp>
        <p:nvSpPr>
          <p:cNvPr id="7" name="Shape 2">
            <a:extLst>
              <a:ext uri="{FF2B5EF4-FFF2-40B4-BE49-F238E27FC236}">
                <a16:creationId xmlns:a16="http://schemas.microsoft.com/office/drawing/2014/main" id="{AE08837B-B0FC-4689-969E-6368EDF93EE3}"/>
              </a:ext>
            </a:extLst>
          </p:cNvPr>
          <p:cNvSpPr/>
          <p:nvPr/>
        </p:nvSpPr>
        <p:spPr>
          <a:xfrm>
            <a:off x="812721" y="2950000"/>
            <a:ext cx="10566559" cy="0"/>
          </a:xfrm>
          <a:prstGeom prst="line">
            <a:avLst/>
          </a:prstGeom>
          <a:noFill/>
          <a:ln w="6350">
            <a:solidFill>
              <a:srgbClr val="D1D5DB"/>
            </a:solidFill>
            <a:prstDash val="solid"/>
          </a:ln>
        </p:spPr>
      </p:sp>
      <p:sp>
        <p:nvSpPr>
          <p:cNvPr id="8" name="Text 3">
            <a:extLst>
              <a:ext uri="{FF2B5EF4-FFF2-40B4-BE49-F238E27FC236}">
                <a16:creationId xmlns:a16="http://schemas.microsoft.com/office/drawing/2014/main" id="{60C66E16-4654-4BCC-8ADA-11E50E8AC785}"/>
              </a:ext>
            </a:extLst>
          </p:cNvPr>
          <p:cNvSpPr/>
          <p:nvPr/>
        </p:nvSpPr>
        <p:spPr>
          <a:xfrm>
            <a:off x="812721" y="2130426"/>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01</a:t>
            </a:r>
            <a:endParaRPr lang="en-US" sz="3000" dirty="0"/>
          </a:p>
        </p:txBody>
      </p:sp>
      <p:sp>
        <p:nvSpPr>
          <p:cNvPr id="9" name="Text 4">
            <a:extLst>
              <a:ext uri="{FF2B5EF4-FFF2-40B4-BE49-F238E27FC236}">
                <a16:creationId xmlns:a16="http://schemas.microsoft.com/office/drawing/2014/main" id="{15CDA089-2BDF-405E-A1A2-07495C117106}"/>
              </a:ext>
            </a:extLst>
          </p:cNvPr>
          <p:cNvSpPr/>
          <p:nvPr/>
        </p:nvSpPr>
        <p:spPr>
          <a:xfrm>
            <a:off x="1625441" y="2130426"/>
            <a:ext cx="10046454" cy="6500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A1A1A"/>
                </a:solidFill>
                <a:latin typeface="Arial" pitchFamily="34" charset="0"/>
                <a:ea typeface="Arial" pitchFamily="34" charset="-122"/>
                <a:cs typeface="Arial" pitchFamily="34" charset="-120"/>
              </a:rPr>
              <a:t>Warum schützt ufw status allein nicht zuverlässig vor einem öffentlich erreichbaren Docker-Container? Welche Rolle spielt die DOCKER-USER-Chain dabei?</a:t>
            </a:r>
            <a:endParaRPr lang="en-US" sz="1800" dirty="0"/>
          </a:p>
        </p:txBody>
      </p:sp>
      <p:sp>
        <p:nvSpPr>
          <p:cNvPr id="10" name="Shape 5">
            <a:extLst>
              <a:ext uri="{FF2B5EF4-FFF2-40B4-BE49-F238E27FC236}">
                <a16:creationId xmlns:a16="http://schemas.microsoft.com/office/drawing/2014/main" id="{5494341D-6130-4013-A63D-19BFA10702FB}"/>
              </a:ext>
            </a:extLst>
          </p:cNvPr>
          <p:cNvSpPr/>
          <p:nvPr/>
        </p:nvSpPr>
        <p:spPr>
          <a:xfrm>
            <a:off x="812721" y="3950000"/>
            <a:ext cx="10566559" cy="0"/>
          </a:xfrm>
          <a:prstGeom prst="line">
            <a:avLst/>
          </a:prstGeom>
          <a:noFill/>
          <a:ln w="6350">
            <a:solidFill>
              <a:srgbClr val="D1D5DB"/>
            </a:solidFill>
            <a:prstDash val="solid"/>
          </a:ln>
        </p:spPr>
      </p:sp>
      <p:sp>
        <p:nvSpPr>
          <p:cNvPr id="11" name="Text 6">
            <a:extLst>
              <a:ext uri="{FF2B5EF4-FFF2-40B4-BE49-F238E27FC236}">
                <a16:creationId xmlns:a16="http://schemas.microsoft.com/office/drawing/2014/main" id="{A7A46E7B-376D-4594-829A-8267F7A9486C}"/>
              </a:ext>
            </a:extLst>
          </p:cNvPr>
          <p:cNvSpPr/>
          <p:nvPr/>
        </p:nvSpPr>
        <p:spPr>
          <a:xfrm>
            <a:off x="812721" y="3130426"/>
            <a:ext cx="660400" cy="406400"/>
          </a:xfrm>
          <a:prstGeom prst="rect">
            <a:avLst/>
          </a:prstGeom>
          <a:noFill/>
          <a:ln/>
        </p:spPr>
        <p:txBody>
          <a:bodyPr wrap="square" lIns="0" tIns="0" rIns="0" bIns="0" rtlCol="0" anchor="t">
            <a:normAutofit/>
          </a:bodyPr>
          <a:lstStyle/>
          <a:p>
            <a:pPr marL="0" indent="0" algn="l">
              <a:lnSpc>
                <a:spcPts val="3000"/>
              </a:lnSpc>
              <a:buNone/>
            </a:pPr>
            <a:r>
              <a:rPr lang="en-US" sz="3000" b="1" dirty="0">
                <a:solidFill>
                  <a:srgbClr val="D1D5DB"/>
                </a:solidFill>
                <a:latin typeface="Arial" pitchFamily="34" charset="0"/>
                <a:ea typeface="Arial" pitchFamily="34" charset="-122"/>
                <a:cs typeface="Arial" pitchFamily="34" charset="-120"/>
              </a:rPr>
              <a:t>02</a:t>
            </a:r>
            <a:endParaRPr lang="en-US" sz="3000" dirty="0"/>
          </a:p>
        </p:txBody>
      </p:sp>
      <p:sp>
        <p:nvSpPr>
          <p:cNvPr id="12" name="Text 7">
            <a:extLst>
              <a:ext uri="{FF2B5EF4-FFF2-40B4-BE49-F238E27FC236}">
                <a16:creationId xmlns:a16="http://schemas.microsoft.com/office/drawing/2014/main" id="{7582FEE8-0BEA-4B21-913E-A515528F264B}"/>
              </a:ext>
            </a:extLst>
          </p:cNvPr>
          <p:cNvSpPr/>
          <p:nvPr/>
        </p:nvSpPr>
        <p:spPr>
          <a:xfrm>
            <a:off x="1625441" y="3130426"/>
            <a:ext cx="10046454" cy="65000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A1A1A"/>
                </a:solidFill>
                <a:latin typeface="Arial" pitchFamily="34" charset="0"/>
                <a:ea typeface="Arial" pitchFamily="34" charset="-122"/>
                <a:cs typeface="Arial" pitchFamily="34" charset="-120"/>
              </a:rPr>
              <a:t>Was wäre der konkrete Unterschied im Risiko, wenn nodered ohne adminAuth betrieben würde und der Port versehentlich ohne 127.0.0.1-Präfix veröffentlicht wäre?</a:t>
            </a:r>
            <a:endParaRPr lang="en-US" sz="1800" dirty="0"/>
          </a:p>
        </p:txBody>
      </p:sp>
      <p:pic>
        <p:nvPicPr>
          <p:cNvPr id="2" name="Grafik 1">
            <a:extLst>
              <a:ext uri="{FF2B5EF4-FFF2-40B4-BE49-F238E27FC236}">
                <a16:creationId xmlns:a16="http://schemas.microsoft.com/office/drawing/2014/main" id="{65BA1666-49F1-42CC-9B2D-322530CAD655}"/>
              </a:ext>
            </a:extLst>
          </p:cNvPr>
          <p:cNvPicPr>
            <a:picLocks noChangeAspect="1"/>
          </p:cNvPicPr>
          <p:nvPr/>
        </p:nvPicPr>
        <p:blipFill>
          <a:blip r:embed="rId3"/>
          <a:stretch>
            <a:fillRect/>
          </a:stretch>
        </p:blipFill>
        <p:spPr>
          <a:xfrm>
            <a:off x="4956029" y="4728176"/>
            <a:ext cx="850000" cy="850000"/>
          </a:xfrm>
          <a:prstGeom prst="rect">
            <a:avLst/>
          </a:prstGeom>
        </p:spPr>
      </p:pic>
    </p:spTree>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6zu9_ALP-Praesentation_MasterVorlage.pptx" id="{B23EF914-3FB6-4301-94CB-99985DA93EFF}" vid="{9CA8404C-C143-41CD-9E42-A16ECB65F8EC}"/>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3601</Words>
  <Application>Microsoft Office PowerPoint</Application>
  <PresentationFormat>Breitbild</PresentationFormat>
  <Paragraphs>436</Paragraphs>
  <Slides>16</Slides>
  <Notes>8</Notes>
  <HiddenSlides>0</HiddenSlides>
  <MMClips>0</MMClips>
  <ScaleCrop>false</ScaleCrop>
  <HeadingPairs>
    <vt:vector size="6" baseType="variant">
      <vt:variant>
        <vt:lpstr>Verwendete Schriftarten</vt:lpstr>
      </vt:variant>
      <vt:variant>
        <vt:i4>6</vt:i4>
      </vt:variant>
      <vt:variant>
        <vt:lpstr>Design</vt:lpstr>
      </vt:variant>
      <vt:variant>
        <vt:i4>1</vt:i4>
      </vt:variant>
      <vt:variant>
        <vt:lpstr>Folientitel</vt:lpstr>
      </vt:variant>
      <vt:variant>
        <vt:i4>16</vt:i4>
      </vt:variant>
    </vt:vector>
  </HeadingPairs>
  <TitlesOfParts>
    <vt:vector size="23" baseType="lpstr">
      <vt:lpstr>Calibri</vt:lpstr>
      <vt:lpstr>Courier New</vt:lpstr>
      <vt:lpstr>Roboto Slab</vt:lpstr>
      <vt:lpstr>Roboto</vt:lpstr>
      <vt:lpstr>Arial Unicode MS</vt:lpstr>
      <vt:lpstr>Arial</vt:lpstr>
      <vt:lpstr>Office</vt:lpstr>
      <vt:lpstr>IT-Infrastruktur mit freier Software  (z. B. Linux) bereitstellen </vt:lpstr>
      <vt:lpstr>Bereitstellungsmodelle: Bare Metal, VM und Container</vt:lpstr>
      <vt:lpstr>Zielvorgabe: Docker-Container hinter Caddy</vt:lpstr>
      <vt:lpstr>Bind Mount vs. benanntes Volume</vt:lpstr>
      <vt:lpstr>Docker installieren  </vt:lpstr>
      <vt:lpstr>Zwei Wege hinter Caddy: nativer Dienst vs. Container</vt:lpstr>
      <vt:lpstr>Die DOCKER-USER-Falle: Ports und ufw</vt:lpstr>
      <vt:lpstr>Der sichere Weg vom Browser bis zur Container-IP</vt:lpstr>
      <vt:lpstr>nginx-Container mit Bind Mount  </vt:lpstr>
      <vt:lpstr>Node-RED-Container mit benanntem Volume  </vt:lpstr>
      <vt:lpstr>Caddyfile erweitern: www &amp; dashboard</vt:lpstr>
      <vt:lpstr>DNS-Voraussetzungen für die neuen Subdomains</vt:lpstr>
      <vt:lpstr>Laborübung 05</vt:lpstr>
      <vt:lpstr>Docker-Befehle: Installation &amp; Verifikation</vt:lpstr>
      <vt:lpstr>Reflexionsfragen (1/2): Volumes und Bind Mounts</vt:lpstr>
      <vt:lpstr>Reflexionsfragen (2/2): Docker absichern</vt:lpstr>
    </vt:vector>
  </TitlesOfParts>
  <Company>ALP-Dillingen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Koehler, Oliver</dc:creator>
  <cp:lastModifiedBy>Lotter, Michael</cp:lastModifiedBy>
  <cp:revision>156</cp:revision>
  <dcterms:created xsi:type="dcterms:W3CDTF">2019-06-04T07:33:10Z</dcterms:created>
  <dcterms:modified xsi:type="dcterms:W3CDTF">2026-10-07T08:28:08Z</dcterms:modified>
</cp:coreProperties>
</file>