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11"/>
  </p:notesMasterIdLst>
  <p:sldIdLst>
    <p:sldId id="463" r:id="rId2"/>
    <p:sldId id="455" r:id="rId3"/>
    <p:sldId id="464" r:id="rId4"/>
    <p:sldId id="466" r:id="rId5"/>
    <p:sldId id="457" r:id="rId6"/>
    <p:sldId id="465" r:id="rId7"/>
    <p:sldId id="467" r:id="rId8"/>
    <p:sldId id="461" r:id="rId9"/>
    <p:sldId id="462" r:id="rId10"/>
  </p:sldIdLst>
  <p:sldSz cx="12192000" cy="6858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Roboto" panose="02000000000000000000" pitchFamily="2" charset="0"/>
      <p:regular r:id="rId16"/>
      <p:bold r:id="rId17"/>
      <p:italic r:id="rId18"/>
      <p:boldItalic r:id="rId19"/>
    </p:embeddedFont>
    <p:embeddedFont>
      <p:font typeface="Roboto Slab" pitchFamily="2" charset="0"/>
      <p:regular r:id="rId20"/>
      <p:bold r:id="rId21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1AF"/>
    <a:srgbClr val="005AA8"/>
    <a:srgbClr val="E7E7E9"/>
    <a:srgbClr val="FFCD00"/>
    <a:srgbClr val="4472C4"/>
    <a:srgbClr val="274295"/>
    <a:srgbClr val="DEEBF7"/>
    <a:srgbClr val="2B41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36" autoAdjust="0"/>
    <p:restoredTop sz="72000" autoAdjust="0"/>
  </p:normalViewPr>
  <p:slideViewPr>
    <p:cSldViewPr snapToGrid="0">
      <p:cViewPr varScale="1">
        <p:scale>
          <a:sx n="81" d="100"/>
          <a:sy n="81" d="100"/>
        </p:scale>
        <p:origin x="201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57A8F1-2E97-442A-A3DE-98A08CE3B9A6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D5FE33-4217-42D2-A2B6-93ED6DCD09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1763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D5FE33-4217-42D2-A2B6-93ED6DCD092C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8667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IP </a:t>
            </a:r>
            <a:r>
              <a:rPr lang="de-DE" dirty="0" err="1"/>
              <a:t>Addressmanagement</a:t>
            </a:r>
            <a:r>
              <a:rPr lang="de-DE" dirty="0"/>
              <a:t> = IPAM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D5FE33-4217-42D2-A2B6-93ED6DCD092C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0219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de-DE" dirty="0"/>
              <a:t>zu 1. </a:t>
            </a:r>
          </a:p>
          <a:p>
            <a:pPr rtl="0"/>
            <a:r>
              <a:rPr lang="de-DE" dirty="0"/>
              <a:t>Die Container aus Lab 05 (</a:t>
            </a:r>
            <a:r>
              <a:rPr lang="de-DE" dirty="0" err="1"/>
              <a:t>nodered</a:t>
            </a:r>
            <a:r>
              <a:rPr lang="de-DE" dirty="0"/>
              <a:t>) wurden bewusst mit -p 127.0.0.1:1880:1880 veröffentlicht – das heißt, es existiert ein Host-Port, und Docker trägt dafür automatisch Weiterleitungsregeln in die DOCKER-Chain ein (siehe Lab-05-Reflexion, Frage 5/6). Diese Absicherung steht und fällt mit einer korrekten Konfiguration: Ein fehlendes 127.0.0.1-Präfix, ein Tippfehler oder ein Missverständnis über </a:t>
            </a:r>
            <a:r>
              <a:rPr lang="de-DE" dirty="0" err="1"/>
              <a:t>ufw</a:t>
            </a:r>
            <a:r>
              <a:rPr lang="de-DE" dirty="0"/>
              <a:t>/DOCKER-USER genügt, damit der Dienst plötzlich aus dem Internet erreichbar ist – das Risiko ist also durch Fehlkonfiguration jederzeit </a:t>
            </a:r>
            <a:r>
              <a:rPr lang="de-DE" dirty="0" err="1"/>
              <a:t>reaktivierbar</a:t>
            </a:r>
            <a:r>
              <a:rPr lang="de-DE" dirty="0"/>
              <a:t>.</a:t>
            </a:r>
          </a:p>
          <a:p>
            <a:pPr rtl="0"/>
            <a:r>
              <a:rPr lang="de-DE" dirty="0" err="1"/>
              <a:t>redis</a:t>
            </a:r>
            <a:r>
              <a:rPr lang="de-DE" dirty="0"/>
              <a:t>-cache hat dagegen überhaupt kein -p und damit gar keinen Host-Port, der falsch konfiguriert werden könnte. Er besitzt nur eine interne IP innerhalb von app-</a:t>
            </a:r>
            <a:r>
              <a:rPr lang="de-DE" dirty="0" err="1"/>
              <a:t>net</a:t>
            </a:r>
            <a:r>
              <a:rPr lang="de-DE" dirty="0"/>
              <a:t> (172.18.0.x) und ist außerhalb dieses Netzwerks schlicht nicht adressierbar – weder vom Host noch aus dem Internet. Das konkret reduzierte Risiko ist damit nicht nur „ein Port weniger offen“, sondern der Wegfall einer ganzen Fehlerklasse: Es gibt keine Weiterleitungsregel, die vergessen, falsch gesetzt oder durch eine </a:t>
            </a:r>
            <a:r>
              <a:rPr lang="de-DE" dirty="0" err="1"/>
              <a:t>ufw</a:t>
            </a:r>
            <a:r>
              <a:rPr lang="de-DE" dirty="0"/>
              <a:t>-Fehleinschätzung umgangen werden könnte. Das ist besonders relevant, weil </a:t>
            </a:r>
            <a:r>
              <a:rPr lang="de-DE" dirty="0" err="1"/>
              <a:t>Redis</a:t>
            </a:r>
            <a:r>
              <a:rPr lang="de-DE" dirty="0"/>
              <a:t> standardmäßig ohne Authentifizierung läuft (vergleichbar mit dem fehlenden </a:t>
            </a:r>
            <a:r>
              <a:rPr lang="de-DE" dirty="0" err="1"/>
              <a:t>adminAuth</a:t>
            </a:r>
            <a:r>
              <a:rPr lang="de-DE" dirty="0"/>
              <a:t> bei </a:t>
            </a:r>
            <a:r>
              <a:rPr lang="de-DE" dirty="0" err="1"/>
              <a:t>Node</a:t>
            </a:r>
            <a:r>
              <a:rPr lang="de-DE" dirty="0"/>
              <a:t>-RED in Lab 05) – hier übernimmt die Netzwerkarchitektur selbst die Schutzfunktion, nicht eine Konfigurationseinstellung, die man vergessen kann.</a:t>
            </a:r>
          </a:p>
          <a:p>
            <a:pPr rtl="0"/>
            <a:endParaRPr lang="de-DE" dirty="0"/>
          </a:p>
          <a:p>
            <a:pPr rtl="0"/>
            <a:r>
              <a:rPr lang="de-DE" dirty="0"/>
              <a:t>zu 2.</a:t>
            </a:r>
          </a:p>
          <a:p>
            <a:pPr rtl="0"/>
            <a:r>
              <a:rPr lang="de-DE" dirty="0"/>
              <a:t>Die Befehle selbst skalieren unverändert: </a:t>
            </a:r>
            <a:r>
              <a:rPr lang="de-DE" dirty="0" err="1"/>
              <a:t>docker</a:t>
            </a:r>
            <a:r>
              <a:rPr lang="de-DE" dirty="0"/>
              <a:t> network </a:t>
            </a:r>
            <a:r>
              <a:rPr lang="de-DE" dirty="0" err="1"/>
              <a:t>create</a:t>
            </a:r>
            <a:r>
              <a:rPr lang="de-DE" dirty="0"/>
              <a:t> wird weiterhin nur einmal ausgeführt, jeder weitere Dienst wird entweder direkt mit --network app-</a:t>
            </a:r>
            <a:r>
              <a:rPr lang="de-DE" dirty="0" err="1"/>
              <a:t>net</a:t>
            </a:r>
            <a:r>
              <a:rPr lang="de-DE" dirty="0"/>
              <a:t> gestartet (wie </a:t>
            </a:r>
            <a:r>
              <a:rPr lang="de-DE" dirty="0" err="1"/>
              <a:t>redis</a:t>
            </a:r>
            <a:r>
              <a:rPr lang="de-DE" dirty="0"/>
              <a:t>-cache) oder nachträglich per </a:t>
            </a:r>
            <a:r>
              <a:rPr lang="de-DE" dirty="0" err="1"/>
              <a:t>docker</a:t>
            </a:r>
            <a:r>
              <a:rPr lang="de-DE" dirty="0"/>
              <a:t> network connect angebunden (wie </a:t>
            </a:r>
            <a:r>
              <a:rPr lang="de-DE" dirty="0" err="1"/>
              <a:t>nodered</a:t>
            </a:r>
            <a:r>
              <a:rPr lang="de-DE" dirty="0"/>
              <a:t>). Das Prinzip aus 1.3–1.6 – „nur wer eine Brücke nach außen braucht, bekommt zusätzlich einen Host-Port“ – lässt sich beliebig oft wiederholen: In der im Lab selbst angedeuteten späteren Übung (Zeitreihendatenbank, Connector, Visualisierung) bliebe weiterhin nur ein einzelner Dienst (die Visualisierung) nach außen erreichbar, alle anderen blieben rein intern, exakt nach dem </a:t>
            </a:r>
            <a:r>
              <a:rPr lang="de-DE" dirty="0" err="1"/>
              <a:t>redis</a:t>
            </a:r>
            <a:r>
              <a:rPr lang="de-DE" dirty="0"/>
              <a:t>-cache-Muster.</a:t>
            </a:r>
          </a:p>
          <a:p>
            <a:pPr rtl="0"/>
            <a:r>
              <a:rPr lang="de-DE" dirty="0"/>
              <a:t>Was sich mit wachsender Anzahl ändert, ist eher die Betriebsdisziplin als die Technik: Die Namensauflösung läuft über Containernamen, also muss die Namensgebung eindeutig und sprechend bleiben; </a:t>
            </a:r>
            <a:r>
              <a:rPr lang="de-DE" dirty="0" err="1"/>
              <a:t>docker</a:t>
            </a:r>
            <a:r>
              <a:rPr lang="de-DE" dirty="0"/>
              <a:t> network </a:t>
            </a:r>
            <a:r>
              <a:rPr lang="de-DE" dirty="0" err="1"/>
              <a:t>inspect</a:t>
            </a:r>
            <a:r>
              <a:rPr lang="de-DE" dirty="0"/>
              <a:t> app-</a:t>
            </a:r>
            <a:r>
              <a:rPr lang="de-DE" dirty="0" err="1"/>
              <a:t>net</a:t>
            </a:r>
            <a:r>
              <a:rPr lang="de-DE" dirty="0"/>
              <a:t> wird zunehmend wichtiger, um die tatsächliche Mitgliederliste zu überprüfen, da man sie ab einer gewissen Anzahl nicht mehr „im Kopf“ hat; und spätestens bei drei, vier zusammenspielenden Diensten mit eigenen Abhängigkeiten würde man in der Praxis eher zu </a:t>
            </a:r>
            <a:r>
              <a:rPr lang="de-DE" dirty="0" err="1"/>
              <a:t>docker</a:t>
            </a:r>
            <a:r>
              <a:rPr lang="de-DE" dirty="0"/>
              <a:t> </a:t>
            </a:r>
            <a:r>
              <a:rPr lang="de-DE" dirty="0" err="1"/>
              <a:t>compose</a:t>
            </a:r>
            <a:r>
              <a:rPr lang="de-DE" dirty="0"/>
              <a:t> wechseln, um die Netzwerk- und Container-Definitionen reproduzierbar an einer Stelle zu pflegen statt über einzelne </a:t>
            </a:r>
            <a:r>
              <a:rPr lang="de-DE" dirty="0" err="1"/>
              <a:t>docker</a:t>
            </a:r>
            <a:r>
              <a:rPr lang="de-DE" dirty="0"/>
              <a:t> </a:t>
            </a:r>
            <a:r>
              <a:rPr lang="de-DE" dirty="0" err="1"/>
              <a:t>run</a:t>
            </a:r>
            <a:r>
              <a:rPr lang="de-DE" dirty="0"/>
              <a:t>/</a:t>
            </a:r>
            <a:r>
              <a:rPr lang="de-DE" dirty="0" err="1"/>
              <a:t>docker</a:t>
            </a:r>
            <a:r>
              <a:rPr lang="de-DE" dirty="0"/>
              <a:t> network connect-Befehle. Das Grundprinzip – bewusst bündeln, nur das Nötige nach außen freigeben – bleibt aber identisch.</a:t>
            </a:r>
          </a:p>
          <a:p>
            <a:pPr rtl="0"/>
            <a:endParaRPr lang="de-DE" dirty="0"/>
          </a:p>
          <a:p>
            <a:pPr rtl="0"/>
            <a:endParaRPr lang="de-DE" dirty="0"/>
          </a:p>
          <a:p>
            <a:pPr rtl="0"/>
            <a:r>
              <a:rPr lang="de-DE" dirty="0"/>
              <a:t>zu 3. </a:t>
            </a:r>
          </a:p>
          <a:p>
            <a:pPr rtl="0"/>
            <a:r>
              <a:rPr lang="de-DE" dirty="0"/>
              <a:t>Eine Netzwerkgrenze zeigt für sich genommen nur den Ist-Zustand (welche Container sind gerade Mitglied von app-</a:t>
            </a:r>
            <a:r>
              <a:rPr lang="de-DE" dirty="0" err="1"/>
              <a:t>net</a:t>
            </a:r>
            <a:r>
              <a:rPr lang="de-DE" dirty="0"/>
              <a:t>), aber nicht die Absicht dahinter. Ohne dokumentierte Begründung kann ein Auditor – oder ein späterer Kollege – nicht unterscheiden, ob eine Gruppierung ein bewusstes Sicherheitskonzept ist oder zufällig so gewachsen ist. Control A.8.22 verlangt aber genau diese Nachvollziehbarkeit: eine erkennbare, begründete Trennung, nicht nur eine zufällig vorhandene. Hinzu kommt, dass Netzwerkmitgliedschaften über die Zeit unbemerkt „driften“ können: Jemand hängt versuchsweise einen weiteren Container in app-</a:t>
            </a:r>
            <a:r>
              <a:rPr lang="de-DE" dirty="0" err="1"/>
              <a:t>net</a:t>
            </a:r>
            <a:r>
              <a:rPr lang="de-DE" dirty="0"/>
              <a:t>, entfernt ihn aber nie wieder. </a:t>
            </a:r>
            <a:r>
              <a:rPr lang="de-DE" dirty="0" err="1"/>
              <a:t>docker</a:t>
            </a:r>
            <a:r>
              <a:rPr lang="de-DE" dirty="0"/>
              <a:t> network </a:t>
            </a:r>
            <a:r>
              <a:rPr lang="de-DE" dirty="0" err="1"/>
              <a:t>inspect</a:t>
            </a:r>
            <a:r>
              <a:rPr lang="de-DE" dirty="0"/>
              <a:t> zeigt dann korrekt den aktuellen Zustand – aber ohne eine dokumentierte Soll-Mitgliederliste gibt es nichts, wogegen dieser Zustand geprüft werden könnte. Und schließlich ist ISO/IEC 27001 ein Managementsystem-Standard: Es geht nicht nur um die technische Umsetzung, sondern um den Nachweis eines bewussten, risikobasierten Entscheidungsprozesses – wer hat wann aus welchem Grund entschieden, dass genau diese Dienste zusammengehören. Diesen Nachweis liefert nur die Dokumentation, nicht der </a:t>
            </a:r>
            <a:r>
              <a:rPr lang="de-DE" dirty="0" err="1"/>
              <a:t>docker</a:t>
            </a:r>
            <a:r>
              <a:rPr lang="de-DE" dirty="0"/>
              <a:t> network-Befehl selbst.</a:t>
            </a:r>
          </a:p>
          <a:p>
            <a:pPr rtl="0"/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D5FE33-4217-42D2-A2B6-93ED6DCD092C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6409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C23E3-4510-413A-9361-7EEE4D3F2E84}" type="datetime1">
              <a:rPr lang="de-DE" smtClean="0"/>
              <a:t>07.10.2026</a:t>
            </a:fld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CD41A-C668-429A-AD07-4F84BBC3B3E7}" type="slidenum">
              <a:rPr lang="de-DE" smtClean="0"/>
              <a:t>‹Nr.›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F76B9BF-0406-764A-A3AE-DEC5AD580CC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2597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-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21B63-CC14-4CF7-B236-95F232F15D6B}" type="datetime1">
              <a:rPr lang="de-DE" smtClean="0"/>
              <a:t>07.10.2026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CD41A-C668-429A-AD07-4F84BBC3B3E7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388003" y="3959588"/>
            <a:ext cx="11410123" cy="756000"/>
          </a:xfrm>
          <a:solidFill>
            <a:srgbClr val="FFCD00"/>
          </a:solidFill>
        </p:spPr>
        <p:txBody>
          <a:bodyPr anchor="ctr">
            <a:normAutofit/>
          </a:bodyPr>
          <a:lstStyle>
            <a:lvl1pPr algn="ctr">
              <a:defRPr sz="3200">
                <a:solidFill>
                  <a:schemeClr val="accent5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 sz="3200" spc="200" dirty="0" err="1">
                <a:solidFill>
                  <a:srgbClr val="2B418E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Subline</a:t>
            </a:r>
            <a:endParaRPr lang="de-DE" sz="3200" spc="200" dirty="0">
              <a:solidFill>
                <a:srgbClr val="2B418E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itel 1"/>
          <p:cNvSpPr>
            <a:spLocks noGrp="1"/>
          </p:cNvSpPr>
          <p:nvPr>
            <p:ph type="ctrTitle" hasCustomPrompt="1"/>
          </p:nvPr>
        </p:nvSpPr>
        <p:spPr>
          <a:xfrm>
            <a:off x="388002" y="1439999"/>
            <a:ext cx="11410123" cy="2520000"/>
          </a:xfrm>
          <a:solidFill>
            <a:srgbClr val="2B418E"/>
          </a:solidFill>
        </p:spPr>
        <p:txBody>
          <a:bodyPr anchor="ctr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 altLang="de-DE" sz="44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Headline</a:t>
            </a:r>
            <a:endParaRPr lang="de-DE" sz="4400" b="1" dirty="0">
              <a:latin typeface="Roboto Slab" pitchFamily="2" charset="0"/>
              <a:ea typeface="Roboto Slab" pitchFamily="2" charset="0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323C46C-563A-C940-92F4-FEC0E92C53F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8218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ählung-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21B63-CC14-4CF7-B236-95F232F15D6B}" type="datetime1">
              <a:rPr lang="de-DE" smtClean="0"/>
              <a:t>07.10.2026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CD41A-C668-429A-AD07-4F84BBC3B3E7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idx="1" hasCustomPrompt="1"/>
          </p:nvPr>
        </p:nvSpPr>
        <p:spPr>
          <a:xfrm>
            <a:off x="351181" y="2304000"/>
            <a:ext cx="11410124" cy="4153080"/>
          </a:xfrm>
        </p:spPr>
        <p:txBody>
          <a:bodyPr>
            <a:noAutofit/>
          </a:bodyPr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de-DE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Aufzählung:</a:t>
            </a:r>
            <a:br>
              <a:rPr lang="de-DE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Text hier einfügen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>
              <a:lnSpc>
                <a:spcPct val="120000"/>
              </a:lnSpc>
            </a:pPr>
            <a:r>
              <a:rPr lang="de-DE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>
              <a:lnSpc>
                <a:spcPct val="120000"/>
              </a:lnSpc>
            </a:pPr>
            <a:endParaRPr lang="de-DE" sz="2000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lnSpc>
                <a:spcPct val="120000"/>
              </a:lnSpc>
            </a:pPr>
            <a:endParaRPr lang="de-DE" sz="2000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00277" y="1445754"/>
            <a:ext cx="11410124" cy="646331"/>
          </a:xfrm>
          <a:solidFill>
            <a:srgbClr val="2B418E"/>
          </a:solidFill>
        </p:spPr>
        <p:txBody>
          <a:bodyPr wrap="square">
            <a:sp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Überschrift</a:t>
            </a:r>
            <a:br>
              <a:rPr lang="de-DE" dirty="0"/>
            </a:br>
            <a:r>
              <a:rPr lang="de-DE" dirty="0"/>
              <a:t>maximal 2 Zeilen</a:t>
            </a:r>
            <a:endParaRPr lang="en-US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9ADA1F3-7414-E348-8F03-4F47E182C58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6819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ufzählung-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21B63-CC14-4CF7-B236-95F232F15D6B}" type="datetime1">
              <a:rPr lang="de-DE" smtClean="0"/>
              <a:t>07.10.2026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CD41A-C668-429A-AD07-4F84BBC3B3E7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idx="1" hasCustomPrompt="1"/>
          </p:nvPr>
        </p:nvSpPr>
        <p:spPr>
          <a:xfrm>
            <a:off x="351181" y="1386038"/>
            <a:ext cx="11410124" cy="5071042"/>
          </a:xfrm>
        </p:spPr>
        <p:txBody>
          <a:bodyPr>
            <a:noAutofit/>
          </a:bodyPr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de-DE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Aufzählung:</a:t>
            </a:r>
            <a:br>
              <a:rPr lang="de-DE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Text hier einfügen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>
              <a:lnSpc>
                <a:spcPct val="120000"/>
              </a:lnSpc>
            </a:pPr>
            <a:r>
              <a:rPr lang="de-DE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>
              <a:lnSpc>
                <a:spcPct val="120000"/>
              </a:lnSpc>
            </a:pPr>
            <a:endParaRPr lang="de-DE" sz="2000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lnSpc>
                <a:spcPct val="120000"/>
              </a:lnSpc>
            </a:pPr>
            <a:endParaRPr lang="de-DE" sz="2000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295CA11-9812-1547-A9A0-1EEEC47FC47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7284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Spalten-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21B63-CC14-4CF7-B236-95F232F15D6B}" type="datetime1">
              <a:rPr lang="de-DE" smtClean="0"/>
              <a:t>07.10.2026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CD41A-C668-429A-AD07-4F84BBC3B3E7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idx="1" hasCustomPrompt="1"/>
          </p:nvPr>
        </p:nvSpPr>
        <p:spPr>
          <a:xfrm>
            <a:off x="351181" y="2304000"/>
            <a:ext cx="5626107" cy="415308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>
              <a:lnSpc>
                <a:spcPct val="120000"/>
              </a:lnSpc>
            </a:pPr>
            <a:r>
              <a:rPr lang="de-DE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Text hier einfügen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>
              <a:lnSpc>
                <a:spcPct val="120000"/>
              </a:lnSpc>
            </a:pPr>
            <a:r>
              <a:rPr lang="de-DE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>
              <a:lnSpc>
                <a:spcPct val="120000"/>
              </a:lnSpc>
            </a:pPr>
            <a:endParaRPr lang="de-DE" sz="2000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lnSpc>
                <a:spcPct val="120000"/>
              </a:lnSpc>
            </a:pPr>
            <a:endParaRPr lang="de-DE" sz="2000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Inhaltsplatzhalter 2"/>
          <p:cNvSpPr>
            <a:spLocks noGrp="1"/>
          </p:cNvSpPr>
          <p:nvPr>
            <p:ph idx="13" hasCustomPrompt="1"/>
          </p:nvPr>
        </p:nvSpPr>
        <p:spPr>
          <a:xfrm>
            <a:off x="6135198" y="2295485"/>
            <a:ext cx="5626107" cy="415308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>
              <a:lnSpc>
                <a:spcPct val="120000"/>
              </a:lnSpc>
            </a:pPr>
            <a:r>
              <a:rPr lang="de-DE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Text hier einfügen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>
              <a:lnSpc>
                <a:spcPct val="120000"/>
              </a:lnSpc>
            </a:pPr>
            <a:r>
              <a:rPr lang="de-DE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>
              <a:lnSpc>
                <a:spcPct val="120000"/>
              </a:lnSpc>
            </a:pPr>
            <a:endParaRPr lang="de-DE" sz="2000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lnSpc>
                <a:spcPct val="120000"/>
              </a:lnSpc>
            </a:pPr>
            <a:endParaRPr lang="de-DE" sz="2000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388003" y="1451891"/>
            <a:ext cx="11410124" cy="646331"/>
          </a:xfrm>
          <a:solidFill>
            <a:srgbClr val="2B418E"/>
          </a:solidFill>
        </p:spPr>
        <p:txBody>
          <a:bodyPr wrap="square">
            <a:sp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Überschrift</a:t>
            </a:r>
            <a:br>
              <a:rPr lang="de-DE" dirty="0"/>
            </a:br>
            <a:r>
              <a:rPr lang="de-DE" dirty="0"/>
              <a:t>maximal 2 Zeilen</a:t>
            </a:r>
            <a:endParaRPr lang="en-US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29FB456-7ECE-6841-8927-D979B855205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0273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bgerundetes Rechteck 8"/>
          <p:cNvSpPr/>
          <p:nvPr userDrawn="1"/>
        </p:nvSpPr>
        <p:spPr>
          <a:xfrm>
            <a:off x="341354" y="276550"/>
            <a:ext cx="12084756" cy="1144800"/>
          </a:xfrm>
          <a:prstGeom prst="round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798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29087" y="1628799"/>
            <a:ext cx="5394381" cy="4536000"/>
          </a:xfrm>
        </p:spPr>
        <p:txBody>
          <a:bodyPr/>
          <a:lstStyle>
            <a:lvl1pPr>
              <a:defRPr sz="2797">
                <a:solidFill>
                  <a:schemeClr val="tx2"/>
                </a:solidFill>
              </a:defRPr>
            </a:lvl1pPr>
            <a:lvl2pPr>
              <a:defRPr sz="2398">
                <a:solidFill>
                  <a:schemeClr val="tx2"/>
                </a:solidFill>
              </a:defRPr>
            </a:lvl2pPr>
            <a:lvl3pPr>
              <a:defRPr sz="1998">
                <a:solidFill>
                  <a:schemeClr val="tx2"/>
                </a:solidFill>
              </a:defRPr>
            </a:lvl3pPr>
            <a:lvl4pPr>
              <a:defRPr sz="1798">
                <a:solidFill>
                  <a:schemeClr val="tx2"/>
                </a:solidFill>
              </a:defRPr>
            </a:lvl4pPr>
            <a:lvl5pPr>
              <a:defRPr sz="1798">
                <a:solidFill>
                  <a:schemeClr val="tx2"/>
                </a:solidFill>
              </a:defRPr>
            </a:lvl5pPr>
            <a:lvl6pPr>
              <a:defRPr sz="1798"/>
            </a:lvl6pPr>
            <a:lvl7pPr>
              <a:defRPr sz="1798"/>
            </a:lvl7pPr>
            <a:lvl8pPr>
              <a:defRPr sz="1798"/>
            </a:lvl8pPr>
            <a:lvl9pPr>
              <a:defRPr sz="1798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68532" y="1628799"/>
            <a:ext cx="5394381" cy="4536000"/>
          </a:xfrm>
        </p:spPr>
        <p:txBody>
          <a:bodyPr/>
          <a:lstStyle>
            <a:lvl1pPr>
              <a:defRPr sz="2797">
                <a:solidFill>
                  <a:schemeClr val="tx2"/>
                </a:solidFill>
              </a:defRPr>
            </a:lvl1pPr>
            <a:lvl2pPr>
              <a:defRPr sz="2398">
                <a:solidFill>
                  <a:schemeClr val="tx2"/>
                </a:solidFill>
              </a:defRPr>
            </a:lvl2pPr>
            <a:lvl3pPr>
              <a:defRPr sz="1998">
                <a:solidFill>
                  <a:schemeClr val="tx2"/>
                </a:solidFill>
              </a:defRPr>
            </a:lvl3pPr>
            <a:lvl4pPr>
              <a:defRPr sz="1798">
                <a:solidFill>
                  <a:schemeClr val="tx2"/>
                </a:solidFill>
              </a:defRPr>
            </a:lvl4pPr>
            <a:lvl5pPr>
              <a:defRPr sz="1798">
                <a:solidFill>
                  <a:schemeClr val="tx2"/>
                </a:solidFill>
              </a:defRPr>
            </a:lvl5pPr>
            <a:lvl6pPr>
              <a:defRPr sz="1798"/>
            </a:lvl6pPr>
            <a:lvl7pPr>
              <a:defRPr sz="1798"/>
            </a:lvl7pPr>
            <a:lvl8pPr>
              <a:defRPr sz="1798"/>
            </a:lvl8pPr>
            <a:lvl9pPr>
              <a:defRPr sz="1798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609601" y="274638"/>
            <a:ext cx="10953313" cy="1143000"/>
          </a:xfrm>
        </p:spPr>
        <p:txBody>
          <a:bodyPr>
            <a:normAutofit/>
          </a:bodyPr>
          <a:lstStyle>
            <a:lvl1pPr>
              <a:defRPr sz="2398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8" name="Datumsplatzhalter 6"/>
          <p:cNvSpPr>
            <a:spLocks noGrp="1"/>
          </p:cNvSpPr>
          <p:nvPr>
            <p:ph type="dt" sz="half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/>
          <a:lstStyle>
            <a:lvl1pPr marL="0" algn="l" defTabSz="913486" rtl="0" eaLnBrk="1" latinLnBrk="0" hangingPunct="1">
              <a:defRPr lang="de-DE" sz="1049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757CD2D1-8C96-4412-8C0C-09C7E956F080}" type="datetime1">
              <a:rPr lang="de-DE" smtClean="0"/>
              <a:t>07.10.2026</a:t>
            </a:fld>
            <a:endParaRPr lang="de-DE" dirty="0"/>
          </a:p>
        </p:txBody>
      </p:sp>
      <p:sp>
        <p:nvSpPr>
          <p:cNvPr id="20" name="Foliennummernplatzhalter 8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 lang="de-DE" sz="1049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43A6DCFB-163F-4561-BF28-3CD1FE47EE20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64731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202F9D49-4CB7-4444-915C-FDDFCF5AC699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2742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1123121"/>
            <a:ext cx="10515600" cy="17194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41513" y="2842591"/>
            <a:ext cx="10515600" cy="37868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351181" y="6629400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FF21B63-CC14-4CF7-B236-95F232F15D6B}" type="datetime1">
              <a:rPr lang="de-DE" smtClean="0"/>
              <a:t>07.10.2026</a:t>
            </a:fld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9018105" y="6629400"/>
            <a:ext cx="2743200" cy="2285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341CD41A-C668-429A-AD07-4F84BBC3B3E7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E2BAE6-A273-B346-9C40-F0E5E4CBC3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5848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46501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1" r:id="rId2"/>
    <p:sldLayoutId id="2147483662" r:id="rId3"/>
    <p:sldLayoutId id="2147483667" r:id="rId4"/>
    <p:sldLayoutId id="2147483663" r:id="rId5"/>
    <p:sldLayoutId id="2147483672" r:id="rId6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5">
              <a:lumMod val="75000"/>
            </a:schemeClr>
          </a:solidFill>
          <a:latin typeface="Roboto Slab" pitchFamily="2" charset="0"/>
          <a:ea typeface="Roboto Slab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Roboto Slab" pitchFamily="2" charset="0"/>
          <a:ea typeface="Roboto Slab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48FF65-5AE9-45FB-8D3A-73F6AFF4A4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IT-Infrastruktur mit freier Software </a:t>
            </a:r>
            <a:br>
              <a:rPr lang="de-DE" dirty="0"/>
            </a:br>
            <a:r>
              <a:rPr lang="de-DE" dirty="0"/>
              <a:t>(z. B. Linux) bereitstellen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A6E370A-3F9D-4972-8257-4338E8BC43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003" y="3959587"/>
            <a:ext cx="11410123" cy="17554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Lab 07 -   
Vom transparenten Proxy (Lab 06) zur transparenten Netzwerktrennung (ISO/IEC 27001)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88343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8876A94-DDF9-4DFE-88C6-4AD2D82A4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Zielvorgabe: app-net – gebündelt &amp; isoliert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552E27A-EAD4-4009-9443-85CCF2FEBE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9477"/>
            <a:ext cx="2844800" cy="365125"/>
          </a:xfrm>
        </p:spPr>
        <p:txBody>
          <a:bodyPr/>
          <a:lstStyle/>
          <a:p>
            <a:fld id="{757CD2D1-8C96-4412-8C0C-09C7E956F080}" type="datetime1">
              <a:rPr lang="de-DE" smtClean="0"/>
              <a:t>07.10.2026</a:t>
            </a:fld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ECD8EA-CF76-4F3D-A5C6-7795DCE9B1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3A6DCFB-163F-4561-BF28-3CD1FE47EE20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32" name="Rounded Rectangle 31"/>
          <p:cNvSpPr/>
          <p:nvPr/>
        </p:nvSpPr>
        <p:spPr>
          <a:xfrm>
            <a:off x="2138360" y="288036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Arial"/>
              </a:rPr>
              <a:t>nodered
Mitglied in 2 Netzwerken</a:t>
            </a:r>
          </a:p>
          <a:p>
            <a:pPr algn="ctr"/>
            <a:endParaRPr sz="13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989342" y="2423160"/>
            <a:ext cx="2423160" cy="7772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rial"/>
              </a:rPr>
              <a:t>app-net
+ redis-cache (kein Host-Port)</a:t>
            </a:r>
          </a:p>
          <a:p>
            <a:pPr algn="ctr"/>
            <a:endParaRPr sz="1200" b="1">
              <a:solidFill>
                <a:srgbClr val="1A1A1A"/>
              </a:solidFill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989342" y="3474720"/>
            <a:ext cx="2423160" cy="7772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rial"/>
              </a:rPr>
              <a:t>Docker-Standard-Netz
127.0.0.1:1880 (Lab 05/06)</a:t>
            </a:r>
          </a:p>
          <a:p>
            <a:pPr algn="ctr"/>
            <a:endParaRPr sz="1200" b="1">
              <a:solidFill>
                <a:srgbClr val="1A1A1A"/>
              </a:solidFill>
              <a:latin typeface="Arial"/>
            </a:endParaRPr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1114FAF3-CE3E-4819-8674-A7A49A279B3C}"/>
              </a:ext>
            </a:extLst>
          </p:cNvPr>
          <p:cNvSpPr/>
          <p:nvPr/>
        </p:nvSpPr>
        <p:spPr>
          <a:xfrm>
            <a:off x="985923" y="4234740"/>
            <a:ext cx="5546630" cy="23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 erreicht, wenn:</a:t>
            </a:r>
            <a:endParaRPr lang="en-US" sz="1400" dirty="0"/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11AC712A-8D90-4C74-85BE-D16524DBA39E}"/>
              </a:ext>
            </a:extLst>
          </p:cNvPr>
          <p:cNvSpPr/>
          <p:nvPr/>
        </p:nvSpPr>
        <p:spPr>
          <a:xfrm>
            <a:off x="989098" y="4654277"/>
            <a:ext cx="349171" cy="34917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23" name="Image 0" descr="CheckCircle">
            <a:extLst>
              <a:ext uri="{FF2B5EF4-FFF2-40B4-BE49-F238E27FC236}">
                <a16:creationId xmlns:a16="http://schemas.microsoft.com/office/drawing/2014/main" id="{29C0B409-3284-49E9-8DFE-E23818BFE2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4743" y="4739923"/>
            <a:ext cx="177760" cy="177760"/>
          </a:xfrm>
          <a:prstGeom prst="rect">
            <a:avLst/>
          </a:prstGeom>
        </p:spPr>
      </p:pic>
      <p:sp>
        <p:nvSpPr>
          <p:cNvPr id="24" name="Text 11">
            <a:extLst>
              <a:ext uri="{FF2B5EF4-FFF2-40B4-BE49-F238E27FC236}">
                <a16:creationId xmlns:a16="http://schemas.microsoft.com/office/drawing/2014/main" id="{70295F90-794F-4989-A8C1-02E71610AF3A}"/>
              </a:ext>
            </a:extLst>
          </p:cNvPr>
          <p:cNvSpPr/>
          <p:nvPr/>
        </p:nvSpPr>
        <p:spPr>
          <a:xfrm>
            <a:off x="1493843" y="4651102"/>
            <a:ext cx="5023472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Anwendung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3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-cache) nicht vom Host aus erreichbar</a:t>
            </a:r>
            <a:endParaRPr lang="en-US" sz="1300" dirty="0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24E425D7-B2A0-43A9-A433-DC24ABB2B815}"/>
              </a:ext>
            </a:extLst>
          </p:cNvPr>
          <p:cNvSpPr/>
          <p:nvPr/>
        </p:nvSpPr>
        <p:spPr>
          <a:xfrm>
            <a:off x="1493843" y="4887322"/>
            <a:ext cx="5023472" cy="20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 -tlnp | grep 6379 liefert keine Ausgabe</a:t>
            </a:r>
            <a:endParaRPr lang="en-US" sz="1000" dirty="0"/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F81898E2-B8F9-4032-85B6-4399339A4281}"/>
              </a:ext>
            </a:extLst>
          </p:cNvPr>
          <p:cNvSpPr/>
          <p:nvPr/>
        </p:nvSpPr>
        <p:spPr>
          <a:xfrm>
            <a:off x="989098" y="5271378"/>
            <a:ext cx="349171" cy="34917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29" name="Image 1" descr="CheckCircle">
            <a:extLst>
              <a:ext uri="{FF2B5EF4-FFF2-40B4-BE49-F238E27FC236}">
                <a16:creationId xmlns:a16="http://schemas.microsoft.com/office/drawing/2014/main" id="{53BDCC22-837A-48C3-B90C-4558915E32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4743" y="5357024"/>
            <a:ext cx="177760" cy="177760"/>
          </a:xfrm>
          <a:prstGeom prst="rect">
            <a:avLst/>
          </a:prstGeom>
        </p:spPr>
      </p:pic>
      <p:sp>
        <p:nvSpPr>
          <p:cNvPr id="44" name="Text 14">
            <a:extLst>
              <a:ext uri="{FF2B5EF4-FFF2-40B4-BE49-F238E27FC236}">
                <a16:creationId xmlns:a16="http://schemas.microsoft.com/office/drawing/2014/main" id="{8F397F52-50E8-40FC-90A0-9AFBD738B011}"/>
              </a:ext>
            </a:extLst>
          </p:cNvPr>
          <p:cNvSpPr/>
          <p:nvPr/>
        </p:nvSpPr>
        <p:spPr>
          <a:xfrm>
            <a:off x="1493843" y="5268203"/>
            <a:ext cx="5023472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Namensauflösung nur innerhalb von app-net</a:t>
            </a:r>
            <a:endParaRPr lang="en-US" sz="1300" dirty="0"/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CEC29FA4-E584-4F2A-BEA7-F67796373F13}"/>
              </a:ext>
            </a:extLst>
          </p:cNvPr>
          <p:cNvSpPr/>
          <p:nvPr/>
        </p:nvSpPr>
        <p:spPr>
          <a:xfrm>
            <a:off x="1493843" y="5504424"/>
            <a:ext cx="5023472" cy="20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getent hosts redis-cache: IP nur mit --network app-net</a:t>
            </a:r>
            <a:endParaRPr lang="en-US" sz="1000" dirty="0"/>
          </a:p>
        </p:txBody>
      </p:sp>
      <p:sp>
        <p:nvSpPr>
          <p:cNvPr id="46" name="Shape 16">
            <a:extLst>
              <a:ext uri="{FF2B5EF4-FFF2-40B4-BE49-F238E27FC236}">
                <a16:creationId xmlns:a16="http://schemas.microsoft.com/office/drawing/2014/main" id="{D89DFCBD-A203-4B91-9EC5-D7CDB8297C63}"/>
              </a:ext>
            </a:extLst>
          </p:cNvPr>
          <p:cNvSpPr/>
          <p:nvPr/>
        </p:nvSpPr>
        <p:spPr>
          <a:xfrm>
            <a:off x="989098" y="5888479"/>
            <a:ext cx="349171" cy="34917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47" name="Image 2" descr="CheckCircle">
            <a:extLst>
              <a:ext uri="{FF2B5EF4-FFF2-40B4-BE49-F238E27FC236}">
                <a16:creationId xmlns:a16="http://schemas.microsoft.com/office/drawing/2014/main" id="{4B659E73-2762-4EBA-B435-A9EB942E4A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4743" y="5974125"/>
            <a:ext cx="177760" cy="177760"/>
          </a:xfrm>
          <a:prstGeom prst="rect">
            <a:avLst/>
          </a:prstGeom>
        </p:spPr>
      </p:pic>
      <p:sp>
        <p:nvSpPr>
          <p:cNvPr id="48" name="Text 17">
            <a:extLst>
              <a:ext uri="{FF2B5EF4-FFF2-40B4-BE49-F238E27FC236}">
                <a16:creationId xmlns:a16="http://schemas.microsoft.com/office/drawing/2014/main" id="{9087C244-55BD-4CA7-8480-17CFC737853E}"/>
              </a:ext>
            </a:extLst>
          </p:cNvPr>
          <p:cNvSpPr/>
          <p:nvPr/>
        </p:nvSpPr>
        <p:spPr>
          <a:xfrm>
            <a:off x="1493843" y="5885304"/>
            <a:ext cx="5023472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nodered bleibt für nginx erreichbar</a:t>
            </a:r>
            <a:endParaRPr lang="en-US" sz="1300" dirty="0"/>
          </a:p>
        </p:txBody>
      </p:sp>
      <p:sp>
        <p:nvSpPr>
          <p:cNvPr id="49" name="Text 18">
            <a:extLst>
              <a:ext uri="{FF2B5EF4-FFF2-40B4-BE49-F238E27FC236}">
                <a16:creationId xmlns:a16="http://schemas.microsoft.com/office/drawing/2014/main" id="{7B5DF3C5-1AB8-470D-BA56-7C010112BE1C}"/>
              </a:ext>
            </a:extLst>
          </p:cNvPr>
          <p:cNvSpPr/>
          <p:nvPr/>
        </p:nvSpPr>
        <p:spPr>
          <a:xfrm>
            <a:off x="1493843" y="6121523"/>
            <a:ext cx="5023472" cy="322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weiterhin 127.0.0.1:1880 – zusätzlich jetzt auch Mitglied von app-net</a:t>
            </a:r>
            <a:endParaRPr lang="en-US" sz="1000" dirty="0"/>
          </a:p>
        </p:txBody>
      </p:sp>
      <p:sp>
        <p:nvSpPr>
          <p:cNvPr id="50" name="Shape 2">
            <a:extLst>
              <a:ext uri="{FF2B5EF4-FFF2-40B4-BE49-F238E27FC236}">
                <a16:creationId xmlns:a16="http://schemas.microsoft.com/office/drawing/2014/main" id="{A7BB55EB-4254-433E-B336-713E7D3464CB}"/>
              </a:ext>
            </a:extLst>
          </p:cNvPr>
          <p:cNvSpPr/>
          <p:nvPr/>
        </p:nvSpPr>
        <p:spPr>
          <a:xfrm>
            <a:off x="8548485" y="1739753"/>
            <a:ext cx="3553635" cy="2002911"/>
          </a:xfrm>
          <a:prstGeom prst="roundRect">
            <a:avLst>
              <a:gd name="adj" fmla="val 4196"/>
            </a:avLst>
          </a:prstGeom>
          <a:solidFill>
            <a:srgbClr val="F5F5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E863D0F8-7CD7-42D4-A917-596AEF9B92B8}"/>
              </a:ext>
            </a:extLst>
          </p:cNvPr>
          <p:cNvSpPr/>
          <p:nvPr/>
        </p:nvSpPr>
        <p:spPr>
          <a:xfrm>
            <a:off x="8806890" y="1927516"/>
            <a:ext cx="350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network ls</a:t>
            </a:r>
            <a:endParaRPr lang="en-US" sz="1000" dirty="0"/>
          </a:p>
        </p:txBody>
      </p:sp>
      <p:sp>
        <p:nvSpPr>
          <p:cNvPr id="52" name="Text 4">
            <a:extLst>
              <a:ext uri="{FF2B5EF4-FFF2-40B4-BE49-F238E27FC236}">
                <a16:creationId xmlns:a16="http://schemas.microsoft.com/office/drawing/2014/main" id="{EE5EA43F-AF5F-404C-8EC3-30CD7871DE14}"/>
              </a:ext>
            </a:extLst>
          </p:cNvPr>
          <p:cNvSpPr/>
          <p:nvPr/>
        </p:nvSpPr>
        <p:spPr>
          <a:xfrm>
            <a:off x="8806890" y="2219576"/>
            <a:ext cx="350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app-net   bridge   local</a:t>
            </a:r>
            <a:endParaRPr lang="en-US" sz="1000" dirty="0"/>
          </a:p>
        </p:txBody>
      </p:sp>
      <p:sp>
        <p:nvSpPr>
          <p:cNvPr id="53" name="Text 5">
            <a:extLst>
              <a:ext uri="{FF2B5EF4-FFF2-40B4-BE49-F238E27FC236}">
                <a16:creationId xmlns:a16="http://schemas.microsoft.com/office/drawing/2014/main" id="{79A4DC1E-2BB3-445C-B1DD-C8C24B58D896}"/>
              </a:ext>
            </a:extLst>
          </p:cNvPr>
          <p:cNvSpPr/>
          <p:nvPr/>
        </p:nvSpPr>
        <p:spPr>
          <a:xfrm>
            <a:off x="8806890" y="2511637"/>
            <a:ext cx="350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bridge    bridge   local</a:t>
            </a:r>
            <a:endParaRPr lang="en-US" sz="1000" dirty="0"/>
          </a:p>
        </p:txBody>
      </p:sp>
      <p:sp>
        <p:nvSpPr>
          <p:cNvPr id="54" name="Text 6">
            <a:extLst>
              <a:ext uri="{FF2B5EF4-FFF2-40B4-BE49-F238E27FC236}">
                <a16:creationId xmlns:a16="http://schemas.microsoft.com/office/drawing/2014/main" id="{B8194AB6-C611-4B81-A202-63DC7C6E8CC8}"/>
              </a:ext>
            </a:extLst>
          </p:cNvPr>
          <p:cNvSpPr/>
          <p:nvPr/>
        </p:nvSpPr>
        <p:spPr>
          <a:xfrm>
            <a:off x="8806890" y="2803697"/>
            <a:ext cx="350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endParaRPr lang="en-US" sz="1000" dirty="0"/>
          </a:p>
        </p:txBody>
      </p:sp>
      <p:sp>
        <p:nvSpPr>
          <p:cNvPr id="55" name="Text 7">
            <a:extLst>
              <a:ext uri="{FF2B5EF4-FFF2-40B4-BE49-F238E27FC236}">
                <a16:creationId xmlns:a16="http://schemas.microsoft.com/office/drawing/2014/main" id="{086F7CC9-C822-4419-A0A1-4680B8AE6C36}"/>
              </a:ext>
            </a:extLst>
          </p:cNvPr>
          <p:cNvSpPr/>
          <p:nvPr/>
        </p:nvSpPr>
        <p:spPr>
          <a:xfrm>
            <a:off x="8806890" y="3095758"/>
            <a:ext cx="350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network inspect app-net:</a:t>
            </a:r>
            <a:endParaRPr lang="en-US" sz="1000" dirty="0"/>
          </a:p>
        </p:txBody>
      </p:sp>
      <p:sp>
        <p:nvSpPr>
          <p:cNvPr id="56" name="Text 8">
            <a:extLst>
              <a:ext uri="{FF2B5EF4-FFF2-40B4-BE49-F238E27FC236}">
                <a16:creationId xmlns:a16="http://schemas.microsoft.com/office/drawing/2014/main" id="{C9685715-5DDB-40EA-8B83-8BFE9102D87E}"/>
              </a:ext>
            </a:extLst>
          </p:cNvPr>
          <p:cNvSpPr/>
          <p:nvPr/>
        </p:nvSpPr>
        <p:spPr>
          <a:xfrm>
            <a:off x="8806890" y="3387818"/>
            <a:ext cx="350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Subnetz 172.18.0.0/16 (automatisch)</a:t>
            </a:r>
            <a:endParaRPr lang="en-US" sz="1000" dirty="0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BD0C9F41-076D-42D9-8246-8406ADBBCD4E}"/>
              </a:ext>
            </a:extLst>
          </p:cNvPr>
          <p:cNvGrpSpPr/>
          <p:nvPr/>
        </p:nvGrpSpPr>
        <p:grpSpPr>
          <a:xfrm>
            <a:off x="492067" y="2792493"/>
            <a:ext cx="1351659" cy="1017731"/>
            <a:chOff x="1277241" y="1717910"/>
            <a:chExt cx="1351659" cy="1017731"/>
          </a:xfrm>
        </p:grpSpPr>
        <p:pic>
          <p:nvPicPr>
            <p:cNvPr id="58" name="Grafik 57">
              <a:extLst>
                <a:ext uri="{FF2B5EF4-FFF2-40B4-BE49-F238E27FC236}">
                  <a16:creationId xmlns:a16="http://schemas.microsoft.com/office/drawing/2014/main" id="{DF31A487-DFBC-477A-B3E4-7D124DDF20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509841" y="1717910"/>
              <a:ext cx="847584" cy="1017731"/>
            </a:xfrm>
            <a:prstGeom prst="rect">
              <a:avLst/>
            </a:prstGeom>
          </p:spPr>
        </p:pic>
        <p:sp>
          <p:nvSpPr>
            <p:cNvPr id="59" name="Text 9">
              <a:extLst>
                <a:ext uri="{FF2B5EF4-FFF2-40B4-BE49-F238E27FC236}">
                  <a16:creationId xmlns:a16="http://schemas.microsoft.com/office/drawing/2014/main" id="{63E311FE-87E9-4F46-9EA9-CAC1C93B669B}"/>
                </a:ext>
              </a:extLst>
            </p:cNvPr>
            <p:cNvSpPr txBox="1"/>
            <p:nvPr/>
          </p:nvSpPr>
          <p:spPr>
            <a:xfrm>
              <a:off x="1277241" y="1822261"/>
              <a:ext cx="1351659" cy="4206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kern="0" spc="100" dirty="0">
                  <a:solidFill>
                    <a:srgbClr val="0061A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CLIENT</a:t>
              </a:r>
              <a:endParaRPr lang="en-US" sz="1300" dirty="0">
                <a:solidFill>
                  <a:srgbClr val="0061AF"/>
                </a:solidFill>
              </a:endParaRP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E3D05772-2A79-44E3-8BA9-4BA93265710C}"/>
              </a:ext>
            </a:extLst>
          </p:cNvPr>
          <p:cNvGrpSpPr/>
          <p:nvPr/>
        </p:nvGrpSpPr>
        <p:grpSpPr>
          <a:xfrm>
            <a:off x="2427109" y="1595358"/>
            <a:ext cx="1351659" cy="985018"/>
            <a:chOff x="9848849" y="1767865"/>
            <a:chExt cx="1351659" cy="985018"/>
          </a:xfrm>
        </p:grpSpPr>
        <p:sp>
          <p:nvSpPr>
            <p:cNvPr id="61" name="Rechteck 60">
              <a:extLst>
                <a:ext uri="{FF2B5EF4-FFF2-40B4-BE49-F238E27FC236}">
                  <a16:creationId xmlns:a16="http://schemas.microsoft.com/office/drawing/2014/main" id="{CA6EB264-C0BA-46C4-AC70-DDD04008783B}"/>
                </a:ext>
              </a:extLst>
            </p:cNvPr>
            <p:cNvSpPr/>
            <p:nvPr/>
          </p:nvSpPr>
          <p:spPr>
            <a:xfrm>
              <a:off x="10160000" y="1767865"/>
              <a:ext cx="729358" cy="985018"/>
            </a:xfrm>
            <a:prstGeom prst="rect">
              <a:avLst/>
            </a:prstGeom>
            <a:solidFill>
              <a:srgbClr val="E7E7E9"/>
            </a:solidFill>
            <a:ln w="47625">
              <a:solidFill>
                <a:srgbClr val="005A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8D0933F7-EAC4-47FE-B330-7D8267716464}"/>
                </a:ext>
              </a:extLst>
            </p:cNvPr>
            <p:cNvCxnSpPr>
              <a:cxnSpLocks/>
            </p:cNvCxnSpPr>
            <p:nvPr/>
          </p:nvCxnSpPr>
          <p:spPr>
            <a:xfrm>
              <a:off x="10274154" y="2341045"/>
              <a:ext cx="279692" cy="0"/>
            </a:xfrm>
            <a:prstGeom prst="line">
              <a:avLst/>
            </a:prstGeom>
            <a:ln w="31750">
              <a:solidFill>
                <a:srgbClr val="005A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A5873910-0D9F-4B87-B73E-5D80DF9AF71D}"/>
                </a:ext>
              </a:extLst>
            </p:cNvPr>
            <p:cNvCxnSpPr>
              <a:cxnSpLocks/>
            </p:cNvCxnSpPr>
            <p:nvPr/>
          </p:nvCxnSpPr>
          <p:spPr>
            <a:xfrm>
              <a:off x="10274154" y="2441810"/>
              <a:ext cx="279692" cy="0"/>
            </a:xfrm>
            <a:prstGeom prst="line">
              <a:avLst/>
            </a:prstGeom>
            <a:ln w="31750">
              <a:solidFill>
                <a:srgbClr val="005A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F65E0B38-28DB-4565-AD84-38413A0D7874}"/>
                </a:ext>
              </a:extLst>
            </p:cNvPr>
            <p:cNvCxnSpPr>
              <a:cxnSpLocks/>
            </p:cNvCxnSpPr>
            <p:nvPr/>
          </p:nvCxnSpPr>
          <p:spPr>
            <a:xfrm>
              <a:off x="10274154" y="2567286"/>
              <a:ext cx="279692" cy="0"/>
            </a:xfrm>
            <a:prstGeom prst="line">
              <a:avLst/>
            </a:prstGeom>
            <a:ln w="31750">
              <a:solidFill>
                <a:srgbClr val="005A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Ellipse 64">
              <a:extLst>
                <a:ext uri="{FF2B5EF4-FFF2-40B4-BE49-F238E27FC236}">
                  <a16:creationId xmlns:a16="http://schemas.microsoft.com/office/drawing/2014/main" id="{66F50FE2-91FF-45B1-BF5B-95B224F5FFBE}"/>
                </a:ext>
              </a:extLst>
            </p:cNvPr>
            <p:cNvSpPr/>
            <p:nvPr/>
          </p:nvSpPr>
          <p:spPr>
            <a:xfrm>
              <a:off x="10553846" y="1942465"/>
              <a:ext cx="162565" cy="162000"/>
            </a:xfrm>
            <a:prstGeom prst="ellipse">
              <a:avLst/>
            </a:prstGeom>
            <a:solidFill>
              <a:srgbClr val="E7E7E9"/>
            </a:solidFill>
            <a:ln w="38100">
              <a:solidFill>
                <a:srgbClr val="005A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" name="Text 9">
              <a:extLst>
                <a:ext uri="{FF2B5EF4-FFF2-40B4-BE49-F238E27FC236}">
                  <a16:creationId xmlns:a16="http://schemas.microsoft.com/office/drawing/2014/main" id="{C80E50A8-B92A-46D2-8FB2-73FFD230B848}"/>
                </a:ext>
              </a:extLst>
            </p:cNvPr>
            <p:cNvSpPr txBox="1"/>
            <p:nvPr/>
          </p:nvSpPr>
          <p:spPr>
            <a:xfrm>
              <a:off x="9848849" y="2000031"/>
              <a:ext cx="1351659" cy="4206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kern="0" spc="100" dirty="0">
                  <a:solidFill>
                    <a:srgbClr val="0061A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Server</a:t>
              </a:r>
              <a:endParaRPr lang="en-US" sz="1300" dirty="0">
                <a:solidFill>
                  <a:srgbClr val="0061AF"/>
                </a:solidFill>
              </a:endParaRPr>
            </a:p>
          </p:txBody>
        </p:sp>
      </p:grpSp>
      <p:cxnSp>
        <p:nvCxnSpPr>
          <p:cNvPr id="67" name="Connector 66"/>
          <p:cNvCxnSpPr/>
          <p:nvPr/>
        </p:nvCxnSpPr>
        <p:spPr>
          <a:xfrm flipV="1">
            <a:off x="4744400" y="2811780"/>
            <a:ext cx="1244942" cy="525780"/>
          </a:xfrm>
          <a:prstGeom prst="line">
            <a:avLst/>
          </a:prstGeom>
          <a:ln w="19050">
            <a:solidFill>
              <a:srgbClr val="005A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744400" y="3337560"/>
            <a:ext cx="1244942" cy="525779"/>
          </a:xfrm>
          <a:prstGeom prst="line">
            <a:avLst/>
          </a:prstGeom>
          <a:ln w="19050">
            <a:solidFill>
              <a:srgbClr val="F2B8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989342" y="2222478"/>
            <a:ext cx="2423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5B6472"/>
                </a:solidFill>
                <a:latin typeface="Arial"/>
              </a:rPr>
              <a:t>nur intern erreichbar (Docker-DNS)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89342" y="3274038"/>
            <a:ext cx="2423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5B6472"/>
                </a:solidFill>
                <a:latin typeface="Arial"/>
              </a:rPr>
              <a:t>weiterhin für nginx erreichbar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601" y="274638"/>
            <a:ext cx="10953313" cy="1143000"/>
          </a:xfrm>
        </p:spPr>
        <p:txBody>
          <a:bodyPr/>
          <a:lstStyle/>
          <a:p>
            <a:r>
              <a:rPr lang="de-DE" sz="2400" dirty="0"/>
              <a:t>Docker-Netzwerke bündeln &amp; abgrenzen (A.8.22)</a:t>
            </a:r>
            <a:endParaRPr sz="2400" dirty="0"/>
          </a:p>
        </p:txBody>
      </p:sp>
      <p:sp>
        <p:nvSpPr>
          <p:cNvPr id="2" name="Foliennummernplatzhalt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3A6DCFB-163F-4561-BF28-3CD1FE47EE20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5" name="TextBox 4"/>
          <p:cNvSpPr txBox="1"/>
          <p:nvPr/>
        </p:nvSpPr>
        <p:spPr>
          <a:xfrm>
            <a:off x="548640" y="1444752"/>
            <a:ext cx="5257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50" b="1" i="0">
                <a:solidFill>
                  <a:srgbClr val="B03A2E"/>
                </a:solidFill>
                <a:latin typeface="Arial"/>
              </a:rPr>
              <a:t>Vorher: Standard-Bridge-Netzwerk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5255" y="1444752"/>
            <a:ext cx="5257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50" b="1" i="0">
                <a:solidFill>
                  <a:srgbClr val="005AA8"/>
                </a:solidFill>
                <a:latin typeface="Arial"/>
              </a:rPr>
              <a:t>Nachher: zwei Netze mit klar definierten Mitgliedern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5257800" cy="2514600"/>
          </a:xfrm>
          <a:prstGeom prst="roundRect">
            <a:avLst>
              <a:gd name="adj" fmla="val 6000"/>
            </a:avLst>
          </a:prstGeom>
          <a:solidFill>
            <a:srgbClr val="FBE7E4"/>
          </a:solidFill>
          <a:ln w="1270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002536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Docker-Standard-Netzwerk (bridge)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441448"/>
            <a:ext cx="2148840" cy="5029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nginx-web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441448"/>
            <a:ext cx="2148840" cy="5029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nodered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218687"/>
            <a:ext cx="2148840" cy="5029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cockpit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3218687"/>
            <a:ext cx="2148840" cy="5029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dienst-b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43100" y="2692908"/>
            <a:ext cx="2468880" cy="0"/>
          </a:xfrm>
          <a:prstGeom prst="line">
            <a:avLst/>
          </a:prstGeom>
          <a:ln w="9525">
            <a:solidFill>
              <a:srgbClr val="B03A2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943100" y="2692908"/>
            <a:ext cx="0" cy="777239"/>
          </a:xfrm>
          <a:prstGeom prst="line">
            <a:avLst/>
          </a:prstGeom>
          <a:ln w="9525">
            <a:solidFill>
              <a:srgbClr val="B03A2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943100" y="2692908"/>
            <a:ext cx="2468880" cy="777239"/>
          </a:xfrm>
          <a:prstGeom prst="line">
            <a:avLst/>
          </a:prstGeom>
          <a:ln w="9525">
            <a:solidFill>
              <a:srgbClr val="B03A2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943100" y="2692908"/>
            <a:ext cx="2468880" cy="777239"/>
          </a:xfrm>
          <a:prstGeom prst="line">
            <a:avLst/>
          </a:prstGeom>
          <a:ln w="9525">
            <a:solidFill>
              <a:srgbClr val="B03A2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411980" y="2692908"/>
            <a:ext cx="0" cy="777239"/>
          </a:xfrm>
          <a:prstGeom prst="line">
            <a:avLst/>
          </a:prstGeom>
          <a:ln w="9525">
            <a:solidFill>
              <a:srgbClr val="B03A2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943100" y="3470147"/>
            <a:ext cx="2468880" cy="0"/>
          </a:xfrm>
          <a:prstGeom prst="line">
            <a:avLst/>
          </a:prstGeom>
          <a:ln w="9525">
            <a:solidFill>
              <a:srgbClr val="B03A2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4005072"/>
            <a:ext cx="48006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i="1">
                <a:solidFill>
                  <a:srgbClr val="B03A2E"/>
                </a:solidFill>
                <a:latin typeface="Arial"/>
              </a:rPr>
              <a:t>Jeder Container erreicht jeden – unabhängig davon, ob sie zusammengehören.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3835" y="2011679"/>
            <a:ext cx="210311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 i="0">
                <a:solidFill>
                  <a:srgbClr val="005AA8"/>
                </a:solidFill>
                <a:latin typeface="Arial"/>
              </a:rPr>
              <a:t>app-net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17075" y="2011679"/>
            <a:ext cx="210311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 i="0">
                <a:solidFill>
                  <a:srgbClr val="5B6472"/>
                </a:solidFill>
                <a:latin typeface="Arial"/>
              </a:rPr>
              <a:t>Docker-Standard-Netz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53835" y="2331720"/>
            <a:ext cx="3063240" cy="1600200"/>
          </a:xfrm>
          <a:prstGeom prst="roundRect">
            <a:avLst>
              <a:gd name="adj" fmla="val 30000"/>
            </a:avLst>
          </a:prstGeom>
          <a:solidFill>
            <a:srgbClr val="005AA8">
              <a:alpha val="22000"/>
            </a:srgbClr>
          </a:solidFill>
          <a:ln w="12700">
            <a:solidFill>
              <a:srgbClr val="00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556955" y="2331720"/>
            <a:ext cx="3063240" cy="1600200"/>
          </a:xfrm>
          <a:prstGeom prst="roundRect">
            <a:avLst>
              <a:gd name="adj" fmla="val 30000"/>
            </a:avLst>
          </a:prstGeom>
          <a:solidFill>
            <a:srgbClr val="8A94A3">
              <a:alpha val="30000"/>
            </a:srgbClr>
          </a:solidFill>
          <a:ln w="12700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682435" y="2866644"/>
            <a:ext cx="1554480" cy="5303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00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redis-cache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37115" y="2866644"/>
            <a:ext cx="1554480" cy="5303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100" b="1">
                <a:solidFill>
                  <a:srgbClr val="5B6472"/>
                </a:solidFill>
                <a:latin typeface="Arial"/>
              </a:rPr>
              <a:t>nginx-web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51215" y="2857500"/>
            <a:ext cx="1371600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150" b="1">
                <a:solidFill>
                  <a:srgbClr val="1A1A1A"/>
                </a:solidFill>
                <a:latin typeface="Arial"/>
              </a:rPr>
              <a:t>nodered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6695" y="4041648"/>
            <a:ext cx="50749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i="1">
                <a:solidFill>
                  <a:srgbClr val="005AA8"/>
                </a:solidFill>
                <a:latin typeface="Arial"/>
              </a:rPr>
              <a:t>nodered ist ein einzelner Container – gleichzeitig Mitglied in beiden Netzen.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617720"/>
            <a:ext cx="11094415" cy="868680"/>
          </a:xfrm>
          <a:prstGeom prst="roundRect">
            <a:avLst>
              <a:gd name="adj" fmla="val 19231"/>
            </a:avLst>
          </a:prstGeom>
          <a:solidFill>
            <a:srgbClr val="F4F6FA"/>
          </a:solidFill>
          <a:ln w="9525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59" y="4751978"/>
            <a:ext cx="10545775" cy="6001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dirty="0" err="1">
                <a:solidFill>
                  <a:srgbClr val="1E2761"/>
                </a:solidFill>
                <a:latin typeface="Calibri"/>
              </a:rPr>
              <a:t>KControl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A.8.22 (Segregation of Networks)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verlangt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eine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erkennbare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Trennung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zusammengehöriger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Dienste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. Ein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benutzerdefiniertes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Docker-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Netzwerk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mit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bewusst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gewählten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Mitgliedern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ist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die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technische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Umsetzung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–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dokumentiert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durch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docker network-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Befehle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,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nachvollziehbar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durch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docker network inspect.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601" y="274638"/>
            <a:ext cx="10953313" cy="1143000"/>
          </a:xfrm>
        </p:spPr>
        <p:txBody>
          <a:bodyPr/>
          <a:lstStyle/>
          <a:p>
            <a:r>
              <a:rPr lang="de-DE" sz="2400" dirty="0"/>
              <a:t>Netzwerktopologie: app-net vs. Standardnetz</a:t>
            </a:r>
            <a:endParaRPr sz="2400" dirty="0"/>
          </a:p>
        </p:txBody>
      </p:sp>
      <p:sp>
        <p:nvSpPr>
          <p:cNvPr id="2" name="Foliennummernplatzhalt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3A6DCFB-163F-4561-BF28-3CD1FE47EE20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5" name="TextBox 4"/>
          <p:cNvSpPr txBox="1"/>
          <p:nvPr/>
        </p:nvSpPr>
        <p:spPr>
          <a:xfrm>
            <a:off x="822960" y="2082341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005AA8"/>
                </a:solidFill>
                <a:latin typeface="Arial"/>
              </a:rPr>
              <a:t>app-net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8373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i="1">
                <a:solidFill>
                  <a:srgbClr val="5B6472"/>
                </a:solidFill>
                <a:latin typeface="Arial"/>
              </a:rPr>
              <a:t>172.18.0.0/16 (automatisch vergeben)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2082341"/>
            <a:ext cx="4571999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5B6472"/>
                </a:solidFill>
                <a:latin typeface="Arial"/>
              </a:rPr>
              <a:t>Docker-Standard-Netz (bridge)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2338373"/>
            <a:ext cx="4571999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i="1">
                <a:solidFill>
                  <a:srgbClr val="5B6472"/>
                </a:solidFill>
                <a:latin typeface="Arial"/>
              </a:rPr>
              <a:t>172.17.0.0/16 (Default)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30981"/>
            <a:ext cx="5989320" cy="2240280"/>
          </a:xfrm>
          <a:prstGeom prst="roundRect">
            <a:avLst>
              <a:gd name="adj" fmla="val 20000"/>
            </a:avLst>
          </a:prstGeom>
          <a:solidFill>
            <a:srgbClr val="005AA8">
              <a:alpha val="22000"/>
            </a:srgbClr>
          </a:solidFill>
          <a:ln w="12700">
            <a:solidFill>
              <a:srgbClr val="00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394960" y="2630981"/>
            <a:ext cx="5989320" cy="2240280"/>
          </a:xfrm>
          <a:prstGeom prst="roundRect">
            <a:avLst>
              <a:gd name="adj" fmla="val 20000"/>
            </a:avLst>
          </a:prstGeom>
          <a:solidFill>
            <a:srgbClr val="8A94A3">
              <a:alpha val="30000"/>
            </a:srgbClr>
          </a:solidFill>
          <a:ln w="12700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43000" y="3476801"/>
            <a:ext cx="182880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00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100" b="1">
                <a:solidFill>
                  <a:srgbClr val="1A1A1A"/>
                </a:solidFill>
                <a:latin typeface="Arial"/>
              </a:rPr>
              <a:t>redis-cache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3476801"/>
            <a:ext cx="182880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100" b="1">
                <a:solidFill>
                  <a:srgbClr val="5B6472"/>
                </a:solidFill>
                <a:latin typeface="Arial"/>
              </a:rPr>
              <a:t>nginx-web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89220" y="3476801"/>
            <a:ext cx="1828800" cy="5486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/>
            <a:r>
              <a:rPr sz="1150" b="1">
                <a:solidFill>
                  <a:srgbClr val="1A1A1A"/>
                </a:solidFill>
                <a:latin typeface="Arial"/>
              </a:rPr>
              <a:t>nodered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6270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1">
                <a:solidFill>
                  <a:srgbClr val="005AA8"/>
                </a:solidFill>
                <a:latin typeface="Arial"/>
              </a:rPr>
              <a:t>nodered ist ein einzelner Container – gleichzeitig Mitglied im app-net und im Docker-Standard-Netz.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511341"/>
            <a:ext cx="11094415" cy="868680"/>
          </a:xfrm>
          <a:prstGeom prst="roundRect">
            <a:avLst>
              <a:gd name="adj" fmla="val 19231"/>
            </a:avLst>
          </a:prstGeom>
          <a:solidFill>
            <a:srgbClr val="F4F6FA"/>
          </a:solidFill>
          <a:ln w="9525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5745626"/>
            <a:ext cx="10545775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dirty="0" err="1">
                <a:solidFill>
                  <a:srgbClr val="1E2761"/>
                </a:solidFill>
                <a:latin typeface="Calibri"/>
              </a:rPr>
              <a:t>Jedes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Docker-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Netzwerk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ist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eine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eigene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lang="de-DE" sz="1300" b="1" dirty="0">
                <a:solidFill>
                  <a:srgbClr val="1E2761"/>
                </a:solidFill>
                <a:latin typeface="Calibri"/>
              </a:rPr>
              <a:t>Broadcastdomäne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mit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eigenem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Subnetz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und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eigenem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DNS.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Zwischen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zwei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Netzwerken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gibt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es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kein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automatisches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Routing</a:t>
            </a:r>
            <a:r>
              <a:rPr lang="de-DE" sz="1300" b="1" dirty="0">
                <a:solidFill>
                  <a:srgbClr val="1E2761"/>
                </a:solidFill>
                <a:latin typeface="Calibri"/>
              </a:rPr>
              <a:t>. N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ur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ein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Container, der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wie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nodered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Mitglied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in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beiden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ist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,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kann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zwischen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ihnen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 </a:t>
            </a:r>
            <a:r>
              <a:rPr sz="1300" b="1" dirty="0" err="1">
                <a:solidFill>
                  <a:srgbClr val="1E2761"/>
                </a:solidFill>
                <a:latin typeface="Calibri"/>
              </a:rPr>
              <a:t>vermitteln</a:t>
            </a:r>
            <a:r>
              <a:rPr sz="1300" b="1" dirty="0">
                <a:solidFill>
                  <a:srgbClr val="1E2761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534949"/>
            <a:ext cx="10953313" cy="1143000"/>
          </a:xfrm>
        </p:spPr>
        <p:txBody>
          <a:bodyPr/>
          <a:lstStyle/>
          <a:p>
            <a:r>
              <a:rPr lang="en-US" sz="2000" dirty="0"/>
              <a:t>Netzwerk anlegen, verbinden &amp; internen Dienst starten</a:t>
            </a:r>
            <a:br>
              <a:rPr lang="en-US" sz="2000" dirty="0"/>
            </a:br>
            <a:br>
              <a:rPr lang="en-US" sz="2000" dirty="0"/>
            </a:br>
            <a:endParaRPr lang="de-DE" sz="1998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3A6DCFB-163F-4561-BF28-3CD1FE47EE20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41" name="Shape 2">
            <a:extLst>
              <a:ext uri="{FF2B5EF4-FFF2-40B4-BE49-F238E27FC236}">
                <a16:creationId xmlns:a16="http://schemas.microsoft.com/office/drawing/2014/main" id="{38C067B0-3936-41B1-A465-6CF531D3A8B9}"/>
              </a:ext>
            </a:extLst>
          </p:cNvPr>
          <p:cNvSpPr/>
          <p:nvPr/>
        </p:nvSpPr>
        <p:spPr>
          <a:xfrm>
            <a:off x="815896" y="1897817"/>
            <a:ext cx="4819610" cy="2860437"/>
          </a:xfrm>
          <a:prstGeom prst="roundRect">
            <a:avLst>
              <a:gd name="adj" fmla="val 4329"/>
            </a:avLst>
          </a:prstGeom>
          <a:solidFill>
            <a:srgbClr val="1A222C"/>
          </a:solidFill>
          <a:ln w="6350">
            <a:solidFill>
              <a:srgbClr val="2A3540"/>
            </a:solidFill>
            <a:prstDash val="solid"/>
          </a:ln>
        </p:spPr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1AAB280A-C58B-4600-91C2-05E8E72EA5FA}"/>
              </a:ext>
            </a:extLst>
          </p:cNvPr>
          <p:cNvSpPr/>
          <p:nvPr/>
        </p:nvSpPr>
        <p:spPr>
          <a:xfrm>
            <a:off x="1074301" y="2337554"/>
            <a:ext cx="443188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9BA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network create app-net</a:t>
            </a:r>
            <a:endParaRPr lang="en-US" sz="1200" dirty="0"/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8AAEFDEB-D914-4800-867A-E1B2F3B52DA4}"/>
              </a:ext>
            </a:extLst>
          </p:cNvPr>
          <p:cNvSpPr/>
          <p:nvPr/>
        </p:nvSpPr>
        <p:spPr>
          <a:xfrm>
            <a:off x="1074301" y="2629614"/>
            <a:ext cx="443188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3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network connect app-net nodered</a:t>
            </a:r>
            <a:endParaRPr lang="en-US" sz="1200" dirty="0"/>
          </a:p>
        </p:txBody>
      </p:sp>
      <p:sp>
        <p:nvSpPr>
          <p:cNvPr id="44" name="Text 5">
            <a:extLst>
              <a:ext uri="{FF2B5EF4-FFF2-40B4-BE49-F238E27FC236}">
                <a16:creationId xmlns:a16="http://schemas.microsoft.com/office/drawing/2014/main" id="{D23E1F0C-757A-42E1-AD49-385B2705298C}"/>
              </a:ext>
            </a:extLst>
          </p:cNvPr>
          <p:cNvSpPr/>
          <p:nvPr/>
        </p:nvSpPr>
        <p:spPr>
          <a:xfrm>
            <a:off x="1074301" y="2921675"/>
            <a:ext cx="443188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3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run -d --name redis-cache \</a:t>
            </a:r>
            <a:endParaRPr lang="en-US" sz="1200" dirty="0"/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FF804CF7-5F0A-4A1A-825E-C719AE6AB240}"/>
              </a:ext>
            </a:extLst>
          </p:cNvPr>
          <p:cNvSpPr/>
          <p:nvPr/>
        </p:nvSpPr>
        <p:spPr>
          <a:xfrm>
            <a:off x="1074301" y="3213735"/>
            <a:ext cx="443188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3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--restart unless-stopped \</a:t>
            </a:r>
            <a:endParaRPr lang="en-US" sz="1200" dirty="0"/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24A663C8-1008-4A42-9F39-02CC281DFE5F}"/>
              </a:ext>
            </a:extLst>
          </p:cNvPr>
          <p:cNvSpPr/>
          <p:nvPr/>
        </p:nvSpPr>
        <p:spPr>
          <a:xfrm>
            <a:off x="1074301" y="3505795"/>
            <a:ext cx="443188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--network app-net redis:7</a:t>
            </a:r>
            <a:endParaRPr lang="en-US" sz="1200" dirty="0"/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532CD5DA-7718-4A8E-8831-B62B02F6B3C1}"/>
              </a:ext>
            </a:extLst>
          </p:cNvPr>
          <p:cNvSpPr/>
          <p:nvPr/>
        </p:nvSpPr>
        <p:spPr>
          <a:xfrm>
            <a:off x="1074301" y="3797856"/>
            <a:ext cx="443188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3F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network inspect app-net</a:t>
            </a:r>
            <a:endParaRPr lang="en-US" sz="1200" dirty="0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0FA88FCB-C79E-4161-BB07-82B54DE702AE}"/>
              </a:ext>
            </a:extLst>
          </p:cNvPr>
          <p:cNvSpPr/>
          <p:nvPr/>
        </p:nvSpPr>
        <p:spPr>
          <a:xfrm>
            <a:off x="1074301" y="4089916"/>
            <a:ext cx="443188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sz="1200" b="0">
                <a:solidFill>
                  <a:srgbClr val="F3F5F2"/>
                </a:solidFill>
                <a:latin typeface="Courier New"/>
              </a:rPr>
              <a:t>$ docker network ls</a:t>
            </a:r>
            <a:endParaRPr lang="en-US" sz="1200" dirty="0"/>
          </a:p>
        </p:txBody>
      </p:sp>
      <p:sp>
        <p:nvSpPr>
          <p:cNvPr id="49" name="Shape 10">
            <a:extLst>
              <a:ext uri="{FF2B5EF4-FFF2-40B4-BE49-F238E27FC236}">
                <a16:creationId xmlns:a16="http://schemas.microsoft.com/office/drawing/2014/main" id="{8F857C7B-B20F-46F9-8EE1-DA98ED1AAE54}"/>
              </a:ext>
            </a:extLst>
          </p:cNvPr>
          <p:cNvSpPr/>
          <p:nvPr/>
        </p:nvSpPr>
        <p:spPr>
          <a:xfrm>
            <a:off x="5997377" y="2043906"/>
            <a:ext cx="349171" cy="349171"/>
          </a:xfrm>
          <a:prstGeom prst="roundRect">
            <a:avLst>
              <a:gd name="adj" fmla="val 50000"/>
            </a:avLst>
          </a:prstGeom>
          <a:solidFill>
            <a:srgbClr val="F2B84B">
              <a:alpha val="15000"/>
            </a:srgbClr>
          </a:solidFill>
          <a:ln w="6350">
            <a:solidFill>
              <a:srgbClr val="F2B84B"/>
            </a:solidFill>
            <a:prstDash val="solid"/>
          </a:ln>
        </p:spPr>
      </p:sp>
      <p:sp>
        <p:nvSpPr>
          <p:cNvPr id="50" name="Text 11">
            <a:extLst>
              <a:ext uri="{FF2B5EF4-FFF2-40B4-BE49-F238E27FC236}">
                <a16:creationId xmlns:a16="http://schemas.microsoft.com/office/drawing/2014/main" id="{1C8F9B9E-BF92-43F2-B472-F74A689D5FE6}"/>
              </a:ext>
            </a:extLst>
          </p:cNvPr>
          <p:cNvSpPr/>
          <p:nvPr/>
        </p:nvSpPr>
        <p:spPr>
          <a:xfrm>
            <a:off x="6122432" y="2094071"/>
            <a:ext cx="14974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B9AA4CCF-E012-41F2-9846-BB357A6ADA52}"/>
              </a:ext>
            </a:extLst>
          </p:cNvPr>
          <p:cNvSpPr/>
          <p:nvPr/>
        </p:nvSpPr>
        <p:spPr>
          <a:xfrm>
            <a:off x="6502122" y="2040731"/>
            <a:ext cx="5023472" cy="23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ea typeface="Arial" pitchFamily="34" charset="-122"/>
                <a:cs typeface="Arial" pitchFamily="34" charset="-120"/>
              </a:rPr>
              <a:t>Eigenes Netzwerk anlegen</a:t>
            </a:r>
            <a:endParaRPr lang="en-US" sz="1400" dirty="0"/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8294DD96-C001-49F2-8130-4C473B854ED3}"/>
              </a:ext>
            </a:extLst>
          </p:cNvPr>
          <p:cNvSpPr/>
          <p:nvPr/>
        </p:nvSpPr>
        <p:spPr>
          <a:xfrm>
            <a:off x="6502122" y="2292072"/>
            <a:ext cx="5023472" cy="416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400" dirty="0">
                <a:ea typeface="Arial" pitchFamily="34" charset="-122"/>
                <a:cs typeface="Arial" pitchFamily="34" charset="-120"/>
              </a:rPr>
              <a:t>Mitglieder erreichen sich gegenseitig per Name – eigener Docker-DNS pro Netzwerk</a:t>
            </a:r>
            <a:endParaRPr lang="en-US" sz="1400" dirty="0"/>
          </a:p>
        </p:txBody>
      </p:sp>
      <p:sp>
        <p:nvSpPr>
          <p:cNvPr id="53" name="Text 14">
            <a:extLst>
              <a:ext uri="{FF2B5EF4-FFF2-40B4-BE49-F238E27FC236}">
                <a16:creationId xmlns:a16="http://schemas.microsoft.com/office/drawing/2014/main" id="{763870ED-19DF-43FF-A66E-56694F219C40}"/>
              </a:ext>
            </a:extLst>
          </p:cNvPr>
          <p:cNvSpPr/>
          <p:nvPr/>
        </p:nvSpPr>
        <p:spPr>
          <a:xfrm>
            <a:off x="6502122" y="2721174"/>
            <a:ext cx="5023472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ea typeface="Courier New" pitchFamily="34" charset="-122"/>
                <a:cs typeface="Courier New" pitchFamily="34" charset="-120"/>
              </a:rPr>
              <a:t>docker network create app-net</a:t>
            </a:r>
            <a:endParaRPr lang="en-US" sz="1400" dirty="0"/>
          </a:p>
        </p:txBody>
      </p:sp>
      <p:sp>
        <p:nvSpPr>
          <p:cNvPr id="54" name="Shape 15">
            <a:extLst>
              <a:ext uri="{FF2B5EF4-FFF2-40B4-BE49-F238E27FC236}">
                <a16:creationId xmlns:a16="http://schemas.microsoft.com/office/drawing/2014/main" id="{FDA7ADAD-64AE-483B-AB8D-DFEA2D20D6F4}"/>
              </a:ext>
            </a:extLst>
          </p:cNvPr>
          <p:cNvSpPr/>
          <p:nvPr/>
        </p:nvSpPr>
        <p:spPr>
          <a:xfrm>
            <a:off x="5997377" y="3117969"/>
            <a:ext cx="349171" cy="349171"/>
          </a:xfrm>
          <a:prstGeom prst="roundRect">
            <a:avLst>
              <a:gd name="adj" fmla="val 50000"/>
            </a:avLst>
          </a:prstGeom>
          <a:solidFill>
            <a:srgbClr val="F2B84B">
              <a:alpha val="15000"/>
            </a:srgbClr>
          </a:solidFill>
          <a:ln w="6350">
            <a:solidFill>
              <a:srgbClr val="F2B84B"/>
            </a:solidFill>
            <a:prstDash val="solid"/>
          </a:ln>
        </p:spPr>
      </p:sp>
      <p:sp>
        <p:nvSpPr>
          <p:cNvPr id="55" name="Text 16">
            <a:extLst>
              <a:ext uri="{FF2B5EF4-FFF2-40B4-BE49-F238E27FC236}">
                <a16:creationId xmlns:a16="http://schemas.microsoft.com/office/drawing/2014/main" id="{4164429F-9F1E-424F-AFE2-43B367F37BE9}"/>
              </a:ext>
            </a:extLst>
          </p:cNvPr>
          <p:cNvSpPr/>
          <p:nvPr/>
        </p:nvSpPr>
        <p:spPr>
          <a:xfrm>
            <a:off x="6122432" y="3168134"/>
            <a:ext cx="14974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10AD6FAB-7B0B-43BD-A629-8F05EEBBED60}"/>
              </a:ext>
            </a:extLst>
          </p:cNvPr>
          <p:cNvSpPr/>
          <p:nvPr/>
        </p:nvSpPr>
        <p:spPr>
          <a:xfrm>
            <a:off x="6502122" y="3114794"/>
            <a:ext cx="5023472" cy="23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ea typeface="Arial" pitchFamily="34" charset="-122"/>
                <a:cs typeface="Arial" pitchFamily="34" charset="-120"/>
              </a:rPr>
              <a:t>Bestehenden Container anbinden</a:t>
            </a:r>
            <a:endParaRPr lang="en-US" sz="1400" dirty="0"/>
          </a:p>
        </p:txBody>
      </p:sp>
      <p:sp>
        <p:nvSpPr>
          <p:cNvPr id="57" name="Text 18">
            <a:extLst>
              <a:ext uri="{FF2B5EF4-FFF2-40B4-BE49-F238E27FC236}">
                <a16:creationId xmlns:a16="http://schemas.microsoft.com/office/drawing/2014/main" id="{C21BBB92-8131-4FF5-883C-DB37F1896D0C}"/>
              </a:ext>
            </a:extLst>
          </p:cNvPr>
          <p:cNvSpPr/>
          <p:nvPr/>
        </p:nvSpPr>
        <p:spPr>
          <a:xfrm>
            <a:off x="6502122" y="3366135"/>
            <a:ext cx="5023472" cy="416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400" dirty="0">
                <a:ea typeface="Arial" pitchFamily="34" charset="-122"/>
                <a:cs typeface="Arial" pitchFamily="34" charset="-120"/>
              </a:rPr>
              <a:t>nodered gehört jetzt zusätzlich zu app-net – bleibt weiterhin auch im Standard-Netz</a:t>
            </a:r>
            <a:endParaRPr lang="en-US" sz="1400" dirty="0"/>
          </a:p>
        </p:txBody>
      </p:sp>
      <p:sp>
        <p:nvSpPr>
          <p:cNvPr id="58" name="Shape 19">
            <a:extLst>
              <a:ext uri="{FF2B5EF4-FFF2-40B4-BE49-F238E27FC236}">
                <a16:creationId xmlns:a16="http://schemas.microsoft.com/office/drawing/2014/main" id="{21AAD443-ED9F-4532-835D-74575E2EFA63}"/>
              </a:ext>
            </a:extLst>
          </p:cNvPr>
          <p:cNvSpPr/>
          <p:nvPr/>
        </p:nvSpPr>
        <p:spPr>
          <a:xfrm>
            <a:off x="5997377" y="3963432"/>
            <a:ext cx="349171" cy="349171"/>
          </a:xfrm>
          <a:prstGeom prst="roundRect">
            <a:avLst>
              <a:gd name="adj" fmla="val 50000"/>
            </a:avLst>
          </a:prstGeom>
          <a:solidFill>
            <a:srgbClr val="F2B84B">
              <a:alpha val="15000"/>
            </a:srgbClr>
          </a:solidFill>
          <a:ln w="6350">
            <a:solidFill>
              <a:srgbClr val="F2B84B"/>
            </a:solidFill>
            <a:prstDash val="solid"/>
          </a:ln>
        </p:spPr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0F6A2A80-7820-4F44-8E7A-61751819FAFC}"/>
              </a:ext>
            </a:extLst>
          </p:cNvPr>
          <p:cNvSpPr/>
          <p:nvPr/>
        </p:nvSpPr>
        <p:spPr>
          <a:xfrm>
            <a:off x="6122432" y="4013597"/>
            <a:ext cx="14974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477E6D75-3A3B-475F-8766-52DFA7645D93}"/>
              </a:ext>
            </a:extLst>
          </p:cNvPr>
          <p:cNvSpPr/>
          <p:nvPr/>
        </p:nvSpPr>
        <p:spPr>
          <a:xfrm>
            <a:off x="6502122" y="3960257"/>
            <a:ext cx="5023472" cy="23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ea typeface="Arial" pitchFamily="34" charset="-122"/>
                <a:cs typeface="Arial" pitchFamily="34" charset="-120"/>
              </a:rPr>
              <a:t>Neuen, rein internen Dienst starten</a:t>
            </a:r>
            <a:endParaRPr lang="en-US" sz="1400" dirty="0"/>
          </a:p>
        </p:txBody>
      </p:sp>
      <p:sp>
        <p:nvSpPr>
          <p:cNvPr id="61" name="Text 22">
            <a:extLst>
              <a:ext uri="{FF2B5EF4-FFF2-40B4-BE49-F238E27FC236}">
                <a16:creationId xmlns:a16="http://schemas.microsoft.com/office/drawing/2014/main" id="{3CE88406-4D3B-44C6-A32D-A5EF1D2984C7}"/>
              </a:ext>
            </a:extLst>
          </p:cNvPr>
          <p:cNvSpPr/>
          <p:nvPr/>
        </p:nvSpPr>
        <p:spPr>
          <a:xfrm>
            <a:off x="6502122" y="4198858"/>
            <a:ext cx="5023472" cy="220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400" dirty="0">
                <a:ea typeface="Arial" pitchFamily="34" charset="-122"/>
                <a:cs typeface="Arial" pitchFamily="34" charset="-120"/>
              </a:rPr>
              <a:t>--network app-net – bewusst ohne -p</a:t>
            </a:r>
            <a:endParaRPr lang="en-US" sz="1400" dirty="0"/>
          </a:p>
        </p:txBody>
      </p:sp>
      <p:sp>
        <p:nvSpPr>
          <p:cNvPr id="62" name="Text 23">
            <a:extLst>
              <a:ext uri="{FF2B5EF4-FFF2-40B4-BE49-F238E27FC236}">
                <a16:creationId xmlns:a16="http://schemas.microsoft.com/office/drawing/2014/main" id="{797138DB-BC51-4397-BF84-450B27ADBDB3}"/>
              </a:ext>
            </a:extLst>
          </p:cNvPr>
          <p:cNvSpPr/>
          <p:nvPr/>
        </p:nvSpPr>
        <p:spPr>
          <a:xfrm>
            <a:off x="6502122" y="4419719"/>
            <a:ext cx="5023472" cy="220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400" dirty="0">
                <a:ea typeface="Arial" pitchFamily="34" charset="-122"/>
                <a:cs typeface="Arial" pitchFamily="34" charset="-120"/>
              </a:rPr>
              <a:t>docker run -d --name redis-cache --network app-net redis:7</a:t>
            </a:r>
            <a:endParaRPr lang="en-US" sz="1400" dirty="0"/>
          </a:p>
        </p:txBody>
      </p:sp>
      <p:sp>
        <p:nvSpPr>
          <p:cNvPr id="67" name="Text 27">
            <a:extLst>
              <a:ext uri="{FF2B5EF4-FFF2-40B4-BE49-F238E27FC236}">
                <a16:creationId xmlns:a16="http://schemas.microsoft.com/office/drawing/2014/main" id="{1A300C58-C33C-4563-9481-8813CF0D164F}"/>
              </a:ext>
            </a:extLst>
          </p:cNvPr>
          <p:cNvSpPr/>
          <p:nvPr/>
        </p:nvSpPr>
        <p:spPr>
          <a:xfrm>
            <a:off x="1511141" y="5466160"/>
            <a:ext cx="9928725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Kein -p bei redis-cache: bewusst nur innerhalb von app-net erreichbar – nicht vom Host, nicht aus dem Internet.</a:t>
            </a:r>
            <a:endParaRPr lang="en-US" sz="1400" dirty="0"/>
          </a:p>
        </p:txBody>
      </p:sp>
      <p:pic>
        <p:nvPicPr>
          <p:cNvPr id="68" name="Grafik 67" descr="Ausrufezeichen mit einfarbiger Füllung">
            <a:extLst>
              <a:ext uri="{FF2B5EF4-FFF2-40B4-BE49-F238E27FC236}">
                <a16:creationId xmlns:a16="http://schemas.microsoft.com/office/drawing/2014/main" id="{0254A55C-46A4-4C6E-8348-4E04132019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741" y="500896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601" y="274638"/>
            <a:ext cx="10953313" cy="1143000"/>
          </a:xfrm>
        </p:spPr>
        <p:txBody>
          <a:bodyPr/>
          <a:lstStyle/>
          <a:p>
            <a:r>
              <a:rPr lang="de-DE" sz="2400" dirty="0"/>
              <a:t>Namensauflösung: mit vs. ohne app-net</a:t>
            </a:r>
            <a:endParaRPr sz="2400" dirty="0"/>
          </a:p>
        </p:txBody>
      </p:sp>
      <p:sp>
        <p:nvSpPr>
          <p:cNvPr id="2" name="Foliennummernplatzhalt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3A6DCFB-163F-4561-BF28-3CD1FE47EE20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5" name="TextBox 4"/>
          <p:cNvSpPr txBox="1"/>
          <p:nvPr/>
        </p:nvSpPr>
        <p:spPr>
          <a:xfrm>
            <a:off x="548640" y="2159597"/>
            <a:ext cx="5257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 dirty="0" err="1">
                <a:solidFill>
                  <a:srgbClr val="1E6B3C"/>
                </a:solidFill>
                <a:latin typeface="Arial"/>
              </a:rPr>
              <a:t>Mit</a:t>
            </a:r>
            <a:r>
              <a:rPr sz="1500" b="1" i="0" dirty="0">
                <a:solidFill>
                  <a:srgbClr val="1E6B3C"/>
                </a:solidFill>
                <a:latin typeface="Arial"/>
              </a:rPr>
              <a:t> --network app-net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5255" y="2159597"/>
            <a:ext cx="5257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 dirty="0" err="1">
                <a:solidFill>
                  <a:srgbClr val="B03A2E"/>
                </a:solidFill>
                <a:latin typeface="Arial"/>
              </a:rPr>
              <a:t>Ohne</a:t>
            </a:r>
            <a:r>
              <a:rPr sz="1500" b="1" i="0" dirty="0">
                <a:solidFill>
                  <a:srgbClr val="B03A2E"/>
                </a:solidFill>
                <a:latin typeface="Arial"/>
              </a:rPr>
              <a:t> --network (Standard-Bridge)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2719449"/>
            <a:ext cx="5834743" cy="1017893"/>
          </a:xfrm>
          <a:prstGeom prst="roundRect">
            <a:avLst>
              <a:gd name="adj" fmla="val 12000"/>
            </a:avLst>
          </a:prstGeom>
          <a:solidFill>
            <a:srgbClr val="1A222C"/>
          </a:solidFill>
          <a:ln w="12700">
            <a:solidFill>
              <a:srgbClr val="2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/>
            <a:r>
              <a:rPr sz="1400" b="0" dirty="0">
                <a:solidFill>
                  <a:srgbClr val="F3F5F2"/>
                </a:solidFill>
                <a:latin typeface="Courier New"/>
              </a:rPr>
              <a:t>docker run --rm --network app-net \</a:t>
            </a:r>
          </a:p>
          <a:p>
            <a:pPr algn="l"/>
            <a:r>
              <a:rPr sz="1400" b="0" dirty="0">
                <a:solidFill>
                  <a:srgbClr val="F3F5F2"/>
                </a:solidFill>
                <a:latin typeface="Courier New"/>
              </a:rPr>
              <a:t>  </a:t>
            </a:r>
            <a:r>
              <a:rPr sz="1400" b="0" dirty="0" err="1">
                <a:solidFill>
                  <a:srgbClr val="F3F5F2"/>
                </a:solidFill>
                <a:latin typeface="Courier New"/>
              </a:rPr>
              <a:t>debian:trixie-slim</a:t>
            </a:r>
            <a:r>
              <a:rPr sz="1400" b="0" dirty="0">
                <a:solidFill>
                  <a:srgbClr val="F3F5F2"/>
                </a:solidFill>
                <a:latin typeface="Courier New"/>
              </a:rPr>
              <a:t> </a:t>
            </a:r>
            <a:r>
              <a:rPr sz="1400" b="0" dirty="0" err="1">
                <a:solidFill>
                  <a:srgbClr val="F3F5F2"/>
                </a:solidFill>
                <a:latin typeface="Courier New"/>
              </a:rPr>
              <a:t>getent</a:t>
            </a:r>
            <a:r>
              <a:rPr sz="1400" b="0" dirty="0">
                <a:solidFill>
                  <a:srgbClr val="F3F5F2"/>
                </a:solidFill>
                <a:latin typeface="Courier New"/>
              </a:rPr>
              <a:t> hosts </a:t>
            </a:r>
            <a:r>
              <a:rPr sz="1400" b="0" dirty="0" err="1">
                <a:solidFill>
                  <a:srgbClr val="F3F5F2"/>
                </a:solidFill>
                <a:latin typeface="Courier New"/>
              </a:rPr>
              <a:t>redis</a:t>
            </a:r>
            <a:r>
              <a:rPr sz="1400" b="0" dirty="0">
                <a:solidFill>
                  <a:srgbClr val="F3F5F2"/>
                </a:solidFill>
                <a:latin typeface="Courier New"/>
              </a:rPr>
              <a:t>-cache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0" y="2705880"/>
            <a:ext cx="5981205" cy="1017893"/>
          </a:xfrm>
          <a:prstGeom prst="roundRect">
            <a:avLst>
              <a:gd name="adj" fmla="val 12000"/>
            </a:avLst>
          </a:prstGeom>
          <a:solidFill>
            <a:srgbClr val="1A222C"/>
          </a:solidFill>
          <a:ln w="12700">
            <a:solidFill>
              <a:srgbClr val="2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r>
              <a:rPr sz="1400" b="0" dirty="0">
                <a:solidFill>
                  <a:srgbClr val="F3F5F2"/>
                </a:solidFill>
                <a:latin typeface="Courier New"/>
              </a:rPr>
              <a:t>docker run --rm </a:t>
            </a:r>
            <a:r>
              <a:rPr lang="de-DE" sz="1400" b="0" dirty="0">
                <a:solidFill>
                  <a:srgbClr val="F3F5F2"/>
                </a:solidFill>
                <a:latin typeface="Courier New"/>
              </a:rPr>
              <a:t>\</a:t>
            </a:r>
          </a:p>
          <a:p>
            <a:pPr algn="l"/>
            <a:r>
              <a:rPr lang="de-DE" sz="1400" dirty="0">
                <a:solidFill>
                  <a:srgbClr val="F3F5F2"/>
                </a:solidFill>
                <a:latin typeface="Courier New"/>
              </a:rPr>
              <a:t>	</a:t>
            </a:r>
            <a:r>
              <a:rPr sz="1400" b="0" dirty="0" err="1">
                <a:solidFill>
                  <a:srgbClr val="F3F5F2"/>
                </a:solidFill>
                <a:latin typeface="Courier New"/>
              </a:rPr>
              <a:t>debian:trixie-slim</a:t>
            </a:r>
            <a:r>
              <a:rPr sz="1400" b="0" dirty="0">
                <a:solidFill>
                  <a:srgbClr val="F3F5F2"/>
                </a:solidFill>
                <a:latin typeface="Courier New"/>
              </a:rPr>
              <a:t> </a:t>
            </a:r>
            <a:r>
              <a:rPr sz="1400" b="0" dirty="0" err="1">
                <a:solidFill>
                  <a:srgbClr val="F3F5F2"/>
                </a:solidFill>
                <a:latin typeface="Courier New"/>
              </a:rPr>
              <a:t>getent</a:t>
            </a:r>
            <a:r>
              <a:rPr sz="1400" b="0" dirty="0">
                <a:solidFill>
                  <a:srgbClr val="F3F5F2"/>
                </a:solidFill>
                <a:latin typeface="Courier New"/>
              </a:rPr>
              <a:t> hosts </a:t>
            </a:r>
            <a:r>
              <a:rPr sz="1400" b="0" dirty="0" err="1">
                <a:solidFill>
                  <a:srgbClr val="F3F5F2"/>
                </a:solidFill>
                <a:latin typeface="Courier New"/>
              </a:rPr>
              <a:t>redis</a:t>
            </a:r>
            <a:r>
              <a:rPr sz="1400" b="0" dirty="0">
                <a:solidFill>
                  <a:srgbClr val="F3F5F2"/>
                </a:solidFill>
                <a:latin typeface="Courier New"/>
              </a:rPr>
              <a:t>-cache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-1" y="3925686"/>
            <a:ext cx="5834743" cy="705690"/>
          </a:xfrm>
          <a:prstGeom prst="roundRect">
            <a:avLst>
              <a:gd name="adj" fmla="val 18000"/>
            </a:avLst>
          </a:prstGeom>
          <a:solidFill>
            <a:srgbClr val="1A222C"/>
          </a:solidFill>
          <a:ln w="12700">
            <a:solidFill>
              <a:srgbClr val="2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/>
            <a:r>
              <a:rPr sz="1600" b="0">
                <a:solidFill>
                  <a:srgbClr val="8FD19E"/>
                </a:solidFill>
                <a:latin typeface="Courier New"/>
              </a:rPr>
              <a:t>172.18.0.3      redis-cache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08701" y="3894999"/>
            <a:ext cx="5968504" cy="705691"/>
          </a:xfrm>
          <a:prstGeom prst="roundRect">
            <a:avLst>
              <a:gd name="adj" fmla="val 18000"/>
            </a:avLst>
          </a:prstGeom>
          <a:solidFill>
            <a:srgbClr val="1A222C"/>
          </a:solidFill>
          <a:ln w="12700">
            <a:solidFill>
              <a:srgbClr val="2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/>
            <a:r>
              <a:rPr sz="1600" b="0">
                <a:solidFill>
                  <a:srgbClr val="E29A90"/>
                </a:solidFill>
                <a:latin typeface="Courier New"/>
              </a:rPr>
              <a:t>(keine Ausgabe)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03" y="5094046"/>
            <a:ext cx="5711437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 dirty="0">
                <a:solidFill>
                  <a:srgbClr val="5B6472"/>
                </a:solidFill>
                <a:latin typeface="Arial"/>
              </a:rPr>
              <a:t>Der Test-Container</a:t>
            </a:r>
            <a:r>
              <a:rPr lang="de-DE" sz="1400" b="0" i="0" dirty="0">
                <a:solidFill>
                  <a:srgbClr val="5B6472"/>
                </a:solidFill>
                <a:latin typeface="Arial"/>
              </a:rPr>
              <a:t> (mini-linux für den Befehl zur Namensauflösung von </a:t>
            </a:r>
            <a:r>
              <a:rPr lang="de-DE" sz="1400" b="0" i="0" dirty="0" err="1">
                <a:solidFill>
                  <a:srgbClr val="5B6472"/>
                </a:solidFill>
                <a:latin typeface="Arial"/>
              </a:rPr>
              <a:t>redis</a:t>
            </a:r>
            <a:r>
              <a:rPr lang="de-DE" sz="1400" b="0" i="0" dirty="0">
                <a:solidFill>
                  <a:srgbClr val="5B6472"/>
                </a:solidFill>
                <a:latin typeface="Arial"/>
              </a:rPr>
              <a:t>-cache)</a:t>
            </a:r>
            <a:r>
              <a:rPr sz="1400" b="0" i="0" dirty="0">
                <a:solidFill>
                  <a:srgbClr val="5B6472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</a:rPr>
              <a:t>ist</a:t>
            </a:r>
            <a:r>
              <a:rPr sz="1400" b="0" i="0" dirty="0">
                <a:solidFill>
                  <a:srgbClr val="5B6472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</a:rPr>
              <a:t>Mitglied</a:t>
            </a:r>
            <a:r>
              <a:rPr sz="1400" b="0" i="0" dirty="0">
                <a:solidFill>
                  <a:srgbClr val="5B6472"/>
                </a:solidFill>
                <a:latin typeface="Arial"/>
              </a:rPr>
              <a:t> von app-net → der </a:t>
            </a:r>
            <a:r>
              <a:rPr sz="1400" b="0" i="0" dirty="0" err="1">
                <a:solidFill>
                  <a:srgbClr val="5B6472"/>
                </a:solidFill>
                <a:latin typeface="Arial"/>
              </a:rPr>
              <a:t>eingebaute</a:t>
            </a:r>
            <a:r>
              <a:rPr sz="1400" b="0" i="0" dirty="0">
                <a:solidFill>
                  <a:srgbClr val="5B6472"/>
                </a:solidFill>
                <a:latin typeface="Arial"/>
              </a:rPr>
              <a:t> Docker-DNS </a:t>
            </a:r>
            <a:r>
              <a:rPr sz="1400" b="0" i="0" dirty="0" err="1">
                <a:solidFill>
                  <a:srgbClr val="5B6472"/>
                </a:solidFill>
                <a:latin typeface="Arial"/>
              </a:rPr>
              <a:t>kennt</a:t>
            </a:r>
            <a:r>
              <a:rPr sz="1400" b="0" i="0" dirty="0">
                <a:solidFill>
                  <a:srgbClr val="5B6472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</a:rPr>
              <a:t>redis</a:t>
            </a:r>
            <a:r>
              <a:rPr sz="1400" b="0" i="0" dirty="0">
                <a:solidFill>
                  <a:srgbClr val="5B6472"/>
                </a:solidFill>
                <a:latin typeface="Arial"/>
              </a:rPr>
              <a:t>-cache.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8701" y="5086655"/>
            <a:ext cx="52578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 dirty="0" err="1">
                <a:solidFill>
                  <a:srgbClr val="5B6472"/>
                </a:solidFill>
                <a:latin typeface="Arial"/>
              </a:rPr>
              <a:t>Ohne</a:t>
            </a:r>
            <a:r>
              <a:rPr sz="1400" b="0" i="0" dirty="0">
                <a:solidFill>
                  <a:srgbClr val="5B6472"/>
                </a:solidFill>
                <a:latin typeface="Arial"/>
              </a:rPr>
              <a:t> --network </a:t>
            </a:r>
            <a:r>
              <a:rPr sz="1400" b="0" i="0" dirty="0" err="1">
                <a:solidFill>
                  <a:srgbClr val="5B6472"/>
                </a:solidFill>
                <a:latin typeface="Arial"/>
              </a:rPr>
              <a:t>landet</a:t>
            </a:r>
            <a:r>
              <a:rPr sz="1400" b="0" i="0" dirty="0">
                <a:solidFill>
                  <a:srgbClr val="5B6472"/>
                </a:solidFill>
                <a:latin typeface="Arial"/>
              </a:rPr>
              <a:t> der Container </a:t>
            </a:r>
            <a:r>
              <a:rPr sz="1400" b="0" i="0" dirty="0" err="1">
                <a:solidFill>
                  <a:srgbClr val="5B6472"/>
                </a:solidFill>
                <a:latin typeface="Arial"/>
              </a:rPr>
              <a:t>im</a:t>
            </a:r>
            <a:r>
              <a:rPr sz="1400" b="0" i="0" dirty="0">
                <a:solidFill>
                  <a:srgbClr val="5B6472"/>
                </a:solidFill>
                <a:latin typeface="Arial"/>
              </a:rPr>
              <a:t> Standard-</a:t>
            </a:r>
            <a:r>
              <a:rPr sz="1400" b="0" i="0" dirty="0" err="1">
                <a:solidFill>
                  <a:srgbClr val="5B6472"/>
                </a:solidFill>
                <a:latin typeface="Arial"/>
              </a:rPr>
              <a:t>Netz</a:t>
            </a:r>
            <a:r>
              <a:rPr sz="1400" b="0" i="0" dirty="0">
                <a:solidFill>
                  <a:srgbClr val="5B6472"/>
                </a:solidFill>
                <a:latin typeface="Arial"/>
              </a:rPr>
              <a:t> – </a:t>
            </a:r>
            <a:r>
              <a:rPr sz="1400" b="0" i="0" dirty="0" err="1">
                <a:solidFill>
                  <a:srgbClr val="5B6472"/>
                </a:solidFill>
                <a:latin typeface="Arial"/>
              </a:rPr>
              <a:t>ein</a:t>
            </a:r>
            <a:r>
              <a:rPr sz="1400" b="0" i="0" dirty="0">
                <a:solidFill>
                  <a:srgbClr val="5B6472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</a:rPr>
              <a:t>anderes</a:t>
            </a:r>
            <a:r>
              <a:rPr sz="1400" b="0" i="0" dirty="0">
                <a:solidFill>
                  <a:srgbClr val="5B6472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</a:rPr>
              <a:t>Netz</a:t>
            </a:r>
            <a:r>
              <a:rPr sz="1400" b="0" i="0" dirty="0">
                <a:solidFill>
                  <a:srgbClr val="5B6472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</a:rPr>
              <a:t>mit</a:t>
            </a:r>
            <a:r>
              <a:rPr sz="1400" b="0" i="0" dirty="0">
                <a:solidFill>
                  <a:srgbClr val="5B6472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</a:rPr>
              <a:t>eigenem</a:t>
            </a:r>
            <a:r>
              <a:rPr sz="1400" b="0" i="0" dirty="0">
                <a:solidFill>
                  <a:srgbClr val="5B6472"/>
                </a:solidFill>
                <a:latin typeface="Arial"/>
              </a:rPr>
              <a:t>, </a:t>
            </a:r>
            <a:r>
              <a:rPr sz="1400" b="0" i="0" dirty="0" err="1">
                <a:solidFill>
                  <a:srgbClr val="5B6472"/>
                </a:solidFill>
                <a:latin typeface="Arial"/>
              </a:rPr>
              <a:t>separatem</a:t>
            </a:r>
            <a:r>
              <a:rPr sz="1400" b="0" i="0" dirty="0">
                <a:solidFill>
                  <a:srgbClr val="5B6472"/>
                </a:solidFill>
                <a:latin typeface="Arial"/>
              </a:rPr>
              <a:t> DNS.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601" y="274638"/>
            <a:ext cx="10953313" cy="1143000"/>
          </a:xfrm>
        </p:spPr>
        <p:txBody>
          <a:bodyPr/>
          <a:lstStyle/>
          <a:p>
            <a:r>
              <a:rPr lang="de-DE" sz="2400" dirty="0"/>
              <a:t>Docker-Netzwerk-Befehle im Überblick</a:t>
            </a:r>
            <a:endParaRPr sz="2400" dirty="0"/>
          </a:p>
        </p:txBody>
      </p:sp>
      <p:sp>
        <p:nvSpPr>
          <p:cNvPr id="2" name="Foliennummernplatzhalt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3A6DCFB-163F-4561-BF28-3CD1FE47EE20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5" name="TextBox 4"/>
          <p:cNvSpPr txBox="1"/>
          <p:nvPr/>
        </p:nvSpPr>
        <p:spPr>
          <a:xfrm>
            <a:off x="548640" y="1860385"/>
            <a:ext cx="5257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005AA8"/>
                </a:solidFill>
                <a:latin typeface="Arial"/>
              </a:rPr>
              <a:t>Netzwerk anlegen &amp; verwalten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5255" y="1860385"/>
            <a:ext cx="5257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1E6B3C"/>
                </a:solidFill>
                <a:latin typeface="Arial"/>
              </a:rPr>
              <a:t>Prüfen &amp; Verifizieren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4433"/>
            <a:ext cx="5257800" cy="347472"/>
          </a:xfrm>
          <a:prstGeom prst="roundRect">
            <a:avLst>
              <a:gd name="adj" fmla="val 12000"/>
            </a:avLst>
          </a:prstGeom>
          <a:solidFill>
            <a:srgbClr val="1A222C"/>
          </a:solidFill>
          <a:ln w="12700">
            <a:solidFill>
              <a:srgbClr val="2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/>
            <a:r>
              <a:rPr sz="1200" b="0">
                <a:solidFill>
                  <a:srgbClr val="F3F5F2"/>
                </a:solidFill>
                <a:latin typeface="Courier New"/>
              </a:rPr>
              <a:t>docker network create app-net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46769"/>
            <a:ext cx="52578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Arial"/>
              </a:rPr>
              <a:t>Eigenes, benutzerdefiniertes Netzwerk anlegen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58833"/>
            <a:ext cx="5257800" cy="347472"/>
          </a:xfrm>
          <a:prstGeom prst="roundRect">
            <a:avLst>
              <a:gd name="adj" fmla="val 12000"/>
            </a:avLst>
          </a:prstGeom>
          <a:solidFill>
            <a:srgbClr val="1A222C"/>
          </a:solidFill>
          <a:ln w="12700">
            <a:solidFill>
              <a:srgbClr val="2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/>
            <a:r>
              <a:rPr sz="1200" b="0">
                <a:solidFill>
                  <a:srgbClr val="F3F5F2"/>
                </a:solidFill>
                <a:latin typeface="Courier New"/>
              </a:rPr>
              <a:t>docker network connect app-net nodered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1169"/>
            <a:ext cx="52578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Arial"/>
              </a:rPr>
              <a:t>Laufenden Container zusätzlich an ein Netzwerk anhängen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73233"/>
            <a:ext cx="5257800" cy="566928"/>
          </a:xfrm>
          <a:prstGeom prst="roundRect">
            <a:avLst>
              <a:gd name="adj" fmla="val 12000"/>
            </a:avLst>
          </a:prstGeom>
          <a:solidFill>
            <a:srgbClr val="1A222C"/>
          </a:solidFill>
          <a:ln w="12700">
            <a:solidFill>
              <a:srgbClr val="2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/>
            <a:r>
              <a:rPr sz="1200" b="0">
                <a:solidFill>
                  <a:srgbClr val="F3F5F2"/>
                </a:solidFill>
                <a:latin typeface="Courier New"/>
              </a:rPr>
              <a:t>docker run -d --name redis-cache \</a:t>
            </a:r>
          </a:p>
          <a:p>
            <a:pPr algn="l"/>
            <a:r>
              <a:rPr sz="1200" b="0">
                <a:solidFill>
                  <a:srgbClr val="F3F5F2"/>
                </a:solidFill>
                <a:latin typeface="Courier New"/>
              </a:rPr>
              <a:t>  --network app-net redis:7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95025"/>
            <a:ext cx="52578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Arial"/>
              </a:rPr>
              <a:t>Container von Anfang an einem Netzwerk zuweisen – bewusst ohne -p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207089"/>
            <a:ext cx="5257800" cy="347472"/>
          </a:xfrm>
          <a:prstGeom prst="roundRect">
            <a:avLst>
              <a:gd name="adj" fmla="val 12000"/>
            </a:avLst>
          </a:prstGeom>
          <a:solidFill>
            <a:srgbClr val="1A222C"/>
          </a:solidFill>
          <a:ln w="12700">
            <a:solidFill>
              <a:srgbClr val="2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/>
            <a:r>
              <a:rPr sz="1200" b="0">
                <a:solidFill>
                  <a:srgbClr val="F3F5F2"/>
                </a:solidFill>
                <a:latin typeface="Courier New"/>
              </a:rPr>
              <a:t>docker network disconnect app-net nodered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09425"/>
            <a:ext cx="52578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Arial"/>
              </a:rPr>
              <a:t>Container aus einem Netzwerk entfernen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5255" y="2244433"/>
            <a:ext cx="5257800" cy="347472"/>
          </a:xfrm>
          <a:prstGeom prst="roundRect">
            <a:avLst>
              <a:gd name="adj" fmla="val 12000"/>
            </a:avLst>
          </a:prstGeom>
          <a:solidFill>
            <a:srgbClr val="1A222C"/>
          </a:solidFill>
          <a:ln w="12700">
            <a:solidFill>
              <a:srgbClr val="2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/>
            <a:r>
              <a:rPr sz="1200" b="0">
                <a:solidFill>
                  <a:srgbClr val="F3F5F2"/>
                </a:solidFill>
                <a:latin typeface="Courier New"/>
              </a:rPr>
              <a:t>docker network 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5255" y="2646769"/>
            <a:ext cx="52578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Arial"/>
              </a:rPr>
              <a:t>Alle Netzwerke anzeigen, inkl. Standardnetze (bridge, host, none)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85255" y="3158833"/>
            <a:ext cx="5257800" cy="347472"/>
          </a:xfrm>
          <a:prstGeom prst="roundRect">
            <a:avLst>
              <a:gd name="adj" fmla="val 12000"/>
            </a:avLst>
          </a:prstGeom>
          <a:solidFill>
            <a:srgbClr val="1A222C"/>
          </a:solidFill>
          <a:ln w="12700">
            <a:solidFill>
              <a:srgbClr val="2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/>
            <a:r>
              <a:rPr sz="1200" b="0">
                <a:solidFill>
                  <a:srgbClr val="F3F5F2"/>
                </a:solidFill>
                <a:latin typeface="Courier New"/>
              </a:rPr>
              <a:t>docker network inspect app-net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5255" y="3561169"/>
            <a:ext cx="52578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Arial"/>
              </a:rPr>
              <a:t>Subnetz, IPAM-Konfiguration und verbundene Container anzeigen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85255" y="4073233"/>
            <a:ext cx="5257800" cy="566928"/>
          </a:xfrm>
          <a:prstGeom prst="roundRect">
            <a:avLst>
              <a:gd name="adj" fmla="val 12000"/>
            </a:avLst>
          </a:prstGeom>
          <a:solidFill>
            <a:srgbClr val="1A222C"/>
          </a:solidFill>
          <a:ln w="12700">
            <a:solidFill>
              <a:srgbClr val="2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/>
            <a:r>
              <a:rPr sz="1200" b="0">
                <a:solidFill>
                  <a:srgbClr val="F3F5F2"/>
                </a:solidFill>
                <a:latin typeface="Courier New"/>
              </a:rPr>
              <a:t>docker run --rm --network app-net \</a:t>
            </a:r>
          </a:p>
          <a:p>
            <a:pPr algn="l"/>
            <a:r>
              <a:rPr sz="1200" b="0">
                <a:solidFill>
                  <a:srgbClr val="F3F5F2"/>
                </a:solidFill>
                <a:latin typeface="Courier New"/>
              </a:rPr>
              <a:t>  debian:trixie-slim getent hosts redis-cache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5255" y="4695025"/>
            <a:ext cx="52578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Arial"/>
              </a:rPr>
              <a:t>Namensauflösung innerhalb eines Netzwerks testen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5255" y="5207089"/>
            <a:ext cx="5257800" cy="347472"/>
          </a:xfrm>
          <a:prstGeom prst="roundRect">
            <a:avLst>
              <a:gd name="adj" fmla="val 12000"/>
            </a:avLst>
          </a:prstGeom>
          <a:solidFill>
            <a:srgbClr val="1A222C"/>
          </a:solidFill>
          <a:ln w="12700">
            <a:solidFill>
              <a:srgbClr val="2E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l"/>
            <a:r>
              <a:rPr sz="1200" b="0">
                <a:solidFill>
                  <a:srgbClr val="F3F5F2"/>
                </a:solidFill>
                <a:latin typeface="Courier New"/>
              </a:rPr>
              <a:t>ss -tlnp | grep 6379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5255" y="5609425"/>
            <a:ext cx="52578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Arial"/>
              </a:rPr>
              <a:t>Prüfen, ob ein Port unnötig auf dem Host offen ist (soll: leer)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A69A3DD-6FBD-40E7-B37A-03BD8D460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Laborübung 07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16D55CA-6F4F-4E30-AA9E-71F6E14CB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CD2D1-8C96-4412-8C0C-09C7E956F080}" type="datetime1">
              <a:rPr lang="de-DE" smtClean="0"/>
              <a:t>07.10.2026</a:t>
            </a:fld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DE0D9E-8259-484A-9508-2802F1E7C7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3A6DCFB-163F-4561-BF28-3CD1FE47EE20}" type="slidenum">
              <a:rPr lang="de-DE" smtClean="0"/>
              <a:pPr/>
              <a:t>8</a:t>
            </a:fld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C85E1F9-33FE-45F1-BBF3-87B319A941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597" y="1956084"/>
            <a:ext cx="3108344" cy="37300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2308E33-0829-4981-BE0B-9CBD59D76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Reflexionsfragen: Docker-Netzwerke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6890CBD-364B-4CD5-AA70-68D434EA8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CD2D1-8C96-4412-8C0C-09C7E956F080}" type="datetime1">
              <a:rPr lang="de-DE" smtClean="0"/>
              <a:t>07.10.2026</a:t>
            </a:fld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71F5D2-381E-4F2B-8EDD-C91D481228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3A6DCFB-163F-4561-BF28-3CD1FE47EE20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AE08837B-B0FC-4689-969E-6368EDF93EE3}"/>
              </a:ext>
            </a:extLst>
          </p:cNvPr>
          <p:cNvSpPr/>
          <p:nvPr/>
        </p:nvSpPr>
        <p:spPr>
          <a:xfrm>
            <a:off x="812721" y="2950000"/>
            <a:ext cx="10566559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60C66E16-4654-4BCC-8ADA-11E50E8AC785}"/>
              </a:ext>
            </a:extLst>
          </p:cNvPr>
          <p:cNvSpPr/>
          <p:nvPr/>
        </p:nvSpPr>
        <p:spPr>
          <a:xfrm>
            <a:off x="812721" y="2130426"/>
            <a:ext cx="660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15CDA089-2BDF-405E-A1A2-07495C117106}"/>
              </a:ext>
            </a:extLst>
          </p:cNvPr>
          <p:cNvSpPr/>
          <p:nvPr/>
        </p:nvSpPr>
        <p:spPr>
          <a:xfrm>
            <a:off x="1625441" y="2130426"/>
            <a:ext cx="10046454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unterscheidet die Situation von redis-cache von den Containern aus Lab 05, die über -p veröffentlicht wurden? Welches Risiko wird durch das Fehlen eines Host-Ports konkret reduziert?</a:t>
            </a:r>
            <a:endParaRPr lang="en-US" sz="180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5494341D-6130-4013-A63D-19BFA10702FB}"/>
              </a:ext>
            </a:extLst>
          </p:cNvPr>
          <p:cNvSpPr/>
          <p:nvPr/>
        </p:nvSpPr>
        <p:spPr>
          <a:xfrm>
            <a:off x="812721" y="3950000"/>
            <a:ext cx="10566559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A7A46E7B-376D-4594-829A-8267F7A9486C}"/>
              </a:ext>
            </a:extLst>
          </p:cNvPr>
          <p:cNvSpPr/>
          <p:nvPr/>
        </p:nvSpPr>
        <p:spPr>
          <a:xfrm>
            <a:off x="812721" y="3130426"/>
            <a:ext cx="660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7582FEE8-0BEA-4B21-913E-A515528F264B}"/>
              </a:ext>
            </a:extLst>
          </p:cNvPr>
          <p:cNvSpPr/>
          <p:nvPr/>
        </p:nvSpPr>
        <p:spPr>
          <a:xfrm>
            <a:off x="1625441" y="3130426"/>
            <a:ext cx="10046454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würde sich das Vorgehen ändern, wenn statt zwei künftig drei oder vier zusammenspielende Dienste in einem Netzwerk gebündelt werden müssten?</a:t>
            </a:r>
            <a:endParaRPr lang="en-US" sz="18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DB9A012B-4038-455F-960E-6DA6A60BA1CD}"/>
              </a:ext>
            </a:extLst>
          </p:cNvPr>
          <p:cNvSpPr/>
          <p:nvPr/>
        </p:nvSpPr>
        <p:spPr>
          <a:xfrm>
            <a:off x="812721" y="4130426"/>
            <a:ext cx="660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2D224168-BFCE-4E85-A425-72B73B62690C}"/>
              </a:ext>
            </a:extLst>
          </p:cNvPr>
          <p:cNvSpPr/>
          <p:nvPr/>
        </p:nvSpPr>
        <p:spPr>
          <a:xfrm>
            <a:off x="1625441" y="4130426"/>
            <a:ext cx="10046454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reicht für Control A.8.22 nicht allein die technische Netzwerktrennung, sondern auch eine dokumentierte Begründung, welche Dienste zusammengehören?</a:t>
            </a:r>
            <a:endParaRPr lang="en-US" sz="1800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65BA1666-49F1-42CC-9B2D-322530CAD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0000" y="1250000"/>
            <a:ext cx="850000" cy="85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zu9_ALP-Praesentation_MasterVorlage.pptx" id="{B23EF914-3FB6-4301-94CB-99985DA93EFF}" vid="{9CA8404C-C143-41CD-9E42-A16ECB65F8EC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1422</Words>
  <Application>Microsoft Office PowerPoint</Application>
  <PresentationFormat>Breitbild</PresentationFormat>
  <Paragraphs>135</Paragraphs>
  <Slides>9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5" baseType="lpstr">
      <vt:lpstr>Calibri</vt:lpstr>
      <vt:lpstr>Courier New</vt:lpstr>
      <vt:lpstr>Roboto</vt:lpstr>
      <vt:lpstr>Arial</vt:lpstr>
      <vt:lpstr>Roboto Slab</vt:lpstr>
      <vt:lpstr>Office</vt:lpstr>
      <vt:lpstr>IT-Infrastruktur mit freier Software  (z. B. Linux) bereitstellen </vt:lpstr>
      <vt:lpstr>Zielvorgabe: app-net – gebündelt &amp; isoliert</vt:lpstr>
      <vt:lpstr>Docker-Netzwerke bündeln &amp; abgrenzen (A.8.22)</vt:lpstr>
      <vt:lpstr>Netzwerktopologie: app-net vs. Standardnetz</vt:lpstr>
      <vt:lpstr>Netzwerk anlegen, verbinden &amp; internen Dienst starten  </vt:lpstr>
      <vt:lpstr>Namensauflösung: mit vs. ohne app-net</vt:lpstr>
      <vt:lpstr>Docker-Netzwerk-Befehle im Überblick</vt:lpstr>
      <vt:lpstr>Laborübung 07</vt:lpstr>
      <vt:lpstr>Reflexionsfragen: Docker-Netzwerke</vt:lpstr>
    </vt:vector>
  </TitlesOfParts>
  <Company>ALP-Dillingen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Koehler, Oliver</dc:creator>
  <cp:lastModifiedBy>Lotter, Michael</cp:lastModifiedBy>
  <cp:revision>134</cp:revision>
  <dcterms:created xsi:type="dcterms:W3CDTF">2019-06-04T07:33:10Z</dcterms:created>
  <dcterms:modified xsi:type="dcterms:W3CDTF">2026-10-07T07:01:27Z</dcterms:modified>
</cp:coreProperties>
</file>