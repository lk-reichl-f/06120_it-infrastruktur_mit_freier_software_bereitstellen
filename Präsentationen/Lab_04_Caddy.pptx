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14"/>
  </p:notesMasterIdLst>
  <p:sldIdLst>
    <p:sldId id="444" r:id="rId2"/>
    <p:sldId id="452" r:id="rId3"/>
    <p:sldId id="449" r:id="rId4"/>
    <p:sldId id="393" r:id="rId5"/>
    <p:sldId id="454" r:id="rId6"/>
    <p:sldId id="453" r:id="rId7"/>
    <p:sldId id="447" r:id="rId8"/>
    <p:sldId id="445" r:id="rId9"/>
    <p:sldId id="446" r:id="rId10"/>
    <p:sldId id="448" r:id="rId11"/>
    <p:sldId id="451" r:id="rId12"/>
    <p:sldId id="450" r:id="rId13"/>
  </p:sldIdLst>
  <p:sldSz cx="12192000" cy="6858000"/>
  <p:notesSz cx="6858000" cy="9144000"/>
  <p:embeddedFontLst>
    <p:embeddedFont>
      <p:font typeface="Calibri" panose="020F0502020204030204" pitchFamily="34" charset="0"/>
      <p:regular r:id="rId15"/>
      <p:bold r:id="rId16"/>
      <p:italic r:id="rId17"/>
      <p:boldItalic r:id="rId18"/>
    </p:embeddedFont>
    <p:embeddedFont>
      <p:font typeface="Cambria" panose="02040503050406030204" pitchFamily="18" charset="0"/>
      <p:regular r:id="rId19"/>
      <p:bold r:id="rId20"/>
      <p:italic r:id="rId21"/>
      <p:boldItalic r:id="rId22"/>
    </p:embeddedFont>
    <p:embeddedFont>
      <p:font typeface="Roboto" panose="02000000000000000000" pitchFamily="2" charset="0"/>
      <p:regular r:id="rId23"/>
      <p:bold r:id="rId24"/>
      <p:italic r:id="rId25"/>
      <p:boldItalic r:id="rId26"/>
    </p:embeddedFont>
    <p:embeddedFont>
      <p:font typeface="Roboto Slab" pitchFamily="2" charset="0"/>
      <p:regular r:id="rId27"/>
      <p:bold r:id="rId28"/>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AF"/>
    <a:srgbClr val="005AA8"/>
    <a:srgbClr val="E7E7E9"/>
    <a:srgbClr val="FFCD00"/>
    <a:srgbClr val="4472C4"/>
    <a:srgbClr val="274295"/>
    <a:srgbClr val="DEEBF7"/>
    <a:srgbClr val="2B41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36" autoAdjust="0"/>
    <p:restoredTop sz="70303" autoAdjust="0"/>
  </p:normalViewPr>
  <p:slideViewPr>
    <p:cSldViewPr snapToGrid="0">
      <p:cViewPr varScale="1">
        <p:scale>
          <a:sx n="77" d="100"/>
          <a:sy n="77" d="100"/>
        </p:scale>
        <p:origin x="2166" y="96"/>
      </p:cViewPr>
      <p:guideLst/>
    </p:cSldViewPr>
  </p:slideViewPr>
  <p:notesTextViewPr>
    <p:cViewPr>
      <p:scale>
        <a:sx n="1" d="1"/>
        <a:sy n="1" d="1"/>
      </p:scale>
      <p:origin x="0" y="-103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57A8F1-2E97-442A-A3DE-98A08CE3B9A6}" type="datetimeFigureOut">
              <a:rPr lang="de-DE" smtClean="0"/>
              <a:t>22.09.2026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D5FE33-4217-42D2-A2B6-93ED6DCD092C}" type="slidenum">
              <a:rPr lang="de-DE" smtClean="0"/>
              <a:t>‹Nr.›</a:t>
            </a:fld>
            <a:endParaRPr lang="de-DE"/>
          </a:p>
        </p:txBody>
      </p:sp>
    </p:spTree>
    <p:extLst>
      <p:ext uri="{BB962C8B-B14F-4D97-AF65-F5344CB8AC3E}">
        <p14:creationId xmlns:p14="http://schemas.microsoft.com/office/powerpoint/2010/main" val="1751763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rtl="0"/>
            <a:r>
              <a:rPr lang="de-DE" b="1" dirty="0"/>
              <a:t>Von wem wurde das angezeigte Zertifikat ausgestellt? Handelt es sich um eine vertrauenswürdige Zertifizierungsstelle?</a:t>
            </a:r>
            <a:br>
              <a:rPr lang="de-DE" dirty="0"/>
            </a:br>
            <a:r>
              <a:rPr lang="de-DE" dirty="0"/>
              <a:t>Cockpit erzeugt bei der Installation standardmäßig ein selbstsigniertes Zertifikat. Aussteller und Inhaber sind identisch – der Server bescheinigt sich seine Identität also selbst, statt sie von einer anerkannten Zertifizierungsstelle (CA) bestätigen zu lassen. Da keine Vertrauenskette zu einer im Browser hinterlegten Root-CA existiert, kann der Browser die Identität des Servers nicht verifizieren. Es handelt sich damit ausdrücklich nicht um eine vertrauenswürdige CA.</a:t>
            </a:r>
          </a:p>
          <a:p>
            <a:pPr rtl="0"/>
            <a:endParaRPr lang="de-DE" dirty="0"/>
          </a:p>
          <a:p>
            <a:pPr rtl="0"/>
            <a:r>
              <a:rPr lang="de-DE" b="1" dirty="0"/>
              <a:t>Was würde passieren, wenn jemand zwischen Ihrem Browser und dem Server ein gefälschtes Zertifikat einsetzt – und Sie die Warnung trotzdem wegklicken?</a:t>
            </a:r>
            <a:br>
              <a:rPr lang="de-DE" dirty="0"/>
            </a:br>
            <a:r>
              <a:rPr lang="de-DE" dirty="0"/>
              <a:t>Das beschreibt einen Man-in-</a:t>
            </a:r>
            <a:r>
              <a:rPr lang="de-DE" dirty="0" err="1"/>
              <a:t>the</a:t>
            </a:r>
            <a:r>
              <a:rPr lang="de-DE" dirty="0"/>
              <a:t>-Middle-Angriff (MITM): Ein Angreifer positioniert sich im Netzwerkpfad (z. B. im gleichen öffentlichen WLAN, per ARP- oder DNS-Spoofing) und beendet die TLS-Verbindung bereits bei sich selbst, statt sie zum echten Server durchzureichen. Klickt man die Warnung weg, baut der Browser eine verschlüsselte Verbindung zum Angreifer auf – nicht zum echten Server. Der Angreifer kann den gesamten Datenverkehr entschlüsseln, mitlesen und sogar verändern, bevor er ihn (optional) an den echten Server weiterleitet. Für den Nutzer sieht die Seite dabei täuschend echt aus.</a:t>
            </a:r>
          </a:p>
          <a:p>
            <a:pPr rtl="0"/>
            <a:endParaRPr lang="de-DE" dirty="0"/>
          </a:p>
          <a:p>
            <a:pPr rtl="0"/>
            <a:r>
              <a:rPr lang="de-DE" b="1" dirty="0"/>
              <a:t>Sie sehen eine Login-Maske für Benutzername und Passwort. Wer könnte diese Eingaben mitlesen, wenn das Zertifikat nicht vertrauenswürdig ist?</a:t>
            </a:r>
            <a:br>
              <a:rPr lang="de-DE" dirty="0"/>
            </a:br>
            <a:r>
              <a:rPr lang="de-DE" dirty="0"/>
              <a:t>Im beschriebenen MITM-Szenario liest genau der Angreifer mit, der das gefälschte Zertifikat ausgestellt hat – er sitzt als "Endpunkt" der vermeintlich sicheren Verbindung und sieht Benutzername und Passwort im Klartext, bevor er sie (falls gewünscht) an den echten Server weiterreicht. Das Schlosssymbol bzw. "https" allein garantiert also keine Sicherheit; erst ein vom Browser als vertrauenswürdig eingestuftes Zertifikat stellt sicher, dass tatsächlich der echte Server – und niemand dazwischen – die Eingaben empfängt</a:t>
            </a:r>
          </a:p>
          <a:p>
            <a:endParaRPr lang="de-DE" dirty="0"/>
          </a:p>
        </p:txBody>
      </p:sp>
      <p:sp>
        <p:nvSpPr>
          <p:cNvPr id="4" name="Foliennummernplatzhalter 3"/>
          <p:cNvSpPr>
            <a:spLocks noGrp="1"/>
          </p:cNvSpPr>
          <p:nvPr>
            <p:ph type="sldNum" sz="quarter" idx="5"/>
          </p:nvPr>
        </p:nvSpPr>
        <p:spPr/>
        <p:txBody>
          <a:bodyPr/>
          <a:lstStyle/>
          <a:p>
            <a:fld id="{4BD5FE33-4217-42D2-A2B6-93ED6DCD092C}" type="slidenum">
              <a:rPr lang="de-DE" smtClean="0"/>
              <a:t>2</a:t>
            </a:fld>
            <a:endParaRPr lang="de-DE"/>
          </a:p>
        </p:txBody>
      </p:sp>
    </p:spTree>
    <p:extLst>
      <p:ext uri="{BB962C8B-B14F-4D97-AF65-F5344CB8AC3E}">
        <p14:creationId xmlns:p14="http://schemas.microsoft.com/office/powerpoint/2010/main" val="3893615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3542944D-AC3E-48AF-8599-0DD23B87C5A9}" type="slidenum">
              <a:rPr lang="de-DE" smtClean="0"/>
              <a:t>4</a:t>
            </a:fld>
            <a:endParaRPr lang="de-DE"/>
          </a:p>
        </p:txBody>
      </p:sp>
    </p:spTree>
    <p:extLst>
      <p:ext uri="{BB962C8B-B14F-4D97-AF65-F5344CB8AC3E}">
        <p14:creationId xmlns:p14="http://schemas.microsoft.com/office/powerpoint/2010/main" val="291913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3542944D-AC3E-48AF-8599-0DD23B87C5A9}" type="slidenum">
              <a:rPr lang="de-DE" smtClean="0"/>
              <a:t>7</a:t>
            </a:fld>
            <a:endParaRPr lang="de-DE"/>
          </a:p>
        </p:txBody>
      </p:sp>
    </p:spTree>
    <p:extLst>
      <p:ext uri="{BB962C8B-B14F-4D97-AF65-F5344CB8AC3E}">
        <p14:creationId xmlns:p14="http://schemas.microsoft.com/office/powerpoint/2010/main" val="5095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3542944D-AC3E-48AF-8599-0DD23B87C5A9}" type="slidenum">
              <a:rPr lang="de-DE" smtClean="0"/>
              <a:t>8</a:t>
            </a:fld>
            <a:endParaRPr lang="de-DE"/>
          </a:p>
        </p:txBody>
      </p:sp>
    </p:spTree>
    <p:extLst>
      <p:ext uri="{BB962C8B-B14F-4D97-AF65-F5344CB8AC3E}">
        <p14:creationId xmlns:p14="http://schemas.microsoft.com/office/powerpoint/2010/main" val="2450566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3542944D-AC3E-48AF-8599-0DD23B87C5A9}" type="slidenum">
              <a:rPr lang="de-DE" smtClean="0"/>
              <a:t>9</a:t>
            </a:fld>
            <a:endParaRPr lang="de-DE"/>
          </a:p>
        </p:txBody>
      </p:sp>
    </p:spTree>
    <p:extLst>
      <p:ext uri="{BB962C8B-B14F-4D97-AF65-F5344CB8AC3E}">
        <p14:creationId xmlns:p14="http://schemas.microsoft.com/office/powerpoint/2010/main" val="983333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BD5FE33-4217-42D2-A2B6-93ED6DCD092C}" type="slidenum">
              <a:rPr lang="de-DE" smtClean="0"/>
              <a:t>10</a:t>
            </a:fld>
            <a:endParaRPr lang="de-DE"/>
          </a:p>
        </p:txBody>
      </p:sp>
    </p:spTree>
    <p:extLst>
      <p:ext uri="{BB962C8B-B14F-4D97-AF65-F5344CB8AC3E}">
        <p14:creationId xmlns:p14="http://schemas.microsoft.com/office/powerpoint/2010/main" val="2499017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zu 1.</a:t>
            </a:r>
            <a:br>
              <a:rPr lang="de-DE" dirty="0"/>
            </a:br>
            <a:r>
              <a:rPr lang="de-DE" dirty="0"/>
              <a:t>Vorher: Aufruf über https://&lt;IP&gt;:9090 mit selbstsigniertem Zertifikat, Browser zeigt eine Sicherheitswarnung, die man aktiv wegklicken muss. </a:t>
            </a:r>
          </a:p>
          <a:p>
            <a:r>
              <a:rPr lang="de-DE" dirty="0"/>
              <a:t>Nachher: Aufruf über https://cockpit.&lt;IHRE-DOMAIN&gt; mit einem von </a:t>
            </a:r>
            <a:r>
              <a:rPr lang="de-DE" dirty="0" err="1"/>
              <a:t>Let's</a:t>
            </a:r>
            <a:r>
              <a:rPr lang="de-DE" dirty="0"/>
              <a:t> </a:t>
            </a:r>
            <a:r>
              <a:rPr lang="de-DE" dirty="0" err="1"/>
              <a:t>Encrypt</a:t>
            </a:r>
            <a:r>
              <a:rPr lang="de-DE" dirty="0"/>
              <a:t> ausgestellten, vertrauenswürdigen Zertifikat, keine Warnung, die Login-Maske erscheint direkt. Für einen Benutzer, der die Warnung nicht versteht, ist das sicherheitskritisch: Solche Warnungen sind darauf ausgelegt, unbedarfte Anwender vor genau den in Frage 3 der "Erkenntnisgewinn"-Aufgabe beschriebenen Man-in-</a:t>
            </a:r>
            <a:r>
              <a:rPr lang="de-DE" dirty="0" err="1"/>
              <a:t>the</a:t>
            </a:r>
            <a:r>
              <a:rPr lang="de-DE" dirty="0"/>
              <a:t>-Middle-Szenarien zu schützen. Klickt man sie routinemäßig weg, weil man sie "eh immer bekommt" oder nicht einordnen kann, verliert die Warnung ihre Schutzfunktion vollständig – der Nutzer gewöhnt sich an, Sicherheitsmeldungen zu ignorieren, was ihn anfällig für echte Angriffe macht.</a:t>
            </a:r>
          </a:p>
          <a:p>
            <a:endParaRPr lang="de-DE" dirty="0"/>
          </a:p>
          <a:p>
            <a:endParaRPr lang="de-DE" dirty="0"/>
          </a:p>
          <a:p>
            <a:r>
              <a:rPr lang="de-DE" dirty="0"/>
              <a:t>zu 2.</a:t>
            </a:r>
          </a:p>
          <a:p>
            <a:r>
              <a:rPr lang="de-DE" dirty="0"/>
              <a:t>Dadurch existiert für jeden Backend-Dienst nur ein einziger Zugriffsweg – über Caddy. Die Dienste selbst müssen sich weder um TLS-Zertifikate noch um Zugriffskontrolle (Basic Auth) kümmern, das übernimmt zentral der Proxy. Ein Angreifer, der versucht, die Dienste direkt über ihre Ports anzusprechen, kommt von außen gar nicht bis dorthin – die </a:t>
            </a:r>
            <a:r>
              <a:rPr lang="de-DE" dirty="0" err="1"/>
              <a:t>ufw</a:t>
            </a:r>
            <a:r>
              <a:rPr lang="de-DE" dirty="0"/>
              <a:t>-Firewall lässt ohnehin nur 22, 80 und 443 herein (Schritt 1), und selbst wer im internen Netz wäre, träfe auf Dienste ohne eigene Authentifizierung, da diese ja "vertrauensvoll" davon ausgehen, dass nur Caddy mit ihnen spricht. Die Angriffsfläche reduziert sich so auf einen einzigen, gut abgesicherten Eintrittspunkt statt auf drei einzeln zu härtende Dienste.</a:t>
            </a:r>
          </a:p>
          <a:p>
            <a:endParaRPr lang="de-DE" dirty="0"/>
          </a:p>
          <a:p>
            <a:r>
              <a:rPr lang="de-DE" dirty="0"/>
              <a:t>zu 3. </a:t>
            </a:r>
          </a:p>
          <a:p>
            <a:r>
              <a:rPr lang="de-DE" dirty="0"/>
              <a:t>Von außen (über das Internet) würde die Anfrage gar nicht erst ankommen: </a:t>
            </a:r>
            <a:r>
              <a:rPr lang="de-DE" dirty="0" err="1"/>
              <a:t>localhost</a:t>
            </a:r>
            <a:r>
              <a:rPr lang="de-DE" dirty="0"/>
              <a:t> bezieht sich immer auf den lokalen Rechner des jeweiligen Aufrufers, ein externer Client kann darüber nicht auf den Server zugreifen – und selbst ein direkter Zugriff über die öffentliche IP auf Port 8002 würde von der </a:t>
            </a:r>
            <a:r>
              <a:rPr lang="de-DE" dirty="0" err="1"/>
              <a:t>ufw</a:t>
            </a:r>
            <a:r>
              <a:rPr lang="de-DE" dirty="0"/>
              <a:t>-Firewall blockiert, da dieser Port nicht freigegeben ist (nur 22/80/443 sind offen). Wer sich hingegen direkt auf dem Server befindet (z. B. per SSH eingeloggt) und dort </a:t>
            </a:r>
            <a:r>
              <a:rPr lang="de-DE" dirty="0" err="1"/>
              <a:t>curl</a:t>
            </a:r>
            <a:r>
              <a:rPr lang="de-DE" dirty="0"/>
              <a:t> http://localhost:8002 ausführt, käme tatsächlich ohne jede Authentifizierung an den Inhalt von Dienst B – denn die Basic-Auth-Prüfung sitzt ausschließlich im </a:t>
            </a:r>
            <a:r>
              <a:rPr lang="de-DE" dirty="0" err="1"/>
              <a:t>Caddyfile</a:t>
            </a:r>
            <a:r>
              <a:rPr lang="de-DE" dirty="0"/>
              <a:t>, nicht im Backend-Dienst selbst. Das verdeutlicht: Der Schutz durch Caddy gilt nur für den Weg über den Proxy: alles, was den Dienst lokal direkt erreichen kann, umgeht ihn vollständig.</a:t>
            </a:r>
          </a:p>
          <a:p>
            <a:endParaRPr lang="de-DE" dirty="0"/>
          </a:p>
          <a:p>
            <a:r>
              <a:rPr lang="de-DE" dirty="0"/>
              <a:t>zu 4.</a:t>
            </a:r>
          </a:p>
          <a:p>
            <a:r>
              <a:rPr lang="de-DE" dirty="0"/>
              <a:t>Port 80 wird für das ACME-Protokoll (</a:t>
            </a:r>
            <a:r>
              <a:rPr lang="de-DE" dirty="0" err="1"/>
              <a:t>Let's</a:t>
            </a:r>
            <a:r>
              <a:rPr lang="de-DE" dirty="0"/>
              <a:t>-</a:t>
            </a:r>
            <a:r>
              <a:rPr lang="de-DE" dirty="0" err="1"/>
              <a:t>Encrypt</a:t>
            </a:r>
            <a:r>
              <a:rPr lang="de-DE" dirty="0"/>
              <a:t>-Zertifikatsausstellung/-erneuerung) benötigt: Beim HTTP-01-Challenge-Verfahren muss die Zertifizierungsstelle über Port 80 erreichen können, dass der Server tatsächlich die Kontrolle über die jeweilige Domain hat, bevor sie ein Zertifikat ausstellt. Ohne offenen Port 80 könnte Caddy keine neuen Zertifikate anfordern oder bestehende automatisch erneuern. Eine reguläre HTTP-Anfrage eines Nutzers auf Port 80 wird von Caddy nach der Konfiguration automatisch mit einer Weiterleitung (HTTP 301/308) auf die entsprechende HTTPS-URL (Port 443) beantwortet – Caddy aktiviert dieses Verhalten standardmäßig, sobald für eine Domain automatisches HTTPS eingerichtet ist. Port 80 bleibt also offen, wird aber nie für unverschlüsselte Inhalte genutzt, sondern nur für die Zertifikatsverwaltung und die Weiterleitung auf HTTPS.</a:t>
            </a:r>
          </a:p>
        </p:txBody>
      </p:sp>
      <p:sp>
        <p:nvSpPr>
          <p:cNvPr id="4" name="Foliennummernplatzhalter 3"/>
          <p:cNvSpPr>
            <a:spLocks noGrp="1"/>
          </p:cNvSpPr>
          <p:nvPr>
            <p:ph type="sldNum" sz="quarter" idx="5"/>
          </p:nvPr>
        </p:nvSpPr>
        <p:spPr/>
        <p:txBody>
          <a:bodyPr/>
          <a:lstStyle/>
          <a:p>
            <a:fld id="{4BD5FE33-4217-42D2-A2B6-93ED6DCD092C}" type="slidenum">
              <a:rPr lang="de-DE" smtClean="0"/>
              <a:t>12</a:t>
            </a:fld>
            <a:endParaRPr lang="de-DE"/>
          </a:p>
        </p:txBody>
      </p:sp>
    </p:spTree>
    <p:extLst>
      <p:ext uri="{BB962C8B-B14F-4D97-AF65-F5344CB8AC3E}">
        <p14:creationId xmlns:p14="http://schemas.microsoft.com/office/powerpoint/2010/main" val="538297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1BC23E3-4510-413A-9361-7EEE4D3F2E84}" type="datetime1">
              <a:rPr lang="de-DE" smtClean="0"/>
              <a:t>22.09.2026</a:t>
            </a:fld>
            <a:endParaRPr lang="de-DE"/>
          </a:p>
        </p:txBody>
      </p:sp>
      <p:sp>
        <p:nvSpPr>
          <p:cNvPr id="4" name="Foliennummernplatzhalter 3"/>
          <p:cNvSpPr>
            <a:spLocks noGrp="1"/>
          </p:cNvSpPr>
          <p:nvPr>
            <p:ph type="sldNum" sz="quarter" idx="12"/>
          </p:nvPr>
        </p:nvSpPr>
        <p:spPr/>
        <p:txBody>
          <a:bodyPr/>
          <a:lstStyle/>
          <a:p>
            <a:fld id="{341CD41A-C668-429A-AD07-4F84BBC3B3E7}" type="slidenum">
              <a:rPr lang="de-DE" smtClean="0"/>
              <a:t>‹Nr.›</a:t>
            </a:fld>
            <a:endParaRPr lang="de-DE"/>
          </a:p>
        </p:txBody>
      </p:sp>
      <p:sp>
        <p:nvSpPr>
          <p:cNvPr id="3" name="Fußzeilenplatzhalter 2">
            <a:extLst>
              <a:ext uri="{FF2B5EF4-FFF2-40B4-BE49-F238E27FC236}">
                <a16:creationId xmlns:a16="http://schemas.microsoft.com/office/drawing/2014/main" id="{7F76B9BF-0406-764A-A3AE-DEC5AD580CC8}"/>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2322597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22.09.2026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7" name="Untertitel 2"/>
          <p:cNvSpPr>
            <a:spLocks noGrp="1"/>
          </p:cNvSpPr>
          <p:nvPr>
            <p:ph type="subTitle" idx="1" hasCustomPrompt="1"/>
          </p:nvPr>
        </p:nvSpPr>
        <p:spPr>
          <a:xfrm>
            <a:off x="388003" y="3959588"/>
            <a:ext cx="11410123" cy="756000"/>
          </a:xfrm>
          <a:solidFill>
            <a:srgbClr val="FFCD00"/>
          </a:solidFill>
        </p:spPr>
        <p:txBody>
          <a:bodyPr anchor="ctr">
            <a:normAutofit/>
          </a:bodyPr>
          <a:lstStyle>
            <a:lvl1pPr algn="ctr">
              <a:defRPr sz="3200">
                <a:solidFill>
                  <a:schemeClr val="accent5">
                    <a:lumMod val="75000"/>
                  </a:schemeClr>
                </a:solidFill>
                <a:latin typeface="Roboto" panose="02000000000000000000" pitchFamily="2" charset="0"/>
                <a:ea typeface="Roboto" panose="02000000000000000000" pitchFamily="2" charset="0"/>
              </a:defRPr>
            </a:lvl1pPr>
          </a:lstStyle>
          <a:p>
            <a:r>
              <a:rPr lang="de-DE" sz="3200" spc="200" dirty="0" err="1">
                <a:solidFill>
                  <a:srgbClr val="2B418E"/>
                </a:solidFill>
                <a:latin typeface="Roboto" panose="02000000000000000000" pitchFamily="2" charset="0"/>
                <a:ea typeface="Roboto" panose="02000000000000000000" pitchFamily="2" charset="0"/>
              </a:rPr>
              <a:t>Subline</a:t>
            </a:r>
            <a:endParaRPr lang="de-DE" sz="3200" spc="200" dirty="0">
              <a:solidFill>
                <a:srgbClr val="2B418E"/>
              </a:solidFill>
              <a:latin typeface="Roboto" panose="02000000000000000000" pitchFamily="2" charset="0"/>
              <a:ea typeface="Roboto" panose="02000000000000000000" pitchFamily="2" charset="0"/>
            </a:endParaRPr>
          </a:p>
        </p:txBody>
      </p:sp>
      <p:sp>
        <p:nvSpPr>
          <p:cNvPr id="8" name="Titel 1"/>
          <p:cNvSpPr>
            <a:spLocks noGrp="1"/>
          </p:cNvSpPr>
          <p:nvPr>
            <p:ph type="ctrTitle" hasCustomPrompt="1"/>
          </p:nvPr>
        </p:nvSpPr>
        <p:spPr>
          <a:xfrm>
            <a:off x="388002" y="1439999"/>
            <a:ext cx="11410123" cy="2520000"/>
          </a:xfrm>
          <a:solidFill>
            <a:srgbClr val="2B418E"/>
          </a:solidFill>
        </p:spPr>
        <p:txBody>
          <a:bodyPr anchor="ctr">
            <a:normAutofit/>
          </a:bodyPr>
          <a:lstStyle>
            <a:lvl1pPr>
              <a:defRPr sz="4400">
                <a:solidFill>
                  <a:schemeClr val="bg1"/>
                </a:solidFill>
              </a:defRPr>
            </a:lvl1pPr>
          </a:lstStyle>
          <a:p>
            <a:r>
              <a:rPr lang="de-DE" altLang="de-DE" sz="4400" b="1" dirty="0">
                <a:solidFill>
                  <a:schemeClr val="bg1"/>
                </a:solidFill>
                <a:latin typeface="Roboto Slab" pitchFamily="2" charset="0"/>
                <a:ea typeface="Roboto Slab" pitchFamily="2" charset="0"/>
              </a:rPr>
              <a:t>Headline</a:t>
            </a:r>
            <a:endParaRPr lang="de-DE" sz="4400" b="1" dirty="0">
              <a:latin typeface="Roboto Slab" pitchFamily="2" charset="0"/>
              <a:ea typeface="Roboto Slab" pitchFamily="2" charset="0"/>
            </a:endParaRPr>
          </a:p>
        </p:txBody>
      </p:sp>
      <p:sp>
        <p:nvSpPr>
          <p:cNvPr id="2" name="Fußzeilenplatzhalter 1">
            <a:extLst>
              <a:ext uri="{FF2B5EF4-FFF2-40B4-BE49-F238E27FC236}">
                <a16:creationId xmlns:a16="http://schemas.microsoft.com/office/drawing/2014/main" id="{6323C46C-563A-C940-92F4-FEC0E92C53F7}"/>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3148218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ufzählung-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22.09.2026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6" name="Inhaltsplatzhalter 2"/>
          <p:cNvSpPr>
            <a:spLocks noGrp="1"/>
          </p:cNvSpPr>
          <p:nvPr>
            <p:ph idx="1" hasCustomPrompt="1"/>
          </p:nvPr>
        </p:nvSpPr>
        <p:spPr>
          <a:xfrm>
            <a:off x="351181" y="2304000"/>
            <a:ext cx="11410124" cy="4153080"/>
          </a:xfrm>
        </p:spPr>
        <p:txBody>
          <a:bodyPr>
            <a:noAutofit/>
          </a:bodyPr>
          <a:lstStyle>
            <a:lvl1pPr>
              <a:defRPr>
                <a:latin typeface="Roboto" panose="02000000000000000000" pitchFamily="2" charset="0"/>
                <a:ea typeface="Roboto" panose="02000000000000000000" pitchFamily="2" charset="0"/>
              </a:defRPr>
            </a:lvl1pPr>
          </a:lstStyle>
          <a:p>
            <a:pPr>
              <a:lnSpc>
                <a:spcPct val="120000"/>
              </a:lnSpc>
            </a:pPr>
            <a:r>
              <a:rPr lang="de-DE" sz="2000" b="1" dirty="0">
                <a:solidFill>
                  <a:schemeClr val="tx1">
                    <a:lumMod val="65000"/>
                    <a:lumOff val="35000"/>
                  </a:schemeClr>
                </a:solidFill>
                <a:latin typeface="Roboto" panose="02000000000000000000" pitchFamily="2" charset="0"/>
                <a:ea typeface="Roboto" panose="02000000000000000000" pitchFamily="2" charset="0"/>
              </a:rPr>
              <a:t>Aufzählung:</a:t>
            </a:r>
            <a:br>
              <a:rPr lang="de-DE" sz="2000" b="1" dirty="0">
                <a:solidFill>
                  <a:schemeClr val="tx1">
                    <a:lumMod val="65000"/>
                    <a:lumOff val="35000"/>
                  </a:schemeClr>
                </a:solidFill>
                <a:latin typeface="Roboto" panose="02000000000000000000" pitchFamily="2" charset="0"/>
                <a:ea typeface="Roboto" panose="02000000000000000000" pitchFamily="2" charset="0"/>
              </a:rPr>
            </a:b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8" name="Title 1"/>
          <p:cNvSpPr>
            <a:spLocks noGrp="1"/>
          </p:cNvSpPr>
          <p:nvPr>
            <p:ph type="title" hasCustomPrompt="1"/>
          </p:nvPr>
        </p:nvSpPr>
        <p:spPr>
          <a:xfrm>
            <a:off x="400277" y="1445754"/>
            <a:ext cx="11410124" cy="646331"/>
          </a:xfrm>
          <a:solidFill>
            <a:srgbClr val="2B418E"/>
          </a:solidFill>
        </p:spPr>
        <p:txBody>
          <a:bodyPr wrap="square">
            <a:spAutoFit/>
          </a:bodyPr>
          <a:lstStyle>
            <a:lvl1pPr algn="l">
              <a:defRPr sz="2000" b="1">
                <a:solidFill>
                  <a:schemeClr val="bg1"/>
                </a:solidFill>
              </a:defRPr>
            </a:lvl1pPr>
          </a:lstStyle>
          <a:p>
            <a:r>
              <a:rPr lang="de-DE" dirty="0"/>
              <a:t>Überschrift</a:t>
            </a:r>
            <a:br>
              <a:rPr lang="de-DE" dirty="0"/>
            </a:br>
            <a:r>
              <a:rPr lang="de-DE" dirty="0"/>
              <a:t>maximal 2 Zeilen</a:t>
            </a:r>
            <a:endParaRPr lang="en-US" dirty="0"/>
          </a:p>
        </p:txBody>
      </p:sp>
      <p:sp>
        <p:nvSpPr>
          <p:cNvPr id="2" name="Fußzeilenplatzhalter 1">
            <a:extLst>
              <a:ext uri="{FF2B5EF4-FFF2-40B4-BE49-F238E27FC236}">
                <a16:creationId xmlns:a16="http://schemas.microsoft.com/office/drawing/2014/main" id="{39ADA1F3-7414-E348-8F03-4F47E182C581}"/>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4116819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ufzählung-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22.09.2026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6" name="Inhaltsplatzhalter 2"/>
          <p:cNvSpPr>
            <a:spLocks noGrp="1"/>
          </p:cNvSpPr>
          <p:nvPr>
            <p:ph idx="1" hasCustomPrompt="1"/>
          </p:nvPr>
        </p:nvSpPr>
        <p:spPr>
          <a:xfrm>
            <a:off x="351181" y="1386038"/>
            <a:ext cx="11410124" cy="5071042"/>
          </a:xfrm>
        </p:spPr>
        <p:txBody>
          <a:bodyPr>
            <a:noAutofit/>
          </a:bodyPr>
          <a:lstStyle>
            <a:lvl1pPr>
              <a:defRPr>
                <a:latin typeface="Roboto" panose="02000000000000000000" pitchFamily="2" charset="0"/>
                <a:ea typeface="Roboto" panose="02000000000000000000" pitchFamily="2" charset="0"/>
              </a:defRPr>
            </a:lvl1pPr>
          </a:lstStyle>
          <a:p>
            <a:pPr>
              <a:lnSpc>
                <a:spcPct val="120000"/>
              </a:lnSpc>
            </a:pPr>
            <a:r>
              <a:rPr lang="de-DE" sz="2000" b="1" dirty="0">
                <a:solidFill>
                  <a:schemeClr val="tx1">
                    <a:lumMod val="65000"/>
                    <a:lumOff val="35000"/>
                  </a:schemeClr>
                </a:solidFill>
                <a:latin typeface="Roboto" panose="02000000000000000000" pitchFamily="2" charset="0"/>
                <a:ea typeface="Roboto" panose="02000000000000000000" pitchFamily="2" charset="0"/>
              </a:rPr>
              <a:t>Aufzählung:</a:t>
            </a:r>
            <a:br>
              <a:rPr lang="de-DE" sz="2000" b="1" dirty="0">
                <a:solidFill>
                  <a:schemeClr val="tx1">
                    <a:lumMod val="65000"/>
                    <a:lumOff val="35000"/>
                  </a:schemeClr>
                </a:solidFill>
                <a:latin typeface="Roboto" panose="02000000000000000000" pitchFamily="2" charset="0"/>
                <a:ea typeface="Roboto" panose="02000000000000000000" pitchFamily="2" charset="0"/>
              </a:rPr>
            </a:b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2" name="Fußzeilenplatzhalter 1">
            <a:extLst>
              <a:ext uri="{FF2B5EF4-FFF2-40B4-BE49-F238E27FC236}">
                <a16:creationId xmlns:a16="http://schemas.microsoft.com/office/drawing/2014/main" id="{D295CA11-9812-1547-A9A0-1EEEC47FC478}"/>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3167284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Spalten-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22.09.2026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6" name="Inhaltsplatzhalter 2"/>
          <p:cNvSpPr>
            <a:spLocks noGrp="1"/>
          </p:cNvSpPr>
          <p:nvPr>
            <p:ph idx="1" hasCustomPrompt="1"/>
          </p:nvPr>
        </p:nvSpPr>
        <p:spPr>
          <a:xfrm>
            <a:off x="351181" y="2304000"/>
            <a:ext cx="5626107" cy="4153080"/>
          </a:xfrm>
        </p:spPr>
        <p:txBody>
          <a:bodyPr>
            <a:noAutofit/>
          </a:bodyPr>
          <a:lstStyle>
            <a:lvl1pPr marL="0" indent="0">
              <a:buNone/>
              <a:defRPr/>
            </a:lvl1pPr>
          </a:lstStyle>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8" name="Inhaltsplatzhalter 2"/>
          <p:cNvSpPr>
            <a:spLocks noGrp="1"/>
          </p:cNvSpPr>
          <p:nvPr>
            <p:ph idx="13" hasCustomPrompt="1"/>
          </p:nvPr>
        </p:nvSpPr>
        <p:spPr>
          <a:xfrm>
            <a:off x="6135198" y="2295485"/>
            <a:ext cx="5626107" cy="4153080"/>
          </a:xfrm>
        </p:spPr>
        <p:txBody>
          <a:bodyPr>
            <a:noAutofit/>
          </a:bodyPr>
          <a:lstStyle>
            <a:lvl1pPr marL="0" indent="0">
              <a:buNone/>
              <a:defRPr/>
            </a:lvl1pPr>
          </a:lstStyle>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9" name="Title 1"/>
          <p:cNvSpPr>
            <a:spLocks noGrp="1"/>
          </p:cNvSpPr>
          <p:nvPr>
            <p:ph type="title" hasCustomPrompt="1"/>
          </p:nvPr>
        </p:nvSpPr>
        <p:spPr>
          <a:xfrm>
            <a:off x="388003" y="1451891"/>
            <a:ext cx="11410124" cy="646331"/>
          </a:xfrm>
          <a:solidFill>
            <a:srgbClr val="2B418E"/>
          </a:solidFill>
        </p:spPr>
        <p:txBody>
          <a:bodyPr wrap="square">
            <a:spAutoFit/>
          </a:bodyPr>
          <a:lstStyle>
            <a:lvl1pPr algn="l">
              <a:defRPr sz="2000" b="1">
                <a:solidFill>
                  <a:schemeClr val="bg1"/>
                </a:solidFill>
              </a:defRPr>
            </a:lvl1pPr>
          </a:lstStyle>
          <a:p>
            <a:r>
              <a:rPr lang="de-DE" dirty="0"/>
              <a:t>Überschrift</a:t>
            </a:r>
            <a:br>
              <a:rPr lang="de-DE" dirty="0"/>
            </a:br>
            <a:r>
              <a:rPr lang="de-DE" dirty="0"/>
              <a:t>maximal 2 Zeilen</a:t>
            </a:r>
            <a:endParaRPr lang="en-US" dirty="0"/>
          </a:p>
        </p:txBody>
      </p:sp>
      <p:sp>
        <p:nvSpPr>
          <p:cNvPr id="2" name="Fußzeilenplatzhalter 1">
            <a:extLst>
              <a:ext uri="{FF2B5EF4-FFF2-40B4-BE49-F238E27FC236}">
                <a16:creationId xmlns:a16="http://schemas.microsoft.com/office/drawing/2014/main" id="{929FB456-7ECE-6841-8927-D979B8552058}"/>
              </a:ext>
            </a:extLst>
          </p:cNvPr>
          <p:cNvSpPr>
            <a:spLocks noGrp="1"/>
          </p:cNvSpPr>
          <p:nvPr>
            <p:ph type="ftr" sz="quarter" idx="14"/>
          </p:nvPr>
        </p:nvSpPr>
        <p:spPr/>
        <p:txBody>
          <a:bodyPr/>
          <a:lstStyle/>
          <a:p>
            <a:endParaRPr lang="de-DE"/>
          </a:p>
        </p:txBody>
      </p:sp>
    </p:spTree>
    <p:extLst>
      <p:ext uri="{BB962C8B-B14F-4D97-AF65-F5344CB8AC3E}">
        <p14:creationId xmlns:p14="http://schemas.microsoft.com/office/powerpoint/2010/main" val="3350273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Zwei Inhalte">
    <p:spTree>
      <p:nvGrpSpPr>
        <p:cNvPr id="1" name=""/>
        <p:cNvGrpSpPr/>
        <p:nvPr/>
      </p:nvGrpSpPr>
      <p:grpSpPr>
        <a:xfrm>
          <a:off x="0" y="0"/>
          <a:ext cx="0" cy="0"/>
          <a:chOff x="0" y="0"/>
          <a:chExt cx="0" cy="0"/>
        </a:xfrm>
      </p:grpSpPr>
      <p:sp>
        <p:nvSpPr>
          <p:cNvPr id="9" name="Abgerundetes Rechteck 8"/>
          <p:cNvSpPr/>
          <p:nvPr userDrawn="1"/>
        </p:nvSpPr>
        <p:spPr>
          <a:xfrm>
            <a:off x="341354" y="276550"/>
            <a:ext cx="12084756" cy="1144800"/>
          </a:xfrm>
          <a:prstGeom prst="round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798"/>
          </a:p>
        </p:txBody>
      </p:sp>
      <p:sp>
        <p:nvSpPr>
          <p:cNvPr id="3" name="Inhaltsplatzhalter 2"/>
          <p:cNvSpPr>
            <a:spLocks noGrp="1"/>
          </p:cNvSpPr>
          <p:nvPr>
            <p:ph sz="half" idx="1"/>
          </p:nvPr>
        </p:nvSpPr>
        <p:spPr>
          <a:xfrm>
            <a:off x="629087" y="1628799"/>
            <a:ext cx="5394381" cy="4536000"/>
          </a:xfrm>
        </p:spPr>
        <p:txBody>
          <a:bodyPr/>
          <a:lstStyle>
            <a:lvl1pPr>
              <a:defRPr sz="2797">
                <a:solidFill>
                  <a:schemeClr val="tx2"/>
                </a:solidFill>
              </a:defRPr>
            </a:lvl1pPr>
            <a:lvl2pPr>
              <a:defRPr sz="2398">
                <a:solidFill>
                  <a:schemeClr val="tx2"/>
                </a:solidFill>
              </a:defRPr>
            </a:lvl2pPr>
            <a:lvl3pPr>
              <a:defRPr sz="1998">
                <a:solidFill>
                  <a:schemeClr val="tx2"/>
                </a:solidFill>
              </a:defRPr>
            </a:lvl3pPr>
            <a:lvl4pPr>
              <a:defRPr sz="1798">
                <a:solidFill>
                  <a:schemeClr val="tx2"/>
                </a:solidFill>
              </a:defRPr>
            </a:lvl4pPr>
            <a:lvl5pPr>
              <a:defRPr sz="1798">
                <a:solidFill>
                  <a:schemeClr val="tx2"/>
                </a:solidFill>
              </a:defRPr>
            </a:lvl5pPr>
            <a:lvl6pPr>
              <a:defRPr sz="1798"/>
            </a:lvl6pPr>
            <a:lvl7pPr>
              <a:defRPr sz="1798"/>
            </a:lvl7pPr>
            <a:lvl8pPr>
              <a:defRPr sz="1798"/>
            </a:lvl8pPr>
            <a:lvl9pPr>
              <a:defRPr sz="1798"/>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p:cNvSpPr>
            <a:spLocks noGrp="1"/>
          </p:cNvSpPr>
          <p:nvPr>
            <p:ph sz="half" idx="2"/>
          </p:nvPr>
        </p:nvSpPr>
        <p:spPr>
          <a:xfrm>
            <a:off x="6168532" y="1628799"/>
            <a:ext cx="5394381" cy="4536000"/>
          </a:xfrm>
        </p:spPr>
        <p:txBody>
          <a:bodyPr/>
          <a:lstStyle>
            <a:lvl1pPr>
              <a:defRPr sz="2797">
                <a:solidFill>
                  <a:schemeClr val="tx2"/>
                </a:solidFill>
              </a:defRPr>
            </a:lvl1pPr>
            <a:lvl2pPr>
              <a:defRPr sz="2398">
                <a:solidFill>
                  <a:schemeClr val="tx2"/>
                </a:solidFill>
              </a:defRPr>
            </a:lvl2pPr>
            <a:lvl3pPr>
              <a:defRPr sz="1998">
                <a:solidFill>
                  <a:schemeClr val="tx2"/>
                </a:solidFill>
              </a:defRPr>
            </a:lvl3pPr>
            <a:lvl4pPr>
              <a:defRPr sz="1798">
                <a:solidFill>
                  <a:schemeClr val="tx2"/>
                </a:solidFill>
              </a:defRPr>
            </a:lvl4pPr>
            <a:lvl5pPr>
              <a:defRPr sz="1798">
                <a:solidFill>
                  <a:schemeClr val="tx2"/>
                </a:solidFill>
              </a:defRPr>
            </a:lvl5pPr>
            <a:lvl6pPr>
              <a:defRPr sz="1798"/>
            </a:lvl6pPr>
            <a:lvl7pPr>
              <a:defRPr sz="1798"/>
            </a:lvl7pPr>
            <a:lvl8pPr>
              <a:defRPr sz="1798"/>
            </a:lvl8pPr>
            <a:lvl9pPr>
              <a:defRPr sz="1798"/>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1"/>
          <p:cNvSpPr>
            <a:spLocks noGrp="1"/>
          </p:cNvSpPr>
          <p:nvPr>
            <p:ph type="title"/>
          </p:nvPr>
        </p:nvSpPr>
        <p:spPr>
          <a:xfrm>
            <a:off x="609601" y="274638"/>
            <a:ext cx="10953313" cy="1143000"/>
          </a:xfrm>
        </p:spPr>
        <p:txBody>
          <a:bodyPr>
            <a:normAutofit/>
          </a:bodyPr>
          <a:lstStyle>
            <a:lvl1pPr>
              <a:defRPr sz="2398" b="1">
                <a:solidFill>
                  <a:schemeClr val="tx2"/>
                </a:solidFill>
              </a:defRPr>
            </a:lvl1pPr>
          </a:lstStyle>
          <a:p>
            <a:r>
              <a:rPr lang="de-DE" dirty="0"/>
              <a:t>Titelmasterformat durch Klicken bearbeiten</a:t>
            </a:r>
          </a:p>
        </p:txBody>
      </p:sp>
      <p:sp>
        <p:nvSpPr>
          <p:cNvPr id="18" name="Datumsplatzhalter 6"/>
          <p:cNvSpPr>
            <a:spLocks noGrp="1"/>
          </p:cNvSpPr>
          <p:nvPr>
            <p:ph type="dt" sz="half" idx="10"/>
          </p:nvPr>
        </p:nvSpPr>
        <p:spPr>
          <a:xfrm>
            <a:off x="609600" y="6356352"/>
            <a:ext cx="2844800" cy="365125"/>
          </a:xfrm>
          <a:prstGeom prst="rect">
            <a:avLst/>
          </a:prstGeom>
        </p:spPr>
        <p:txBody>
          <a:bodyPr/>
          <a:lstStyle>
            <a:lvl1pPr marL="0" algn="l" defTabSz="913486" rtl="0" eaLnBrk="1" latinLnBrk="0" hangingPunct="1">
              <a:defRPr lang="de-DE" sz="1049" kern="1200" dirty="0">
                <a:solidFill>
                  <a:schemeClr val="bg1"/>
                </a:solidFill>
                <a:latin typeface="Arial" panose="020B0604020202020204" pitchFamily="34" charset="0"/>
                <a:ea typeface="+mn-ea"/>
                <a:cs typeface="Arial" panose="020B0604020202020204" pitchFamily="34" charset="0"/>
              </a:defRPr>
            </a:lvl1pPr>
          </a:lstStyle>
          <a:p>
            <a:fld id="{757CD2D1-8C96-4412-8C0C-09C7E956F080}" type="datetime1">
              <a:rPr lang="de-DE" smtClean="0"/>
              <a:t>22.09.2026</a:t>
            </a:fld>
            <a:endParaRPr lang="de-DE" dirty="0"/>
          </a:p>
        </p:txBody>
      </p:sp>
      <p:sp>
        <p:nvSpPr>
          <p:cNvPr id="20" name="Foliennummernplatzhalter 8"/>
          <p:cNvSpPr>
            <a:spLocks noGrp="1"/>
          </p:cNvSpPr>
          <p:nvPr>
            <p:ph type="sldNum" sz="quarter" idx="4"/>
          </p:nvPr>
        </p:nvSpPr>
        <p:spPr>
          <a:xfrm>
            <a:off x="8737601" y="6356352"/>
            <a:ext cx="2844800" cy="365125"/>
          </a:xfrm>
          <a:prstGeom prst="rect">
            <a:avLst/>
          </a:prstGeom>
        </p:spPr>
        <p:txBody>
          <a:bodyPr/>
          <a:lstStyle>
            <a:lvl1pPr algn="r">
              <a:defRPr lang="de-DE" sz="1049" kern="1200" smtClean="0">
                <a:solidFill>
                  <a:schemeClr val="bg1"/>
                </a:solidFill>
                <a:latin typeface="Arial" panose="020B0604020202020204" pitchFamily="34" charset="0"/>
                <a:ea typeface="+mn-ea"/>
                <a:cs typeface="Arial" panose="020B0604020202020204" pitchFamily="34" charset="0"/>
              </a:defRPr>
            </a:lvl1pPr>
          </a:lstStyle>
          <a:p>
            <a:fld id="{43A6DCFB-163F-4561-BF28-3CD1FE47EE20}" type="slidenum">
              <a:rPr lang="de-DE" smtClean="0"/>
              <a:pPr/>
              <a:t>‹Nr.›</a:t>
            </a:fld>
            <a:endParaRPr lang="de-DE" dirty="0"/>
          </a:p>
        </p:txBody>
      </p:sp>
    </p:spTree>
    <p:extLst>
      <p:ext uri="{BB962C8B-B14F-4D97-AF65-F5344CB8AC3E}">
        <p14:creationId xmlns:p14="http://schemas.microsoft.com/office/powerpoint/2010/main" val="3564731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202F9D49-4CB7-4444-915C-FDDFCF5AC699}"/>
              </a:ext>
            </a:extLst>
          </p:cNvPr>
          <p:cNvSpPr/>
          <p:nvPr userDrawn="1"/>
        </p:nvSpPr>
        <p:spPr>
          <a:xfrm>
            <a:off x="0" y="6629400"/>
            <a:ext cx="12192000" cy="228600"/>
          </a:xfrm>
          <a:prstGeom prst="rect">
            <a:avLst/>
          </a:prstGeom>
          <a:solidFill>
            <a:srgbClr val="274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platzhalter 1"/>
          <p:cNvSpPr>
            <a:spLocks noGrp="1"/>
          </p:cNvSpPr>
          <p:nvPr>
            <p:ph type="title"/>
          </p:nvPr>
        </p:nvSpPr>
        <p:spPr>
          <a:xfrm>
            <a:off x="838200" y="1123121"/>
            <a:ext cx="10515600" cy="1719469"/>
          </a:xfrm>
          <a:prstGeom prst="rect">
            <a:avLst/>
          </a:prstGeom>
        </p:spPr>
        <p:txBody>
          <a:bodyPr vert="horz" lIns="91440" tIns="45720" rIns="91440" bIns="45720" rtlCol="0" anchor="ctr">
            <a:normAutofit/>
          </a:bodyPr>
          <a:lstStyle/>
          <a:p>
            <a:r>
              <a:rPr lang="de-DE" dirty="0"/>
              <a:t>Titelmasterformat durch Klicken bearbeiten</a:t>
            </a:r>
          </a:p>
        </p:txBody>
      </p:sp>
      <p:sp>
        <p:nvSpPr>
          <p:cNvPr id="3" name="Textplatzhalter 2"/>
          <p:cNvSpPr>
            <a:spLocks noGrp="1"/>
          </p:cNvSpPr>
          <p:nvPr>
            <p:ph type="body" idx="1"/>
          </p:nvPr>
        </p:nvSpPr>
        <p:spPr>
          <a:xfrm>
            <a:off x="841513" y="2842591"/>
            <a:ext cx="10515600" cy="3786809"/>
          </a:xfrm>
          <a:prstGeom prst="rect">
            <a:avLst/>
          </a:prstGeom>
        </p:spPr>
        <p:txBody>
          <a:bodyPr vert="horz" lIns="91440" tIns="45720" rIns="91440" bIns="45720" rtlCol="0">
            <a:normAutofit/>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351181" y="6629400"/>
            <a:ext cx="2743200" cy="228600"/>
          </a:xfrm>
          <a:prstGeom prst="rect">
            <a:avLst/>
          </a:prstGeom>
        </p:spPr>
        <p:txBody>
          <a:bodyPr vert="horz" lIns="91440" tIns="45720" rIns="91440" bIns="45720" rtlCol="0" anchor="ctr"/>
          <a:lstStyle>
            <a:lvl1pPr algn="l">
              <a:defRPr sz="1200">
                <a:solidFill>
                  <a:schemeClr val="bg1">
                    <a:lumMod val="95000"/>
                  </a:schemeClr>
                </a:solidFill>
              </a:defRPr>
            </a:lvl1pPr>
          </a:lstStyle>
          <a:p>
            <a:fld id="{DFF21B63-CC14-4CF7-B236-95F232F15D6B}" type="datetime1">
              <a:rPr lang="de-DE" smtClean="0"/>
              <a:t>22.09.2026</a:t>
            </a:fld>
            <a:endParaRPr lang="de-DE" dirty="0"/>
          </a:p>
        </p:txBody>
      </p:sp>
      <p:sp>
        <p:nvSpPr>
          <p:cNvPr id="6" name="Foliennummernplatzhalter 5"/>
          <p:cNvSpPr>
            <a:spLocks noGrp="1"/>
          </p:cNvSpPr>
          <p:nvPr>
            <p:ph type="sldNum" sz="quarter" idx="4"/>
          </p:nvPr>
        </p:nvSpPr>
        <p:spPr>
          <a:xfrm>
            <a:off x="9018105" y="6629400"/>
            <a:ext cx="2743200" cy="228599"/>
          </a:xfrm>
          <a:prstGeom prst="rect">
            <a:avLst/>
          </a:prstGeom>
        </p:spPr>
        <p:txBody>
          <a:bodyPr vert="horz" lIns="91440" tIns="45720" rIns="91440" bIns="45720" rtlCol="0" anchor="ctr"/>
          <a:lstStyle>
            <a:lvl1pPr algn="r">
              <a:defRPr sz="1200">
                <a:solidFill>
                  <a:schemeClr val="bg1">
                    <a:lumMod val="95000"/>
                  </a:schemeClr>
                </a:solidFill>
              </a:defRPr>
            </a:lvl1pPr>
          </a:lstStyle>
          <a:p>
            <a:fld id="{341CD41A-C668-429A-AD07-4F84BBC3B3E7}" type="slidenum">
              <a:rPr lang="de-DE" smtClean="0"/>
              <a:pPr/>
              <a:t>‹Nr.›</a:t>
            </a:fld>
            <a:endParaRPr lang="de-DE" dirty="0"/>
          </a:p>
        </p:txBody>
      </p:sp>
      <p:sp>
        <p:nvSpPr>
          <p:cNvPr id="5" name="Fußzeilenplatzhalter 4">
            <a:extLst>
              <a:ext uri="{FF2B5EF4-FFF2-40B4-BE49-F238E27FC236}">
                <a16:creationId xmlns:a16="http://schemas.microsoft.com/office/drawing/2014/main" id="{3EE2BAE6-A273-B346-9C40-F0E5E4CBC3CE}"/>
              </a:ext>
            </a:extLst>
          </p:cNvPr>
          <p:cNvSpPr>
            <a:spLocks noGrp="1"/>
          </p:cNvSpPr>
          <p:nvPr>
            <p:ph type="ftr" sz="quarter" idx="3"/>
          </p:nvPr>
        </p:nvSpPr>
        <p:spPr>
          <a:xfrm>
            <a:off x="4038600" y="6558483"/>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de-DE" dirty="0"/>
          </a:p>
        </p:txBody>
      </p:sp>
    </p:spTree>
    <p:extLst>
      <p:ext uri="{BB962C8B-B14F-4D97-AF65-F5344CB8AC3E}">
        <p14:creationId xmlns:p14="http://schemas.microsoft.com/office/powerpoint/2010/main" val="3746501783"/>
      </p:ext>
    </p:extLst>
  </p:cSld>
  <p:clrMap bg1="lt1" tx1="dk1" bg2="lt2" tx2="dk2" accent1="accent1" accent2="accent2" accent3="accent3" accent4="accent4" accent5="accent5" accent6="accent6" hlink="hlink" folHlink="folHlink"/>
  <p:sldLayoutIdLst>
    <p:sldLayoutId id="2147483655" r:id="rId1"/>
    <p:sldLayoutId id="2147483661" r:id="rId2"/>
    <p:sldLayoutId id="2147483662" r:id="rId3"/>
    <p:sldLayoutId id="2147483667" r:id="rId4"/>
    <p:sldLayoutId id="2147483663" r:id="rId5"/>
    <p:sldLayoutId id="2147483672" r:id="rId6"/>
  </p:sldLayoutIdLst>
  <p:hf hdr="0"/>
  <p:txStyles>
    <p:titleStyle>
      <a:lvl1pPr algn="ctr" defTabSz="914400" rtl="0" eaLnBrk="1" latinLnBrk="0" hangingPunct="1">
        <a:lnSpc>
          <a:spcPct val="90000"/>
        </a:lnSpc>
        <a:spcBef>
          <a:spcPct val="0"/>
        </a:spcBef>
        <a:buNone/>
        <a:defRPr sz="4400" b="1" kern="1200">
          <a:solidFill>
            <a:schemeClr val="accent5">
              <a:lumMod val="75000"/>
            </a:schemeClr>
          </a:solidFill>
          <a:latin typeface="Roboto Slab" pitchFamily="2" charset="0"/>
          <a:ea typeface="Roboto Slab"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65000"/>
              <a:lumOff val="35000"/>
            </a:schemeClr>
          </a:solidFill>
          <a:latin typeface="Roboto Slab" pitchFamily="2" charset="0"/>
          <a:ea typeface="Roboto Slab"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5.jpe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5.jpeg"/><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48FF65-5AE9-45FB-8D3A-73F6AFF4A470}"/>
              </a:ext>
            </a:extLst>
          </p:cNvPr>
          <p:cNvSpPr>
            <a:spLocks noGrp="1"/>
          </p:cNvSpPr>
          <p:nvPr>
            <p:ph type="ctrTitle"/>
          </p:nvPr>
        </p:nvSpPr>
        <p:spPr/>
        <p:txBody>
          <a:bodyPr/>
          <a:lstStyle/>
          <a:p>
            <a:r>
              <a:rPr lang="de-DE" dirty="0"/>
              <a:t>IT-Infrastruktur mit freier Software </a:t>
            </a:r>
            <a:br>
              <a:rPr lang="de-DE" dirty="0"/>
            </a:br>
            <a:r>
              <a:rPr lang="de-DE" dirty="0"/>
              <a:t>(z. B. Linux) bereitstellen </a:t>
            </a:r>
          </a:p>
        </p:txBody>
      </p:sp>
      <p:sp>
        <p:nvSpPr>
          <p:cNvPr id="3" name="Untertitel 2">
            <a:extLst>
              <a:ext uri="{FF2B5EF4-FFF2-40B4-BE49-F238E27FC236}">
                <a16:creationId xmlns:a16="http://schemas.microsoft.com/office/drawing/2014/main" id="{AA6E370A-3F9D-4972-8257-4338E8BC435E}"/>
              </a:ext>
            </a:extLst>
          </p:cNvPr>
          <p:cNvSpPr>
            <a:spLocks noGrp="1"/>
          </p:cNvSpPr>
          <p:nvPr>
            <p:ph type="subTitle" idx="1"/>
          </p:nvPr>
        </p:nvSpPr>
        <p:spPr>
          <a:xfrm>
            <a:off x="388003" y="3959587"/>
            <a:ext cx="11410123" cy="1116909"/>
          </a:xfrm>
        </p:spPr>
        <p:txBody>
          <a:bodyPr>
            <a:normAutofit/>
          </a:bodyPr>
          <a:lstStyle/>
          <a:p>
            <a:pPr marL="0" indent="0">
              <a:buNone/>
            </a:pPr>
            <a:r>
              <a:rPr lang="de-DE" dirty="0"/>
              <a:t>Lab 04 -  </a:t>
            </a:r>
          </a:p>
          <a:p>
            <a:pPr marL="0" indent="0">
              <a:buNone/>
            </a:pPr>
            <a:r>
              <a:rPr lang="de-DE" dirty="0"/>
              <a:t>Dienste sicher veröffentlichen mit Caddy als Reverse Proxy</a:t>
            </a:r>
          </a:p>
        </p:txBody>
      </p:sp>
    </p:spTree>
    <p:extLst>
      <p:ext uri="{BB962C8B-B14F-4D97-AF65-F5344CB8AC3E}">
        <p14:creationId xmlns:p14="http://schemas.microsoft.com/office/powerpoint/2010/main" val="4110770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2308E33-0829-4981-BE0B-9CBD59D7698C}"/>
              </a:ext>
            </a:extLst>
          </p:cNvPr>
          <p:cNvSpPr>
            <a:spLocks noGrp="1"/>
          </p:cNvSpPr>
          <p:nvPr>
            <p:ph type="title"/>
          </p:nvPr>
        </p:nvSpPr>
        <p:spPr/>
        <p:txBody>
          <a:bodyPr/>
          <a:lstStyle/>
          <a:p>
            <a:r>
              <a:rPr lang="de-DE" dirty="0"/>
              <a:t>Erkenntnisgewinn</a:t>
            </a:r>
          </a:p>
        </p:txBody>
      </p:sp>
      <p:sp>
        <p:nvSpPr>
          <p:cNvPr id="5" name="Datumsplatzhalter 4">
            <a:extLst>
              <a:ext uri="{FF2B5EF4-FFF2-40B4-BE49-F238E27FC236}">
                <a16:creationId xmlns:a16="http://schemas.microsoft.com/office/drawing/2014/main" id="{D6890CBD-364B-4CD5-AA70-68D434EA80E9}"/>
              </a:ext>
            </a:extLst>
          </p:cNvPr>
          <p:cNvSpPr>
            <a:spLocks noGrp="1"/>
          </p:cNvSpPr>
          <p:nvPr>
            <p:ph type="dt" sz="half" idx="10"/>
          </p:nvPr>
        </p:nvSpPr>
        <p:spPr/>
        <p:txBody>
          <a:bodyPr/>
          <a:lstStyle/>
          <a:p>
            <a:fld id="{757CD2D1-8C96-4412-8C0C-09C7E956F080}" type="datetime1">
              <a:rPr lang="de-DE" smtClean="0"/>
              <a:t>22.09.2026</a:t>
            </a:fld>
            <a:endParaRPr lang="de-DE" dirty="0"/>
          </a:p>
        </p:txBody>
      </p:sp>
      <p:sp>
        <p:nvSpPr>
          <p:cNvPr id="6" name="Foliennummernplatzhalter 5">
            <a:extLst>
              <a:ext uri="{FF2B5EF4-FFF2-40B4-BE49-F238E27FC236}">
                <a16:creationId xmlns:a16="http://schemas.microsoft.com/office/drawing/2014/main" id="{5271F5D2-381E-4F2B-8EDD-C91D481228C3}"/>
              </a:ext>
            </a:extLst>
          </p:cNvPr>
          <p:cNvSpPr>
            <a:spLocks noGrp="1"/>
          </p:cNvSpPr>
          <p:nvPr>
            <p:ph type="sldNum" sz="quarter" idx="4"/>
          </p:nvPr>
        </p:nvSpPr>
        <p:spPr/>
        <p:txBody>
          <a:bodyPr/>
          <a:lstStyle/>
          <a:p>
            <a:fld id="{43A6DCFB-163F-4561-BF28-3CD1FE47EE20}" type="slidenum">
              <a:rPr lang="de-DE" smtClean="0"/>
              <a:pPr/>
              <a:t>2</a:t>
            </a:fld>
            <a:endParaRPr lang="de-DE" dirty="0"/>
          </a:p>
        </p:txBody>
      </p:sp>
      <p:sp>
        <p:nvSpPr>
          <p:cNvPr id="7" name="Shape 2">
            <a:extLst>
              <a:ext uri="{FF2B5EF4-FFF2-40B4-BE49-F238E27FC236}">
                <a16:creationId xmlns:a16="http://schemas.microsoft.com/office/drawing/2014/main" id="{AE08837B-B0FC-4689-969E-6368EDF93EE3}"/>
              </a:ext>
            </a:extLst>
          </p:cNvPr>
          <p:cNvSpPr/>
          <p:nvPr/>
        </p:nvSpPr>
        <p:spPr>
          <a:xfrm>
            <a:off x="812721" y="4316342"/>
            <a:ext cx="10566559" cy="0"/>
          </a:xfrm>
          <a:prstGeom prst="line">
            <a:avLst/>
          </a:prstGeom>
          <a:noFill/>
          <a:ln w="6350">
            <a:solidFill>
              <a:srgbClr val="D1D5DB"/>
            </a:solidFill>
            <a:prstDash val="solid"/>
          </a:ln>
        </p:spPr>
      </p:sp>
      <p:sp>
        <p:nvSpPr>
          <p:cNvPr id="8" name="Text 3">
            <a:extLst>
              <a:ext uri="{FF2B5EF4-FFF2-40B4-BE49-F238E27FC236}">
                <a16:creationId xmlns:a16="http://schemas.microsoft.com/office/drawing/2014/main" id="{60C66E16-4654-4BCC-8ADA-11E50E8AC785}"/>
              </a:ext>
            </a:extLst>
          </p:cNvPr>
          <p:cNvSpPr/>
          <p:nvPr/>
        </p:nvSpPr>
        <p:spPr>
          <a:xfrm>
            <a:off x="812721" y="3496768"/>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01</a:t>
            </a:r>
            <a:endParaRPr lang="en-US" sz="3000" dirty="0"/>
          </a:p>
        </p:txBody>
      </p:sp>
      <p:sp>
        <p:nvSpPr>
          <p:cNvPr id="9" name="Text 4">
            <a:extLst>
              <a:ext uri="{FF2B5EF4-FFF2-40B4-BE49-F238E27FC236}">
                <a16:creationId xmlns:a16="http://schemas.microsoft.com/office/drawing/2014/main" id="{15CDA089-2BDF-405E-A1A2-07495C117106}"/>
              </a:ext>
            </a:extLst>
          </p:cNvPr>
          <p:cNvSpPr/>
          <p:nvPr/>
        </p:nvSpPr>
        <p:spPr>
          <a:xfrm>
            <a:off x="1625441" y="3496768"/>
            <a:ext cx="10046454" cy="650000"/>
          </a:xfrm>
          <a:prstGeom prst="rect">
            <a:avLst/>
          </a:prstGeom>
          <a:noFill/>
          <a:ln/>
        </p:spPr>
        <p:txBody>
          <a:bodyPr wrap="square" lIns="0" tIns="0" rIns="0" bIns="0" rtlCol="0" anchor="t">
            <a:normAutofit/>
          </a:bodyPr>
          <a:lstStyle/>
          <a:p>
            <a:pPr marL="0" indent="0" algn="l">
              <a:lnSpc>
                <a:spcPts val="2520"/>
              </a:lnSpc>
              <a:buNone/>
            </a:pPr>
            <a:r>
              <a:rPr lang="de-DE" sz="1800" dirty="0">
                <a:solidFill>
                  <a:srgbClr val="1A1A1A"/>
                </a:solidFill>
                <a:latin typeface="Arial" pitchFamily="34" charset="0"/>
                <a:ea typeface="Arial" pitchFamily="34" charset="-122"/>
                <a:cs typeface="Arial" pitchFamily="34" charset="-120"/>
              </a:rPr>
              <a:t>Von wem wurde das angezeigte Zertifikat ausgestellt? Handelt es sich um eine vertrauenswürdige Zertifizierungsstelle?</a:t>
            </a:r>
            <a:endParaRPr lang="en-US" sz="1800" dirty="0"/>
          </a:p>
        </p:txBody>
      </p:sp>
      <p:sp>
        <p:nvSpPr>
          <p:cNvPr id="10" name="Shape 5">
            <a:extLst>
              <a:ext uri="{FF2B5EF4-FFF2-40B4-BE49-F238E27FC236}">
                <a16:creationId xmlns:a16="http://schemas.microsoft.com/office/drawing/2014/main" id="{5494341D-6130-4013-A63D-19BFA10702FB}"/>
              </a:ext>
            </a:extLst>
          </p:cNvPr>
          <p:cNvSpPr/>
          <p:nvPr/>
        </p:nvSpPr>
        <p:spPr>
          <a:xfrm>
            <a:off x="812721" y="5316342"/>
            <a:ext cx="10566559" cy="0"/>
          </a:xfrm>
          <a:prstGeom prst="line">
            <a:avLst/>
          </a:prstGeom>
          <a:noFill/>
          <a:ln w="6350">
            <a:solidFill>
              <a:srgbClr val="D1D5DB"/>
            </a:solidFill>
            <a:prstDash val="solid"/>
          </a:ln>
        </p:spPr>
      </p:sp>
      <p:sp>
        <p:nvSpPr>
          <p:cNvPr id="11" name="Text 6">
            <a:extLst>
              <a:ext uri="{FF2B5EF4-FFF2-40B4-BE49-F238E27FC236}">
                <a16:creationId xmlns:a16="http://schemas.microsoft.com/office/drawing/2014/main" id="{A7A46E7B-376D-4594-829A-8267F7A9486C}"/>
              </a:ext>
            </a:extLst>
          </p:cNvPr>
          <p:cNvSpPr/>
          <p:nvPr/>
        </p:nvSpPr>
        <p:spPr>
          <a:xfrm>
            <a:off x="812721" y="4496768"/>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02</a:t>
            </a:r>
            <a:endParaRPr lang="en-US" sz="3000" dirty="0"/>
          </a:p>
        </p:txBody>
      </p:sp>
      <p:sp>
        <p:nvSpPr>
          <p:cNvPr id="12" name="Text 7">
            <a:extLst>
              <a:ext uri="{FF2B5EF4-FFF2-40B4-BE49-F238E27FC236}">
                <a16:creationId xmlns:a16="http://schemas.microsoft.com/office/drawing/2014/main" id="{7582FEE8-0BEA-4B21-913E-A515528F264B}"/>
              </a:ext>
            </a:extLst>
          </p:cNvPr>
          <p:cNvSpPr/>
          <p:nvPr/>
        </p:nvSpPr>
        <p:spPr>
          <a:xfrm>
            <a:off x="1625441" y="4496768"/>
            <a:ext cx="10046454" cy="650000"/>
          </a:xfrm>
          <a:prstGeom prst="rect">
            <a:avLst/>
          </a:prstGeom>
          <a:noFill/>
          <a:ln/>
        </p:spPr>
        <p:txBody>
          <a:bodyPr wrap="square" lIns="0" tIns="0" rIns="0" bIns="0" rtlCol="0" anchor="t">
            <a:normAutofit/>
          </a:bodyPr>
          <a:lstStyle/>
          <a:p>
            <a:pPr marL="0" indent="0" algn="l">
              <a:lnSpc>
                <a:spcPts val="2520"/>
              </a:lnSpc>
              <a:buNone/>
            </a:pPr>
            <a:r>
              <a:rPr lang="de-DE" sz="1800" dirty="0">
                <a:solidFill>
                  <a:srgbClr val="1A1A1A"/>
                </a:solidFill>
                <a:latin typeface="Arial" pitchFamily="34" charset="0"/>
                <a:ea typeface="Arial" pitchFamily="34" charset="-122"/>
                <a:cs typeface="Arial" pitchFamily="34" charset="-120"/>
              </a:rPr>
              <a:t>Was würde passieren, wenn jemand zwischen Ihrem Browser und dem Server ein gefälschtes Zertifikat einsetzt – und Sie die Warnung trotzdem wegklicken?</a:t>
            </a:r>
            <a:endParaRPr lang="en-US" sz="1800" dirty="0"/>
          </a:p>
        </p:txBody>
      </p:sp>
      <p:sp>
        <p:nvSpPr>
          <p:cNvPr id="13" name="Text 8">
            <a:extLst>
              <a:ext uri="{FF2B5EF4-FFF2-40B4-BE49-F238E27FC236}">
                <a16:creationId xmlns:a16="http://schemas.microsoft.com/office/drawing/2014/main" id="{DB9A012B-4038-455F-960E-6DA6A60BA1CD}"/>
              </a:ext>
            </a:extLst>
          </p:cNvPr>
          <p:cNvSpPr/>
          <p:nvPr/>
        </p:nvSpPr>
        <p:spPr>
          <a:xfrm>
            <a:off x="812721" y="5496768"/>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03</a:t>
            </a:r>
            <a:endParaRPr lang="en-US" sz="3000" dirty="0"/>
          </a:p>
        </p:txBody>
      </p:sp>
      <p:sp>
        <p:nvSpPr>
          <p:cNvPr id="14" name="Text 9">
            <a:extLst>
              <a:ext uri="{FF2B5EF4-FFF2-40B4-BE49-F238E27FC236}">
                <a16:creationId xmlns:a16="http://schemas.microsoft.com/office/drawing/2014/main" id="{2D224168-BFCE-4E85-A425-72B73B62690C}"/>
              </a:ext>
            </a:extLst>
          </p:cNvPr>
          <p:cNvSpPr/>
          <p:nvPr/>
        </p:nvSpPr>
        <p:spPr>
          <a:xfrm>
            <a:off x="1625441" y="5496768"/>
            <a:ext cx="10046454" cy="650000"/>
          </a:xfrm>
          <a:prstGeom prst="rect">
            <a:avLst/>
          </a:prstGeom>
          <a:noFill/>
          <a:ln/>
        </p:spPr>
        <p:txBody>
          <a:bodyPr wrap="square" lIns="0" tIns="0" rIns="0" bIns="0" rtlCol="0" anchor="t">
            <a:normAutofit/>
          </a:bodyPr>
          <a:lstStyle/>
          <a:p>
            <a:pPr marL="0" indent="0" algn="l">
              <a:lnSpc>
                <a:spcPts val="2520"/>
              </a:lnSpc>
              <a:buNone/>
            </a:pPr>
            <a:endParaRPr lang="en-US" sz="1800" dirty="0"/>
          </a:p>
        </p:txBody>
      </p:sp>
      <p:pic>
        <p:nvPicPr>
          <p:cNvPr id="2" name="Grafik 1">
            <a:extLst>
              <a:ext uri="{FF2B5EF4-FFF2-40B4-BE49-F238E27FC236}">
                <a16:creationId xmlns:a16="http://schemas.microsoft.com/office/drawing/2014/main" id="{65BA1666-49F1-42CC-9B2D-322530CAD655}"/>
              </a:ext>
            </a:extLst>
          </p:cNvPr>
          <p:cNvPicPr>
            <a:picLocks noChangeAspect="1"/>
          </p:cNvPicPr>
          <p:nvPr/>
        </p:nvPicPr>
        <p:blipFill>
          <a:blip r:embed="rId3"/>
          <a:stretch>
            <a:fillRect/>
          </a:stretch>
        </p:blipFill>
        <p:spPr>
          <a:xfrm>
            <a:off x="10026868" y="1711232"/>
            <a:ext cx="1536046" cy="1536046"/>
          </a:xfrm>
          <a:prstGeom prst="rect">
            <a:avLst/>
          </a:prstGeom>
        </p:spPr>
      </p:pic>
      <p:sp>
        <p:nvSpPr>
          <p:cNvPr id="3" name="Shape 5">
            <a:extLst>
              <a:ext uri="{FF2B5EF4-FFF2-40B4-BE49-F238E27FC236}">
                <a16:creationId xmlns:a16="http://schemas.microsoft.com/office/drawing/2014/main" id="{5494341D-6130-4013-A63D-19BFA10702FB}"/>
              </a:ext>
            </a:extLst>
          </p:cNvPr>
          <p:cNvSpPr/>
          <p:nvPr/>
        </p:nvSpPr>
        <p:spPr>
          <a:xfrm>
            <a:off x="812721" y="6316342"/>
            <a:ext cx="10566559" cy="0"/>
          </a:xfrm>
          <a:prstGeom prst="line">
            <a:avLst/>
          </a:prstGeom>
          <a:noFill/>
          <a:ln w="6350">
            <a:solidFill>
              <a:srgbClr val="D1D5DB"/>
            </a:solidFill>
            <a:prstDash val="solid"/>
          </a:ln>
        </p:spPr>
      </p:sp>
      <p:pic>
        <p:nvPicPr>
          <p:cNvPr id="17" name="Grafik 16">
            <a:extLst>
              <a:ext uri="{FF2B5EF4-FFF2-40B4-BE49-F238E27FC236}">
                <a16:creationId xmlns:a16="http://schemas.microsoft.com/office/drawing/2014/main" id="{4F425B0C-491D-4A8D-AAA2-EB10D20D4B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9086" y="1662487"/>
            <a:ext cx="1383548" cy="1660258"/>
          </a:xfrm>
          <a:prstGeom prst="rect">
            <a:avLst/>
          </a:prstGeom>
        </p:spPr>
      </p:pic>
      <p:sp>
        <p:nvSpPr>
          <p:cNvPr id="20" name="Text 7">
            <a:extLst>
              <a:ext uri="{FF2B5EF4-FFF2-40B4-BE49-F238E27FC236}">
                <a16:creationId xmlns:a16="http://schemas.microsoft.com/office/drawing/2014/main" id="{F3CD62C8-D57A-411B-BC99-4FDC0803119B}"/>
              </a:ext>
            </a:extLst>
          </p:cNvPr>
          <p:cNvSpPr/>
          <p:nvPr/>
        </p:nvSpPr>
        <p:spPr>
          <a:xfrm>
            <a:off x="1625441" y="5508979"/>
            <a:ext cx="10046454" cy="650000"/>
          </a:xfrm>
          <a:prstGeom prst="rect">
            <a:avLst/>
          </a:prstGeom>
          <a:noFill/>
          <a:ln/>
        </p:spPr>
        <p:txBody>
          <a:bodyPr wrap="square" lIns="0" tIns="0" rIns="0" bIns="0" rtlCol="0" anchor="t">
            <a:normAutofit/>
          </a:bodyPr>
          <a:lstStyle/>
          <a:p>
            <a:pPr marL="0" indent="0" algn="l">
              <a:lnSpc>
                <a:spcPts val="2520"/>
              </a:lnSpc>
              <a:buNone/>
            </a:pPr>
            <a:r>
              <a:rPr lang="de-DE" sz="1800" dirty="0">
                <a:solidFill>
                  <a:srgbClr val="1A1A1A"/>
                </a:solidFill>
                <a:latin typeface="Arial" pitchFamily="34" charset="0"/>
                <a:ea typeface="Arial" pitchFamily="34" charset="-122"/>
                <a:cs typeface="Arial" pitchFamily="34" charset="-120"/>
              </a:rPr>
              <a:t>Sie sehen eine Login-Maske für Benutzername und Passwort. Wer könnte diese Eingaben mitlesen, wenn das Zertifikat nicht vertrauenswürdig ist?</a:t>
            </a:r>
          </a:p>
        </p:txBody>
      </p:sp>
    </p:spTree>
    <p:extLst>
      <p:ext uri="{BB962C8B-B14F-4D97-AF65-F5344CB8AC3E}">
        <p14:creationId xmlns:p14="http://schemas.microsoft.com/office/powerpoint/2010/main" val="4179861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8876A94-DDF9-4DFE-88C6-4AD2D82A4CE0}"/>
              </a:ext>
            </a:extLst>
          </p:cNvPr>
          <p:cNvSpPr>
            <a:spLocks noGrp="1"/>
          </p:cNvSpPr>
          <p:nvPr>
            <p:ph type="title"/>
          </p:nvPr>
        </p:nvSpPr>
        <p:spPr/>
        <p:txBody>
          <a:bodyPr/>
          <a:lstStyle/>
          <a:p>
            <a:r>
              <a:rPr lang="de-DE" dirty="0"/>
              <a:t>Zielvorgabe: Dienste sicher über HTTPS erreichbar</a:t>
            </a:r>
          </a:p>
        </p:txBody>
      </p:sp>
      <p:sp>
        <p:nvSpPr>
          <p:cNvPr id="5" name="Datumsplatzhalter 4">
            <a:extLst>
              <a:ext uri="{FF2B5EF4-FFF2-40B4-BE49-F238E27FC236}">
                <a16:creationId xmlns:a16="http://schemas.microsoft.com/office/drawing/2014/main" id="{8552E27A-EAD4-4009-9443-85CCF2FEBEDE}"/>
              </a:ext>
            </a:extLst>
          </p:cNvPr>
          <p:cNvSpPr>
            <a:spLocks noGrp="1"/>
          </p:cNvSpPr>
          <p:nvPr>
            <p:ph type="dt" sz="half" idx="10"/>
          </p:nvPr>
        </p:nvSpPr>
        <p:spPr/>
        <p:txBody>
          <a:bodyPr/>
          <a:lstStyle/>
          <a:p>
            <a:fld id="{757CD2D1-8C96-4412-8C0C-09C7E956F080}" type="datetime1">
              <a:rPr lang="de-DE" smtClean="0"/>
              <a:t>22.09.2026</a:t>
            </a:fld>
            <a:endParaRPr lang="de-DE" dirty="0"/>
          </a:p>
        </p:txBody>
      </p:sp>
      <p:sp>
        <p:nvSpPr>
          <p:cNvPr id="6" name="Foliennummernplatzhalter 5">
            <a:extLst>
              <a:ext uri="{FF2B5EF4-FFF2-40B4-BE49-F238E27FC236}">
                <a16:creationId xmlns:a16="http://schemas.microsoft.com/office/drawing/2014/main" id="{89ECD8EA-CF76-4F3D-A5C6-7795DCE9B1D1}"/>
              </a:ext>
            </a:extLst>
          </p:cNvPr>
          <p:cNvSpPr>
            <a:spLocks noGrp="1"/>
          </p:cNvSpPr>
          <p:nvPr>
            <p:ph type="sldNum" sz="quarter" idx="4"/>
          </p:nvPr>
        </p:nvSpPr>
        <p:spPr/>
        <p:txBody>
          <a:bodyPr/>
          <a:lstStyle/>
          <a:p>
            <a:fld id="{43A6DCFB-163F-4561-BF28-3CD1FE47EE20}" type="slidenum">
              <a:rPr lang="de-DE" smtClean="0"/>
              <a:pPr/>
              <a:t>3</a:t>
            </a:fld>
            <a:endParaRPr lang="de-DE" dirty="0"/>
          </a:p>
        </p:txBody>
      </p:sp>
      <p:sp>
        <p:nvSpPr>
          <p:cNvPr id="32" name="Rounded Rectangle 31"/>
          <p:cNvSpPr/>
          <p:nvPr/>
        </p:nvSpPr>
        <p:spPr>
          <a:xfrm>
            <a:off x="2138360" y="2880360"/>
            <a:ext cx="2606040" cy="914400"/>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dirty="0">
                <a:solidFill>
                  <a:srgbClr val="FFFFFF"/>
                </a:solidFill>
                <a:latin typeface="Arial"/>
              </a:rPr>
              <a:t>Caddy Reverse Proxy</a:t>
            </a:r>
          </a:p>
          <a:p>
            <a:pPr algn="ctr"/>
            <a:r>
              <a:rPr sz="1000" b="0" dirty="0">
                <a:solidFill>
                  <a:srgbClr val="FFFFFF"/>
                </a:solidFill>
                <a:latin typeface="Arial"/>
              </a:rPr>
              <a:t>Port 443 – </a:t>
            </a:r>
            <a:r>
              <a:rPr sz="1000" b="0" dirty="0" err="1">
                <a:solidFill>
                  <a:srgbClr val="FFFFFF"/>
                </a:solidFill>
                <a:latin typeface="Arial"/>
              </a:rPr>
              <a:t>einziger</a:t>
            </a:r>
            <a:r>
              <a:rPr sz="1000" b="0" dirty="0">
                <a:solidFill>
                  <a:srgbClr val="FFFFFF"/>
                </a:solidFill>
                <a:latin typeface="Arial"/>
              </a:rPr>
              <a:t> </a:t>
            </a:r>
            <a:r>
              <a:rPr sz="1000" b="0" dirty="0" err="1">
                <a:solidFill>
                  <a:srgbClr val="FFFFFF"/>
                </a:solidFill>
                <a:latin typeface="Arial"/>
              </a:rPr>
              <a:t>offener</a:t>
            </a:r>
            <a:r>
              <a:rPr sz="1000" b="0" dirty="0">
                <a:solidFill>
                  <a:srgbClr val="FFFFFF"/>
                </a:solidFill>
                <a:latin typeface="Arial"/>
              </a:rPr>
              <a:t> Port</a:t>
            </a:r>
          </a:p>
        </p:txBody>
      </p:sp>
      <p:sp>
        <p:nvSpPr>
          <p:cNvPr id="33" name="Rounded Rectangle 32"/>
          <p:cNvSpPr/>
          <p:nvPr/>
        </p:nvSpPr>
        <p:spPr>
          <a:xfrm>
            <a:off x="5989342" y="1874519"/>
            <a:ext cx="2423160" cy="777240"/>
          </a:xfrm>
          <a:prstGeom prst="roundRect">
            <a:avLst>
              <a:gd name="adj" fmla="val 10000"/>
            </a:avLst>
          </a:prstGeom>
          <a:solidFill>
            <a:srgbClr val="F5F5F5"/>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Cockpit</a:t>
            </a:r>
          </a:p>
          <a:p>
            <a:pPr algn="ctr"/>
            <a:r>
              <a:rPr sz="1000" b="0">
                <a:solidFill>
                  <a:srgbClr val="1A1A1A"/>
                </a:solidFill>
                <a:latin typeface="Arial"/>
              </a:rPr>
              <a:t>localhost:9090</a:t>
            </a:r>
          </a:p>
        </p:txBody>
      </p:sp>
      <p:sp>
        <p:nvSpPr>
          <p:cNvPr id="34" name="Rounded Rectangle 33"/>
          <p:cNvSpPr/>
          <p:nvPr/>
        </p:nvSpPr>
        <p:spPr>
          <a:xfrm>
            <a:off x="5989342" y="2926079"/>
            <a:ext cx="2423160" cy="777240"/>
          </a:xfrm>
          <a:prstGeom prst="roundRect">
            <a:avLst>
              <a:gd name="adj" fmla="val 10000"/>
            </a:avLst>
          </a:prstGeom>
          <a:solidFill>
            <a:srgbClr val="F5F5F5"/>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Dienst A</a:t>
            </a:r>
          </a:p>
          <a:p>
            <a:pPr algn="ctr"/>
            <a:r>
              <a:rPr sz="1000" b="0">
                <a:solidFill>
                  <a:srgbClr val="1A1A1A"/>
                </a:solidFill>
                <a:latin typeface="Arial"/>
              </a:rPr>
              <a:t>localhost:8001</a:t>
            </a:r>
          </a:p>
        </p:txBody>
      </p:sp>
      <p:sp>
        <p:nvSpPr>
          <p:cNvPr id="35" name="Rounded Rectangle 34"/>
          <p:cNvSpPr/>
          <p:nvPr/>
        </p:nvSpPr>
        <p:spPr>
          <a:xfrm>
            <a:off x="5989342" y="3977639"/>
            <a:ext cx="2423160" cy="777240"/>
          </a:xfrm>
          <a:prstGeom prst="roundRect">
            <a:avLst>
              <a:gd name="adj" fmla="val 10000"/>
            </a:avLst>
          </a:prstGeom>
          <a:solidFill>
            <a:srgbClr val="F5F5F5"/>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Dienst B</a:t>
            </a:r>
          </a:p>
          <a:p>
            <a:pPr algn="ctr"/>
            <a:r>
              <a:rPr sz="1000" b="0">
                <a:solidFill>
                  <a:srgbClr val="1A1A1A"/>
                </a:solidFill>
                <a:latin typeface="Arial"/>
              </a:rPr>
              <a:t>localhost:8002 · Basic Auth</a:t>
            </a:r>
          </a:p>
        </p:txBody>
      </p:sp>
      <p:cxnSp>
        <p:nvCxnSpPr>
          <p:cNvPr id="36" name="Connector 35"/>
          <p:cNvCxnSpPr>
            <a:cxnSpLocks/>
          </p:cNvCxnSpPr>
          <p:nvPr/>
        </p:nvCxnSpPr>
        <p:spPr>
          <a:xfrm>
            <a:off x="1644360" y="3337560"/>
            <a:ext cx="468219"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329829" y="3043345"/>
            <a:ext cx="1097280" cy="219456"/>
          </a:xfrm>
          <a:prstGeom prst="rect">
            <a:avLst/>
          </a:prstGeom>
          <a:noFill/>
        </p:spPr>
        <p:txBody>
          <a:bodyPr wrap="square" lIns="0" tIns="0" rIns="0" bIns="0">
            <a:spAutoFit/>
          </a:bodyPr>
          <a:lstStyle/>
          <a:p>
            <a:pPr algn="ctr"/>
            <a:r>
              <a:rPr sz="1000" b="1" i="0" dirty="0">
                <a:solidFill>
                  <a:srgbClr val="1E2761"/>
                </a:solidFill>
                <a:latin typeface="Arial"/>
              </a:rPr>
              <a:t>HTTPS</a:t>
            </a:r>
          </a:p>
        </p:txBody>
      </p:sp>
      <p:cxnSp>
        <p:nvCxnSpPr>
          <p:cNvPr id="38" name="Connector 37"/>
          <p:cNvCxnSpPr/>
          <p:nvPr/>
        </p:nvCxnSpPr>
        <p:spPr>
          <a:xfrm flipV="1">
            <a:off x="4744400" y="2275363"/>
            <a:ext cx="1234440" cy="1074421"/>
          </a:xfrm>
          <a:prstGeom prst="line">
            <a:avLst/>
          </a:prstGeom>
          <a:ln w="1905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989342" y="1673837"/>
            <a:ext cx="2423160" cy="237744"/>
          </a:xfrm>
          <a:prstGeom prst="rect">
            <a:avLst/>
          </a:prstGeom>
          <a:noFill/>
        </p:spPr>
        <p:txBody>
          <a:bodyPr wrap="square" lIns="0" tIns="0" rIns="0" bIns="0">
            <a:spAutoFit/>
          </a:bodyPr>
          <a:lstStyle/>
          <a:p>
            <a:pPr algn="l"/>
            <a:r>
              <a:rPr sz="950" b="0" i="1" dirty="0">
                <a:solidFill>
                  <a:srgbClr val="5B6472"/>
                </a:solidFill>
                <a:latin typeface="Arial"/>
              </a:rPr>
              <a:t>cockpit.&lt;IHRE-DOMAIN&gt;</a:t>
            </a:r>
          </a:p>
        </p:txBody>
      </p:sp>
      <p:cxnSp>
        <p:nvCxnSpPr>
          <p:cNvPr id="40" name="Connector 39"/>
          <p:cNvCxnSpPr/>
          <p:nvPr/>
        </p:nvCxnSpPr>
        <p:spPr>
          <a:xfrm flipV="1">
            <a:off x="4744400" y="3314699"/>
            <a:ext cx="1234440" cy="22861"/>
          </a:xfrm>
          <a:prstGeom prst="line">
            <a:avLst/>
          </a:prstGeom>
          <a:ln w="1905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89342" y="2704376"/>
            <a:ext cx="2423160" cy="237744"/>
          </a:xfrm>
          <a:prstGeom prst="rect">
            <a:avLst/>
          </a:prstGeom>
          <a:noFill/>
        </p:spPr>
        <p:txBody>
          <a:bodyPr wrap="square" lIns="0" tIns="0" rIns="0" bIns="0">
            <a:spAutoFit/>
          </a:bodyPr>
          <a:lstStyle/>
          <a:p>
            <a:pPr algn="l"/>
            <a:r>
              <a:rPr sz="950" b="0" i="1" dirty="0" err="1">
                <a:solidFill>
                  <a:srgbClr val="5B6472"/>
                </a:solidFill>
                <a:latin typeface="Arial"/>
              </a:rPr>
              <a:t>dienst</a:t>
            </a:r>
            <a:r>
              <a:rPr sz="950" b="0" i="1" dirty="0">
                <a:solidFill>
                  <a:srgbClr val="5B6472"/>
                </a:solidFill>
                <a:latin typeface="Arial"/>
              </a:rPr>
              <a:t>-a.&lt;IHRE-DOMAIN&gt;</a:t>
            </a:r>
          </a:p>
        </p:txBody>
      </p:sp>
      <p:cxnSp>
        <p:nvCxnSpPr>
          <p:cNvPr id="42" name="Connector 41"/>
          <p:cNvCxnSpPr/>
          <p:nvPr/>
        </p:nvCxnSpPr>
        <p:spPr>
          <a:xfrm>
            <a:off x="4744400" y="3337560"/>
            <a:ext cx="1234440" cy="1028699"/>
          </a:xfrm>
          <a:prstGeom prst="line">
            <a:avLst/>
          </a:prstGeom>
          <a:ln w="1905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989342" y="3839053"/>
            <a:ext cx="2423160" cy="237744"/>
          </a:xfrm>
          <a:prstGeom prst="rect">
            <a:avLst/>
          </a:prstGeom>
          <a:noFill/>
        </p:spPr>
        <p:txBody>
          <a:bodyPr wrap="square" lIns="0" tIns="0" rIns="0" bIns="0">
            <a:spAutoFit/>
          </a:bodyPr>
          <a:lstStyle/>
          <a:p>
            <a:pPr algn="l"/>
            <a:r>
              <a:rPr sz="950" b="0" i="1" dirty="0" err="1">
                <a:solidFill>
                  <a:srgbClr val="5B6472"/>
                </a:solidFill>
                <a:latin typeface="Arial"/>
              </a:rPr>
              <a:t>dienst</a:t>
            </a:r>
            <a:r>
              <a:rPr sz="950" b="0" i="1" dirty="0">
                <a:solidFill>
                  <a:srgbClr val="5B6472"/>
                </a:solidFill>
                <a:latin typeface="Arial"/>
              </a:rPr>
              <a:t>-b.&lt;IHRE-DOMAIN&gt;</a:t>
            </a:r>
          </a:p>
        </p:txBody>
      </p:sp>
      <p:sp>
        <p:nvSpPr>
          <p:cNvPr id="21" name="Text 9">
            <a:extLst>
              <a:ext uri="{FF2B5EF4-FFF2-40B4-BE49-F238E27FC236}">
                <a16:creationId xmlns:a16="http://schemas.microsoft.com/office/drawing/2014/main" id="{1114FAF3-CE3E-4819-8674-A7A49A279B3C}"/>
              </a:ext>
            </a:extLst>
          </p:cNvPr>
          <p:cNvSpPr/>
          <p:nvPr/>
        </p:nvSpPr>
        <p:spPr>
          <a:xfrm>
            <a:off x="985923" y="4341615"/>
            <a:ext cx="5546630" cy="2386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A1A1A"/>
                </a:solidFill>
                <a:latin typeface="Arial" pitchFamily="34" charset="0"/>
                <a:ea typeface="Arial" pitchFamily="34" charset="-122"/>
                <a:cs typeface="Arial" pitchFamily="34" charset="-120"/>
              </a:rPr>
              <a:t>Ziel erreicht, wenn:</a:t>
            </a:r>
            <a:endParaRPr lang="en-US" sz="1400" dirty="0"/>
          </a:p>
        </p:txBody>
      </p:sp>
      <p:sp>
        <p:nvSpPr>
          <p:cNvPr id="22" name="Shape 10">
            <a:extLst>
              <a:ext uri="{FF2B5EF4-FFF2-40B4-BE49-F238E27FC236}">
                <a16:creationId xmlns:a16="http://schemas.microsoft.com/office/drawing/2014/main" id="{11AC712A-8D90-4C74-85BE-D16524DBA39E}"/>
              </a:ext>
            </a:extLst>
          </p:cNvPr>
          <p:cNvSpPr/>
          <p:nvPr/>
        </p:nvSpPr>
        <p:spPr>
          <a:xfrm>
            <a:off x="989098" y="4761152"/>
            <a:ext cx="349171" cy="349171"/>
          </a:xfrm>
          <a:prstGeom prst="roundRect">
            <a:avLst>
              <a:gd name="adj" fmla="val 50000"/>
            </a:avLst>
          </a:prstGeom>
          <a:solidFill>
            <a:srgbClr val="FFFFFF"/>
          </a:solidFill>
          <a:ln w="6350">
            <a:solidFill>
              <a:srgbClr val="1A1A1A"/>
            </a:solidFill>
            <a:prstDash val="solid"/>
          </a:ln>
        </p:spPr>
      </p:sp>
      <p:pic>
        <p:nvPicPr>
          <p:cNvPr id="23" name="Image 0" descr="CheckCircle">
            <a:extLst>
              <a:ext uri="{FF2B5EF4-FFF2-40B4-BE49-F238E27FC236}">
                <a16:creationId xmlns:a16="http://schemas.microsoft.com/office/drawing/2014/main" id="{29C0B409-3284-49E9-8DFE-E23818BFE29E}"/>
              </a:ext>
            </a:extLst>
          </p:cNvPr>
          <p:cNvPicPr>
            <a:picLocks noChangeAspect="1"/>
          </p:cNvPicPr>
          <p:nvPr/>
        </p:nvPicPr>
        <p:blipFill>
          <a:blip r:embed="rId2"/>
          <a:srcRect/>
          <a:stretch/>
        </p:blipFill>
        <p:spPr>
          <a:xfrm>
            <a:off x="1074743" y="4846798"/>
            <a:ext cx="177760" cy="177760"/>
          </a:xfrm>
          <a:prstGeom prst="rect">
            <a:avLst/>
          </a:prstGeom>
        </p:spPr>
      </p:pic>
      <p:sp>
        <p:nvSpPr>
          <p:cNvPr id="24" name="Text 11">
            <a:extLst>
              <a:ext uri="{FF2B5EF4-FFF2-40B4-BE49-F238E27FC236}">
                <a16:creationId xmlns:a16="http://schemas.microsoft.com/office/drawing/2014/main" id="{70295F90-794F-4989-A8C1-02E71610AF3A}"/>
              </a:ext>
            </a:extLst>
          </p:cNvPr>
          <p:cNvSpPr/>
          <p:nvPr/>
        </p:nvSpPr>
        <p:spPr>
          <a:xfrm>
            <a:off x="1493843" y="4757977"/>
            <a:ext cx="5023472"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1A1A"/>
                </a:solidFill>
                <a:latin typeface="Arial" pitchFamily="34" charset="0"/>
                <a:ea typeface="Arial" pitchFamily="34" charset="-122"/>
                <a:cs typeface="Arial" pitchFamily="34" charset="-120"/>
              </a:rPr>
              <a:t>Kein Zertifikatshinweis mehr</a:t>
            </a:r>
            <a:endParaRPr lang="en-US" sz="1300" dirty="0"/>
          </a:p>
        </p:txBody>
      </p:sp>
      <p:sp>
        <p:nvSpPr>
          <p:cNvPr id="25" name="Text 12">
            <a:extLst>
              <a:ext uri="{FF2B5EF4-FFF2-40B4-BE49-F238E27FC236}">
                <a16:creationId xmlns:a16="http://schemas.microsoft.com/office/drawing/2014/main" id="{24E425D7-B2A0-43A9-A433-DC24ABB2B815}"/>
              </a:ext>
            </a:extLst>
          </p:cNvPr>
          <p:cNvSpPr/>
          <p:nvPr/>
        </p:nvSpPr>
        <p:spPr>
          <a:xfrm>
            <a:off x="1493843" y="4994197"/>
            <a:ext cx="5023472" cy="20316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6B7280"/>
                </a:solidFill>
                <a:latin typeface="Courier New" pitchFamily="34" charset="0"/>
                <a:ea typeface="Courier New" pitchFamily="34" charset="-122"/>
                <a:cs typeface="Courier New" pitchFamily="34" charset="-120"/>
              </a:rPr>
              <a:t>Browser vertraut dem Let's-Encrypt-Zertifikat direkt</a:t>
            </a:r>
            <a:endParaRPr lang="en-US" sz="1000" dirty="0"/>
          </a:p>
        </p:txBody>
      </p:sp>
      <p:sp>
        <p:nvSpPr>
          <p:cNvPr id="26" name="Shape 13">
            <a:extLst>
              <a:ext uri="{FF2B5EF4-FFF2-40B4-BE49-F238E27FC236}">
                <a16:creationId xmlns:a16="http://schemas.microsoft.com/office/drawing/2014/main" id="{F81898E2-B8F9-4032-85B6-4399339A4281}"/>
              </a:ext>
            </a:extLst>
          </p:cNvPr>
          <p:cNvSpPr/>
          <p:nvPr/>
        </p:nvSpPr>
        <p:spPr>
          <a:xfrm>
            <a:off x="989098" y="5378253"/>
            <a:ext cx="349171" cy="349171"/>
          </a:xfrm>
          <a:prstGeom prst="roundRect">
            <a:avLst>
              <a:gd name="adj" fmla="val 50000"/>
            </a:avLst>
          </a:prstGeom>
          <a:solidFill>
            <a:srgbClr val="FFFFFF"/>
          </a:solidFill>
          <a:ln w="6350">
            <a:solidFill>
              <a:srgbClr val="1A1A1A"/>
            </a:solidFill>
            <a:prstDash val="solid"/>
          </a:ln>
        </p:spPr>
      </p:sp>
      <p:pic>
        <p:nvPicPr>
          <p:cNvPr id="29" name="Image 1" descr="CheckCircle">
            <a:extLst>
              <a:ext uri="{FF2B5EF4-FFF2-40B4-BE49-F238E27FC236}">
                <a16:creationId xmlns:a16="http://schemas.microsoft.com/office/drawing/2014/main" id="{53BDCC22-837A-48C3-B90C-4558915E32E9}"/>
              </a:ext>
            </a:extLst>
          </p:cNvPr>
          <p:cNvPicPr>
            <a:picLocks noChangeAspect="1"/>
          </p:cNvPicPr>
          <p:nvPr/>
        </p:nvPicPr>
        <p:blipFill>
          <a:blip r:embed="rId2"/>
          <a:srcRect/>
          <a:stretch/>
        </p:blipFill>
        <p:spPr>
          <a:xfrm>
            <a:off x="1074743" y="5463899"/>
            <a:ext cx="177760" cy="177760"/>
          </a:xfrm>
          <a:prstGeom prst="rect">
            <a:avLst/>
          </a:prstGeom>
        </p:spPr>
      </p:pic>
      <p:sp>
        <p:nvSpPr>
          <p:cNvPr id="44" name="Text 14">
            <a:extLst>
              <a:ext uri="{FF2B5EF4-FFF2-40B4-BE49-F238E27FC236}">
                <a16:creationId xmlns:a16="http://schemas.microsoft.com/office/drawing/2014/main" id="{8F397F52-50E8-40FC-90A0-9AFBD738B011}"/>
              </a:ext>
            </a:extLst>
          </p:cNvPr>
          <p:cNvSpPr/>
          <p:nvPr/>
        </p:nvSpPr>
        <p:spPr>
          <a:xfrm>
            <a:off x="1493843" y="5375078"/>
            <a:ext cx="5023472"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1A1A"/>
                </a:solidFill>
                <a:latin typeface="Arial" pitchFamily="34" charset="0"/>
                <a:ea typeface="Arial" pitchFamily="34" charset="-122"/>
                <a:cs typeface="Arial" pitchFamily="34" charset="-120"/>
              </a:rPr>
              <a:t>Alle drei Dienste über HTTPS</a:t>
            </a:r>
            <a:endParaRPr lang="en-US" sz="1300" dirty="0"/>
          </a:p>
        </p:txBody>
      </p:sp>
      <p:sp>
        <p:nvSpPr>
          <p:cNvPr id="45" name="Text 15">
            <a:extLst>
              <a:ext uri="{FF2B5EF4-FFF2-40B4-BE49-F238E27FC236}">
                <a16:creationId xmlns:a16="http://schemas.microsoft.com/office/drawing/2014/main" id="{CEC29FA4-E584-4F2A-BEA7-F67796373F13}"/>
              </a:ext>
            </a:extLst>
          </p:cNvPr>
          <p:cNvSpPr/>
          <p:nvPr/>
        </p:nvSpPr>
        <p:spPr>
          <a:xfrm>
            <a:off x="1493843" y="5611299"/>
            <a:ext cx="5023472" cy="20316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6B7280"/>
                </a:solidFill>
                <a:latin typeface="Arial" pitchFamily="34" charset="0"/>
                <a:ea typeface="Arial" pitchFamily="34" charset="-122"/>
                <a:cs typeface="Arial" pitchFamily="34" charset="-120"/>
              </a:rPr>
              <a:t>cockpit. / dienst-a. / dienst-b.&lt;IHRE-DOMAIN&gt;</a:t>
            </a:r>
            <a:endParaRPr lang="en-US" sz="1000" dirty="0"/>
          </a:p>
        </p:txBody>
      </p:sp>
      <p:sp>
        <p:nvSpPr>
          <p:cNvPr id="46" name="Shape 16">
            <a:extLst>
              <a:ext uri="{FF2B5EF4-FFF2-40B4-BE49-F238E27FC236}">
                <a16:creationId xmlns:a16="http://schemas.microsoft.com/office/drawing/2014/main" id="{D89DFCBD-A203-4B91-9EC5-D7CDB8297C63}"/>
              </a:ext>
            </a:extLst>
          </p:cNvPr>
          <p:cNvSpPr/>
          <p:nvPr/>
        </p:nvSpPr>
        <p:spPr>
          <a:xfrm>
            <a:off x="989098" y="5995354"/>
            <a:ext cx="349171" cy="349171"/>
          </a:xfrm>
          <a:prstGeom prst="roundRect">
            <a:avLst>
              <a:gd name="adj" fmla="val 50000"/>
            </a:avLst>
          </a:prstGeom>
          <a:solidFill>
            <a:srgbClr val="FFFFFF"/>
          </a:solidFill>
          <a:ln w="6350">
            <a:solidFill>
              <a:srgbClr val="1A1A1A"/>
            </a:solidFill>
            <a:prstDash val="solid"/>
          </a:ln>
        </p:spPr>
      </p:sp>
      <p:pic>
        <p:nvPicPr>
          <p:cNvPr id="47" name="Image 2" descr="CheckCircle">
            <a:extLst>
              <a:ext uri="{FF2B5EF4-FFF2-40B4-BE49-F238E27FC236}">
                <a16:creationId xmlns:a16="http://schemas.microsoft.com/office/drawing/2014/main" id="{4B659E73-2762-4EBA-B435-A9EB942E4A88}"/>
              </a:ext>
            </a:extLst>
          </p:cNvPr>
          <p:cNvPicPr>
            <a:picLocks noChangeAspect="1"/>
          </p:cNvPicPr>
          <p:nvPr/>
        </p:nvPicPr>
        <p:blipFill>
          <a:blip r:embed="rId2"/>
          <a:srcRect/>
          <a:stretch/>
        </p:blipFill>
        <p:spPr>
          <a:xfrm>
            <a:off x="1074743" y="6081000"/>
            <a:ext cx="177760" cy="177760"/>
          </a:xfrm>
          <a:prstGeom prst="rect">
            <a:avLst/>
          </a:prstGeom>
        </p:spPr>
      </p:pic>
      <p:sp>
        <p:nvSpPr>
          <p:cNvPr id="48" name="Text 17">
            <a:extLst>
              <a:ext uri="{FF2B5EF4-FFF2-40B4-BE49-F238E27FC236}">
                <a16:creationId xmlns:a16="http://schemas.microsoft.com/office/drawing/2014/main" id="{9087C244-55BD-4CA7-8480-17CFC737853E}"/>
              </a:ext>
            </a:extLst>
          </p:cNvPr>
          <p:cNvSpPr/>
          <p:nvPr/>
        </p:nvSpPr>
        <p:spPr>
          <a:xfrm>
            <a:off x="1493843" y="5992179"/>
            <a:ext cx="5023472"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1A1A"/>
                </a:solidFill>
                <a:latin typeface="Arial" pitchFamily="34" charset="0"/>
                <a:ea typeface="Arial" pitchFamily="34" charset="-122"/>
                <a:cs typeface="Arial" pitchFamily="34" charset="-120"/>
              </a:rPr>
              <a:t>Minimale Angriffsfläche</a:t>
            </a:r>
            <a:endParaRPr lang="en-US" sz="1300" dirty="0"/>
          </a:p>
        </p:txBody>
      </p:sp>
      <p:sp>
        <p:nvSpPr>
          <p:cNvPr id="49" name="Text 18">
            <a:extLst>
              <a:ext uri="{FF2B5EF4-FFF2-40B4-BE49-F238E27FC236}">
                <a16:creationId xmlns:a16="http://schemas.microsoft.com/office/drawing/2014/main" id="{7B5DF3C5-1AB8-470D-BA56-7C010112BE1C}"/>
              </a:ext>
            </a:extLst>
          </p:cNvPr>
          <p:cNvSpPr/>
          <p:nvPr/>
        </p:nvSpPr>
        <p:spPr>
          <a:xfrm>
            <a:off x="1493843" y="6228399"/>
            <a:ext cx="5023472" cy="20316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6B7280"/>
                </a:solidFill>
                <a:latin typeface="Courier New" pitchFamily="34" charset="0"/>
                <a:ea typeface="Courier New" pitchFamily="34" charset="-122"/>
                <a:cs typeface="Courier New" pitchFamily="34" charset="-120"/>
              </a:rPr>
              <a:t>Nur Port 443 (und 80 für ACME) von außen offen</a:t>
            </a:r>
            <a:endParaRPr lang="en-US" sz="1000" dirty="0"/>
          </a:p>
        </p:txBody>
      </p:sp>
      <p:sp>
        <p:nvSpPr>
          <p:cNvPr id="50" name="Shape 2">
            <a:extLst>
              <a:ext uri="{FF2B5EF4-FFF2-40B4-BE49-F238E27FC236}">
                <a16:creationId xmlns:a16="http://schemas.microsoft.com/office/drawing/2014/main" id="{A7BB55EB-4254-433E-B336-713E7D3464CB}"/>
              </a:ext>
            </a:extLst>
          </p:cNvPr>
          <p:cNvSpPr/>
          <p:nvPr/>
        </p:nvSpPr>
        <p:spPr>
          <a:xfrm>
            <a:off x="8548485" y="1739753"/>
            <a:ext cx="3553635" cy="2002911"/>
          </a:xfrm>
          <a:prstGeom prst="roundRect">
            <a:avLst>
              <a:gd name="adj" fmla="val 4196"/>
            </a:avLst>
          </a:prstGeom>
          <a:solidFill>
            <a:srgbClr val="F5F5F5"/>
          </a:solidFill>
          <a:ln w="6350">
            <a:solidFill>
              <a:srgbClr val="D1D5DB"/>
            </a:solidFill>
            <a:prstDash val="solid"/>
          </a:ln>
        </p:spPr>
      </p:sp>
      <p:sp>
        <p:nvSpPr>
          <p:cNvPr id="51" name="Text 3">
            <a:extLst>
              <a:ext uri="{FF2B5EF4-FFF2-40B4-BE49-F238E27FC236}">
                <a16:creationId xmlns:a16="http://schemas.microsoft.com/office/drawing/2014/main" id="{E863D0F8-7CD7-42D4-A917-596AEF9B92B8}"/>
              </a:ext>
            </a:extLst>
          </p:cNvPr>
          <p:cNvSpPr/>
          <p:nvPr/>
        </p:nvSpPr>
        <p:spPr>
          <a:xfrm>
            <a:off x="8806890" y="1927516"/>
            <a:ext cx="3164393" cy="254000"/>
          </a:xfrm>
          <a:prstGeom prst="rect">
            <a:avLst/>
          </a:prstGeom>
          <a:noFill/>
          <a:ln/>
        </p:spPr>
        <p:txBody>
          <a:bodyPr wrap="square" lIns="0" tIns="0" rIns="0" bIns="0" rtlCol="0" anchor="t">
            <a:normAutofit/>
          </a:bodyPr>
          <a:lstStyle/>
          <a:p>
            <a:pPr marL="0" indent="0" algn="l">
              <a:lnSpc>
                <a:spcPts val="1800"/>
              </a:lnSpc>
              <a:buNone/>
            </a:pPr>
            <a:r>
              <a:rPr lang="en-US" sz="1000" dirty="0">
                <a:solidFill>
                  <a:srgbClr val="1A1A1A"/>
                </a:solidFill>
                <a:latin typeface="Courier New" pitchFamily="34" charset="0"/>
                <a:ea typeface="Courier New" pitchFamily="34" charset="-122"/>
                <a:cs typeface="Courier New" pitchFamily="34" charset="-120"/>
              </a:rPr>
              <a:t>$ curl -I https://cockpit.&lt;IHRE-DOMAIN&gt;</a:t>
            </a:r>
            <a:endParaRPr lang="en-US" sz="1000" dirty="0"/>
          </a:p>
        </p:txBody>
      </p:sp>
      <p:sp>
        <p:nvSpPr>
          <p:cNvPr id="52" name="Text 4">
            <a:extLst>
              <a:ext uri="{FF2B5EF4-FFF2-40B4-BE49-F238E27FC236}">
                <a16:creationId xmlns:a16="http://schemas.microsoft.com/office/drawing/2014/main" id="{EE5EA43F-AF5F-404C-8EC3-30CD7871DE14}"/>
              </a:ext>
            </a:extLst>
          </p:cNvPr>
          <p:cNvSpPr/>
          <p:nvPr/>
        </p:nvSpPr>
        <p:spPr>
          <a:xfrm>
            <a:off x="8806890" y="2219576"/>
            <a:ext cx="820586" cy="254000"/>
          </a:xfrm>
          <a:prstGeom prst="rect">
            <a:avLst/>
          </a:prstGeom>
          <a:noFill/>
          <a:ln/>
        </p:spPr>
        <p:txBody>
          <a:bodyPr wrap="square" lIns="0" tIns="0" rIns="0" bIns="0" rtlCol="0" anchor="t">
            <a:normAutofit/>
          </a:bodyPr>
          <a:lstStyle/>
          <a:p>
            <a:pPr marL="0" indent="0" algn="l">
              <a:lnSpc>
                <a:spcPts val="1800"/>
              </a:lnSpc>
              <a:buNone/>
            </a:pPr>
            <a:r>
              <a:rPr lang="en-US" sz="1000" dirty="0">
                <a:solidFill>
                  <a:srgbClr val="1A1A1A"/>
                </a:solidFill>
                <a:latin typeface="Courier New" pitchFamily="34" charset="0"/>
                <a:ea typeface="Courier New" pitchFamily="34" charset="-122"/>
                <a:cs typeface="Courier New" pitchFamily="34" charset="-120"/>
              </a:rPr>
              <a:t>HTTP/2 200</a:t>
            </a:r>
            <a:endParaRPr lang="en-US" sz="1000" dirty="0"/>
          </a:p>
        </p:txBody>
      </p:sp>
      <p:sp>
        <p:nvSpPr>
          <p:cNvPr id="53" name="Text 5">
            <a:extLst>
              <a:ext uri="{FF2B5EF4-FFF2-40B4-BE49-F238E27FC236}">
                <a16:creationId xmlns:a16="http://schemas.microsoft.com/office/drawing/2014/main" id="{79A4DC1E-2BB3-445C-B1DD-C8C24B58D896}"/>
              </a:ext>
            </a:extLst>
          </p:cNvPr>
          <p:cNvSpPr/>
          <p:nvPr/>
        </p:nvSpPr>
        <p:spPr>
          <a:xfrm>
            <a:off x="8806890" y="2511637"/>
            <a:ext cx="1104365" cy="254000"/>
          </a:xfrm>
          <a:prstGeom prst="rect">
            <a:avLst/>
          </a:prstGeom>
          <a:noFill/>
          <a:ln/>
        </p:spPr>
        <p:txBody>
          <a:bodyPr wrap="square" lIns="0" tIns="0" rIns="0" bIns="0" rtlCol="0" anchor="t">
            <a:normAutofit/>
          </a:bodyPr>
          <a:lstStyle/>
          <a:p>
            <a:pPr marL="0" indent="0" algn="l">
              <a:lnSpc>
                <a:spcPts val="1800"/>
              </a:lnSpc>
              <a:buNone/>
            </a:pPr>
            <a:r>
              <a:rPr lang="en-US" sz="1000" dirty="0">
                <a:solidFill>
                  <a:srgbClr val="1A1A1A"/>
                </a:solidFill>
                <a:latin typeface="Courier New" pitchFamily="34" charset="0"/>
                <a:ea typeface="Courier New" pitchFamily="34" charset="-122"/>
                <a:cs typeface="Courier New" pitchFamily="34" charset="-120"/>
              </a:rPr>
              <a:t>server: caddy</a:t>
            </a:r>
            <a:endParaRPr lang="en-US" sz="1000" dirty="0"/>
          </a:p>
        </p:txBody>
      </p:sp>
      <p:sp>
        <p:nvSpPr>
          <p:cNvPr id="54" name="Text 6">
            <a:extLst>
              <a:ext uri="{FF2B5EF4-FFF2-40B4-BE49-F238E27FC236}">
                <a16:creationId xmlns:a16="http://schemas.microsoft.com/office/drawing/2014/main" id="{B8194AB6-C611-4B81-A202-63DC7C6E8CC8}"/>
              </a:ext>
            </a:extLst>
          </p:cNvPr>
          <p:cNvSpPr/>
          <p:nvPr/>
        </p:nvSpPr>
        <p:spPr>
          <a:xfrm>
            <a:off x="8806890" y="2803697"/>
            <a:ext cx="3574296" cy="254000"/>
          </a:xfrm>
          <a:prstGeom prst="rect">
            <a:avLst/>
          </a:prstGeom>
          <a:noFill/>
          <a:ln/>
        </p:spPr>
        <p:txBody>
          <a:bodyPr wrap="square" lIns="0" tIns="0" rIns="0" bIns="0" rtlCol="0" anchor="t">
            <a:normAutofit/>
          </a:bodyPr>
          <a:lstStyle/>
          <a:p>
            <a:pPr marL="0" indent="0" algn="l">
              <a:lnSpc>
                <a:spcPts val="1800"/>
              </a:lnSpc>
              <a:buNone/>
            </a:pPr>
            <a:r>
              <a:rPr lang="en-US" sz="1000" dirty="0">
                <a:solidFill>
                  <a:srgbClr val="1A1A1A"/>
                </a:solidFill>
                <a:latin typeface="Courier New" pitchFamily="34" charset="0"/>
                <a:ea typeface="Courier New" pitchFamily="34" charset="-122"/>
                <a:cs typeface="Courier New" pitchFamily="34" charset="-120"/>
              </a:rPr>
              <a:t>strict-transport-security: max-age=...</a:t>
            </a:r>
            <a:endParaRPr lang="en-US" sz="1000" dirty="0"/>
          </a:p>
        </p:txBody>
      </p:sp>
      <p:sp>
        <p:nvSpPr>
          <p:cNvPr id="55" name="Text 7">
            <a:extLst>
              <a:ext uri="{FF2B5EF4-FFF2-40B4-BE49-F238E27FC236}">
                <a16:creationId xmlns:a16="http://schemas.microsoft.com/office/drawing/2014/main" id="{086F7CC9-C822-4419-A0A1-4680B8AE6C36}"/>
              </a:ext>
            </a:extLst>
          </p:cNvPr>
          <p:cNvSpPr/>
          <p:nvPr/>
        </p:nvSpPr>
        <p:spPr>
          <a:xfrm>
            <a:off x="8806890" y="3095758"/>
            <a:ext cx="3164393" cy="254000"/>
          </a:xfrm>
          <a:prstGeom prst="rect">
            <a:avLst/>
          </a:prstGeom>
          <a:noFill/>
          <a:ln/>
        </p:spPr>
        <p:txBody>
          <a:bodyPr wrap="square" lIns="0" tIns="0" rIns="0" bIns="0" rtlCol="0" anchor="t">
            <a:normAutofit/>
          </a:bodyPr>
          <a:lstStyle/>
          <a:p>
            <a:pPr marL="0" indent="0" algn="l">
              <a:lnSpc>
                <a:spcPts val="1800"/>
              </a:lnSpc>
              <a:buNone/>
            </a:pPr>
            <a:r>
              <a:rPr lang="en-US" sz="1000" dirty="0">
                <a:solidFill>
                  <a:srgbClr val="1A1A1A"/>
                </a:solidFill>
                <a:latin typeface="Courier New" pitchFamily="34" charset="0"/>
                <a:ea typeface="Courier New" pitchFamily="34" charset="-122"/>
                <a:cs typeface="Courier New" pitchFamily="34" charset="-120"/>
              </a:rPr>
              <a:t>Zertifikat: Let's Encrypt (SHA256:...)</a:t>
            </a:r>
            <a:endParaRPr lang="en-US" sz="1000" dirty="0"/>
          </a:p>
        </p:txBody>
      </p:sp>
      <p:sp>
        <p:nvSpPr>
          <p:cNvPr id="56" name="Text 8">
            <a:extLst>
              <a:ext uri="{FF2B5EF4-FFF2-40B4-BE49-F238E27FC236}">
                <a16:creationId xmlns:a16="http://schemas.microsoft.com/office/drawing/2014/main" id="{C9685715-5DDB-40EA-8B83-8BFE9102D87E}"/>
              </a:ext>
            </a:extLst>
          </p:cNvPr>
          <p:cNvSpPr/>
          <p:nvPr/>
        </p:nvSpPr>
        <p:spPr>
          <a:xfrm>
            <a:off x="8806890" y="3387818"/>
            <a:ext cx="2175257" cy="254000"/>
          </a:xfrm>
          <a:prstGeom prst="rect">
            <a:avLst/>
          </a:prstGeom>
          <a:noFill/>
          <a:ln/>
        </p:spPr>
        <p:txBody>
          <a:bodyPr wrap="square" lIns="0" tIns="0" rIns="0" bIns="0" rtlCol="0" anchor="t">
            <a:normAutofit/>
          </a:bodyPr>
          <a:lstStyle/>
          <a:p>
            <a:pPr marL="0" indent="0" algn="l">
              <a:lnSpc>
                <a:spcPts val="1800"/>
              </a:lnSpc>
              <a:buNone/>
            </a:pPr>
            <a:r>
              <a:rPr lang="en-US" sz="1000" b="1" dirty="0">
                <a:solidFill>
                  <a:srgbClr val="1A1A1A"/>
                </a:solidFill>
                <a:latin typeface="Courier New" pitchFamily="34" charset="0"/>
                <a:ea typeface="Courier New" pitchFamily="34" charset="-122"/>
                <a:cs typeface="Courier New" pitchFamily="34" charset="-120"/>
              </a:rPr>
              <a:t>gueltig bis: +90 Tage</a:t>
            </a:r>
            <a:endParaRPr lang="en-US" sz="1000" dirty="0"/>
          </a:p>
        </p:txBody>
      </p:sp>
      <p:grpSp>
        <p:nvGrpSpPr>
          <p:cNvPr id="57" name="Gruppieren 56">
            <a:extLst>
              <a:ext uri="{FF2B5EF4-FFF2-40B4-BE49-F238E27FC236}">
                <a16:creationId xmlns:a16="http://schemas.microsoft.com/office/drawing/2014/main" id="{BD0C9F41-076D-42D9-8246-8406ADBBCD4E}"/>
              </a:ext>
            </a:extLst>
          </p:cNvPr>
          <p:cNvGrpSpPr/>
          <p:nvPr/>
        </p:nvGrpSpPr>
        <p:grpSpPr>
          <a:xfrm>
            <a:off x="492067" y="2792493"/>
            <a:ext cx="1351659" cy="1017731"/>
            <a:chOff x="1277241" y="1717910"/>
            <a:chExt cx="1351659" cy="1017731"/>
          </a:xfrm>
        </p:grpSpPr>
        <p:pic>
          <p:nvPicPr>
            <p:cNvPr id="58" name="Grafik 57">
              <a:extLst>
                <a:ext uri="{FF2B5EF4-FFF2-40B4-BE49-F238E27FC236}">
                  <a16:creationId xmlns:a16="http://schemas.microsoft.com/office/drawing/2014/main" id="{DF31A487-DFBC-477A-B3E4-7D124DDF20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1509841" y="1717910"/>
              <a:ext cx="847584" cy="1017731"/>
            </a:xfrm>
            <a:prstGeom prst="rect">
              <a:avLst/>
            </a:prstGeom>
          </p:spPr>
        </p:pic>
        <p:sp>
          <p:nvSpPr>
            <p:cNvPr id="59" name="Text 9">
              <a:extLst>
                <a:ext uri="{FF2B5EF4-FFF2-40B4-BE49-F238E27FC236}">
                  <a16:creationId xmlns:a16="http://schemas.microsoft.com/office/drawing/2014/main" id="{63E311FE-87E9-4F46-9EA9-CAC1C93B669B}"/>
                </a:ext>
              </a:extLst>
            </p:cNvPr>
            <p:cNvSpPr txBox="1"/>
            <p:nvPr/>
          </p:nvSpPr>
          <p:spPr>
            <a:xfrm>
              <a:off x="1277241" y="182226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CLIENT</a:t>
              </a:r>
              <a:endParaRPr lang="en-US" sz="1300" dirty="0">
                <a:solidFill>
                  <a:srgbClr val="0061AF"/>
                </a:solidFill>
              </a:endParaRPr>
            </a:p>
          </p:txBody>
        </p:sp>
      </p:grpSp>
      <p:grpSp>
        <p:nvGrpSpPr>
          <p:cNvPr id="60" name="Gruppieren 59">
            <a:extLst>
              <a:ext uri="{FF2B5EF4-FFF2-40B4-BE49-F238E27FC236}">
                <a16:creationId xmlns:a16="http://schemas.microsoft.com/office/drawing/2014/main" id="{E3D05772-2A79-44E3-8BA9-4BA93265710C}"/>
              </a:ext>
            </a:extLst>
          </p:cNvPr>
          <p:cNvGrpSpPr/>
          <p:nvPr/>
        </p:nvGrpSpPr>
        <p:grpSpPr>
          <a:xfrm>
            <a:off x="2427109" y="1595358"/>
            <a:ext cx="1351659" cy="985018"/>
            <a:chOff x="9848849" y="1767865"/>
            <a:chExt cx="1351659" cy="985018"/>
          </a:xfrm>
        </p:grpSpPr>
        <p:sp>
          <p:nvSpPr>
            <p:cNvPr id="61" name="Rechteck 60">
              <a:extLst>
                <a:ext uri="{FF2B5EF4-FFF2-40B4-BE49-F238E27FC236}">
                  <a16:creationId xmlns:a16="http://schemas.microsoft.com/office/drawing/2014/main" id="{CA6EB264-C0BA-46C4-AC70-DDD04008783B}"/>
                </a:ext>
              </a:extLst>
            </p:cNvPr>
            <p:cNvSpPr/>
            <p:nvPr/>
          </p:nvSpPr>
          <p:spPr>
            <a:xfrm>
              <a:off x="10160000" y="1767865"/>
              <a:ext cx="729358" cy="985018"/>
            </a:xfrm>
            <a:prstGeom prst="rect">
              <a:avLst/>
            </a:prstGeom>
            <a:solidFill>
              <a:srgbClr val="E7E7E9"/>
            </a:solidFill>
            <a:ln w="47625">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62" name="Gerader Verbinder 61">
              <a:extLst>
                <a:ext uri="{FF2B5EF4-FFF2-40B4-BE49-F238E27FC236}">
                  <a16:creationId xmlns:a16="http://schemas.microsoft.com/office/drawing/2014/main" id="{8D0933F7-EAC4-47FE-B330-7D8267716464}"/>
                </a:ext>
              </a:extLst>
            </p:cNvPr>
            <p:cNvCxnSpPr>
              <a:cxnSpLocks/>
            </p:cNvCxnSpPr>
            <p:nvPr/>
          </p:nvCxnSpPr>
          <p:spPr>
            <a:xfrm>
              <a:off x="10274154" y="2341045"/>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A5873910-0D9F-4B87-B73E-5D80DF9AF71D}"/>
                </a:ext>
              </a:extLst>
            </p:cNvPr>
            <p:cNvCxnSpPr>
              <a:cxnSpLocks/>
            </p:cNvCxnSpPr>
            <p:nvPr/>
          </p:nvCxnSpPr>
          <p:spPr>
            <a:xfrm>
              <a:off x="10274154" y="2441810"/>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F65E0B38-28DB-4565-AD84-38413A0D7874}"/>
                </a:ext>
              </a:extLst>
            </p:cNvPr>
            <p:cNvCxnSpPr>
              <a:cxnSpLocks/>
            </p:cNvCxnSpPr>
            <p:nvPr/>
          </p:nvCxnSpPr>
          <p:spPr>
            <a:xfrm>
              <a:off x="10274154" y="2567286"/>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sp>
          <p:nvSpPr>
            <p:cNvPr id="65" name="Ellipse 64">
              <a:extLst>
                <a:ext uri="{FF2B5EF4-FFF2-40B4-BE49-F238E27FC236}">
                  <a16:creationId xmlns:a16="http://schemas.microsoft.com/office/drawing/2014/main" id="{66F50FE2-91FF-45B1-BF5B-95B224F5FFBE}"/>
                </a:ext>
              </a:extLst>
            </p:cNvPr>
            <p:cNvSpPr/>
            <p:nvPr/>
          </p:nvSpPr>
          <p:spPr>
            <a:xfrm>
              <a:off x="10553846" y="1942465"/>
              <a:ext cx="162565" cy="162000"/>
            </a:xfrm>
            <a:prstGeom prst="ellipse">
              <a:avLst/>
            </a:prstGeom>
            <a:solidFill>
              <a:srgbClr val="E7E7E9"/>
            </a:solidFill>
            <a:ln w="38100">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Text 9">
              <a:extLst>
                <a:ext uri="{FF2B5EF4-FFF2-40B4-BE49-F238E27FC236}">
                  <a16:creationId xmlns:a16="http://schemas.microsoft.com/office/drawing/2014/main" id="{C80E50A8-B92A-46D2-8FB2-73FFD230B848}"/>
                </a:ext>
              </a:extLst>
            </p:cNvPr>
            <p:cNvSpPr txBox="1"/>
            <p:nvPr/>
          </p:nvSpPr>
          <p:spPr>
            <a:xfrm>
              <a:off x="9848849" y="200003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Server</a:t>
              </a:r>
              <a:endParaRPr lang="en-US" sz="1300" dirty="0">
                <a:solidFill>
                  <a:srgbClr val="0061AF"/>
                </a:solidFill>
              </a:endParaRPr>
            </a:p>
          </p:txBody>
        </p:sp>
      </p:grpSp>
    </p:spTree>
    <p:extLst>
      <p:ext uri="{BB962C8B-B14F-4D97-AF65-F5344CB8AC3E}">
        <p14:creationId xmlns:p14="http://schemas.microsoft.com/office/powerpoint/2010/main" val="2063739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3955" y="331336"/>
            <a:ext cx="10953313" cy="1143000"/>
          </a:xfrm>
        </p:spPr>
        <p:txBody>
          <a:bodyPr/>
          <a:lstStyle/>
          <a:p>
            <a:r>
              <a:rPr lang="en-US" sz="2000" b="1" dirty="0" err="1">
                <a:solidFill>
                  <a:srgbClr val="1E2761"/>
                </a:solidFill>
                <a:latin typeface="Cambria" pitchFamily="34" charset="0"/>
                <a:ea typeface="Cambria" pitchFamily="34" charset="-122"/>
                <a:cs typeface="Cambria" pitchFamily="34" charset="-120"/>
              </a:rPr>
              <a:t>Architekturprinzip: Ein Reverse Proxy vor drei Diensten</a:t>
            </a:r>
            <a:br>
              <a:rPr lang="en-US" sz="2000" dirty="0"/>
            </a:br>
            <a:endParaRPr lang="de-DE" sz="1998" dirty="0"/>
          </a:p>
        </p:txBody>
      </p:sp>
      <p:sp>
        <p:nvSpPr>
          <p:cNvPr id="5" name="Foliennummernplatzhalter 4"/>
          <p:cNvSpPr>
            <a:spLocks noGrp="1"/>
          </p:cNvSpPr>
          <p:nvPr>
            <p:ph type="sldNum" sz="quarter" idx="4"/>
          </p:nvPr>
        </p:nvSpPr>
        <p:spPr/>
        <p:txBody>
          <a:bodyPr/>
          <a:lstStyle/>
          <a:p>
            <a:fld id="{43A6DCFB-163F-4561-BF28-3CD1FE47EE20}" type="slidenum">
              <a:rPr lang="de-DE" smtClean="0"/>
              <a:pPr/>
              <a:t>4</a:t>
            </a:fld>
            <a:endParaRPr lang="de-DE" dirty="0"/>
          </a:p>
        </p:txBody>
      </p:sp>
      <p:sp>
        <p:nvSpPr>
          <p:cNvPr id="9" name="Text 10">
            <a:extLst>
              <a:ext uri="{FF2B5EF4-FFF2-40B4-BE49-F238E27FC236}">
                <a16:creationId xmlns:a16="http://schemas.microsoft.com/office/drawing/2014/main" id="{C3A1267F-9880-4251-A3FE-5CC854BEF5FD}"/>
              </a:ext>
            </a:extLst>
          </p:cNvPr>
          <p:cNvSpPr txBox="1"/>
          <p:nvPr/>
        </p:nvSpPr>
        <p:spPr>
          <a:xfrm>
            <a:off x="2479637" y="2188645"/>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HTTPS-Anfrage an Port 443 (Client → Caddy)</a:t>
            </a:r>
            <a:endParaRPr lang="en-US" sz="1200" dirty="0"/>
          </a:p>
        </p:txBody>
      </p:sp>
      <p:sp>
        <p:nvSpPr>
          <p:cNvPr id="10" name="Shape 11">
            <a:extLst>
              <a:ext uri="{FF2B5EF4-FFF2-40B4-BE49-F238E27FC236}">
                <a16:creationId xmlns:a16="http://schemas.microsoft.com/office/drawing/2014/main" id="{C1B4F580-7AA8-4D0C-916F-CE1EE2DF2438}"/>
              </a:ext>
            </a:extLst>
          </p:cNvPr>
          <p:cNvSpPr/>
          <p:nvPr/>
        </p:nvSpPr>
        <p:spPr>
          <a:xfrm>
            <a:off x="2479637" y="2499541"/>
            <a:ext cx="7253935" cy="0"/>
          </a:xfrm>
          <a:prstGeom prst="line">
            <a:avLst/>
          </a:prstGeom>
          <a:noFill/>
          <a:ln w="22225">
            <a:solidFill>
              <a:srgbClr val="1E2761"/>
            </a:solidFill>
            <a:prstDash val="solid"/>
            <a:tailEnd type="triangle"/>
          </a:ln>
        </p:spPr>
      </p:sp>
      <p:sp>
        <p:nvSpPr>
          <p:cNvPr id="11" name="Text 12">
            <a:extLst>
              <a:ext uri="{FF2B5EF4-FFF2-40B4-BE49-F238E27FC236}">
                <a16:creationId xmlns:a16="http://schemas.microsoft.com/office/drawing/2014/main" id="{E1A6390C-07FD-4624-AAE0-460323C1C8B6}"/>
              </a:ext>
            </a:extLst>
          </p:cNvPr>
          <p:cNvSpPr txBox="1"/>
          <p:nvPr/>
        </p:nvSpPr>
        <p:spPr>
          <a:xfrm>
            <a:off x="2479637" y="2752884"/>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TLS-Handshake mit Caddy – Zertifikat automatisch von Let's Encrypt</a:t>
            </a:r>
            <a:endParaRPr lang="en-US" sz="1200" dirty="0"/>
          </a:p>
        </p:txBody>
      </p:sp>
      <p:sp>
        <p:nvSpPr>
          <p:cNvPr id="12" name="Shape 13">
            <a:extLst>
              <a:ext uri="{FF2B5EF4-FFF2-40B4-BE49-F238E27FC236}">
                <a16:creationId xmlns:a16="http://schemas.microsoft.com/office/drawing/2014/main" id="{7B95D62F-DE65-40DE-A028-3BB9BF87E961}"/>
              </a:ext>
            </a:extLst>
          </p:cNvPr>
          <p:cNvSpPr/>
          <p:nvPr/>
        </p:nvSpPr>
        <p:spPr>
          <a:xfrm>
            <a:off x="2479637" y="3063780"/>
            <a:ext cx="7253935" cy="0"/>
          </a:xfrm>
          <a:prstGeom prst="line">
            <a:avLst/>
          </a:prstGeom>
          <a:noFill/>
          <a:ln w="22225">
            <a:solidFill>
              <a:srgbClr val="1E2761"/>
            </a:solidFill>
            <a:prstDash val="solid"/>
            <a:headEnd type="triangle"/>
            <a:tailEnd type="triangle"/>
          </a:ln>
        </p:spPr>
      </p:sp>
      <p:sp>
        <p:nvSpPr>
          <p:cNvPr id="13" name="Text 14">
            <a:extLst>
              <a:ext uri="{FF2B5EF4-FFF2-40B4-BE49-F238E27FC236}">
                <a16:creationId xmlns:a16="http://schemas.microsoft.com/office/drawing/2014/main" id="{430E0880-62BD-4127-A5B8-825112DBF494}"/>
              </a:ext>
            </a:extLst>
          </p:cNvPr>
          <p:cNvSpPr txBox="1"/>
          <p:nvPr/>
        </p:nvSpPr>
        <p:spPr>
          <a:xfrm>
            <a:off x="2479637" y="3770556"/>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Caddy liest den angefragten Hostnamen (SNI / Host-Header)</a:t>
            </a:r>
            <a:endParaRPr lang="en-US" sz="1200" dirty="0"/>
          </a:p>
        </p:txBody>
      </p:sp>
      <p:sp>
        <p:nvSpPr>
          <p:cNvPr id="14" name="Shape 15">
            <a:extLst>
              <a:ext uri="{FF2B5EF4-FFF2-40B4-BE49-F238E27FC236}">
                <a16:creationId xmlns:a16="http://schemas.microsoft.com/office/drawing/2014/main" id="{03F7DE66-AA35-4028-82D4-4CB02275583D}"/>
              </a:ext>
            </a:extLst>
          </p:cNvPr>
          <p:cNvSpPr/>
          <p:nvPr/>
        </p:nvSpPr>
        <p:spPr>
          <a:xfrm>
            <a:off x="2479637" y="4081452"/>
            <a:ext cx="7253935" cy="0"/>
          </a:xfrm>
          <a:prstGeom prst="line">
            <a:avLst/>
          </a:prstGeom>
          <a:noFill/>
          <a:ln w="22225">
            <a:solidFill>
              <a:srgbClr val="1E2761"/>
            </a:solidFill>
            <a:prstDash val="solid"/>
            <a:headEnd type="triangle"/>
          </a:ln>
        </p:spPr>
      </p:sp>
      <p:sp>
        <p:nvSpPr>
          <p:cNvPr id="15" name="Text 16">
            <a:extLst>
              <a:ext uri="{FF2B5EF4-FFF2-40B4-BE49-F238E27FC236}">
                <a16:creationId xmlns:a16="http://schemas.microsoft.com/office/drawing/2014/main" id="{DCA89F46-0595-4B61-956F-8108E12D9709}"/>
              </a:ext>
            </a:extLst>
          </p:cNvPr>
          <p:cNvSpPr txBox="1"/>
          <p:nvPr/>
        </p:nvSpPr>
        <p:spPr>
          <a:xfrm>
            <a:off x="2205317" y="4154604"/>
            <a:ext cx="7802575" cy="292608"/>
          </a:xfrm>
          <a:prstGeom prst="rect">
            <a:avLst/>
          </a:prstGeom>
          <a:noFill/>
          <a:ln/>
        </p:spPr>
        <p:txBody>
          <a:bodyPr wrap="square" lIns="0" tIns="0" rIns="0" bIns="0" rtlCol="0" anchor="t"/>
          <a:lstStyle/>
          <a:p>
            <a:pPr marL="0" indent="0" algn="ctr">
              <a:buNone/>
            </a:pPr>
            <a:r>
              <a:rPr lang="en-US" sz="1400" i="1" dirty="0">
                <a:solidFill>
                  <a:srgbClr val="5B6472"/>
                </a:solidFill>
                <a:latin typeface="Calibri" pitchFamily="34" charset="0"/>
                <a:ea typeface="Calibri" pitchFamily="34" charset="-122"/>
                <a:cs typeface="Calibri" pitchFamily="34" charset="-120"/>
              </a:rPr>
              <a:t>cockpit. / dienst-a. / dienst-b.&lt;IHRE-DOMAIN&gt; werden unterschieden</a:t>
            </a:r>
            <a:endParaRPr lang="en-US" sz="1400" dirty="0"/>
          </a:p>
        </p:txBody>
      </p:sp>
      <p:sp>
        <p:nvSpPr>
          <p:cNvPr id="16" name="Text 17">
            <a:extLst>
              <a:ext uri="{FF2B5EF4-FFF2-40B4-BE49-F238E27FC236}">
                <a16:creationId xmlns:a16="http://schemas.microsoft.com/office/drawing/2014/main" id="{FC791E46-6774-4D43-B69E-5B666A6C6890}"/>
              </a:ext>
            </a:extLst>
          </p:cNvPr>
          <p:cNvSpPr txBox="1"/>
          <p:nvPr/>
        </p:nvSpPr>
        <p:spPr>
          <a:xfrm>
            <a:off x="2479637" y="4683880"/>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Weiterleitung an den passenden Backend-Dienst (reverse_proxy)</a:t>
            </a:r>
            <a:endParaRPr lang="en-US" sz="1200" dirty="0"/>
          </a:p>
        </p:txBody>
      </p:sp>
      <p:sp>
        <p:nvSpPr>
          <p:cNvPr id="17" name="Shape 18">
            <a:extLst>
              <a:ext uri="{FF2B5EF4-FFF2-40B4-BE49-F238E27FC236}">
                <a16:creationId xmlns:a16="http://schemas.microsoft.com/office/drawing/2014/main" id="{B6017B0E-3DDA-435C-BF50-BA717D1BAB05}"/>
              </a:ext>
            </a:extLst>
          </p:cNvPr>
          <p:cNvSpPr/>
          <p:nvPr/>
        </p:nvSpPr>
        <p:spPr>
          <a:xfrm>
            <a:off x="2479637" y="4994776"/>
            <a:ext cx="7253935" cy="0"/>
          </a:xfrm>
          <a:prstGeom prst="line">
            <a:avLst/>
          </a:prstGeom>
          <a:noFill/>
          <a:ln w="22225">
            <a:solidFill>
              <a:srgbClr val="1E2761"/>
            </a:solidFill>
            <a:prstDash val="solid"/>
            <a:headEnd type="triangle"/>
            <a:tailEnd type="triangle"/>
          </a:ln>
        </p:spPr>
      </p:sp>
      <p:sp>
        <p:nvSpPr>
          <p:cNvPr id="19" name="Shape 20">
            <a:extLst>
              <a:ext uri="{FF2B5EF4-FFF2-40B4-BE49-F238E27FC236}">
                <a16:creationId xmlns:a16="http://schemas.microsoft.com/office/drawing/2014/main" id="{1F96E1BE-3BA2-43C3-A8CA-98E83A7CCF32}"/>
              </a:ext>
            </a:extLst>
          </p:cNvPr>
          <p:cNvSpPr/>
          <p:nvPr/>
        </p:nvSpPr>
        <p:spPr>
          <a:xfrm>
            <a:off x="1519517" y="5667666"/>
            <a:ext cx="9174175" cy="566928"/>
          </a:xfrm>
          <a:prstGeom prst="roundRect">
            <a:avLst>
              <a:gd name="adj" fmla="val 16129"/>
            </a:avLst>
          </a:prstGeom>
          <a:solidFill>
            <a:srgbClr val="1E2761"/>
          </a:solidFill>
          <a:ln/>
        </p:spPr>
      </p:sp>
      <p:sp>
        <p:nvSpPr>
          <p:cNvPr id="20" name="Text 21">
            <a:extLst>
              <a:ext uri="{FF2B5EF4-FFF2-40B4-BE49-F238E27FC236}">
                <a16:creationId xmlns:a16="http://schemas.microsoft.com/office/drawing/2014/main" id="{94A2DBC1-0240-4516-A648-9D6433B8DD38}"/>
              </a:ext>
            </a:extLst>
          </p:cNvPr>
          <p:cNvSpPr txBox="1"/>
          <p:nvPr/>
        </p:nvSpPr>
        <p:spPr>
          <a:xfrm>
            <a:off x="1519517" y="5667666"/>
            <a:ext cx="9174175" cy="56692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Ab hier entscheidet Caddy, welcher Dienst antwortet</a:t>
            </a:r>
            <a:endParaRPr lang="en-US" sz="1350" dirty="0"/>
          </a:p>
        </p:txBody>
      </p:sp>
      <p:sp>
        <p:nvSpPr>
          <p:cNvPr id="24" name="Text 14">
            <a:extLst>
              <a:ext uri="{FF2B5EF4-FFF2-40B4-BE49-F238E27FC236}">
                <a16:creationId xmlns:a16="http://schemas.microsoft.com/office/drawing/2014/main" id="{6BF7705A-B32D-4C40-B55C-208480440DCF}"/>
              </a:ext>
            </a:extLst>
          </p:cNvPr>
          <p:cNvSpPr txBox="1"/>
          <p:nvPr/>
        </p:nvSpPr>
        <p:spPr>
          <a:xfrm>
            <a:off x="1331260" y="3215704"/>
            <a:ext cx="8828742" cy="311277"/>
          </a:xfrm>
          <a:prstGeom prst="rect">
            <a:avLst/>
          </a:prstGeom>
          <a:noFill/>
          <a:ln/>
        </p:spPr>
        <p:txBody>
          <a:bodyPr wrap="square" lIns="0" tIns="0" rIns="0" bIns="0" rtlCol="0" anchor="t"/>
          <a:lstStyle/>
          <a:p>
            <a:pPr marL="0" indent="0" algn="ctr">
              <a:buNone/>
            </a:pPr>
            <a:r>
              <a:rPr lang="en-US" sz="1400" i="1" dirty="0">
                <a:solidFill>
                  <a:srgbClr val="5B6472"/>
                </a:solidFill>
                <a:latin typeface="Calibri" pitchFamily="34" charset="0"/>
                <a:ea typeface="Calibri" pitchFamily="34" charset="-122"/>
                <a:cs typeface="Calibri" pitchFamily="34" charset="-120"/>
              </a:rPr>
              <a:t>Cockpit → localhost:9090  ·  Dienst A → localhost:8001  ·  Dienst B → localhost:8002</a:t>
            </a:r>
            <a:endParaRPr lang="en-US" sz="1400" dirty="0"/>
          </a:p>
        </p:txBody>
      </p:sp>
      <p:sp>
        <p:nvSpPr>
          <p:cNvPr id="25" name="Text 15">
            <a:extLst>
              <a:ext uri="{FF2B5EF4-FFF2-40B4-BE49-F238E27FC236}">
                <a16:creationId xmlns:a16="http://schemas.microsoft.com/office/drawing/2014/main" id="{F63CD0B1-B157-4493-A2C1-65A693862FD5}"/>
              </a:ext>
            </a:extLst>
          </p:cNvPr>
          <p:cNvSpPr txBox="1"/>
          <p:nvPr/>
        </p:nvSpPr>
        <p:spPr>
          <a:xfrm>
            <a:off x="2357425" y="3502274"/>
            <a:ext cx="7802575" cy="256032"/>
          </a:xfrm>
          <a:prstGeom prst="rect">
            <a:avLst/>
          </a:prstGeom>
          <a:noFill/>
          <a:ln/>
        </p:spPr>
        <p:txBody>
          <a:bodyPr wrap="square" lIns="0" tIns="0" rIns="0" bIns="0" rtlCol="0" anchor="t"/>
          <a:lstStyle/>
          <a:p>
            <a:pPr marL="0" indent="0" algn="ctr">
              <a:buNone/>
            </a:pPr>
            <a:r>
              <a:rPr lang="en-US" sz="1400" dirty="0">
                <a:solidFill>
                  <a:srgbClr val="5B6472"/>
                </a:solidFill>
                <a:ea typeface="Courier New" pitchFamily="34" charset="-122"/>
                <a:cs typeface="Courier New" pitchFamily="34" charset="-120"/>
              </a:rPr>
              <a:t>Alle drei Backends sind ausschließlich an localhost gebunden – von außen nicht erreichbar</a:t>
            </a:r>
            <a:endParaRPr lang="en-US" sz="1400" dirty="0"/>
          </a:p>
        </p:txBody>
      </p:sp>
      <p:sp>
        <p:nvSpPr>
          <p:cNvPr id="26" name="Text 21">
            <a:extLst>
              <a:ext uri="{FF2B5EF4-FFF2-40B4-BE49-F238E27FC236}">
                <a16:creationId xmlns:a16="http://schemas.microsoft.com/office/drawing/2014/main" id="{E21B569B-1859-4442-90C9-1D7102AB98A7}"/>
              </a:ext>
            </a:extLst>
          </p:cNvPr>
          <p:cNvSpPr txBox="1"/>
          <p:nvPr/>
        </p:nvSpPr>
        <p:spPr>
          <a:xfrm>
            <a:off x="2194712" y="5149772"/>
            <a:ext cx="7802575" cy="274320"/>
          </a:xfrm>
          <a:prstGeom prst="rect">
            <a:avLst/>
          </a:prstGeom>
          <a:noFill/>
          <a:ln/>
        </p:spPr>
        <p:txBody>
          <a:bodyPr wrap="square" lIns="0" tIns="0" rIns="0" bIns="0" rtlCol="0" anchor="t"/>
          <a:lstStyle/>
          <a:p>
            <a:pPr marL="0" indent="0" algn="ctr">
              <a:buNone/>
            </a:pPr>
            <a:r>
              <a:rPr lang="en-US" sz="1400" i="1" dirty="0">
                <a:solidFill>
                  <a:srgbClr val="5B6472"/>
                </a:solidFill>
                <a:latin typeface="Calibri" pitchFamily="34" charset="0"/>
                <a:ea typeface="Calibri" pitchFamily="34" charset="-122"/>
                <a:cs typeface="Calibri" pitchFamily="34" charset="-120"/>
              </a:rPr>
              <a:t>Caddy ist der einzige Dienst, den das Internet direkt sieht</a:t>
            </a:r>
            <a:endParaRPr lang="en-US" sz="1400" dirty="0"/>
          </a:p>
        </p:txBody>
      </p:sp>
      <p:grpSp>
        <p:nvGrpSpPr>
          <p:cNvPr id="40" name="Gruppieren 39">
            <a:extLst>
              <a:ext uri="{FF2B5EF4-FFF2-40B4-BE49-F238E27FC236}">
                <a16:creationId xmlns:a16="http://schemas.microsoft.com/office/drawing/2014/main" id="{22C2375B-D9D8-4147-91B2-9C186A8C10AA}"/>
              </a:ext>
            </a:extLst>
          </p:cNvPr>
          <p:cNvGrpSpPr/>
          <p:nvPr/>
        </p:nvGrpSpPr>
        <p:grpSpPr>
          <a:xfrm>
            <a:off x="9848849" y="1767865"/>
            <a:ext cx="1351659" cy="985018"/>
            <a:chOff x="9848849" y="1767865"/>
            <a:chExt cx="1351659" cy="985018"/>
          </a:xfrm>
        </p:grpSpPr>
        <p:sp>
          <p:nvSpPr>
            <p:cNvPr id="28" name="Rechteck 27">
              <a:extLst>
                <a:ext uri="{FF2B5EF4-FFF2-40B4-BE49-F238E27FC236}">
                  <a16:creationId xmlns:a16="http://schemas.microsoft.com/office/drawing/2014/main" id="{DF6EFC9B-4E88-40F4-98AE-E4C5BDF7525A}"/>
                </a:ext>
              </a:extLst>
            </p:cNvPr>
            <p:cNvSpPr/>
            <p:nvPr/>
          </p:nvSpPr>
          <p:spPr>
            <a:xfrm>
              <a:off x="10160000" y="1767865"/>
              <a:ext cx="729358" cy="985018"/>
            </a:xfrm>
            <a:prstGeom prst="rect">
              <a:avLst/>
            </a:prstGeom>
            <a:solidFill>
              <a:srgbClr val="E7E7E9"/>
            </a:solidFill>
            <a:ln w="47625">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32" name="Gerader Verbinder 31">
              <a:extLst>
                <a:ext uri="{FF2B5EF4-FFF2-40B4-BE49-F238E27FC236}">
                  <a16:creationId xmlns:a16="http://schemas.microsoft.com/office/drawing/2014/main" id="{A1B70D36-E04A-4593-AF05-EE75BA62E720}"/>
                </a:ext>
              </a:extLst>
            </p:cNvPr>
            <p:cNvCxnSpPr>
              <a:cxnSpLocks/>
            </p:cNvCxnSpPr>
            <p:nvPr/>
          </p:nvCxnSpPr>
          <p:spPr>
            <a:xfrm>
              <a:off x="10274154" y="2341045"/>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E39B0B10-AE56-407B-926E-D4DE0CF51A94}"/>
                </a:ext>
              </a:extLst>
            </p:cNvPr>
            <p:cNvCxnSpPr>
              <a:cxnSpLocks/>
            </p:cNvCxnSpPr>
            <p:nvPr/>
          </p:nvCxnSpPr>
          <p:spPr>
            <a:xfrm>
              <a:off x="10274154" y="2441810"/>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26BBAD0E-9EAD-4BA8-8C78-10FC73E4E6E2}"/>
                </a:ext>
              </a:extLst>
            </p:cNvPr>
            <p:cNvCxnSpPr>
              <a:cxnSpLocks/>
            </p:cNvCxnSpPr>
            <p:nvPr/>
          </p:nvCxnSpPr>
          <p:spPr>
            <a:xfrm>
              <a:off x="10274154" y="2567286"/>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sp>
          <p:nvSpPr>
            <p:cNvPr id="36" name="Ellipse 35">
              <a:extLst>
                <a:ext uri="{FF2B5EF4-FFF2-40B4-BE49-F238E27FC236}">
                  <a16:creationId xmlns:a16="http://schemas.microsoft.com/office/drawing/2014/main" id="{4125DE95-578D-419E-9249-666E4EB771BD}"/>
                </a:ext>
              </a:extLst>
            </p:cNvPr>
            <p:cNvSpPr/>
            <p:nvPr/>
          </p:nvSpPr>
          <p:spPr>
            <a:xfrm>
              <a:off x="10553846" y="1942465"/>
              <a:ext cx="162565" cy="162000"/>
            </a:xfrm>
            <a:prstGeom prst="ellipse">
              <a:avLst/>
            </a:prstGeom>
            <a:solidFill>
              <a:srgbClr val="E7E7E9"/>
            </a:solidFill>
            <a:ln w="38100">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Text 9">
              <a:extLst>
                <a:ext uri="{FF2B5EF4-FFF2-40B4-BE49-F238E27FC236}">
                  <a16:creationId xmlns:a16="http://schemas.microsoft.com/office/drawing/2014/main" id="{2A6EB4F7-297A-4C10-9CFB-B988A65E2078}"/>
                </a:ext>
              </a:extLst>
            </p:cNvPr>
            <p:cNvSpPr txBox="1"/>
            <p:nvPr/>
          </p:nvSpPr>
          <p:spPr>
            <a:xfrm>
              <a:off x="9848849" y="200003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Server</a:t>
              </a:r>
              <a:endParaRPr lang="en-US" sz="1300" dirty="0">
                <a:solidFill>
                  <a:srgbClr val="0061AF"/>
                </a:solidFill>
              </a:endParaRPr>
            </a:p>
          </p:txBody>
        </p:sp>
      </p:grpSp>
      <p:pic>
        <p:nvPicPr>
          <p:cNvPr id="4" name="Grafik 3" descr="Ausrufezeichen mit einfarbiger Füllung">
            <a:extLst>
              <a:ext uri="{FF2B5EF4-FFF2-40B4-BE49-F238E27FC236}">
                <a16:creationId xmlns:a16="http://schemas.microsoft.com/office/drawing/2014/main" id="{EBD0A8D5-5499-4888-8CDB-A0F71B25C49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44028" y="3521758"/>
            <a:ext cx="914400" cy="914400"/>
          </a:xfrm>
          <a:prstGeom prst="rect">
            <a:avLst/>
          </a:prstGeom>
        </p:spPr>
      </p:pic>
      <p:grpSp>
        <p:nvGrpSpPr>
          <p:cNvPr id="31" name="Gruppieren 30">
            <a:extLst>
              <a:ext uri="{FF2B5EF4-FFF2-40B4-BE49-F238E27FC236}">
                <a16:creationId xmlns:a16="http://schemas.microsoft.com/office/drawing/2014/main" id="{DB0F9D24-C733-4941-95D2-3066A3DA0CC9}"/>
              </a:ext>
            </a:extLst>
          </p:cNvPr>
          <p:cNvGrpSpPr/>
          <p:nvPr/>
        </p:nvGrpSpPr>
        <p:grpSpPr>
          <a:xfrm>
            <a:off x="1127978" y="1791122"/>
            <a:ext cx="1351659" cy="1017731"/>
            <a:chOff x="1277241" y="1717910"/>
            <a:chExt cx="1351659" cy="1017731"/>
          </a:xfrm>
        </p:grpSpPr>
        <p:pic>
          <p:nvPicPr>
            <p:cNvPr id="33" name="Grafik 32">
              <a:extLst>
                <a:ext uri="{FF2B5EF4-FFF2-40B4-BE49-F238E27FC236}">
                  <a16:creationId xmlns:a16="http://schemas.microsoft.com/office/drawing/2014/main" id="{53807257-83CE-4374-ACB0-42C3B5FE49F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1509841" y="1717910"/>
              <a:ext cx="847584" cy="1017731"/>
            </a:xfrm>
            <a:prstGeom prst="rect">
              <a:avLst/>
            </a:prstGeom>
          </p:spPr>
        </p:pic>
        <p:sp>
          <p:nvSpPr>
            <p:cNvPr id="41" name="Text 9">
              <a:extLst>
                <a:ext uri="{FF2B5EF4-FFF2-40B4-BE49-F238E27FC236}">
                  <a16:creationId xmlns:a16="http://schemas.microsoft.com/office/drawing/2014/main" id="{BA639BC1-702F-4F6E-B87F-5FE2C40D3A14}"/>
                </a:ext>
              </a:extLst>
            </p:cNvPr>
            <p:cNvSpPr txBox="1"/>
            <p:nvPr/>
          </p:nvSpPr>
          <p:spPr>
            <a:xfrm>
              <a:off x="1277241" y="182226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CLIENT</a:t>
              </a:r>
              <a:endParaRPr lang="en-US" sz="1300" dirty="0">
                <a:solidFill>
                  <a:srgbClr val="0061AF"/>
                </a:solidFill>
              </a:endParaRPr>
            </a:p>
          </p:txBody>
        </p:sp>
      </p:grpSp>
    </p:spTree>
    <p:extLst>
      <p:ext uri="{BB962C8B-B14F-4D97-AF65-F5344CB8AC3E}">
        <p14:creationId xmlns:p14="http://schemas.microsoft.com/office/powerpoint/2010/main" val="806748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3955" y="331336"/>
            <a:ext cx="10953313" cy="1143000"/>
          </a:xfrm>
        </p:spPr>
        <p:txBody>
          <a:bodyPr/>
          <a:lstStyle/>
          <a:p>
            <a:r>
              <a:rPr lang="de-DE" sz="2400" dirty="0"/>
              <a:t>Zuordnung im </a:t>
            </a:r>
            <a:r>
              <a:rPr sz="2400" dirty="0" err="1"/>
              <a:t>Caddyfile</a:t>
            </a:r>
            <a:endParaRPr sz="2400" dirty="0"/>
          </a:p>
        </p:txBody>
      </p:sp>
      <p:sp>
        <p:nvSpPr>
          <p:cNvPr id="5" name="Rounded Rectangle 4"/>
          <p:cNvSpPr/>
          <p:nvPr/>
        </p:nvSpPr>
        <p:spPr>
          <a:xfrm>
            <a:off x="548640" y="2761488"/>
            <a:ext cx="1554480" cy="914400"/>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400" b="1">
                <a:solidFill>
                  <a:srgbClr val="FFFFFF"/>
                </a:solidFill>
                <a:latin typeface="Arial"/>
              </a:rPr>
              <a:t>Caddy</a:t>
            </a:r>
          </a:p>
          <a:p>
            <a:pPr algn="ctr"/>
            <a:r>
              <a:rPr sz="900" b="0">
                <a:solidFill>
                  <a:srgbClr val="FFFFFF"/>
                </a:solidFill>
                <a:latin typeface="Arial"/>
              </a:rPr>
              <a:t>Port 443</a:t>
            </a:r>
          </a:p>
        </p:txBody>
      </p:sp>
      <p:sp>
        <p:nvSpPr>
          <p:cNvPr id="6" name="Rounded Rectangle 5"/>
          <p:cNvSpPr/>
          <p:nvPr/>
        </p:nvSpPr>
        <p:spPr>
          <a:xfrm>
            <a:off x="2514600" y="1810512"/>
            <a:ext cx="2788920" cy="749808"/>
          </a:xfrm>
          <a:prstGeom prst="roundRect">
            <a:avLst>
              <a:gd name="adj" fmla="val 10000"/>
            </a:avLst>
          </a:prstGeom>
          <a:solidFill>
            <a:srgbClr val="F5F5F5"/>
          </a:solidFill>
          <a:ln w="12700">
            <a:solidFill>
              <a:srgbClr val="005AA8"/>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Cockpit</a:t>
            </a:r>
          </a:p>
          <a:p>
            <a:pPr algn="ctr"/>
            <a:r>
              <a:rPr sz="900" b="0">
                <a:solidFill>
                  <a:srgbClr val="1A1A1A"/>
                </a:solidFill>
                <a:latin typeface="Arial"/>
              </a:rPr>
              <a:t>localhost:9090</a:t>
            </a:r>
          </a:p>
        </p:txBody>
      </p:sp>
      <p:sp>
        <p:nvSpPr>
          <p:cNvPr id="7" name="Rounded Rectangle 6"/>
          <p:cNvSpPr/>
          <p:nvPr/>
        </p:nvSpPr>
        <p:spPr>
          <a:xfrm>
            <a:off x="2514600" y="2816352"/>
            <a:ext cx="2788920" cy="749808"/>
          </a:xfrm>
          <a:prstGeom prst="roundRect">
            <a:avLst>
              <a:gd name="adj" fmla="val 10000"/>
            </a:avLst>
          </a:prstGeom>
          <a:solidFill>
            <a:srgbClr val="F5F5F5"/>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Dienst A</a:t>
            </a:r>
          </a:p>
          <a:p>
            <a:pPr algn="ctr"/>
            <a:r>
              <a:rPr sz="900" b="0">
                <a:solidFill>
                  <a:srgbClr val="1A1A1A"/>
                </a:solidFill>
                <a:latin typeface="Arial"/>
              </a:rPr>
              <a:t>localhost:8001</a:t>
            </a:r>
          </a:p>
        </p:txBody>
      </p:sp>
      <p:sp>
        <p:nvSpPr>
          <p:cNvPr id="8" name="Rounded Rectangle 7"/>
          <p:cNvSpPr/>
          <p:nvPr/>
        </p:nvSpPr>
        <p:spPr>
          <a:xfrm>
            <a:off x="2514600" y="3822191"/>
            <a:ext cx="2788920" cy="749808"/>
          </a:xfrm>
          <a:prstGeom prst="roundRect">
            <a:avLst>
              <a:gd name="adj" fmla="val 10000"/>
            </a:avLst>
          </a:prstGeom>
          <a:solidFill>
            <a:srgbClr val="F5F5F5"/>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Dienst B</a:t>
            </a:r>
          </a:p>
          <a:p>
            <a:pPr algn="ctr"/>
            <a:r>
              <a:rPr sz="900" b="0">
                <a:solidFill>
                  <a:srgbClr val="1A1A1A"/>
                </a:solidFill>
                <a:latin typeface="Arial"/>
              </a:rPr>
              <a:t>localhost:8002</a:t>
            </a:r>
          </a:p>
        </p:txBody>
      </p:sp>
      <p:cxnSp>
        <p:nvCxnSpPr>
          <p:cNvPr id="9" name="Connector 8"/>
          <p:cNvCxnSpPr/>
          <p:nvPr/>
        </p:nvCxnSpPr>
        <p:spPr>
          <a:xfrm flipV="1">
            <a:off x="2103120" y="2185416"/>
            <a:ext cx="411480" cy="1033272"/>
          </a:xfrm>
          <a:prstGeom prst="line">
            <a:avLst/>
          </a:prstGeom>
          <a:ln w="1905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103120" y="3191256"/>
            <a:ext cx="411480" cy="27432"/>
          </a:xfrm>
          <a:prstGeom prst="line">
            <a:avLst/>
          </a:prstGeom>
          <a:ln w="19050">
            <a:solidFill>
              <a:srgbClr val="5B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103120" y="3218688"/>
            <a:ext cx="411480" cy="978408"/>
          </a:xfrm>
          <a:prstGeom prst="line">
            <a:avLst/>
          </a:prstGeom>
          <a:ln w="19050">
            <a:solidFill>
              <a:srgbClr val="C99A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806440" y="1783080"/>
            <a:ext cx="5833872" cy="4251960"/>
          </a:xfrm>
          <a:prstGeom prst="roundRect">
            <a:avLst>
              <a:gd name="adj" fmla="val 10000"/>
            </a:avLst>
          </a:prstGeom>
          <a:solidFill>
            <a:srgbClr val="F5F5F5"/>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320040" tIns="109728" bIns="36576" rtlCol="0" anchor="t"/>
          <a:lstStyle/>
          <a:p>
            <a:pPr algn="l">
              <a:lnSpc>
                <a:spcPts val="1500"/>
              </a:lnSpc>
            </a:pPr>
            <a:r>
              <a:rPr sz="1100" b="1">
                <a:solidFill>
                  <a:srgbClr val="005AA8"/>
                </a:solidFill>
                <a:latin typeface="Courier New"/>
              </a:rPr>
              <a:t>cockpit.&lt;IHRE-DOMAIN&gt; {</a:t>
            </a:r>
          </a:p>
          <a:p>
            <a:pPr algn="l">
              <a:lnSpc>
                <a:spcPts val="1500"/>
              </a:lnSpc>
            </a:pPr>
            <a:r>
              <a:rPr sz="1100" b="0">
                <a:solidFill>
                  <a:srgbClr val="1A1A1A"/>
                </a:solidFill>
                <a:latin typeface="Courier New"/>
              </a:rPr>
              <a:t>    reverse_proxy localhost:9090  # TLS intern, s. Schritt 3</a:t>
            </a:r>
          </a:p>
          <a:p>
            <a:pPr algn="l">
              <a:lnSpc>
                <a:spcPts val="1500"/>
              </a:lnSpc>
            </a:pPr>
            <a:r>
              <a:rPr sz="1100" b="0">
                <a:solidFill>
                  <a:srgbClr val="1A1A1A"/>
                </a:solidFill>
                <a:latin typeface="Courier New"/>
              </a:rPr>
              <a:t>}</a:t>
            </a:r>
          </a:p>
          <a:p>
            <a:pPr algn="l">
              <a:lnSpc>
                <a:spcPts val="1500"/>
              </a:lnSpc>
            </a:pPr>
            <a:r>
              <a:rPr sz="1100" b="0">
                <a:solidFill>
                  <a:srgbClr val="1A1A1A"/>
                </a:solidFill>
                <a:latin typeface="Courier New"/>
              </a:rPr>
              <a:t> </a:t>
            </a:r>
          </a:p>
          <a:p>
            <a:pPr algn="l">
              <a:lnSpc>
                <a:spcPts val="1500"/>
              </a:lnSpc>
            </a:pPr>
            <a:r>
              <a:rPr sz="1100" b="1">
                <a:solidFill>
                  <a:srgbClr val="5B6472"/>
                </a:solidFill>
                <a:latin typeface="Courier New"/>
              </a:rPr>
              <a:t>dienst-a.&lt;IHRE-DOMAIN&gt; {</a:t>
            </a:r>
          </a:p>
          <a:p>
            <a:pPr algn="l">
              <a:lnSpc>
                <a:spcPts val="1500"/>
              </a:lnSpc>
            </a:pPr>
            <a:r>
              <a:rPr sz="1100" b="0">
                <a:solidFill>
                  <a:srgbClr val="1A1A1A"/>
                </a:solidFill>
                <a:latin typeface="Courier New"/>
              </a:rPr>
              <a:t>    reverse_proxy localhost:8001</a:t>
            </a:r>
          </a:p>
          <a:p>
            <a:pPr algn="l">
              <a:lnSpc>
                <a:spcPts val="1500"/>
              </a:lnSpc>
            </a:pPr>
            <a:r>
              <a:rPr sz="1100" b="0">
                <a:solidFill>
                  <a:srgbClr val="1A1A1A"/>
                </a:solidFill>
                <a:latin typeface="Courier New"/>
              </a:rPr>
              <a:t>}</a:t>
            </a:r>
          </a:p>
          <a:p>
            <a:pPr algn="l">
              <a:lnSpc>
                <a:spcPts val="1500"/>
              </a:lnSpc>
            </a:pPr>
            <a:r>
              <a:rPr sz="1100" b="0">
                <a:solidFill>
                  <a:srgbClr val="1A1A1A"/>
                </a:solidFill>
                <a:latin typeface="Courier New"/>
              </a:rPr>
              <a:t> </a:t>
            </a:r>
          </a:p>
          <a:p>
            <a:pPr algn="l">
              <a:lnSpc>
                <a:spcPts val="1500"/>
              </a:lnSpc>
            </a:pPr>
            <a:r>
              <a:rPr sz="1100" b="1">
                <a:solidFill>
                  <a:srgbClr val="F2B84B"/>
                </a:solidFill>
                <a:latin typeface="Courier New"/>
              </a:rPr>
              <a:t>dienst-b.&lt;IHRE-DOMAIN&gt; {</a:t>
            </a:r>
          </a:p>
          <a:p>
            <a:pPr algn="l">
              <a:lnSpc>
                <a:spcPts val="1500"/>
              </a:lnSpc>
            </a:pPr>
            <a:r>
              <a:rPr sz="1100" b="0">
                <a:solidFill>
                  <a:srgbClr val="1A1A1A"/>
                </a:solidFill>
                <a:latin typeface="Courier New"/>
              </a:rPr>
              <a:t>    basic_auth { admin &lt;HASH-AUS-SCHRITT-5&gt; }</a:t>
            </a:r>
          </a:p>
          <a:p>
            <a:pPr algn="l">
              <a:lnSpc>
                <a:spcPts val="1500"/>
              </a:lnSpc>
            </a:pPr>
            <a:r>
              <a:rPr sz="1100" b="0">
                <a:solidFill>
                  <a:srgbClr val="1A1A1A"/>
                </a:solidFill>
                <a:latin typeface="Courier New"/>
              </a:rPr>
              <a:t>    reverse_proxy localhost:8002</a:t>
            </a:r>
          </a:p>
          <a:p>
            <a:pPr algn="l">
              <a:lnSpc>
                <a:spcPts val="1500"/>
              </a:lnSpc>
            </a:pPr>
            <a:r>
              <a:rPr sz="1100" b="0">
                <a:solidFill>
                  <a:srgbClr val="1A1A1A"/>
                </a:solidFill>
                <a:latin typeface="Courier New"/>
              </a:rPr>
              <a:t>}</a:t>
            </a:r>
          </a:p>
        </p:txBody>
      </p:sp>
      <p:sp>
        <p:nvSpPr>
          <p:cNvPr id="13" name="Rectangle 12"/>
          <p:cNvSpPr/>
          <p:nvPr/>
        </p:nvSpPr>
        <p:spPr>
          <a:xfrm>
            <a:off x="5916168" y="1911095"/>
            <a:ext cx="54864" cy="571500"/>
          </a:xfrm>
          <a:prstGeom prst="rect">
            <a:avLst/>
          </a:prstGeom>
          <a:solidFill>
            <a:srgbClr val="005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916168" y="2673096"/>
            <a:ext cx="54864" cy="571500"/>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16168" y="3435096"/>
            <a:ext cx="54864" cy="762000"/>
          </a:xfrm>
          <a:prstGeom prst="rect">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Foliennummernplatzhalter 4"/>
          <p:cNvSpPr>
            <a:spLocks noGrp="1"/>
          </p:cNvSpPr>
          <p:nvPr>
            <p:ph type="sldNum" sz="quarter" idx="4"/>
          </p:nvPr>
        </p:nvSpPr>
        <p:spPr/>
        <p:txBody>
          <a:bodyPr/>
          <a:lstStyle/>
          <a:p>
            <a:fld id="{43A6DCFB-163F-4561-BF28-3CD1FE47EE20}" type="slidenum">
              <a:rPr lang="de-DE" smtClean="0"/>
              <a:pPr/>
              <a:t>5</a:t>
            </a:fld>
            <a:endParaRPr lang="de-DE"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960120" y="3486775"/>
            <a:ext cx="5577840" cy="777240"/>
          </a:xfrm>
          <a:prstGeom prst="roundRect">
            <a:avLst>
              <a:gd name="adj" fmla="val 12000"/>
            </a:avLst>
          </a:prstGeom>
          <a:solidFill>
            <a:srgbClr val="F2B84B">
              <a:alpha val="15000"/>
            </a:srgbClr>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3"/>
          <p:cNvSpPr>
            <a:spLocks noGrp="1"/>
          </p:cNvSpPr>
          <p:nvPr>
            <p:ph type="title"/>
          </p:nvPr>
        </p:nvSpPr>
        <p:spPr>
          <a:xfrm>
            <a:off x="-63955" y="331336"/>
            <a:ext cx="10953313" cy="1143000"/>
          </a:xfrm>
        </p:spPr>
        <p:txBody>
          <a:bodyPr/>
          <a:lstStyle/>
          <a:p>
            <a:r>
              <a:rPr sz="2400"/>
              <a:t>Automatisches HTTPS via ACME</a:t>
            </a:r>
          </a:p>
        </p:txBody>
      </p:sp>
      <p:sp>
        <p:nvSpPr>
          <p:cNvPr id="5" name="Foliennummernplatzhalter 4"/>
          <p:cNvSpPr>
            <a:spLocks noGrp="1"/>
          </p:cNvSpPr>
          <p:nvPr>
            <p:ph type="sldNum" sz="quarter" idx="4"/>
          </p:nvPr>
        </p:nvSpPr>
        <p:spPr/>
        <p:txBody>
          <a:bodyPr/>
          <a:lstStyle/>
          <a:p>
            <a:fld id="{43A6DCFB-163F-4561-BF28-3CD1FE47EE20}" type="slidenum">
              <a:rPr lang="de-DE" smtClean="0"/>
              <a:pPr/>
              <a:t>6</a:t>
            </a:fld>
            <a:endParaRPr lang="de-DE" dirty="0"/>
          </a:p>
        </p:txBody>
      </p:sp>
      <p:sp>
        <p:nvSpPr>
          <p:cNvPr id="6" name="Rounded Rectangle 5"/>
          <p:cNvSpPr/>
          <p:nvPr/>
        </p:nvSpPr>
        <p:spPr>
          <a:xfrm>
            <a:off x="548640" y="1593967"/>
            <a:ext cx="1737360" cy="502920"/>
          </a:xfrm>
          <a:prstGeom prst="roundRect">
            <a:avLst>
              <a:gd name="adj" fmla="val 10000"/>
            </a:avLst>
          </a:prstGeom>
          <a:solidFill>
            <a:srgbClr val="F4F6FA"/>
          </a:solidFill>
          <a:ln w="12700">
            <a:solidFill>
              <a:srgbClr val="D8DEE9"/>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100" b="1">
                <a:solidFill>
                  <a:srgbClr val="0061AF"/>
                </a:solidFill>
                <a:latin typeface="Arial"/>
              </a:rPr>
              <a:t>Caddy</a:t>
            </a:r>
          </a:p>
          <a:p>
            <a:pPr algn="ctr"/>
            <a:r>
              <a:rPr sz="900" b="0">
                <a:solidFill>
                  <a:srgbClr val="0061AF"/>
                </a:solidFill>
                <a:latin typeface="Arial"/>
              </a:rPr>
              <a:t>(Server)</a:t>
            </a:r>
          </a:p>
        </p:txBody>
      </p:sp>
      <p:sp>
        <p:nvSpPr>
          <p:cNvPr id="7" name="Rounded Rectangle 6"/>
          <p:cNvSpPr/>
          <p:nvPr/>
        </p:nvSpPr>
        <p:spPr>
          <a:xfrm>
            <a:off x="5212080" y="1593967"/>
            <a:ext cx="1737360" cy="502920"/>
          </a:xfrm>
          <a:prstGeom prst="roundRect">
            <a:avLst>
              <a:gd name="adj" fmla="val 10000"/>
            </a:avLst>
          </a:prstGeom>
          <a:solidFill>
            <a:srgbClr val="F4F6FA"/>
          </a:solidFill>
          <a:ln w="12700">
            <a:solidFill>
              <a:srgbClr val="D8DEE9"/>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100" b="1">
                <a:solidFill>
                  <a:srgbClr val="0061AF"/>
                </a:solidFill>
                <a:latin typeface="Arial"/>
              </a:rPr>
              <a:t>Let's Encrypt</a:t>
            </a:r>
          </a:p>
          <a:p>
            <a:pPr algn="ctr"/>
            <a:r>
              <a:rPr sz="900" b="0">
                <a:solidFill>
                  <a:srgbClr val="0061AF"/>
                </a:solidFill>
                <a:latin typeface="Arial"/>
              </a:rPr>
              <a:t>(ACME-CA)</a:t>
            </a:r>
          </a:p>
        </p:txBody>
      </p:sp>
      <p:sp>
        <p:nvSpPr>
          <p:cNvPr id="8" name="Rounded Rectangle 7"/>
          <p:cNvSpPr/>
          <p:nvPr/>
        </p:nvSpPr>
        <p:spPr>
          <a:xfrm>
            <a:off x="9692640" y="1593967"/>
            <a:ext cx="1737360" cy="502920"/>
          </a:xfrm>
          <a:prstGeom prst="roundRect">
            <a:avLst>
              <a:gd name="adj" fmla="val 10000"/>
            </a:avLst>
          </a:prstGeom>
          <a:solidFill>
            <a:srgbClr val="F4F6FA"/>
          </a:solidFill>
          <a:ln w="12700">
            <a:solidFill>
              <a:srgbClr val="D8DEE9"/>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100" b="1">
                <a:solidFill>
                  <a:srgbClr val="0061AF"/>
                </a:solidFill>
                <a:latin typeface="Arial"/>
              </a:rPr>
              <a:t>Client</a:t>
            </a:r>
          </a:p>
          <a:p>
            <a:pPr algn="ctr"/>
            <a:r>
              <a:rPr sz="900" b="0">
                <a:solidFill>
                  <a:srgbClr val="0061AF"/>
                </a:solidFill>
                <a:latin typeface="Arial"/>
              </a:rPr>
              <a:t>/ Browser</a:t>
            </a:r>
          </a:p>
        </p:txBody>
      </p:sp>
      <p:cxnSp>
        <p:nvCxnSpPr>
          <p:cNvPr id="9" name="Connector 8"/>
          <p:cNvCxnSpPr/>
          <p:nvPr/>
        </p:nvCxnSpPr>
        <p:spPr>
          <a:xfrm>
            <a:off x="1417320" y="2142607"/>
            <a:ext cx="0" cy="4023360"/>
          </a:xfrm>
          <a:prstGeom prst="line">
            <a:avLst/>
          </a:prstGeom>
          <a:ln w="15875">
            <a:solidFill>
              <a:srgbClr val="D8DEE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80760" y="2142607"/>
            <a:ext cx="0" cy="4023360"/>
          </a:xfrm>
          <a:prstGeom prst="line">
            <a:avLst/>
          </a:prstGeom>
          <a:ln w="15875">
            <a:solidFill>
              <a:srgbClr val="D8DEE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561320" y="2142607"/>
            <a:ext cx="0" cy="4023360"/>
          </a:xfrm>
          <a:prstGeom prst="line">
            <a:avLst/>
          </a:prstGeom>
          <a:ln w="15875">
            <a:solidFill>
              <a:srgbClr val="D8DEE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417320" y="2599807"/>
            <a:ext cx="4663440" cy="0"/>
          </a:xfrm>
          <a:prstGeom prst="line">
            <a:avLst/>
          </a:prstGeom>
          <a:ln w="1905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417320" y="2371207"/>
            <a:ext cx="4663440" cy="219456"/>
          </a:xfrm>
          <a:prstGeom prst="rect">
            <a:avLst/>
          </a:prstGeom>
          <a:noFill/>
        </p:spPr>
        <p:txBody>
          <a:bodyPr wrap="square" lIns="0" tIns="0" rIns="0" bIns="0">
            <a:spAutoFit/>
          </a:bodyPr>
          <a:lstStyle/>
          <a:p>
            <a:pPr algn="ctr"/>
            <a:r>
              <a:rPr sz="950" b="1" i="0">
                <a:solidFill>
                  <a:srgbClr val="1A1A1A"/>
                </a:solidFill>
                <a:latin typeface="Arial"/>
              </a:rPr>
              <a:t>1. Zertifikatsanfrage für cockpit.&lt;IHRE-DOMAIN&gt;</a:t>
            </a:r>
          </a:p>
        </p:txBody>
      </p:sp>
      <p:cxnSp>
        <p:nvCxnSpPr>
          <p:cNvPr id="14" name="Connector 13"/>
          <p:cNvCxnSpPr/>
          <p:nvPr/>
        </p:nvCxnSpPr>
        <p:spPr>
          <a:xfrm flipH="1">
            <a:off x="1417320" y="3194167"/>
            <a:ext cx="4663440" cy="0"/>
          </a:xfrm>
          <a:prstGeom prst="line">
            <a:avLst/>
          </a:prstGeom>
          <a:ln w="19050">
            <a:solidFill>
              <a:srgbClr val="1E2761"/>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417320" y="2965567"/>
            <a:ext cx="4663440" cy="219456"/>
          </a:xfrm>
          <a:prstGeom prst="rect">
            <a:avLst/>
          </a:prstGeom>
          <a:noFill/>
        </p:spPr>
        <p:txBody>
          <a:bodyPr wrap="square" lIns="0" tIns="0" rIns="0" bIns="0">
            <a:spAutoFit/>
          </a:bodyPr>
          <a:lstStyle/>
          <a:p>
            <a:pPr algn="ctr"/>
            <a:r>
              <a:rPr sz="950" b="1" i="0">
                <a:solidFill>
                  <a:srgbClr val="1A1A1A"/>
                </a:solidFill>
                <a:latin typeface="Arial"/>
              </a:rPr>
              <a:t>2. Challenge: Token unter /.well-known/acme-challenge/ hinterlegen</a:t>
            </a:r>
          </a:p>
        </p:txBody>
      </p:sp>
      <p:cxnSp>
        <p:nvCxnSpPr>
          <p:cNvPr id="17" name="Connector 16"/>
          <p:cNvCxnSpPr/>
          <p:nvPr/>
        </p:nvCxnSpPr>
        <p:spPr>
          <a:xfrm flipH="1">
            <a:off x="1417320" y="3788527"/>
            <a:ext cx="4663440" cy="0"/>
          </a:xfrm>
          <a:prstGeom prst="line">
            <a:avLst/>
          </a:prstGeom>
          <a:ln w="1905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417320" y="3559927"/>
            <a:ext cx="4663440" cy="219456"/>
          </a:xfrm>
          <a:prstGeom prst="rect">
            <a:avLst/>
          </a:prstGeom>
          <a:noFill/>
        </p:spPr>
        <p:txBody>
          <a:bodyPr wrap="square" lIns="0" tIns="0" rIns="0" bIns="0">
            <a:spAutoFit/>
          </a:bodyPr>
          <a:lstStyle/>
          <a:p>
            <a:pPr algn="ctr"/>
            <a:r>
              <a:rPr sz="950" b="1" i="0">
                <a:solidFill>
                  <a:srgbClr val="1A1A1A"/>
                </a:solidFill>
                <a:latin typeface="Arial"/>
              </a:rPr>
              <a:t>3. HTTP-Anfrage auf Port 80 prüft die Antwortdatei</a:t>
            </a:r>
          </a:p>
        </p:txBody>
      </p:sp>
      <p:sp>
        <p:nvSpPr>
          <p:cNvPr id="19" name="TextBox 18"/>
          <p:cNvSpPr txBox="1"/>
          <p:nvPr/>
        </p:nvSpPr>
        <p:spPr>
          <a:xfrm>
            <a:off x="960120" y="3998838"/>
            <a:ext cx="5577840" cy="219456"/>
          </a:xfrm>
          <a:prstGeom prst="rect">
            <a:avLst/>
          </a:prstGeom>
          <a:noFill/>
        </p:spPr>
        <p:txBody>
          <a:bodyPr wrap="square" lIns="0" tIns="0" rIns="0" bIns="0">
            <a:spAutoFit/>
          </a:bodyPr>
          <a:lstStyle/>
          <a:p>
            <a:pPr algn="ctr"/>
            <a:r>
              <a:rPr sz="900" b="1" i="1">
                <a:solidFill>
                  <a:srgbClr val="8A5A00"/>
                </a:solidFill>
                <a:latin typeface="Arial"/>
              </a:rPr>
              <a:t>einzige Phase, die Port 80 (HTTP) benötigt</a:t>
            </a:r>
          </a:p>
        </p:txBody>
      </p:sp>
      <p:cxnSp>
        <p:nvCxnSpPr>
          <p:cNvPr id="20" name="Connector 19"/>
          <p:cNvCxnSpPr/>
          <p:nvPr/>
        </p:nvCxnSpPr>
        <p:spPr>
          <a:xfrm flipH="1">
            <a:off x="1417320" y="4611487"/>
            <a:ext cx="4663440" cy="0"/>
          </a:xfrm>
          <a:prstGeom prst="line">
            <a:avLst/>
          </a:prstGeom>
          <a:ln w="19050">
            <a:solidFill>
              <a:srgbClr val="1E2761"/>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417320" y="4382887"/>
            <a:ext cx="4663440" cy="219456"/>
          </a:xfrm>
          <a:prstGeom prst="rect">
            <a:avLst/>
          </a:prstGeom>
          <a:noFill/>
        </p:spPr>
        <p:txBody>
          <a:bodyPr wrap="square" lIns="0" tIns="0" rIns="0" bIns="0">
            <a:spAutoFit/>
          </a:bodyPr>
          <a:lstStyle/>
          <a:p>
            <a:pPr algn="ctr"/>
            <a:r>
              <a:rPr sz="950" b="1" i="0">
                <a:solidFill>
                  <a:srgbClr val="1A1A1A"/>
                </a:solidFill>
                <a:latin typeface="Arial"/>
              </a:rPr>
              <a:t>4. Zertifikat ausgestellt (90 Tage gültig)</a:t>
            </a:r>
          </a:p>
        </p:txBody>
      </p:sp>
      <p:cxnSp>
        <p:nvCxnSpPr>
          <p:cNvPr id="22" name="Connector 21"/>
          <p:cNvCxnSpPr/>
          <p:nvPr/>
        </p:nvCxnSpPr>
        <p:spPr>
          <a:xfrm flipH="1">
            <a:off x="1417320" y="5251567"/>
            <a:ext cx="9144000" cy="0"/>
          </a:xfrm>
          <a:prstGeom prst="line">
            <a:avLst/>
          </a:prstGeom>
          <a:ln w="1905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417320" y="5022967"/>
            <a:ext cx="9144000" cy="219456"/>
          </a:xfrm>
          <a:prstGeom prst="rect">
            <a:avLst/>
          </a:prstGeom>
          <a:noFill/>
        </p:spPr>
        <p:txBody>
          <a:bodyPr wrap="square" lIns="0" tIns="0" rIns="0" bIns="0">
            <a:spAutoFit/>
          </a:bodyPr>
          <a:lstStyle/>
          <a:p>
            <a:pPr algn="ctr"/>
            <a:r>
              <a:rPr sz="950" b="1" i="0">
                <a:solidFill>
                  <a:srgbClr val="1A1A1A"/>
                </a:solidFill>
                <a:latin typeface="Arial"/>
              </a:rPr>
              <a:t>5. Ab jetzt: HTTPS-Anfragen über Port 443</a:t>
            </a:r>
          </a:p>
        </p:txBody>
      </p:sp>
      <p:sp>
        <p:nvSpPr>
          <p:cNvPr id="24" name="Rounded Rectangle 23"/>
          <p:cNvSpPr/>
          <p:nvPr/>
        </p:nvSpPr>
        <p:spPr>
          <a:xfrm>
            <a:off x="548640" y="5891647"/>
            <a:ext cx="11091672" cy="566928"/>
          </a:xfrm>
          <a:prstGeom prst="roundRect">
            <a:avLst>
              <a:gd name="adj" fmla="val 12000"/>
            </a:avLst>
          </a:prstGeom>
          <a:solidFill>
            <a:srgbClr val="F4F6FA"/>
          </a:solidFill>
          <a:ln w="9525">
            <a:solidFill>
              <a:srgbClr val="D8DEE9"/>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100" b="1">
                <a:solidFill>
                  <a:srgbClr val="1A1A1A"/>
                </a:solidFill>
                <a:latin typeface="Arial"/>
              </a:rPr>
              <a:t>Automatische Erneuerung alle ~60 Tage wiederholt Schritt 2–4 – deshalb bleibt Port 80 dauerhaft geöffnet, nicht nur bei der Ersteinrichtung.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534949"/>
            <a:ext cx="10953313" cy="1143000"/>
          </a:xfrm>
        </p:spPr>
        <p:txBody>
          <a:bodyPr/>
          <a:lstStyle/>
          <a:p>
            <a:r>
              <a:rPr lang="en-US" sz="2000" dirty="0"/>
              <a:t>Firewall mit ufw einrichten</a:t>
            </a:r>
            <a:br>
              <a:rPr lang="en-US" sz="2000" dirty="0"/>
            </a:br>
            <a:br>
              <a:rPr lang="en-US" sz="2000" dirty="0"/>
            </a:br>
            <a:endParaRPr lang="de-DE" sz="1998" dirty="0"/>
          </a:p>
        </p:txBody>
      </p:sp>
      <p:sp>
        <p:nvSpPr>
          <p:cNvPr id="5" name="Foliennummernplatzhalter 4"/>
          <p:cNvSpPr>
            <a:spLocks noGrp="1"/>
          </p:cNvSpPr>
          <p:nvPr>
            <p:ph type="sldNum" sz="quarter" idx="4"/>
          </p:nvPr>
        </p:nvSpPr>
        <p:spPr/>
        <p:txBody>
          <a:bodyPr/>
          <a:lstStyle/>
          <a:p>
            <a:fld id="{43A6DCFB-163F-4561-BF28-3CD1FE47EE20}" type="slidenum">
              <a:rPr lang="de-DE" smtClean="0"/>
              <a:pPr/>
              <a:t>7</a:t>
            </a:fld>
            <a:endParaRPr lang="de-DE" dirty="0"/>
          </a:p>
        </p:txBody>
      </p:sp>
      <p:sp>
        <p:nvSpPr>
          <p:cNvPr id="41" name="Shape 2">
            <a:extLst>
              <a:ext uri="{FF2B5EF4-FFF2-40B4-BE49-F238E27FC236}">
                <a16:creationId xmlns:a16="http://schemas.microsoft.com/office/drawing/2014/main" id="{38C067B0-3936-41B1-A465-6CF531D3A8B9}"/>
              </a:ext>
            </a:extLst>
          </p:cNvPr>
          <p:cNvSpPr/>
          <p:nvPr/>
        </p:nvSpPr>
        <p:spPr>
          <a:xfrm>
            <a:off x="815896" y="1897817"/>
            <a:ext cx="4819610" cy="2860437"/>
          </a:xfrm>
          <a:prstGeom prst="roundRect">
            <a:avLst>
              <a:gd name="adj" fmla="val 4329"/>
            </a:avLst>
          </a:prstGeom>
          <a:solidFill>
            <a:srgbClr val="1A222C"/>
          </a:solidFill>
          <a:ln w="6350">
            <a:solidFill>
              <a:srgbClr val="2A3540"/>
            </a:solidFill>
            <a:prstDash val="solid"/>
          </a:ln>
        </p:spPr>
      </p:sp>
      <p:sp>
        <p:nvSpPr>
          <p:cNvPr id="42" name="Text 3">
            <a:extLst>
              <a:ext uri="{FF2B5EF4-FFF2-40B4-BE49-F238E27FC236}">
                <a16:creationId xmlns:a16="http://schemas.microsoft.com/office/drawing/2014/main" id="{1AAB280A-C58B-4600-91C2-05E8E72EA5FA}"/>
              </a:ext>
            </a:extLst>
          </p:cNvPr>
          <p:cNvSpPr/>
          <p:nvPr/>
        </p:nvSpPr>
        <p:spPr>
          <a:xfrm>
            <a:off x="1074301" y="2337554"/>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BA8B5"/>
                </a:solidFill>
                <a:latin typeface="Courier New" pitchFamily="34" charset="0"/>
                <a:ea typeface="Courier New" pitchFamily="34" charset="-122"/>
                <a:cs typeface="Courier New" pitchFamily="34" charset="-120"/>
              </a:rPr>
              <a:t>$ ufw status verbose</a:t>
            </a:r>
            <a:endParaRPr lang="en-US" sz="1200" dirty="0"/>
          </a:p>
        </p:txBody>
      </p:sp>
      <p:sp>
        <p:nvSpPr>
          <p:cNvPr id="43" name="Text 4">
            <a:extLst>
              <a:ext uri="{FF2B5EF4-FFF2-40B4-BE49-F238E27FC236}">
                <a16:creationId xmlns:a16="http://schemas.microsoft.com/office/drawing/2014/main" id="{8AAEFDEB-D914-4800-867A-E1B2F3B52DA4}"/>
              </a:ext>
            </a:extLst>
          </p:cNvPr>
          <p:cNvSpPr/>
          <p:nvPr/>
        </p:nvSpPr>
        <p:spPr>
          <a:xfrm>
            <a:off x="1074301" y="2629614"/>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Status: active</a:t>
            </a:r>
            <a:endParaRPr lang="en-US" sz="1200" dirty="0"/>
          </a:p>
        </p:txBody>
      </p:sp>
      <p:sp>
        <p:nvSpPr>
          <p:cNvPr id="44" name="Text 5">
            <a:extLst>
              <a:ext uri="{FF2B5EF4-FFF2-40B4-BE49-F238E27FC236}">
                <a16:creationId xmlns:a16="http://schemas.microsoft.com/office/drawing/2014/main" id="{D23E1F0C-757A-42E1-AD49-385B2705298C}"/>
              </a:ext>
            </a:extLst>
          </p:cNvPr>
          <p:cNvSpPr/>
          <p:nvPr/>
        </p:nvSpPr>
        <p:spPr>
          <a:xfrm>
            <a:off x="1074301" y="2921675"/>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22/tcp   ALLOW IN   Anywhere</a:t>
            </a:r>
            <a:endParaRPr lang="en-US" sz="1200" dirty="0"/>
          </a:p>
        </p:txBody>
      </p:sp>
      <p:sp>
        <p:nvSpPr>
          <p:cNvPr id="45" name="Text 6">
            <a:extLst>
              <a:ext uri="{FF2B5EF4-FFF2-40B4-BE49-F238E27FC236}">
                <a16:creationId xmlns:a16="http://schemas.microsoft.com/office/drawing/2014/main" id="{FF804CF7-5F0A-4A1A-825E-C719AE6AB240}"/>
              </a:ext>
            </a:extLst>
          </p:cNvPr>
          <p:cNvSpPr/>
          <p:nvPr/>
        </p:nvSpPr>
        <p:spPr>
          <a:xfrm>
            <a:off x="1074301" y="3213735"/>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80/tcp   ALLOW IN   Anywhere</a:t>
            </a:r>
            <a:endParaRPr lang="en-US" sz="1200" dirty="0"/>
          </a:p>
        </p:txBody>
      </p:sp>
      <p:sp>
        <p:nvSpPr>
          <p:cNvPr id="46" name="Text 7">
            <a:extLst>
              <a:ext uri="{FF2B5EF4-FFF2-40B4-BE49-F238E27FC236}">
                <a16:creationId xmlns:a16="http://schemas.microsoft.com/office/drawing/2014/main" id="{24A663C8-1008-4A42-9F39-02CC281DFE5F}"/>
              </a:ext>
            </a:extLst>
          </p:cNvPr>
          <p:cNvSpPr/>
          <p:nvPr/>
        </p:nvSpPr>
        <p:spPr>
          <a:xfrm>
            <a:off x="1074301" y="3505795"/>
            <a:ext cx="4431884" cy="254000"/>
          </a:xfrm>
          <a:prstGeom prst="rect">
            <a:avLst/>
          </a:prstGeom>
          <a:noFill/>
          <a:ln/>
        </p:spPr>
        <p:txBody>
          <a:bodyPr wrap="square" lIns="0" tIns="0" rIns="0" bIns="0" rtlCol="0" anchor="t">
            <a:normAutofit/>
          </a:bodyPr>
          <a:lstStyle/>
          <a:p>
            <a:pPr marL="0" indent="0" algn="l">
              <a:lnSpc>
                <a:spcPts val="1800"/>
              </a:lnSpc>
              <a:buNone/>
            </a:pPr>
            <a:r>
              <a:rPr lang="en-US" sz="1200" b="1" dirty="0">
                <a:solidFill>
                  <a:srgbClr val="F2B84B"/>
                </a:solidFill>
                <a:latin typeface="Courier New" pitchFamily="34" charset="0"/>
                <a:ea typeface="Courier New" pitchFamily="34" charset="-122"/>
                <a:cs typeface="Courier New" pitchFamily="34" charset="-120"/>
              </a:rPr>
              <a:t>443/tcp  ALLOW IN   Anywhere</a:t>
            </a:r>
            <a:endParaRPr lang="en-US" sz="1200" dirty="0"/>
          </a:p>
        </p:txBody>
      </p:sp>
      <p:sp>
        <p:nvSpPr>
          <p:cNvPr id="47" name="Text 8">
            <a:extLst>
              <a:ext uri="{FF2B5EF4-FFF2-40B4-BE49-F238E27FC236}">
                <a16:creationId xmlns:a16="http://schemas.microsoft.com/office/drawing/2014/main" id="{532CD5DA-7718-4A8E-8831-B62B02F6B3C1}"/>
              </a:ext>
            </a:extLst>
          </p:cNvPr>
          <p:cNvSpPr/>
          <p:nvPr/>
        </p:nvSpPr>
        <p:spPr>
          <a:xfrm>
            <a:off x="1074301" y="3797856"/>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Logging: on (low)</a:t>
            </a:r>
            <a:endParaRPr lang="en-US" sz="1200" dirty="0"/>
          </a:p>
        </p:txBody>
      </p:sp>
      <p:sp>
        <p:nvSpPr>
          <p:cNvPr id="48" name="Text 9">
            <a:extLst>
              <a:ext uri="{FF2B5EF4-FFF2-40B4-BE49-F238E27FC236}">
                <a16:creationId xmlns:a16="http://schemas.microsoft.com/office/drawing/2014/main" id="{0FA88FCB-C79E-4161-BB07-82B54DE702AE}"/>
              </a:ext>
            </a:extLst>
          </p:cNvPr>
          <p:cNvSpPr/>
          <p:nvPr/>
        </p:nvSpPr>
        <p:spPr>
          <a:xfrm>
            <a:off x="1074301" y="4089916"/>
            <a:ext cx="4431884" cy="254000"/>
          </a:xfrm>
          <a:prstGeom prst="rect">
            <a:avLst/>
          </a:prstGeom>
          <a:noFill/>
          <a:ln/>
        </p:spPr>
        <p:txBody>
          <a:bodyPr wrap="square" lIns="0" tIns="0" rIns="0" bIns="0" rtlCol="0" anchor="t">
            <a:normAutofit/>
          </a:bodyPr>
          <a:lstStyle/>
          <a:p>
            <a:pPr marL="0" indent="0" algn="l">
              <a:lnSpc>
                <a:spcPts val="1800"/>
              </a:lnSpc>
              <a:buNone/>
            </a:pPr>
            <a:endParaRPr lang="en-US" sz="1200" dirty="0"/>
          </a:p>
        </p:txBody>
      </p:sp>
      <p:sp>
        <p:nvSpPr>
          <p:cNvPr id="49" name="Shape 10">
            <a:extLst>
              <a:ext uri="{FF2B5EF4-FFF2-40B4-BE49-F238E27FC236}">
                <a16:creationId xmlns:a16="http://schemas.microsoft.com/office/drawing/2014/main" id="{8F857C7B-B20F-46F9-8EE1-DA98ED1AAE54}"/>
              </a:ext>
            </a:extLst>
          </p:cNvPr>
          <p:cNvSpPr/>
          <p:nvPr/>
        </p:nvSpPr>
        <p:spPr>
          <a:xfrm>
            <a:off x="5997377" y="2043906"/>
            <a:ext cx="349171" cy="349171"/>
          </a:xfrm>
          <a:prstGeom prst="roundRect">
            <a:avLst>
              <a:gd name="adj" fmla="val 50000"/>
            </a:avLst>
          </a:prstGeom>
          <a:solidFill>
            <a:srgbClr val="F2B84B">
              <a:alpha val="15000"/>
            </a:srgbClr>
          </a:solidFill>
          <a:ln w="6350">
            <a:solidFill>
              <a:srgbClr val="F2B84B"/>
            </a:solidFill>
            <a:prstDash val="solid"/>
          </a:ln>
        </p:spPr>
      </p:sp>
      <p:sp>
        <p:nvSpPr>
          <p:cNvPr id="50" name="Text 11">
            <a:extLst>
              <a:ext uri="{FF2B5EF4-FFF2-40B4-BE49-F238E27FC236}">
                <a16:creationId xmlns:a16="http://schemas.microsoft.com/office/drawing/2014/main" id="{1C8F9B9E-BF92-43F2-B472-F74A689D5FE6}"/>
              </a:ext>
            </a:extLst>
          </p:cNvPr>
          <p:cNvSpPr/>
          <p:nvPr/>
        </p:nvSpPr>
        <p:spPr>
          <a:xfrm>
            <a:off x="6122432" y="2094071"/>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1</a:t>
            </a:r>
            <a:endParaRPr lang="en-US" sz="1400" dirty="0"/>
          </a:p>
        </p:txBody>
      </p:sp>
      <p:sp>
        <p:nvSpPr>
          <p:cNvPr id="51" name="Text 12">
            <a:extLst>
              <a:ext uri="{FF2B5EF4-FFF2-40B4-BE49-F238E27FC236}">
                <a16:creationId xmlns:a16="http://schemas.microsoft.com/office/drawing/2014/main" id="{B9AA4CCF-E012-41F2-9846-BB357A6ADA52}"/>
              </a:ext>
            </a:extLst>
          </p:cNvPr>
          <p:cNvSpPr/>
          <p:nvPr/>
        </p:nvSpPr>
        <p:spPr>
          <a:xfrm>
            <a:off x="6502122" y="2040731"/>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Standardregeln setzen</a:t>
            </a:r>
            <a:endParaRPr lang="en-US" sz="1400" dirty="0"/>
          </a:p>
        </p:txBody>
      </p:sp>
      <p:sp>
        <p:nvSpPr>
          <p:cNvPr id="52" name="Text 13">
            <a:extLst>
              <a:ext uri="{FF2B5EF4-FFF2-40B4-BE49-F238E27FC236}">
                <a16:creationId xmlns:a16="http://schemas.microsoft.com/office/drawing/2014/main" id="{8294DD96-C001-49F2-8130-4C473B854ED3}"/>
              </a:ext>
            </a:extLst>
          </p:cNvPr>
          <p:cNvSpPr/>
          <p:nvPr/>
        </p:nvSpPr>
        <p:spPr>
          <a:xfrm>
            <a:off x="6502122" y="2292072"/>
            <a:ext cx="5023472" cy="4164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Alles ablehnen, nur explizit Erlaubtes durchlassen</a:t>
            </a:r>
            <a:endParaRPr lang="en-US" sz="1400" dirty="0"/>
          </a:p>
        </p:txBody>
      </p:sp>
      <p:sp>
        <p:nvSpPr>
          <p:cNvPr id="53" name="Text 14">
            <a:extLst>
              <a:ext uri="{FF2B5EF4-FFF2-40B4-BE49-F238E27FC236}">
                <a16:creationId xmlns:a16="http://schemas.microsoft.com/office/drawing/2014/main" id="{763870ED-19DF-43FF-A66E-56694F219C40}"/>
              </a:ext>
            </a:extLst>
          </p:cNvPr>
          <p:cNvSpPr/>
          <p:nvPr/>
        </p:nvSpPr>
        <p:spPr>
          <a:xfrm>
            <a:off x="6502122" y="2721174"/>
            <a:ext cx="5023472" cy="215900"/>
          </a:xfrm>
          <a:prstGeom prst="rect">
            <a:avLst/>
          </a:prstGeom>
          <a:noFill/>
          <a:ln/>
        </p:spPr>
        <p:txBody>
          <a:bodyPr wrap="square" lIns="0" tIns="0" rIns="0" bIns="0" rtlCol="0" anchor="t">
            <a:normAutofit/>
          </a:bodyPr>
          <a:lstStyle/>
          <a:p>
            <a:pPr marL="0" indent="0" algn="l">
              <a:lnSpc>
                <a:spcPts val="1500"/>
              </a:lnSpc>
              <a:buNone/>
            </a:pPr>
            <a:r>
              <a:rPr lang="en-US" sz="1400" dirty="0">
                <a:ea typeface="Courier New" pitchFamily="34" charset="-122"/>
                <a:cs typeface="Courier New" pitchFamily="34" charset="-120"/>
              </a:rPr>
              <a:t>ufw default deny incoming</a:t>
            </a:r>
            <a:endParaRPr lang="en-US" sz="1400" dirty="0"/>
          </a:p>
        </p:txBody>
      </p:sp>
      <p:sp>
        <p:nvSpPr>
          <p:cNvPr id="54" name="Shape 15">
            <a:extLst>
              <a:ext uri="{FF2B5EF4-FFF2-40B4-BE49-F238E27FC236}">
                <a16:creationId xmlns:a16="http://schemas.microsoft.com/office/drawing/2014/main" id="{FDA7ADAD-64AE-483B-AB8D-DFEA2D20D6F4}"/>
              </a:ext>
            </a:extLst>
          </p:cNvPr>
          <p:cNvSpPr/>
          <p:nvPr/>
        </p:nvSpPr>
        <p:spPr>
          <a:xfrm>
            <a:off x="5997377" y="3117969"/>
            <a:ext cx="349171" cy="349171"/>
          </a:xfrm>
          <a:prstGeom prst="roundRect">
            <a:avLst>
              <a:gd name="adj" fmla="val 50000"/>
            </a:avLst>
          </a:prstGeom>
          <a:solidFill>
            <a:srgbClr val="F2B84B">
              <a:alpha val="15000"/>
            </a:srgbClr>
          </a:solidFill>
          <a:ln w="6350">
            <a:solidFill>
              <a:srgbClr val="F2B84B"/>
            </a:solidFill>
            <a:prstDash val="solid"/>
          </a:ln>
        </p:spPr>
      </p:sp>
      <p:sp>
        <p:nvSpPr>
          <p:cNvPr id="55" name="Text 16">
            <a:extLst>
              <a:ext uri="{FF2B5EF4-FFF2-40B4-BE49-F238E27FC236}">
                <a16:creationId xmlns:a16="http://schemas.microsoft.com/office/drawing/2014/main" id="{4164429F-9F1E-424F-AFE2-43B367F37BE9}"/>
              </a:ext>
            </a:extLst>
          </p:cNvPr>
          <p:cNvSpPr/>
          <p:nvPr/>
        </p:nvSpPr>
        <p:spPr>
          <a:xfrm>
            <a:off x="6122432" y="3168134"/>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2</a:t>
            </a:r>
            <a:endParaRPr lang="en-US" sz="1400" dirty="0"/>
          </a:p>
        </p:txBody>
      </p:sp>
      <p:sp>
        <p:nvSpPr>
          <p:cNvPr id="56" name="Text 17">
            <a:extLst>
              <a:ext uri="{FF2B5EF4-FFF2-40B4-BE49-F238E27FC236}">
                <a16:creationId xmlns:a16="http://schemas.microsoft.com/office/drawing/2014/main" id="{10AD6FAB-7B0B-43BD-A629-8F05EEBBED60}"/>
              </a:ext>
            </a:extLst>
          </p:cNvPr>
          <p:cNvSpPr/>
          <p:nvPr/>
        </p:nvSpPr>
        <p:spPr>
          <a:xfrm>
            <a:off x="6502122" y="3114794"/>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Notwendige Ports erlauben</a:t>
            </a:r>
            <a:endParaRPr lang="en-US" sz="1400" dirty="0"/>
          </a:p>
        </p:txBody>
      </p:sp>
      <p:sp>
        <p:nvSpPr>
          <p:cNvPr id="57" name="Text 18">
            <a:extLst>
              <a:ext uri="{FF2B5EF4-FFF2-40B4-BE49-F238E27FC236}">
                <a16:creationId xmlns:a16="http://schemas.microsoft.com/office/drawing/2014/main" id="{C21BBB92-8131-4FF5-883C-DB37F1896D0C}"/>
              </a:ext>
            </a:extLst>
          </p:cNvPr>
          <p:cNvSpPr/>
          <p:nvPr/>
        </p:nvSpPr>
        <p:spPr>
          <a:xfrm>
            <a:off x="6502122" y="3366135"/>
            <a:ext cx="5023472" cy="4164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SSH bleibt erreichbar, HTTP/HTTPS für Caddy und Let's-Encrypt-Challenge</a:t>
            </a:r>
            <a:endParaRPr lang="en-US" sz="1400" dirty="0"/>
          </a:p>
        </p:txBody>
      </p:sp>
      <p:sp>
        <p:nvSpPr>
          <p:cNvPr id="58" name="Shape 19">
            <a:extLst>
              <a:ext uri="{FF2B5EF4-FFF2-40B4-BE49-F238E27FC236}">
                <a16:creationId xmlns:a16="http://schemas.microsoft.com/office/drawing/2014/main" id="{21AAD443-ED9F-4532-835D-74575E2EFA63}"/>
              </a:ext>
            </a:extLst>
          </p:cNvPr>
          <p:cNvSpPr/>
          <p:nvPr/>
        </p:nvSpPr>
        <p:spPr>
          <a:xfrm>
            <a:off x="5997377" y="3963432"/>
            <a:ext cx="349171" cy="349171"/>
          </a:xfrm>
          <a:prstGeom prst="roundRect">
            <a:avLst>
              <a:gd name="adj" fmla="val 50000"/>
            </a:avLst>
          </a:prstGeom>
          <a:solidFill>
            <a:srgbClr val="F2B84B">
              <a:alpha val="15000"/>
            </a:srgbClr>
          </a:solidFill>
          <a:ln w="6350">
            <a:solidFill>
              <a:srgbClr val="F2B84B"/>
            </a:solidFill>
            <a:prstDash val="solid"/>
          </a:ln>
        </p:spPr>
      </p:sp>
      <p:sp>
        <p:nvSpPr>
          <p:cNvPr id="59" name="Text 20">
            <a:extLst>
              <a:ext uri="{FF2B5EF4-FFF2-40B4-BE49-F238E27FC236}">
                <a16:creationId xmlns:a16="http://schemas.microsoft.com/office/drawing/2014/main" id="{0F6A2A80-7820-4F44-8E7A-61751819FAFC}"/>
              </a:ext>
            </a:extLst>
          </p:cNvPr>
          <p:cNvSpPr/>
          <p:nvPr/>
        </p:nvSpPr>
        <p:spPr>
          <a:xfrm>
            <a:off x="6122432" y="4013597"/>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3</a:t>
            </a:r>
            <a:endParaRPr lang="en-US" sz="1400" dirty="0"/>
          </a:p>
        </p:txBody>
      </p:sp>
      <p:sp>
        <p:nvSpPr>
          <p:cNvPr id="60" name="Text 21">
            <a:extLst>
              <a:ext uri="{FF2B5EF4-FFF2-40B4-BE49-F238E27FC236}">
                <a16:creationId xmlns:a16="http://schemas.microsoft.com/office/drawing/2014/main" id="{477E6D75-3A3B-475F-8766-52DFA7645D93}"/>
              </a:ext>
            </a:extLst>
          </p:cNvPr>
          <p:cNvSpPr/>
          <p:nvPr/>
        </p:nvSpPr>
        <p:spPr>
          <a:xfrm>
            <a:off x="6502122" y="3960257"/>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Aktivieren &amp; prüfen</a:t>
            </a:r>
            <a:endParaRPr lang="en-US" sz="1400" dirty="0"/>
          </a:p>
        </p:txBody>
      </p:sp>
      <p:sp>
        <p:nvSpPr>
          <p:cNvPr id="61" name="Text 22">
            <a:extLst>
              <a:ext uri="{FF2B5EF4-FFF2-40B4-BE49-F238E27FC236}">
                <a16:creationId xmlns:a16="http://schemas.microsoft.com/office/drawing/2014/main" id="{3CE88406-4D3B-44C6-A32D-A5EF1D2984C7}"/>
              </a:ext>
            </a:extLst>
          </p:cNvPr>
          <p:cNvSpPr/>
          <p:nvPr/>
        </p:nvSpPr>
        <p:spPr>
          <a:xfrm>
            <a:off x="6502122" y="4198858"/>
            <a:ext cx="5023472" cy="2209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ufw enable</a:t>
            </a:r>
            <a:endParaRPr lang="en-US" sz="1400" dirty="0"/>
          </a:p>
        </p:txBody>
      </p:sp>
      <p:sp>
        <p:nvSpPr>
          <p:cNvPr id="62" name="Text 23">
            <a:extLst>
              <a:ext uri="{FF2B5EF4-FFF2-40B4-BE49-F238E27FC236}">
                <a16:creationId xmlns:a16="http://schemas.microsoft.com/office/drawing/2014/main" id="{797138DB-BC51-4397-BF84-450B27ADBDB3}"/>
              </a:ext>
            </a:extLst>
          </p:cNvPr>
          <p:cNvSpPr/>
          <p:nvPr/>
        </p:nvSpPr>
        <p:spPr>
          <a:xfrm>
            <a:off x="6502122" y="4419719"/>
            <a:ext cx="5023472" cy="2209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ufw status verbose</a:t>
            </a:r>
            <a:endParaRPr lang="en-US" sz="1400" dirty="0"/>
          </a:p>
        </p:txBody>
      </p:sp>
      <p:sp>
        <p:nvSpPr>
          <p:cNvPr id="67" name="Text 27">
            <a:extLst>
              <a:ext uri="{FF2B5EF4-FFF2-40B4-BE49-F238E27FC236}">
                <a16:creationId xmlns:a16="http://schemas.microsoft.com/office/drawing/2014/main" id="{1A300C58-C33C-4563-9481-8813CF0D164F}"/>
              </a:ext>
            </a:extLst>
          </p:cNvPr>
          <p:cNvSpPr/>
          <p:nvPr/>
        </p:nvSpPr>
        <p:spPr>
          <a:xfrm>
            <a:off x="1511141" y="5466160"/>
            <a:ext cx="9928725" cy="223520"/>
          </a:xfrm>
          <a:prstGeom prst="rect">
            <a:avLst/>
          </a:prstGeom>
          <a:noFill/>
          <a:ln/>
        </p:spPr>
        <p:txBody>
          <a:bodyPr wrap="square" lIns="0" tIns="0" rIns="0" bIns="0" rtlCol="0" anchor="t">
            <a:normAutofit/>
          </a:bodyPr>
          <a:lstStyle/>
          <a:p>
            <a:pPr marL="0" indent="0" algn="l">
              <a:lnSpc>
                <a:spcPts val="1560"/>
              </a:lnSpc>
              <a:buNone/>
            </a:pPr>
            <a:r>
              <a:rPr lang="en-US" sz="1400" dirty="0">
                <a:latin typeface="Arial" pitchFamily="34" charset="0"/>
                <a:ea typeface="Arial" pitchFamily="34" charset="-122"/>
                <a:cs typeface="Arial" pitchFamily="34" charset="-120"/>
              </a:rPr>
              <a:t>Ohne SSH-Regel sperren Sie sich beim Aktivieren aus – Notfallzugang per Web-Konsole.</a:t>
            </a:r>
            <a:endParaRPr lang="en-US" sz="1400" dirty="0"/>
          </a:p>
        </p:txBody>
      </p:sp>
      <p:pic>
        <p:nvPicPr>
          <p:cNvPr id="68" name="Grafik 67" descr="Ausrufezeichen mit einfarbiger Füllung">
            <a:extLst>
              <a:ext uri="{FF2B5EF4-FFF2-40B4-BE49-F238E27FC236}">
                <a16:creationId xmlns:a16="http://schemas.microsoft.com/office/drawing/2014/main" id="{0254A55C-46A4-4C6E-8348-4E04132019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6741" y="5008960"/>
            <a:ext cx="914400" cy="914400"/>
          </a:xfrm>
          <a:prstGeom prst="rect">
            <a:avLst/>
          </a:prstGeom>
        </p:spPr>
      </p:pic>
    </p:spTree>
    <p:extLst>
      <p:ext uri="{BB962C8B-B14F-4D97-AF65-F5344CB8AC3E}">
        <p14:creationId xmlns:p14="http://schemas.microsoft.com/office/powerpoint/2010/main" val="1819360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3955" y="331336"/>
            <a:ext cx="10953313" cy="1143000"/>
          </a:xfrm>
        </p:spPr>
        <p:txBody>
          <a:bodyPr/>
          <a:lstStyle/>
          <a:p>
            <a:r>
              <a:rPr lang="en-US" sz="2000" b="1" dirty="0" err="1">
                <a:solidFill>
                  <a:srgbClr val="1E2761"/>
                </a:solidFill>
                <a:latin typeface="Cambria" pitchFamily="34" charset="0"/>
                <a:ea typeface="Cambria" pitchFamily="34" charset="-122"/>
                <a:cs typeface="Cambria" pitchFamily="34" charset="-120"/>
              </a:rPr>
              <a:t>Variante 1 – Dienst A: öffentlich erreichbar (kein Schutz)</a:t>
            </a:r>
            <a:br>
              <a:rPr lang="en-US" sz="2000" dirty="0"/>
            </a:br>
            <a:endParaRPr lang="de-DE" sz="1998" dirty="0"/>
          </a:p>
        </p:txBody>
      </p:sp>
      <p:sp>
        <p:nvSpPr>
          <p:cNvPr id="5" name="Foliennummernplatzhalter 4"/>
          <p:cNvSpPr>
            <a:spLocks noGrp="1"/>
          </p:cNvSpPr>
          <p:nvPr>
            <p:ph type="sldNum" sz="quarter" idx="4"/>
          </p:nvPr>
        </p:nvSpPr>
        <p:spPr/>
        <p:txBody>
          <a:bodyPr/>
          <a:lstStyle/>
          <a:p>
            <a:fld id="{43A6DCFB-163F-4561-BF28-3CD1FE47EE20}" type="slidenum">
              <a:rPr lang="de-DE" smtClean="0"/>
              <a:pPr/>
              <a:t>8</a:t>
            </a:fld>
            <a:endParaRPr lang="de-DE" dirty="0"/>
          </a:p>
        </p:txBody>
      </p:sp>
      <p:sp>
        <p:nvSpPr>
          <p:cNvPr id="21" name="Shape 6">
            <a:extLst>
              <a:ext uri="{FF2B5EF4-FFF2-40B4-BE49-F238E27FC236}">
                <a16:creationId xmlns:a16="http://schemas.microsoft.com/office/drawing/2014/main" id="{11A55839-1DE0-4C24-BF3C-0EA010B5D370}"/>
              </a:ext>
            </a:extLst>
          </p:cNvPr>
          <p:cNvSpPr/>
          <p:nvPr/>
        </p:nvSpPr>
        <p:spPr>
          <a:xfrm>
            <a:off x="2468880" y="2272555"/>
            <a:ext cx="0" cy="3657600"/>
          </a:xfrm>
          <a:prstGeom prst="line">
            <a:avLst/>
          </a:prstGeom>
          <a:noFill/>
          <a:ln w="15875">
            <a:solidFill>
              <a:srgbClr val="D8DEE9"/>
            </a:solidFill>
            <a:prstDash val="dash"/>
          </a:ln>
        </p:spPr>
      </p:sp>
      <p:sp>
        <p:nvSpPr>
          <p:cNvPr id="22" name="Shape 7">
            <a:extLst>
              <a:ext uri="{FF2B5EF4-FFF2-40B4-BE49-F238E27FC236}">
                <a16:creationId xmlns:a16="http://schemas.microsoft.com/office/drawing/2014/main" id="{51384A62-AFAF-4DEF-9E09-883505B0D01C}"/>
              </a:ext>
            </a:extLst>
          </p:cNvPr>
          <p:cNvSpPr/>
          <p:nvPr/>
        </p:nvSpPr>
        <p:spPr>
          <a:xfrm>
            <a:off x="9722815" y="2272555"/>
            <a:ext cx="0" cy="3657600"/>
          </a:xfrm>
          <a:prstGeom prst="line">
            <a:avLst/>
          </a:prstGeom>
          <a:noFill/>
          <a:ln w="15875">
            <a:solidFill>
              <a:srgbClr val="D8DEE9"/>
            </a:solidFill>
            <a:prstDash val="dash"/>
          </a:ln>
        </p:spPr>
      </p:sp>
      <p:sp>
        <p:nvSpPr>
          <p:cNvPr id="24" name="Text 9">
            <a:extLst>
              <a:ext uri="{FF2B5EF4-FFF2-40B4-BE49-F238E27FC236}">
                <a16:creationId xmlns:a16="http://schemas.microsoft.com/office/drawing/2014/main" id="{E8CE578C-1878-4EBE-B98B-80EDA13F601B}"/>
              </a:ext>
            </a:extLst>
          </p:cNvPr>
          <p:cNvSpPr txBox="1"/>
          <p:nvPr/>
        </p:nvSpPr>
        <p:spPr>
          <a:xfrm>
            <a:off x="1280160" y="2036606"/>
            <a:ext cx="1828800" cy="420624"/>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CLIENT</a:t>
            </a:r>
            <a:endParaRPr lang="en-US" sz="1300" dirty="0"/>
          </a:p>
        </p:txBody>
      </p:sp>
      <p:sp>
        <p:nvSpPr>
          <p:cNvPr id="27" name="Text 12">
            <a:extLst>
              <a:ext uri="{FF2B5EF4-FFF2-40B4-BE49-F238E27FC236}">
                <a16:creationId xmlns:a16="http://schemas.microsoft.com/office/drawing/2014/main" id="{0CB437B5-4790-4408-8572-E8067A3BE468}"/>
              </a:ext>
            </a:extLst>
          </p:cNvPr>
          <p:cNvSpPr txBox="1"/>
          <p:nvPr/>
        </p:nvSpPr>
        <p:spPr>
          <a:xfrm>
            <a:off x="2468880" y="2336563"/>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HTTPS-Anfrage an dienst-a.&lt;IHRE-DOMAIN&gt;</a:t>
            </a:r>
            <a:endParaRPr lang="en-US" sz="1200" dirty="0"/>
          </a:p>
        </p:txBody>
      </p:sp>
      <p:sp>
        <p:nvSpPr>
          <p:cNvPr id="28" name="Shape 13">
            <a:extLst>
              <a:ext uri="{FF2B5EF4-FFF2-40B4-BE49-F238E27FC236}">
                <a16:creationId xmlns:a16="http://schemas.microsoft.com/office/drawing/2014/main" id="{F9C1BF48-96DF-4BF5-97A3-6E41B498AA4D}"/>
              </a:ext>
            </a:extLst>
          </p:cNvPr>
          <p:cNvSpPr/>
          <p:nvPr/>
        </p:nvSpPr>
        <p:spPr>
          <a:xfrm>
            <a:off x="2468880" y="2647459"/>
            <a:ext cx="7253935" cy="0"/>
          </a:xfrm>
          <a:prstGeom prst="line">
            <a:avLst/>
          </a:prstGeom>
          <a:noFill/>
          <a:ln w="22225">
            <a:solidFill>
              <a:srgbClr val="1E2761"/>
            </a:solidFill>
            <a:prstDash val="solid"/>
            <a:tailEnd type="triangle"/>
          </a:ln>
        </p:spPr>
      </p:sp>
      <p:sp>
        <p:nvSpPr>
          <p:cNvPr id="29" name="Text 14">
            <a:extLst>
              <a:ext uri="{FF2B5EF4-FFF2-40B4-BE49-F238E27FC236}">
                <a16:creationId xmlns:a16="http://schemas.microsoft.com/office/drawing/2014/main" id="{C9479BCE-1449-4C78-A3B5-108C20426612}"/>
              </a:ext>
            </a:extLst>
          </p:cNvPr>
          <p:cNvSpPr txBox="1"/>
          <p:nvPr/>
        </p:nvSpPr>
        <p:spPr>
          <a:xfrm>
            <a:off x="2468880" y="2994931"/>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Caddy erkennt den Hostnamen im Caddyfile</a:t>
            </a:r>
            <a:endParaRPr lang="en-US" sz="1200" dirty="0"/>
          </a:p>
        </p:txBody>
      </p:sp>
      <p:sp>
        <p:nvSpPr>
          <p:cNvPr id="30" name="Shape 15">
            <a:extLst>
              <a:ext uri="{FF2B5EF4-FFF2-40B4-BE49-F238E27FC236}">
                <a16:creationId xmlns:a16="http://schemas.microsoft.com/office/drawing/2014/main" id="{170E7C85-354C-433C-9FED-A19090C54982}"/>
              </a:ext>
            </a:extLst>
          </p:cNvPr>
          <p:cNvSpPr/>
          <p:nvPr/>
        </p:nvSpPr>
        <p:spPr>
          <a:xfrm>
            <a:off x="2468880" y="3305827"/>
            <a:ext cx="7253935" cy="0"/>
          </a:xfrm>
          <a:prstGeom prst="line">
            <a:avLst/>
          </a:prstGeom>
          <a:noFill/>
          <a:ln w="22225">
            <a:solidFill>
              <a:srgbClr val="1E2761"/>
            </a:solidFill>
            <a:prstDash val="solid"/>
            <a:headEnd type="triangle"/>
          </a:ln>
        </p:spPr>
      </p:sp>
      <p:sp>
        <p:nvSpPr>
          <p:cNvPr id="31" name="Text 16">
            <a:extLst>
              <a:ext uri="{FF2B5EF4-FFF2-40B4-BE49-F238E27FC236}">
                <a16:creationId xmlns:a16="http://schemas.microsoft.com/office/drawing/2014/main" id="{4592DE02-3ECD-4F7E-97B0-C776134DCF95}"/>
              </a:ext>
            </a:extLst>
          </p:cNvPr>
          <p:cNvSpPr txBox="1"/>
          <p:nvPr/>
        </p:nvSpPr>
        <p:spPr>
          <a:xfrm>
            <a:off x="2468880" y="3689875"/>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Kein basic_auth-Block hinterlegt</a:t>
            </a:r>
            <a:endParaRPr lang="en-US" sz="1200" dirty="0"/>
          </a:p>
        </p:txBody>
      </p:sp>
      <p:sp>
        <p:nvSpPr>
          <p:cNvPr id="32" name="Shape 17">
            <a:extLst>
              <a:ext uri="{FF2B5EF4-FFF2-40B4-BE49-F238E27FC236}">
                <a16:creationId xmlns:a16="http://schemas.microsoft.com/office/drawing/2014/main" id="{848F3D3E-CE86-4720-8DBB-65CEEFDAE5BB}"/>
              </a:ext>
            </a:extLst>
          </p:cNvPr>
          <p:cNvSpPr/>
          <p:nvPr/>
        </p:nvSpPr>
        <p:spPr>
          <a:xfrm>
            <a:off x="2468880" y="4000771"/>
            <a:ext cx="7253935" cy="0"/>
          </a:xfrm>
          <a:prstGeom prst="line">
            <a:avLst/>
          </a:prstGeom>
          <a:noFill/>
          <a:ln w="22225">
            <a:solidFill>
              <a:srgbClr val="1E2761"/>
            </a:solidFill>
            <a:prstDash val="solid"/>
            <a:tailEnd type="triangle"/>
          </a:ln>
        </p:spPr>
      </p:sp>
      <p:sp>
        <p:nvSpPr>
          <p:cNvPr id="33" name="Text 18">
            <a:extLst>
              <a:ext uri="{FF2B5EF4-FFF2-40B4-BE49-F238E27FC236}">
                <a16:creationId xmlns:a16="http://schemas.microsoft.com/office/drawing/2014/main" id="{E3CAEA97-7F47-455C-8850-D7169E9A7B1A}"/>
              </a:ext>
            </a:extLst>
          </p:cNvPr>
          <p:cNvSpPr txBox="1"/>
          <p:nvPr/>
        </p:nvSpPr>
        <p:spPr>
          <a:xfrm>
            <a:off x="2194560" y="4073923"/>
            <a:ext cx="7802575" cy="292608"/>
          </a:xfrm>
          <a:prstGeom prst="rect">
            <a:avLst/>
          </a:prstGeom>
          <a:noFill/>
          <a:ln/>
        </p:spPr>
        <p:txBody>
          <a:bodyPr wrap="square" lIns="0" tIns="0" rIns="0" bIns="0" rtlCol="0" anchor="t"/>
          <a:lstStyle/>
          <a:p>
            <a:pPr marL="0" indent="0" algn="ctr">
              <a:buNone/>
            </a:pPr>
            <a:r>
              <a:rPr lang="en-US" sz="1050" i="1" dirty="0">
                <a:solidFill>
                  <a:srgbClr val="B03A2E"/>
                </a:solidFill>
                <a:latin typeface="Calibri" pitchFamily="34" charset="0"/>
                <a:ea typeface="Calibri" pitchFamily="34" charset="-122"/>
                <a:cs typeface="Calibri" pitchFamily="34" charset="-120"/>
              </a:rPr>
              <a:t>Jeder mit der URL sieht den Inhalt sofort</a:t>
            </a:r>
            <a:endParaRPr lang="en-US" sz="1050" dirty="0"/>
          </a:p>
        </p:txBody>
      </p:sp>
      <p:sp>
        <p:nvSpPr>
          <p:cNvPr id="34" name="Shape 19">
            <a:extLst>
              <a:ext uri="{FF2B5EF4-FFF2-40B4-BE49-F238E27FC236}">
                <a16:creationId xmlns:a16="http://schemas.microsoft.com/office/drawing/2014/main" id="{670B4D0F-FBF2-49D3-82D1-F440BA61DC19}"/>
              </a:ext>
            </a:extLst>
          </p:cNvPr>
          <p:cNvSpPr/>
          <p:nvPr/>
        </p:nvSpPr>
        <p:spPr>
          <a:xfrm>
            <a:off x="7802575" y="4540267"/>
            <a:ext cx="3840480" cy="457200"/>
          </a:xfrm>
          <a:prstGeom prst="roundRect">
            <a:avLst>
              <a:gd name="adj" fmla="val 16000"/>
            </a:avLst>
          </a:prstGeom>
          <a:solidFill>
            <a:srgbClr val="F4F6FA"/>
          </a:solidFill>
          <a:ln w="9525">
            <a:solidFill>
              <a:srgbClr val="D8DEE9"/>
            </a:solidFill>
            <a:prstDash val="solid"/>
          </a:ln>
        </p:spPr>
      </p:sp>
      <p:sp>
        <p:nvSpPr>
          <p:cNvPr id="35" name="Text 20">
            <a:extLst>
              <a:ext uri="{FF2B5EF4-FFF2-40B4-BE49-F238E27FC236}">
                <a16:creationId xmlns:a16="http://schemas.microsoft.com/office/drawing/2014/main" id="{9E358CDC-6873-4AC9-9F65-93474D6FC232}"/>
              </a:ext>
            </a:extLst>
          </p:cNvPr>
          <p:cNvSpPr txBox="1"/>
          <p:nvPr/>
        </p:nvSpPr>
        <p:spPr>
          <a:xfrm>
            <a:off x="7939735" y="4540267"/>
            <a:ext cx="3566160" cy="457200"/>
          </a:xfrm>
          <a:prstGeom prst="rect">
            <a:avLst/>
          </a:prstGeom>
          <a:noFill/>
          <a:ln/>
        </p:spPr>
        <p:txBody>
          <a:bodyPr wrap="square" lIns="0" tIns="0" rIns="0" bIns="0" rtlCol="0" anchor="ctr"/>
          <a:lstStyle/>
          <a:p>
            <a:pPr marL="0" indent="0" algn="ctr">
              <a:buNone/>
            </a:pPr>
            <a:r>
              <a:rPr lang="en-US" sz="1100" b="1" dirty="0">
                <a:solidFill>
                  <a:srgbClr val="1A1F2B"/>
                </a:solidFill>
                <a:latin typeface="Calibri" pitchFamily="34" charset="0"/>
                <a:ea typeface="Calibri" pitchFamily="34" charset="-122"/>
                <a:cs typeface="Calibri" pitchFamily="34" charset="-120"/>
              </a:rPr>
              <a:t>reverse_proxy localhost:8001</a:t>
            </a:r>
            <a:endParaRPr lang="en-US" sz="1100" dirty="0"/>
          </a:p>
        </p:txBody>
      </p:sp>
      <p:sp>
        <p:nvSpPr>
          <p:cNvPr id="36" name="Text 21">
            <a:extLst>
              <a:ext uri="{FF2B5EF4-FFF2-40B4-BE49-F238E27FC236}">
                <a16:creationId xmlns:a16="http://schemas.microsoft.com/office/drawing/2014/main" id="{C7D7202E-294A-4DEB-8D71-3A3D4D7B3B6C}"/>
              </a:ext>
            </a:extLst>
          </p:cNvPr>
          <p:cNvSpPr txBox="1"/>
          <p:nvPr/>
        </p:nvSpPr>
        <p:spPr>
          <a:xfrm>
            <a:off x="2468880" y="5171203"/>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Antwort wird direkt zurückgegeben</a:t>
            </a:r>
            <a:endParaRPr lang="en-US" sz="1200" dirty="0"/>
          </a:p>
        </p:txBody>
      </p:sp>
      <p:sp>
        <p:nvSpPr>
          <p:cNvPr id="37" name="Shape 22">
            <a:extLst>
              <a:ext uri="{FF2B5EF4-FFF2-40B4-BE49-F238E27FC236}">
                <a16:creationId xmlns:a16="http://schemas.microsoft.com/office/drawing/2014/main" id="{5CF97E3D-3DCC-4FE5-AF5A-DC6024ACA703}"/>
              </a:ext>
            </a:extLst>
          </p:cNvPr>
          <p:cNvSpPr/>
          <p:nvPr/>
        </p:nvSpPr>
        <p:spPr>
          <a:xfrm>
            <a:off x="2468880" y="5482099"/>
            <a:ext cx="7253935" cy="0"/>
          </a:xfrm>
          <a:prstGeom prst="line">
            <a:avLst/>
          </a:prstGeom>
          <a:noFill/>
          <a:ln w="22225">
            <a:solidFill>
              <a:srgbClr val="1E2761"/>
            </a:solidFill>
            <a:prstDash val="solid"/>
            <a:headEnd type="triangle"/>
          </a:ln>
        </p:spPr>
      </p:sp>
      <p:sp>
        <p:nvSpPr>
          <p:cNvPr id="38" name="Shape 23">
            <a:extLst>
              <a:ext uri="{FF2B5EF4-FFF2-40B4-BE49-F238E27FC236}">
                <a16:creationId xmlns:a16="http://schemas.microsoft.com/office/drawing/2014/main" id="{CEE76E02-4D5C-4FBF-8A79-8F2D882824A5}"/>
              </a:ext>
            </a:extLst>
          </p:cNvPr>
          <p:cNvSpPr/>
          <p:nvPr/>
        </p:nvSpPr>
        <p:spPr>
          <a:xfrm>
            <a:off x="548640" y="6021595"/>
            <a:ext cx="11094415" cy="475488"/>
          </a:xfrm>
          <a:prstGeom prst="roundRect">
            <a:avLst>
              <a:gd name="adj" fmla="val 19231"/>
            </a:avLst>
          </a:prstGeom>
          <a:solidFill>
            <a:srgbClr val="F4F6FA"/>
          </a:solidFill>
          <a:ln w="9525">
            <a:solidFill>
              <a:srgbClr val="D8DEE9"/>
            </a:solidFill>
            <a:prstDash val="solid"/>
          </a:ln>
        </p:spPr>
      </p:sp>
      <p:sp>
        <p:nvSpPr>
          <p:cNvPr id="39" name="Text 24">
            <a:extLst>
              <a:ext uri="{FF2B5EF4-FFF2-40B4-BE49-F238E27FC236}">
                <a16:creationId xmlns:a16="http://schemas.microsoft.com/office/drawing/2014/main" id="{C7D7E4CD-08C4-4F62-BD26-8F602259155B}"/>
              </a:ext>
            </a:extLst>
          </p:cNvPr>
          <p:cNvSpPr txBox="1"/>
          <p:nvPr/>
        </p:nvSpPr>
        <p:spPr>
          <a:xfrm>
            <a:off x="822960" y="6021595"/>
            <a:ext cx="10545775" cy="47548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Kernaussage:  Dienst A ist bewusst ohne Zugriffsschutz konfiguriert – nur für unkritische, öffentliche Inhalte geeignet.</a:t>
            </a:r>
            <a:endParaRPr lang="en-US" sz="1300" dirty="0"/>
          </a:p>
        </p:txBody>
      </p:sp>
      <p:grpSp>
        <p:nvGrpSpPr>
          <p:cNvPr id="42" name="Gruppieren 41">
            <a:extLst>
              <a:ext uri="{FF2B5EF4-FFF2-40B4-BE49-F238E27FC236}">
                <a16:creationId xmlns:a16="http://schemas.microsoft.com/office/drawing/2014/main" id="{C9D63D06-BBA2-4AD2-B920-C68FA469EA5F}"/>
              </a:ext>
            </a:extLst>
          </p:cNvPr>
          <p:cNvGrpSpPr/>
          <p:nvPr/>
        </p:nvGrpSpPr>
        <p:grpSpPr>
          <a:xfrm>
            <a:off x="1277241" y="1717910"/>
            <a:ext cx="1351659" cy="1017731"/>
            <a:chOff x="1277241" y="1717910"/>
            <a:chExt cx="1351659" cy="1017731"/>
          </a:xfrm>
        </p:grpSpPr>
        <p:pic>
          <p:nvPicPr>
            <p:cNvPr id="43" name="Grafik 42">
              <a:extLst>
                <a:ext uri="{FF2B5EF4-FFF2-40B4-BE49-F238E27FC236}">
                  <a16:creationId xmlns:a16="http://schemas.microsoft.com/office/drawing/2014/main" id="{1C81A670-7FCF-47A9-B628-FB3E3064F3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1509841" y="1717910"/>
              <a:ext cx="847584" cy="1017731"/>
            </a:xfrm>
            <a:prstGeom prst="rect">
              <a:avLst/>
            </a:prstGeom>
          </p:spPr>
        </p:pic>
        <p:sp>
          <p:nvSpPr>
            <p:cNvPr id="44" name="Text 9">
              <a:extLst>
                <a:ext uri="{FF2B5EF4-FFF2-40B4-BE49-F238E27FC236}">
                  <a16:creationId xmlns:a16="http://schemas.microsoft.com/office/drawing/2014/main" id="{D42581BC-A170-4930-8BCF-82BD86D2619B}"/>
                </a:ext>
              </a:extLst>
            </p:cNvPr>
            <p:cNvSpPr txBox="1"/>
            <p:nvPr/>
          </p:nvSpPr>
          <p:spPr>
            <a:xfrm>
              <a:off x="1277241" y="182226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CLIENT</a:t>
              </a:r>
              <a:endParaRPr lang="en-US" sz="1300" dirty="0">
                <a:solidFill>
                  <a:srgbClr val="0061AF"/>
                </a:solidFill>
              </a:endParaRPr>
            </a:p>
          </p:txBody>
        </p:sp>
      </p:grpSp>
      <p:grpSp>
        <p:nvGrpSpPr>
          <p:cNvPr id="45" name="Gruppieren 44">
            <a:extLst>
              <a:ext uri="{FF2B5EF4-FFF2-40B4-BE49-F238E27FC236}">
                <a16:creationId xmlns:a16="http://schemas.microsoft.com/office/drawing/2014/main" id="{09124870-20C1-4243-8F26-139CDA406434}"/>
              </a:ext>
            </a:extLst>
          </p:cNvPr>
          <p:cNvGrpSpPr/>
          <p:nvPr/>
        </p:nvGrpSpPr>
        <p:grpSpPr>
          <a:xfrm>
            <a:off x="9848849" y="1767865"/>
            <a:ext cx="1351659" cy="985018"/>
            <a:chOff x="9848849" y="1767865"/>
            <a:chExt cx="1351659" cy="985018"/>
          </a:xfrm>
        </p:grpSpPr>
        <p:sp>
          <p:nvSpPr>
            <p:cNvPr id="46" name="Rechteck 45">
              <a:extLst>
                <a:ext uri="{FF2B5EF4-FFF2-40B4-BE49-F238E27FC236}">
                  <a16:creationId xmlns:a16="http://schemas.microsoft.com/office/drawing/2014/main" id="{4BBB3943-04B0-459A-BAA6-4497074CFA18}"/>
                </a:ext>
              </a:extLst>
            </p:cNvPr>
            <p:cNvSpPr/>
            <p:nvPr/>
          </p:nvSpPr>
          <p:spPr>
            <a:xfrm>
              <a:off x="10160000" y="1767865"/>
              <a:ext cx="729358" cy="985018"/>
            </a:xfrm>
            <a:prstGeom prst="rect">
              <a:avLst/>
            </a:prstGeom>
            <a:solidFill>
              <a:srgbClr val="E7E7E9"/>
            </a:solidFill>
            <a:ln w="47625">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7" name="Gerader Verbinder 46">
              <a:extLst>
                <a:ext uri="{FF2B5EF4-FFF2-40B4-BE49-F238E27FC236}">
                  <a16:creationId xmlns:a16="http://schemas.microsoft.com/office/drawing/2014/main" id="{E1B00477-5E20-4D80-A3AF-AACD8E3F462B}"/>
                </a:ext>
              </a:extLst>
            </p:cNvPr>
            <p:cNvCxnSpPr>
              <a:cxnSpLocks/>
            </p:cNvCxnSpPr>
            <p:nvPr/>
          </p:nvCxnSpPr>
          <p:spPr>
            <a:xfrm>
              <a:off x="10274154" y="2341045"/>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48" name="Gerader Verbinder 47">
              <a:extLst>
                <a:ext uri="{FF2B5EF4-FFF2-40B4-BE49-F238E27FC236}">
                  <a16:creationId xmlns:a16="http://schemas.microsoft.com/office/drawing/2014/main" id="{CD2C6A94-4C0B-4BA9-AC9D-68811F02B243}"/>
                </a:ext>
              </a:extLst>
            </p:cNvPr>
            <p:cNvCxnSpPr>
              <a:cxnSpLocks/>
            </p:cNvCxnSpPr>
            <p:nvPr/>
          </p:nvCxnSpPr>
          <p:spPr>
            <a:xfrm>
              <a:off x="10274154" y="2441810"/>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F6ADAB5C-C326-4794-AEBB-DE8DB4E0B7F5}"/>
                </a:ext>
              </a:extLst>
            </p:cNvPr>
            <p:cNvCxnSpPr>
              <a:cxnSpLocks/>
            </p:cNvCxnSpPr>
            <p:nvPr/>
          </p:nvCxnSpPr>
          <p:spPr>
            <a:xfrm>
              <a:off x="10274154" y="2567286"/>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sp>
          <p:nvSpPr>
            <p:cNvPr id="50" name="Ellipse 49">
              <a:extLst>
                <a:ext uri="{FF2B5EF4-FFF2-40B4-BE49-F238E27FC236}">
                  <a16:creationId xmlns:a16="http://schemas.microsoft.com/office/drawing/2014/main" id="{3991FE60-BF14-41BD-B924-C1259366BE37}"/>
                </a:ext>
              </a:extLst>
            </p:cNvPr>
            <p:cNvSpPr/>
            <p:nvPr/>
          </p:nvSpPr>
          <p:spPr>
            <a:xfrm>
              <a:off x="10553846" y="1942465"/>
              <a:ext cx="162565" cy="162000"/>
            </a:xfrm>
            <a:prstGeom prst="ellipse">
              <a:avLst/>
            </a:prstGeom>
            <a:solidFill>
              <a:srgbClr val="E7E7E9"/>
            </a:solidFill>
            <a:ln w="38100">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 9">
              <a:extLst>
                <a:ext uri="{FF2B5EF4-FFF2-40B4-BE49-F238E27FC236}">
                  <a16:creationId xmlns:a16="http://schemas.microsoft.com/office/drawing/2014/main" id="{F52A9860-277F-45E4-AE14-47ABF2616300}"/>
                </a:ext>
              </a:extLst>
            </p:cNvPr>
            <p:cNvSpPr txBox="1"/>
            <p:nvPr/>
          </p:nvSpPr>
          <p:spPr>
            <a:xfrm>
              <a:off x="9848849" y="200003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Server</a:t>
              </a:r>
              <a:endParaRPr lang="en-US" sz="1300" dirty="0">
                <a:solidFill>
                  <a:srgbClr val="0061AF"/>
                </a:solidFill>
              </a:endParaRPr>
            </a:p>
          </p:txBody>
        </p:sp>
      </p:grpSp>
    </p:spTree>
    <p:extLst>
      <p:ext uri="{BB962C8B-B14F-4D97-AF65-F5344CB8AC3E}">
        <p14:creationId xmlns:p14="http://schemas.microsoft.com/office/powerpoint/2010/main" val="4230401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3955" y="331336"/>
            <a:ext cx="10953313" cy="1143000"/>
          </a:xfrm>
        </p:spPr>
        <p:txBody>
          <a:bodyPr/>
          <a:lstStyle/>
          <a:p>
            <a:r>
              <a:rPr lang="en-US" sz="2000" b="1" dirty="0" err="1">
                <a:solidFill>
                  <a:srgbClr val="1E2761"/>
                </a:solidFill>
                <a:latin typeface="Cambria" pitchFamily="34" charset="0"/>
                <a:ea typeface="Cambria" pitchFamily="34" charset="-122"/>
                <a:cs typeface="Cambria" pitchFamily="34" charset="-120"/>
              </a:rPr>
              <a:t>Variante 2 – Dienst B: geschützt mit Basic Authentication</a:t>
            </a:r>
            <a:br>
              <a:rPr lang="en-US" sz="2000" dirty="0"/>
            </a:br>
            <a:endParaRPr lang="de-DE" sz="1998" dirty="0"/>
          </a:p>
        </p:txBody>
      </p:sp>
      <p:sp>
        <p:nvSpPr>
          <p:cNvPr id="5" name="Foliennummernplatzhalter 4"/>
          <p:cNvSpPr>
            <a:spLocks noGrp="1"/>
          </p:cNvSpPr>
          <p:nvPr>
            <p:ph type="sldNum" sz="quarter" idx="4"/>
          </p:nvPr>
        </p:nvSpPr>
        <p:spPr/>
        <p:txBody>
          <a:bodyPr/>
          <a:lstStyle/>
          <a:p>
            <a:fld id="{43A6DCFB-163F-4561-BF28-3CD1FE47EE20}" type="slidenum">
              <a:rPr lang="de-DE" smtClean="0"/>
              <a:pPr/>
              <a:t>9</a:t>
            </a:fld>
            <a:endParaRPr lang="de-DE" dirty="0"/>
          </a:p>
        </p:txBody>
      </p:sp>
      <p:sp>
        <p:nvSpPr>
          <p:cNvPr id="40" name="Shape 6">
            <a:extLst>
              <a:ext uri="{FF2B5EF4-FFF2-40B4-BE49-F238E27FC236}">
                <a16:creationId xmlns:a16="http://schemas.microsoft.com/office/drawing/2014/main" id="{51AFF95E-FB85-43D7-A14F-02AA33A8E5FE}"/>
              </a:ext>
            </a:extLst>
          </p:cNvPr>
          <p:cNvSpPr/>
          <p:nvPr/>
        </p:nvSpPr>
        <p:spPr>
          <a:xfrm>
            <a:off x="2468880" y="1992858"/>
            <a:ext cx="0" cy="4059936"/>
          </a:xfrm>
          <a:prstGeom prst="line">
            <a:avLst/>
          </a:prstGeom>
          <a:noFill/>
          <a:ln w="15875">
            <a:solidFill>
              <a:srgbClr val="D8DEE9"/>
            </a:solidFill>
            <a:prstDash val="dash"/>
          </a:ln>
        </p:spPr>
      </p:sp>
      <p:sp>
        <p:nvSpPr>
          <p:cNvPr id="41" name="Shape 7">
            <a:extLst>
              <a:ext uri="{FF2B5EF4-FFF2-40B4-BE49-F238E27FC236}">
                <a16:creationId xmlns:a16="http://schemas.microsoft.com/office/drawing/2014/main" id="{3AA6A67B-8E58-4F7A-A248-BD914271D63B}"/>
              </a:ext>
            </a:extLst>
          </p:cNvPr>
          <p:cNvSpPr/>
          <p:nvPr/>
        </p:nvSpPr>
        <p:spPr>
          <a:xfrm>
            <a:off x="9722815" y="1992858"/>
            <a:ext cx="0" cy="4059936"/>
          </a:xfrm>
          <a:prstGeom prst="line">
            <a:avLst/>
          </a:prstGeom>
          <a:noFill/>
          <a:ln w="15875">
            <a:solidFill>
              <a:srgbClr val="D8DEE9"/>
            </a:solidFill>
            <a:prstDash val="dash"/>
          </a:ln>
        </p:spPr>
      </p:sp>
      <p:sp>
        <p:nvSpPr>
          <p:cNvPr id="46" name="Text 12">
            <a:extLst>
              <a:ext uri="{FF2B5EF4-FFF2-40B4-BE49-F238E27FC236}">
                <a16:creationId xmlns:a16="http://schemas.microsoft.com/office/drawing/2014/main" id="{078F56B0-86B4-4E5B-8F6B-99D43219AAB7}"/>
              </a:ext>
            </a:extLst>
          </p:cNvPr>
          <p:cNvSpPr txBox="1"/>
          <p:nvPr/>
        </p:nvSpPr>
        <p:spPr>
          <a:xfrm>
            <a:off x="2468880" y="2056866"/>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HTTPS-Anfrage an dienst-b.&lt;IHRE-DOMAIN&gt;</a:t>
            </a:r>
            <a:endParaRPr lang="en-US" sz="1200" dirty="0"/>
          </a:p>
        </p:txBody>
      </p:sp>
      <p:sp>
        <p:nvSpPr>
          <p:cNvPr id="47" name="Shape 13">
            <a:extLst>
              <a:ext uri="{FF2B5EF4-FFF2-40B4-BE49-F238E27FC236}">
                <a16:creationId xmlns:a16="http://schemas.microsoft.com/office/drawing/2014/main" id="{1CB26402-862D-45A8-80B8-157C83DF2748}"/>
              </a:ext>
            </a:extLst>
          </p:cNvPr>
          <p:cNvSpPr/>
          <p:nvPr/>
        </p:nvSpPr>
        <p:spPr>
          <a:xfrm>
            <a:off x="2468880" y="2367762"/>
            <a:ext cx="7253935" cy="0"/>
          </a:xfrm>
          <a:prstGeom prst="line">
            <a:avLst/>
          </a:prstGeom>
          <a:noFill/>
          <a:ln w="22225">
            <a:solidFill>
              <a:srgbClr val="1E2761"/>
            </a:solidFill>
            <a:prstDash val="solid"/>
            <a:tailEnd type="triangle"/>
          </a:ln>
        </p:spPr>
      </p:sp>
      <p:sp>
        <p:nvSpPr>
          <p:cNvPr id="48" name="Text 14">
            <a:extLst>
              <a:ext uri="{FF2B5EF4-FFF2-40B4-BE49-F238E27FC236}">
                <a16:creationId xmlns:a16="http://schemas.microsoft.com/office/drawing/2014/main" id="{CBD2291F-F91F-4B6D-AD1C-5897ED1713F8}"/>
              </a:ext>
            </a:extLst>
          </p:cNvPr>
          <p:cNvSpPr txBox="1"/>
          <p:nvPr/>
        </p:nvSpPr>
        <p:spPr>
          <a:xfrm>
            <a:off x="2468880" y="2751810"/>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Caddy antwortet mit HTTP 401 (Basic-Auth erforderlich)</a:t>
            </a:r>
            <a:endParaRPr lang="en-US" sz="1200" dirty="0"/>
          </a:p>
        </p:txBody>
      </p:sp>
      <p:sp>
        <p:nvSpPr>
          <p:cNvPr id="49" name="Shape 15">
            <a:extLst>
              <a:ext uri="{FF2B5EF4-FFF2-40B4-BE49-F238E27FC236}">
                <a16:creationId xmlns:a16="http://schemas.microsoft.com/office/drawing/2014/main" id="{5C8C37BA-D03E-42CB-8467-7F7A43AA13E9}"/>
              </a:ext>
            </a:extLst>
          </p:cNvPr>
          <p:cNvSpPr/>
          <p:nvPr/>
        </p:nvSpPr>
        <p:spPr>
          <a:xfrm>
            <a:off x="2468880" y="3062706"/>
            <a:ext cx="7253935" cy="0"/>
          </a:xfrm>
          <a:prstGeom prst="line">
            <a:avLst/>
          </a:prstGeom>
          <a:noFill/>
          <a:ln w="22225">
            <a:solidFill>
              <a:srgbClr val="1E2761"/>
            </a:solidFill>
            <a:prstDash val="solid"/>
            <a:headEnd type="triangle"/>
          </a:ln>
        </p:spPr>
      </p:sp>
      <p:sp>
        <p:nvSpPr>
          <p:cNvPr id="50" name="Text 16">
            <a:extLst>
              <a:ext uri="{FF2B5EF4-FFF2-40B4-BE49-F238E27FC236}">
                <a16:creationId xmlns:a16="http://schemas.microsoft.com/office/drawing/2014/main" id="{5681EE6F-A227-41A3-8CF9-7C427204BB24}"/>
              </a:ext>
            </a:extLst>
          </p:cNvPr>
          <p:cNvSpPr txBox="1"/>
          <p:nvPr/>
        </p:nvSpPr>
        <p:spPr>
          <a:xfrm>
            <a:off x="2194560" y="3135858"/>
            <a:ext cx="7802575" cy="292608"/>
          </a:xfrm>
          <a:prstGeom prst="rect">
            <a:avLst/>
          </a:prstGeom>
          <a:noFill/>
          <a:ln/>
        </p:spPr>
        <p:txBody>
          <a:bodyPr wrap="square" lIns="0" tIns="0" rIns="0" bIns="0" rtlCol="0" anchor="t"/>
          <a:lstStyle/>
          <a:p>
            <a:pPr marL="0" indent="0" algn="ctr">
              <a:buNone/>
            </a:pPr>
            <a:r>
              <a:rPr lang="en-US" sz="1050" i="1" dirty="0">
                <a:solidFill>
                  <a:srgbClr val="5B6472"/>
                </a:solidFill>
                <a:latin typeface="Calibri" pitchFamily="34" charset="0"/>
                <a:ea typeface="Calibri" pitchFamily="34" charset="-122"/>
                <a:cs typeface="Calibri" pitchFamily="34" charset="-120"/>
              </a:rPr>
              <a:t>Browser zeigt einen Login-Dialog (Benutzername/Passwort)</a:t>
            </a:r>
            <a:endParaRPr lang="en-US" sz="1050" dirty="0"/>
          </a:p>
        </p:txBody>
      </p:sp>
      <p:sp>
        <p:nvSpPr>
          <p:cNvPr id="51" name="Shape 17">
            <a:extLst>
              <a:ext uri="{FF2B5EF4-FFF2-40B4-BE49-F238E27FC236}">
                <a16:creationId xmlns:a16="http://schemas.microsoft.com/office/drawing/2014/main" id="{5F5AA79E-5808-4D40-8809-885056C30518}"/>
              </a:ext>
            </a:extLst>
          </p:cNvPr>
          <p:cNvSpPr/>
          <p:nvPr/>
        </p:nvSpPr>
        <p:spPr>
          <a:xfrm>
            <a:off x="548640" y="3602202"/>
            <a:ext cx="3840480" cy="658368"/>
          </a:xfrm>
          <a:prstGeom prst="roundRect">
            <a:avLst>
              <a:gd name="adj" fmla="val 11111"/>
            </a:avLst>
          </a:prstGeom>
          <a:solidFill>
            <a:srgbClr val="F4F6FA"/>
          </a:solidFill>
          <a:ln w="9525">
            <a:solidFill>
              <a:srgbClr val="D8DEE9"/>
            </a:solidFill>
            <a:prstDash val="solid"/>
          </a:ln>
        </p:spPr>
      </p:sp>
      <p:sp>
        <p:nvSpPr>
          <p:cNvPr id="52" name="Text 18">
            <a:extLst>
              <a:ext uri="{FF2B5EF4-FFF2-40B4-BE49-F238E27FC236}">
                <a16:creationId xmlns:a16="http://schemas.microsoft.com/office/drawing/2014/main" id="{127C2C7F-6CE1-444A-9B8D-7499EA89CC08}"/>
              </a:ext>
            </a:extLst>
          </p:cNvPr>
          <p:cNvSpPr txBox="1"/>
          <p:nvPr/>
        </p:nvSpPr>
        <p:spPr>
          <a:xfrm>
            <a:off x="685800" y="3657066"/>
            <a:ext cx="3566160" cy="274320"/>
          </a:xfrm>
          <a:prstGeom prst="rect">
            <a:avLst/>
          </a:prstGeom>
          <a:noFill/>
          <a:ln/>
        </p:spPr>
        <p:txBody>
          <a:bodyPr wrap="square" lIns="0" tIns="0" rIns="0" bIns="0" rtlCol="0" anchor="ctr"/>
          <a:lstStyle/>
          <a:p>
            <a:pPr marL="0" indent="0" algn="ctr">
              <a:buNone/>
            </a:pPr>
            <a:r>
              <a:rPr lang="en-US" sz="1100" b="1" dirty="0">
                <a:solidFill>
                  <a:srgbClr val="1A1F2B"/>
                </a:solidFill>
                <a:latin typeface="Calibri" pitchFamily="34" charset="0"/>
                <a:ea typeface="Calibri" pitchFamily="34" charset="-122"/>
                <a:cs typeface="Calibri" pitchFamily="34" charset="-120"/>
              </a:rPr>
              <a:t>Zugangsdaten Base64-kodiert übertragen</a:t>
            </a:r>
            <a:endParaRPr lang="en-US" sz="1100" dirty="0"/>
          </a:p>
        </p:txBody>
      </p:sp>
      <p:sp>
        <p:nvSpPr>
          <p:cNvPr id="53" name="Text 19">
            <a:extLst>
              <a:ext uri="{FF2B5EF4-FFF2-40B4-BE49-F238E27FC236}">
                <a16:creationId xmlns:a16="http://schemas.microsoft.com/office/drawing/2014/main" id="{B211183E-E99C-4C6F-9487-2B5EABB8CA22}"/>
              </a:ext>
            </a:extLst>
          </p:cNvPr>
          <p:cNvSpPr txBox="1"/>
          <p:nvPr/>
        </p:nvSpPr>
        <p:spPr>
          <a:xfrm>
            <a:off x="685800" y="3931386"/>
            <a:ext cx="3566160" cy="292608"/>
          </a:xfrm>
          <a:prstGeom prst="rect">
            <a:avLst/>
          </a:prstGeom>
          <a:noFill/>
          <a:ln/>
        </p:spPr>
        <p:txBody>
          <a:bodyPr wrap="square" lIns="0" tIns="0" rIns="0" bIns="0" rtlCol="0" anchor="ctr"/>
          <a:lstStyle/>
          <a:p>
            <a:pPr marL="0" indent="0" algn="ctr">
              <a:buNone/>
            </a:pPr>
            <a:r>
              <a:rPr lang="en-US" sz="1000" i="1" dirty="0">
                <a:solidFill>
                  <a:srgbClr val="1E6B3C"/>
                </a:solidFill>
                <a:latin typeface="Calibri" pitchFamily="34" charset="0"/>
                <a:ea typeface="Calibri" pitchFamily="34" charset="-122"/>
                <a:cs typeface="Calibri" pitchFamily="34" charset="-120"/>
              </a:rPr>
              <a:t>nur sicher durch die TLS-Verschlüsselung</a:t>
            </a:r>
            <a:endParaRPr lang="en-US" sz="1000" dirty="0"/>
          </a:p>
        </p:txBody>
      </p:sp>
      <p:sp>
        <p:nvSpPr>
          <p:cNvPr id="54" name="Text 20">
            <a:extLst>
              <a:ext uri="{FF2B5EF4-FFF2-40B4-BE49-F238E27FC236}">
                <a16:creationId xmlns:a16="http://schemas.microsoft.com/office/drawing/2014/main" id="{52C33098-3754-47E3-BE13-185711628386}"/>
              </a:ext>
            </a:extLst>
          </p:cNvPr>
          <p:cNvSpPr txBox="1"/>
          <p:nvPr/>
        </p:nvSpPr>
        <p:spPr>
          <a:xfrm>
            <a:off x="2468880" y="4434306"/>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Caddy vergleicht mit hinterlegtem bcrypt-Hash</a:t>
            </a:r>
            <a:endParaRPr lang="en-US" sz="1200" dirty="0"/>
          </a:p>
        </p:txBody>
      </p:sp>
      <p:sp>
        <p:nvSpPr>
          <p:cNvPr id="55" name="Shape 21">
            <a:extLst>
              <a:ext uri="{FF2B5EF4-FFF2-40B4-BE49-F238E27FC236}">
                <a16:creationId xmlns:a16="http://schemas.microsoft.com/office/drawing/2014/main" id="{E0FC6CCD-59AD-40DE-9098-C1D17E0642F6}"/>
              </a:ext>
            </a:extLst>
          </p:cNvPr>
          <p:cNvSpPr/>
          <p:nvPr/>
        </p:nvSpPr>
        <p:spPr>
          <a:xfrm>
            <a:off x="2468880" y="4745202"/>
            <a:ext cx="7253935" cy="0"/>
          </a:xfrm>
          <a:prstGeom prst="line">
            <a:avLst/>
          </a:prstGeom>
          <a:noFill/>
          <a:ln w="22225">
            <a:solidFill>
              <a:srgbClr val="1E2761"/>
            </a:solidFill>
            <a:prstDash val="solid"/>
            <a:tailEnd type="triangle"/>
          </a:ln>
        </p:spPr>
      </p:sp>
      <p:sp>
        <p:nvSpPr>
          <p:cNvPr id="56" name="Text 22">
            <a:extLst>
              <a:ext uri="{FF2B5EF4-FFF2-40B4-BE49-F238E27FC236}">
                <a16:creationId xmlns:a16="http://schemas.microsoft.com/office/drawing/2014/main" id="{9CBEC570-DC67-467E-9E31-A5F8418E0555}"/>
              </a:ext>
            </a:extLst>
          </p:cNvPr>
          <p:cNvSpPr txBox="1"/>
          <p:nvPr/>
        </p:nvSpPr>
        <p:spPr>
          <a:xfrm>
            <a:off x="2468880" y="5129250"/>
            <a:ext cx="7253935" cy="274320"/>
          </a:xfrm>
          <a:prstGeom prst="rect">
            <a:avLst/>
          </a:prstGeom>
          <a:noFill/>
          <a:ln/>
        </p:spPr>
        <p:txBody>
          <a:bodyPr wrap="square" lIns="0" tIns="0" rIns="0" bIns="0" rtlCol="0" anchor="b"/>
          <a:lstStyle/>
          <a:p>
            <a:pPr marL="0" indent="0" algn="ctr">
              <a:buNone/>
            </a:pPr>
            <a:r>
              <a:rPr lang="en-US" sz="1200" b="1" dirty="0">
                <a:solidFill>
                  <a:srgbClr val="1A1F2B"/>
                </a:solidFill>
                <a:latin typeface="Calibri" pitchFamily="34" charset="0"/>
                <a:ea typeface="Calibri" pitchFamily="34" charset="-122"/>
                <a:cs typeface="Calibri" pitchFamily="34" charset="-120"/>
              </a:rPr>
              <a:t>Zugriff gewährt / verweigert</a:t>
            </a:r>
            <a:endParaRPr lang="en-US" sz="1200" dirty="0"/>
          </a:p>
        </p:txBody>
      </p:sp>
      <p:sp>
        <p:nvSpPr>
          <p:cNvPr id="57" name="Shape 23">
            <a:extLst>
              <a:ext uri="{FF2B5EF4-FFF2-40B4-BE49-F238E27FC236}">
                <a16:creationId xmlns:a16="http://schemas.microsoft.com/office/drawing/2014/main" id="{584CAEDE-283B-42FD-8E16-13624CA4994B}"/>
              </a:ext>
            </a:extLst>
          </p:cNvPr>
          <p:cNvSpPr/>
          <p:nvPr/>
        </p:nvSpPr>
        <p:spPr>
          <a:xfrm>
            <a:off x="2468880" y="5440146"/>
            <a:ext cx="7253935" cy="0"/>
          </a:xfrm>
          <a:prstGeom prst="line">
            <a:avLst/>
          </a:prstGeom>
          <a:noFill/>
          <a:ln w="22225">
            <a:solidFill>
              <a:srgbClr val="1E2761"/>
            </a:solidFill>
            <a:prstDash val="solid"/>
            <a:headEnd type="triangle"/>
          </a:ln>
        </p:spPr>
      </p:sp>
      <p:sp>
        <p:nvSpPr>
          <p:cNvPr id="58" name="Text 24">
            <a:extLst>
              <a:ext uri="{FF2B5EF4-FFF2-40B4-BE49-F238E27FC236}">
                <a16:creationId xmlns:a16="http://schemas.microsoft.com/office/drawing/2014/main" id="{D0ED256A-A6CF-4997-A2A5-5DC29A341CA1}"/>
              </a:ext>
            </a:extLst>
          </p:cNvPr>
          <p:cNvSpPr txBox="1"/>
          <p:nvPr/>
        </p:nvSpPr>
        <p:spPr>
          <a:xfrm>
            <a:off x="2194560" y="5513298"/>
            <a:ext cx="7802575" cy="292608"/>
          </a:xfrm>
          <a:prstGeom prst="rect">
            <a:avLst/>
          </a:prstGeom>
          <a:noFill/>
          <a:ln/>
        </p:spPr>
        <p:txBody>
          <a:bodyPr wrap="square" lIns="0" tIns="0" rIns="0" bIns="0" rtlCol="0" anchor="t"/>
          <a:lstStyle/>
          <a:p>
            <a:pPr marL="0" indent="0" algn="ctr">
              <a:buNone/>
            </a:pPr>
            <a:r>
              <a:rPr lang="en-US" sz="1050" i="1" dirty="0">
                <a:solidFill>
                  <a:srgbClr val="5B6472"/>
                </a:solidFill>
                <a:latin typeface="Calibri" pitchFamily="34" charset="0"/>
                <a:ea typeface="Calibri" pitchFamily="34" charset="-122"/>
                <a:cs typeface="Calibri" pitchFamily="34" charset="-120"/>
              </a:rPr>
              <a:t>Passwort selbst wird nirgends gespeichert – nur der Hash</a:t>
            </a:r>
            <a:endParaRPr lang="en-US" sz="1050" dirty="0"/>
          </a:p>
        </p:txBody>
      </p:sp>
      <p:sp>
        <p:nvSpPr>
          <p:cNvPr id="59" name="Shape 25">
            <a:extLst>
              <a:ext uri="{FF2B5EF4-FFF2-40B4-BE49-F238E27FC236}">
                <a16:creationId xmlns:a16="http://schemas.microsoft.com/office/drawing/2014/main" id="{F4D0A233-856D-4225-91EC-916851500020}"/>
              </a:ext>
            </a:extLst>
          </p:cNvPr>
          <p:cNvSpPr/>
          <p:nvPr/>
        </p:nvSpPr>
        <p:spPr>
          <a:xfrm>
            <a:off x="548640" y="6144234"/>
            <a:ext cx="11094415" cy="475488"/>
          </a:xfrm>
          <a:prstGeom prst="roundRect">
            <a:avLst>
              <a:gd name="adj" fmla="val 19231"/>
            </a:avLst>
          </a:prstGeom>
          <a:solidFill>
            <a:srgbClr val="F4F6FA"/>
          </a:solidFill>
          <a:ln w="9525">
            <a:solidFill>
              <a:srgbClr val="D8DEE9"/>
            </a:solidFill>
            <a:prstDash val="solid"/>
          </a:ln>
        </p:spPr>
      </p:sp>
      <p:sp>
        <p:nvSpPr>
          <p:cNvPr id="60" name="Text 26">
            <a:extLst>
              <a:ext uri="{FF2B5EF4-FFF2-40B4-BE49-F238E27FC236}">
                <a16:creationId xmlns:a16="http://schemas.microsoft.com/office/drawing/2014/main" id="{6DE50C08-05CA-4D32-AE62-08C303443571}"/>
              </a:ext>
            </a:extLst>
          </p:cNvPr>
          <p:cNvSpPr txBox="1"/>
          <p:nvPr/>
        </p:nvSpPr>
        <p:spPr>
          <a:xfrm>
            <a:off x="822960" y="6144234"/>
            <a:ext cx="10545775" cy="47548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Kernaussage:  Basic Authentication schützt zusätzlich – sicher nur in Kombination mit TLS, sonst wäre die </a:t>
            </a:r>
            <a:r>
              <a:rPr lang="en-US" sz="1300" b="1" dirty="0" err="1">
                <a:solidFill>
                  <a:srgbClr val="1E2761"/>
                </a:solidFill>
                <a:latin typeface="Calibri" pitchFamily="34" charset="0"/>
                <a:ea typeface="Calibri" pitchFamily="34" charset="-122"/>
                <a:cs typeface="Calibri" pitchFamily="34" charset="-120"/>
              </a:rPr>
              <a:t>Kodierung</a:t>
            </a:r>
            <a:r>
              <a:rPr lang="en-US" sz="1300" b="1" dirty="0">
                <a:solidFill>
                  <a:srgbClr val="1E2761"/>
                </a:solidFill>
                <a:latin typeface="Calibri" pitchFamily="34" charset="0"/>
                <a:ea typeface="Calibri" pitchFamily="34" charset="-122"/>
                <a:cs typeface="Calibri" pitchFamily="34" charset="-120"/>
              </a:rPr>
              <a:t> </a:t>
            </a:r>
            <a:r>
              <a:rPr lang="en-US" sz="1300" b="1" dirty="0" err="1">
                <a:solidFill>
                  <a:srgbClr val="1E2761"/>
                </a:solidFill>
                <a:latin typeface="Calibri" pitchFamily="34" charset="0"/>
                <a:ea typeface="Calibri" pitchFamily="34" charset="-122"/>
                <a:cs typeface="Calibri" pitchFamily="34" charset="-120"/>
              </a:rPr>
              <a:t>rückrechenbar</a:t>
            </a:r>
            <a:r>
              <a:rPr lang="en-US" sz="1300" b="1" dirty="0">
                <a:solidFill>
                  <a:srgbClr val="1E2761"/>
                </a:solidFill>
                <a:latin typeface="Calibri" pitchFamily="34" charset="0"/>
                <a:ea typeface="Calibri" pitchFamily="34" charset="-122"/>
                <a:cs typeface="Calibri" pitchFamily="34" charset="-120"/>
              </a:rPr>
              <a:t>.</a:t>
            </a:r>
            <a:endParaRPr lang="en-US" sz="1300" dirty="0"/>
          </a:p>
        </p:txBody>
      </p:sp>
      <p:sp>
        <p:nvSpPr>
          <p:cNvPr id="61" name="Text 5">
            <a:extLst>
              <a:ext uri="{FF2B5EF4-FFF2-40B4-BE49-F238E27FC236}">
                <a16:creationId xmlns:a16="http://schemas.microsoft.com/office/drawing/2014/main" id="{9C66A720-A69F-4C2F-AE54-33CC5FB208F1}"/>
              </a:ext>
            </a:extLst>
          </p:cNvPr>
          <p:cNvSpPr txBox="1"/>
          <p:nvPr/>
        </p:nvSpPr>
        <p:spPr>
          <a:xfrm>
            <a:off x="4389120" y="1412214"/>
            <a:ext cx="3063240" cy="365760"/>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Kanal bereits verschlüsselt</a:t>
            </a:r>
            <a:endParaRPr lang="en-US" sz="1050" dirty="0"/>
          </a:p>
        </p:txBody>
      </p:sp>
      <p:pic>
        <p:nvPicPr>
          <p:cNvPr id="4" name="Grafik 3" descr="Sperren mit einfarbiger Füllung">
            <a:extLst>
              <a:ext uri="{FF2B5EF4-FFF2-40B4-BE49-F238E27FC236}">
                <a16:creationId xmlns:a16="http://schemas.microsoft.com/office/drawing/2014/main" id="{4D0BAD7A-CAEF-4D35-8291-8AEB79A068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16563" y="1411402"/>
            <a:ext cx="450719" cy="450719"/>
          </a:xfrm>
          <a:prstGeom prst="rect">
            <a:avLst/>
          </a:prstGeom>
        </p:spPr>
      </p:pic>
      <p:grpSp>
        <p:nvGrpSpPr>
          <p:cNvPr id="62" name="Gruppieren 61">
            <a:extLst>
              <a:ext uri="{FF2B5EF4-FFF2-40B4-BE49-F238E27FC236}">
                <a16:creationId xmlns:a16="http://schemas.microsoft.com/office/drawing/2014/main" id="{DCE96F44-C136-43EC-B0F2-CF05896815C3}"/>
              </a:ext>
            </a:extLst>
          </p:cNvPr>
          <p:cNvGrpSpPr/>
          <p:nvPr/>
        </p:nvGrpSpPr>
        <p:grpSpPr>
          <a:xfrm>
            <a:off x="1277241" y="1717910"/>
            <a:ext cx="1351659" cy="1017731"/>
            <a:chOff x="1277241" y="1717910"/>
            <a:chExt cx="1351659" cy="1017731"/>
          </a:xfrm>
        </p:grpSpPr>
        <p:pic>
          <p:nvPicPr>
            <p:cNvPr id="63" name="Grafik 62">
              <a:extLst>
                <a:ext uri="{FF2B5EF4-FFF2-40B4-BE49-F238E27FC236}">
                  <a16:creationId xmlns:a16="http://schemas.microsoft.com/office/drawing/2014/main" id="{6726FD05-C862-4BF4-A509-6871012457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1509841" y="1717910"/>
              <a:ext cx="847584" cy="1017731"/>
            </a:xfrm>
            <a:prstGeom prst="rect">
              <a:avLst/>
            </a:prstGeom>
          </p:spPr>
        </p:pic>
        <p:sp>
          <p:nvSpPr>
            <p:cNvPr id="64" name="Text 9">
              <a:extLst>
                <a:ext uri="{FF2B5EF4-FFF2-40B4-BE49-F238E27FC236}">
                  <a16:creationId xmlns:a16="http://schemas.microsoft.com/office/drawing/2014/main" id="{C63F7D95-FA10-40B0-B917-9E2B8658BC53}"/>
                </a:ext>
              </a:extLst>
            </p:cNvPr>
            <p:cNvSpPr txBox="1"/>
            <p:nvPr/>
          </p:nvSpPr>
          <p:spPr>
            <a:xfrm>
              <a:off x="1277241" y="182226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CLIENT</a:t>
              </a:r>
              <a:endParaRPr lang="en-US" sz="1300" dirty="0">
                <a:solidFill>
                  <a:srgbClr val="0061AF"/>
                </a:solidFill>
              </a:endParaRPr>
            </a:p>
          </p:txBody>
        </p:sp>
      </p:grpSp>
      <p:grpSp>
        <p:nvGrpSpPr>
          <p:cNvPr id="65" name="Gruppieren 64">
            <a:extLst>
              <a:ext uri="{FF2B5EF4-FFF2-40B4-BE49-F238E27FC236}">
                <a16:creationId xmlns:a16="http://schemas.microsoft.com/office/drawing/2014/main" id="{536C7E92-7B76-4FE7-912F-D3D233FA6A5C}"/>
              </a:ext>
            </a:extLst>
          </p:cNvPr>
          <p:cNvGrpSpPr/>
          <p:nvPr/>
        </p:nvGrpSpPr>
        <p:grpSpPr>
          <a:xfrm>
            <a:off x="9848849" y="1767865"/>
            <a:ext cx="1351659" cy="985018"/>
            <a:chOff x="9848849" y="1767865"/>
            <a:chExt cx="1351659" cy="985018"/>
          </a:xfrm>
        </p:grpSpPr>
        <p:sp>
          <p:nvSpPr>
            <p:cNvPr id="66" name="Rechteck 65">
              <a:extLst>
                <a:ext uri="{FF2B5EF4-FFF2-40B4-BE49-F238E27FC236}">
                  <a16:creationId xmlns:a16="http://schemas.microsoft.com/office/drawing/2014/main" id="{C9A7232B-3FEE-4D24-86BD-58B6B8BA70B1}"/>
                </a:ext>
              </a:extLst>
            </p:cNvPr>
            <p:cNvSpPr/>
            <p:nvPr/>
          </p:nvSpPr>
          <p:spPr>
            <a:xfrm>
              <a:off x="10160000" y="1767865"/>
              <a:ext cx="729358" cy="985018"/>
            </a:xfrm>
            <a:prstGeom prst="rect">
              <a:avLst/>
            </a:prstGeom>
            <a:solidFill>
              <a:srgbClr val="E7E7E9"/>
            </a:solidFill>
            <a:ln w="47625">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67" name="Gerader Verbinder 66">
              <a:extLst>
                <a:ext uri="{FF2B5EF4-FFF2-40B4-BE49-F238E27FC236}">
                  <a16:creationId xmlns:a16="http://schemas.microsoft.com/office/drawing/2014/main" id="{F3DD181E-BF86-419C-9466-E49477360B08}"/>
                </a:ext>
              </a:extLst>
            </p:cNvPr>
            <p:cNvCxnSpPr>
              <a:cxnSpLocks/>
            </p:cNvCxnSpPr>
            <p:nvPr/>
          </p:nvCxnSpPr>
          <p:spPr>
            <a:xfrm>
              <a:off x="10274154" y="2341045"/>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9F4F1AAA-D26D-46C8-A679-95D040BAE16D}"/>
                </a:ext>
              </a:extLst>
            </p:cNvPr>
            <p:cNvCxnSpPr>
              <a:cxnSpLocks/>
            </p:cNvCxnSpPr>
            <p:nvPr/>
          </p:nvCxnSpPr>
          <p:spPr>
            <a:xfrm>
              <a:off x="10274154" y="2441810"/>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33B867E4-5CAA-481F-BFC6-A0EDB5D95E53}"/>
                </a:ext>
              </a:extLst>
            </p:cNvPr>
            <p:cNvCxnSpPr>
              <a:cxnSpLocks/>
            </p:cNvCxnSpPr>
            <p:nvPr/>
          </p:nvCxnSpPr>
          <p:spPr>
            <a:xfrm>
              <a:off x="10274154" y="2567286"/>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sp>
          <p:nvSpPr>
            <p:cNvPr id="70" name="Ellipse 69">
              <a:extLst>
                <a:ext uri="{FF2B5EF4-FFF2-40B4-BE49-F238E27FC236}">
                  <a16:creationId xmlns:a16="http://schemas.microsoft.com/office/drawing/2014/main" id="{C1A37B8A-9721-4D38-A2F5-8490974A78F5}"/>
                </a:ext>
              </a:extLst>
            </p:cNvPr>
            <p:cNvSpPr/>
            <p:nvPr/>
          </p:nvSpPr>
          <p:spPr>
            <a:xfrm>
              <a:off x="10553846" y="1942465"/>
              <a:ext cx="162565" cy="162000"/>
            </a:xfrm>
            <a:prstGeom prst="ellipse">
              <a:avLst/>
            </a:prstGeom>
            <a:solidFill>
              <a:srgbClr val="E7E7E9"/>
            </a:solidFill>
            <a:ln w="38100">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Text 9">
              <a:extLst>
                <a:ext uri="{FF2B5EF4-FFF2-40B4-BE49-F238E27FC236}">
                  <a16:creationId xmlns:a16="http://schemas.microsoft.com/office/drawing/2014/main" id="{9260EA5E-DEF3-4BC6-A873-DDC5DD3A5F49}"/>
                </a:ext>
              </a:extLst>
            </p:cNvPr>
            <p:cNvSpPr txBox="1"/>
            <p:nvPr/>
          </p:nvSpPr>
          <p:spPr>
            <a:xfrm>
              <a:off x="9848849" y="200003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Server</a:t>
              </a:r>
              <a:endParaRPr lang="en-US" sz="1300" dirty="0">
                <a:solidFill>
                  <a:srgbClr val="0061AF"/>
                </a:solidFill>
              </a:endParaRPr>
            </a:p>
          </p:txBody>
        </p:sp>
      </p:grpSp>
    </p:spTree>
    <p:extLst>
      <p:ext uri="{BB962C8B-B14F-4D97-AF65-F5344CB8AC3E}">
        <p14:creationId xmlns:p14="http://schemas.microsoft.com/office/powerpoint/2010/main" val="163757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F102084-4CA6-40E8-879C-5BE2D257AA1C}"/>
              </a:ext>
            </a:extLst>
          </p:cNvPr>
          <p:cNvSpPr>
            <a:spLocks noGrp="1"/>
          </p:cNvSpPr>
          <p:nvPr>
            <p:ph type="title"/>
          </p:nvPr>
        </p:nvSpPr>
        <p:spPr/>
        <p:txBody>
          <a:bodyPr/>
          <a:lstStyle/>
          <a:p>
            <a:r>
              <a:rPr lang="de-DE" dirty="0"/>
              <a:t>DNS-Voraussetzungen für alle drei Dienste</a:t>
            </a:r>
          </a:p>
        </p:txBody>
      </p:sp>
      <p:sp>
        <p:nvSpPr>
          <p:cNvPr id="6" name="Foliennummernplatzhalter 5">
            <a:extLst>
              <a:ext uri="{FF2B5EF4-FFF2-40B4-BE49-F238E27FC236}">
                <a16:creationId xmlns:a16="http://schemas.microsoft.com/office/drawing/2014/main" id="{536FD45C-CF83-4995-92CB-AB2759D5A9E5}"/>
              </a:ext>
            </a:extLst>
          </p:cNvPr>
          <p:cNvSpPr>
            <a:spLocks noGrp="1"/>
          </p:cNvSpPr>
          <p:nvPr>
            <p:ph type="sldNum" sz="quarter" idx="4"/>
          </p:nvPr>
        </p:nvSpPr>
        <p:spPr/>
        <p:txBody>
          <a:bodyPr/>
          <a:lstStyle/>
          <a:p>
            <a:fld id="{43A6DCFB-163F-4561-BF28-3CD1FE47EE20}" type="slidenum">
              <a:rPr lang="de-DE" smtClean="0"/>
              <a:pPr/>
              <a:t>10</a:t>
            </a:fld>
            <a:endParaRPr lang="de-DE" dirty="0"/>
          </a:p>
        </p:txBody>
      </p:sp>
      <p:sp>
        <p:nvSpPr>
          <p:cNvPr id="7" name="Shape 2">
            <a:extLst>
              <a:ext uri="{FF2B5EF4-FFF2-40B4-BE49-F238E27FC236}">
                <a16:creationId xmlns:a16="http://schemas.microsoft.com/office/drawing/2014/main" id="{7A90ADDA-0FAA-4B88-AF4D-A3FAA575490A}"/>
              </a:ext>
            </a:extLst>
          </p:cNvPr>
          <p:cNvSpPr/>
          <p:nvPr/>
        </p:nvSpPr>
        <p:spPr>
          <a:xfrm>
            <a:off x="483476" y="1930797"/>
            <a:ext cx="5152030" cy="3908068"/>
          </a:xfrm>
          <a:prstGeom prst="roundRect">
            <a:avLst>
              <a:gd name="adj" fmla="val 3168"/>
            </a:avLst>
          </a:prstGeom>
          <a:solidFill>
            <a:srgbClr val="F5F5F5"/>
          </a:solidFill>
          <a:ln w="6350">
            <a:solidFill>
              <a:srgbClr val="D1D5DB"/>
            </a:solidFill>
            <a:prstDash val="solid"/>
          </a:ln>
        </p:spPr>
      </p:sp>
      <p:sp>
        <p:nvSpPr>
          <p:cNvPr id="8" name="Text 3">
            <a:extLst>
              <a:ext uri="{FF2B5EF4-FFF2-40B4-BE49-F238E27FC236}">
                <a16:creationId xmlns:a16="http://schemas.microsoft.com/office/drawing/2014/main" id="{DAF2E98A-AEEF-4413-B440-EA30D5C4071D}"/>
              </a:ext>
            </a:extLst>
          </p:cNvPr>
          <p:cNvSpPr/>
          <p:nvPr/>
        </p:nvSpPr>
        <p:spPr>
          <a:xfrm>
            <a:off x="749694" y="2201019"/>
            <a:ext cx="4431884"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Benötigte A-Records</a:t>
            </a:r>
            <a:endParaRPr lang="en-US" sz="1400" dirty="0"/>
          </a:p>
        </p:txBody>
      </p:sp>
      <p:graphicFrame>
        <p:nvGraphicFramePr>
          <p:cNvPr id="9" name="Table 0">
            <a:extLst>
              <a:ext uri="{FF2B5EF4-FFF2-40B4-BE49-F238E27FC236}">
                <a16:creationId xmlns:a16="http://schemas.microsoft.com/office/drawing/2014/main" id="{6E51F3E8-3C73-473A-B2AF-4DE577FC8245}"/>
              </a:ext>
            </a:extLst>
          </p:cNvPr>
          <p:cNvGraphicFramePr>
            <a:graphicFrameLocks noGrp="1"/>
          </p:cNvGraphicFramePr>
          <p:nvPr>
            <p:extLst>
              <p:ext uri="{D42A27DB-BD31-4B8C-83A1-F6EECF244321}">
                <p14:modId xmlns:p14="http://schemas.microsoft.com/office/powerpoint/2010/main" val="4053979559"/>
              </p:ext>
            </p:extLst>
          </p:nvPr>
        </p:nvGraphicFramePr>
        <p:xfrm>
          <a:off x="749694" y="2554843"/>
          <a:ext cx="4697099" cy="1203008"/>
        </p:xfrm>
        <a:graphic>
          <a:graphicData uri="http://schemas.openxmlformats.org/drawingml/2006/table">
            <a:tbl>
              <a:tblPr/>
              <a:tblGrid>
                <a:gridCol w="1784898">
                  <a:extLst>
                    <a:ext uri="{9D8B030D-6E8A-4147-A177-3AD203B41FA5}">
                      <a16:colId xmlns:a16="http://schemas.microsoft.com/office/drawing/2014/main" val="20000"/>
                    </a:ext>
                  </a:extLst>
                </a:gridCol>
                <a:gridCol w="2912201">
                  <a:extLst>
                    <a:ext uri="{9D8B030D-6E8A-4147-A177-3AD203B41FA5}">
                      <a16:colId xmlns:a16="http://schemas.microsoft.com/office/drawing/2014/main" val="20001"/>
                    </a:ext>
                  </a:extLst>
                </a:gridCol>
              </a:tblGrid>
              <a:tr h="300752">
                <a:tc>
                  <a:txBody>
                    <a:bodyPr/>
                    <a:lstStyle/>
                    <a:p>
                      <a:pPr marL="0" indent="0">
                        <a:lnSpc>
                          <a:spcPts val="1540"/>
                        </a:lnSpc>
                        <a:buNone/>
                      </a:pPr>
                      <a:r>
                        <a:rPr lang="en-US" sz="1100" b="1" dirty="0">
                          <a:solidFill>
                            <a:srgbClr val="1A1A1A"/>
                          </a:solidFill>
                          <a:latin typeface="Arial" pitchFamily="34" charset="0"/>
                          <a:ea typeface="Arial" pitchFamily="34" charset="-122"/>
                          <a:cs typeface="Arial" pitchFamily="34" charset="-120"/>
                        </a:rPr>
                        <a:t>Hostname</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5E7EB"/>
                    </a:solidFill>
                  </a:tcPr>
                </a:tc>
                <a:tc>
                  <a:txBody>
                    <a:bodyPr/>
                    <a:lstStyle/>
                    <a:p>
                      <a:pPr marL="0" indent="0">
                        <a:lnSpc>
                          <a:spcPts val="1540"/>
                        </a:lnSpc>
                        <a:buNone/>
                      </a:pPr>
                      <a:r>
                        <a:rPr lang="en-US" sz="1100" b="1" dirty="0">
                          <a:solidFill>
                            <a:srgbClr val="1A1A1A"/>
                          </a:solidFill>
                          <a:latin typeface="Arial" pitchFamily="34" charset="0"/>
                          <a:ea typeface="Arial" pitchFamily="34" charset="-122"/>
                          <a:cs typeface="Arial" pitchFamily="34" charset="-120"/>
                        </a:rPr>
                        <a:t>Ziel</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5E7EB"/>
                    </a:solidFill>
                  </a:tcPr>
                </a:tc>
                <a:extLst>
                  <a:ext uri="{0D108BD9-81ED-4DB2-BD59-A6C34878D82A}">
                    <a16:rowId xmlns:a16="http://schemas.microsoft.com/office/drawing/2014/main" val="10000"/>
                  </a:ext>
                </a:extLst>
              </a:tr>
              <a:tr h="300752">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cockpit.&lt;IHRE-DOMAIN&gt;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&lt;IPv4 des Servers&gt;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extLst>
                  <a:ext uri="{0D108BD9-81ED-4DB2-BD59-A6C34878D82A}">
                    <a16:rowId xmlns:a16="http://schemas.microsoft.com/office/drawing/2014/main" val="10001"/>
                  </a:ext>
                </a:extLst>
              </a:tr>
              <a:tr h="300752">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dienst-a.&lt;IHRE-DOMAIN&gt;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DEDED"/>
                    </a:solidFill>
                  </a:tcPr>
                </a:tc>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&lt;IPv4 des Servers&gt;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DEDED"/>
                    </a:solidFill>
                  </a:tcPr>
                </a:tc>
                <a:extLst>
                  <a:ext uri="{0D108BD9-81ED-4DB2-BD59-A6C34878D82A}">
                    <a16:rowId xmlns:a16="http://schemas.microsoft.com/office/drawing/2014/main" val="10002"/>
                  </a:ext>
                </a:extLst>
              </a:tr>
              <a:tr h="300752">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dienst-b.&lt;IHRE-DOMAIN&gt;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&lt;IPv4 des Servers&gt;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Shape 4">
            <a:extLst>
              <a:ext uri="{FF2B5EF4-FFF2-40B4-BE49-F238E27FC236}">
                <a16:creationId xmlns:a16="http://schemas.microsoft.com/office/drawing/2014/main" id="{0BB161B0-3808-4772-B205-12602CA483E7}"/>
              </a:ext>
            </a:extLst>
          </p:cNvPr>
          <p:cNvSpPr/>
          <p:nvPr/>
        </p:nvSpPr>
        <p:spPr>
          <a:xfrm>
            <a:off x="819387" y="3873034"/>
            <a:ext cx="4627406" cy="1800401"/>
          </a:xfrm>
          <a:prstGeom prst="roundRect">
            <a:avLst>
              <a:gd name="adj" fmla="val 11367"/>
            </a:avLst>
          </a:prstGeom>
          <a:solidFill>
            <a:srgbClr val="EDEDED"/>
          </a:solidFill>
          <a:ln/>
        </p:spPr>
      </p:sp>
      <p:sp>
        <p:nvSpPr>
          <p:cNvPr id="11" name="Shape 5">
            <a:extLst>
              <a:ext uri="{FF2B5EF4-FFF2-40B4-BE49-F238E27FC236}">
                <a16:creationId xmlns:a16="http://schemas.microsoft.com/office/drawing/2014/main" id="{1DC949E1-398D-4BDC-98E9-2E7A0ED36CDB}"/>
              </a:ext>
            </a:extLst>
          </p:cNvPr>
          <p:cNvSpPr/>
          <p:nvPr/>
        </p:nvSpPr>
        <p:spPr>
          <a:xfrm flipH="1">
            <a:off x="808669" y="4144685"/>
            <a:ext cx="7226" cy="1289760"/>
          </a:xfrm>
          <a:prstGeom prst="line">
            <a:avLst/>
          </a:prstGeom>
          <a:noFill/>
          <a:ln w="25400">
            <a:solidFill>
              <a:srgbClr val="1A1A1A"/>
            </a:solidFill>
            <a:prstDash val="solid"/>
          </a:ln>
        </p:spPr>
      </p:sp>
      <p:sp>
        <p:nvSpPr>
          <p:cNvPr id="13" name="Text 6">
            <a:extLst>
              <a:ext uri="{FF2B5EF4-FFF2-40B4-BE49-F238E27FC236}">
                <a16:creationId xmlns:a16="http://schemas.microsoft.com/office/drawing/2014/main" id="{E516886C-81A3-440A-805D-E156C6EFC54D}"/>
              </a:ext>
            </a:extLst>
          </p:cNvPr>
          <p:cNvSpPr/>
          <p:nvPr/>
        </p:nvSpPr>
        <p:spPr>
          <a:xfrm>
            <a:off x="997381" y="3987840"/>
            <a:ext cx="4449412" cy="1812889"/>
          </a:xfrm>
          <a:prstGeom prst="rect">
            <a:avLst/>
          </a:prstGeom>
          <a:noFill/>
          <a:ln/>
        </p:spPr>
        <p:txBody>
          <a:bodyPr wrap="square" lIns="0" tIns="0" rIns="0" bIns="0" rtlCol="0" anchor="t">
            <a:normAutofit/>
          </a:bodyPr>
          <a:lstStyle/>
          <a:p>
            <a:pPr marL="0" indent="0" algn="l">
              <a:lnSpc>
                <a:spcPts val="1400"/>
              </a:lnSpc>
              <a:buNone/>
            </a:pPr>
            <a:r>
              <a:rPr lang="en-US" sz="1400" dirty="0">
                <a:ea typeface="Arial" pitchFamily="34" charset="-122"/>
                <a:cs typeface="Arial" pitchFamily="34" charset="-120"/>
              </a:rPr>
              <a:t>Statt drei Einzeleinträgen deckt ein Wildcard-Record (Name *, Typ A) automatisch alle Subdomains ab – auch </a:t>
            </a:r>
            <a:r>
              <a:rPr lang="en-US" sz="1400" dirty="0" err="1">
                <a:ea typeface="Arial" pitchFamily="34" charset="-122"/>
                <a:cs typeface="Arial" pitchFamily="34" charset="-120"/>
              </a:rPr>
              <a:t>künftige</a:t>
            </a:r>
            <a:r>
              <a:rPr lang="en-US" sz="1400" dirty="0">
                <a:ea typeface="Arial" pitchFamily="34" charset="-122"/>
                <a:cs typeface="Arial" pitchFamily="34" charset="-120"/>
              </a:rPr>
              <a:t>.</a:t>
            </a:r>
          </a:p>
          <a:p>
            <a:pPr marL="0" indent="0" algn="l">
              <a:lnSpc>
                <a:spcPts val="1400"/>
              </a:lnSpc>
              <a:buNone/>
            </a:pPr>
            <a:endParaRPr lang="en-US" sz="1400" dirty="0">
              <a:ea typeface="Arial" pitchFamily="34" charset="-122"/>
              <a:cs typeface="Arial" pitchFamily="34" charset="-120"/>
            </a:endParaRPr>
          </a:p>
          <a:p>
            <a:pPr marL="0" indent="0" algn="l">
              <a:lnSpc>
                <a:spcPts val="1400"/>
              </a:lnSpc>
              <a:buNone/>
            </a:pPr>
            <a:r>
              <a:rPr lang="en-US" sz="1400" dirty="0">
                <a:ea typeface="Arial" pitchFamily="34" charset="-122"/>
                <a:cs typeface="Arial" pitchFamily="34" charset="-120"/>
              </a:rPr>
              <a:t>Sie </a:t>
            </a:r>
            <a:r>
              <a:rPr lang="en-US" sz="1400" dirty="0" err="1">
                <a:ea typeface="Arial" pitchFamily="34" charset="-122"/>
                <a:cs typeface="Arial" pitchFamily="34" charset="-120"/>
              </a:rPr>
              <a:t>besitzen</a:t>
            </a:r>
            <a:r>
              <a:rPr lang="en-US" sz="1400" dirty="0">
                <a:ea typeface="Arial" pitchFamily="34" charset="-122"/>
                <a:cs typeface="Arial" pitchFamily="34" charset="-120"/>
              </a:rPr>
              <a:t> alle die </a:t>
            </a:r>
            <a:r>
              <a:rPr lang="en-US" sz="1400" dirty="0" err="1">
                <a:ea typeface="Arial" pitchFamily="34" charset="-122"/>
                <a:cs typeface="Arial" pitchFamily="34" charset="-120"/>
              </a:rPr>
              <a:t>gleiche</a:t>
            </a:r>
            <a:r>
              <a:rPr lang="en-US" sz="1400" dirty="0">
                <a:ea typeface="Arial" pitchFamily="34" charset="-122"/>
                <a:cs typeface="Arial" pitchFamily="34" charset="-120"/>
              </a:rPr>
              <a:t> Second-Level-Domain. </a:t>
            </a:r>
            <a:r>
              <a:rPr lang="en-US" sz="1400" dirty="0" err="1">
                <a:ea typeface="Arial" pitchFamily="34" charset="-122"/>
                <a:cs typeface="Arial" pitchFamily="34" charset="-120"/>
              </a:rPr>
              <a:t>Jeder</a:t>
            </a:r>
            <a:r>
              <a:rPr lang="en-US" sz="1400" dirty="0">
                <a:ea typeface="Arial" pitchFamily="34" charset="-122"/>
                <a:cs typeface="Arial" pitchFamily="34" charset="-120"/>
              </a:rPr>
              <a:t> TN </a:t>
            </a:r>
            <a:r>
              <a:rPr lang="en-US" sz="1400" dirty="0" err="1">
                <a:ea typeface="Arial" pitchFamily="34" charset="-122"/>
                <a:cs typeface="Arial" pitchFamily="34" charset="-120"/>
              </a:rPr>
              <a:t>erhält</a:t>
            </a:r>
            <a:r>
              <a:rPr lang="en-US" sz="1400" dirty="0">
                <a:ea typeface="Arial" pitchFamily="34" charset="-122"/>
                <a:cs typeface="Arial" pitchFamily="34" charset="-120"/>
              </a:rPr>
              <a:t> in der </a:t>
            </a:r>
            <a:r>
              <a:rPr lang="en-US" sz="1400" dirty="0" err="1">
                <a:ea typeface="Arial" pitchFamily="34" charset="-122"/>
                <a:cs typeface="Arial" pitchFamily="34" charset="-120"/>
              </a:rPr>
              <a:t>Veranstaltung</a:t>
            </a:r>
            <a:r>
              <a:rPr lang="en-US" sz="1400" dirty="0">
                <a:ea typeface="Arial" pitchFamily="34" charset="-122"/>
                <a:cs typeface="Arial" pitchFamily="34" charset="-120"/>
              </a:rPr>
              <a:t> </a:t>
            </a:r>
            <a:r>
              <a:rPr lang="en-US" sz="1400" dirty="0" err="1">
                <a:ea typeface="Arial" pitchFamily="34" charset="-122"/>
                <a:cs typeface="Arial" pitchFamily="34" charset="-120"/>
              </a:rPr>
              <a:t>eine</a:t>
            </a:r>
            <a:r>
              <a:rPr lang="en-US" sz="1400" dirty="0">
                <a:ea typeface="Arial" pitchFamily="34" charset="-122"/>
                <a:cs typeface="Arial" pitchFamily="34" charset="-120"/>
              </a:rPr>
              <a:t> eigen Subdomains. </a:t>
            </a:r>
          </a:p>
          <a:p>
            <a:pPr marL="0" indent="0" algn="l">
              <a:lnSpc>
                <a:spcPts val="1400"/>
              </a:lnSpc>
              <a:buNone/>
            </a:pPr>
            <a:endParaRPr lang="en-US" sz="1400" dirty="0">
              <a:ea typeface="Arial" pitchFamily="34" charset="-122"/>
              <a:cs typeface="Arial" pitchFamily="34" charset="-120"/>
            </a:endParaRPr>
          </a:p>
          <a:p>
            <a:pPr marL="0" indent="0" algn="l">
              <a:lnSpc>
                <a:spcPts val="1400"/>
              </a:lnSpc>
              <a:buNone/>
            </a:pPr>
            <a:r>
              <a:rPr lang="en-US" sz="1400" dirty="0">
                <a:ea typeface="Arial" pitchFamily="34" charset="-122"/>
                <a:cs typeface="Arial" pitchFamily="34" charset="-120"/>
              </a:rPr>
              <a:t>Bitte </a:t>
            </a:r>
            <a:r>
              <a:rPr lang="en-US" sz="1400" dirty="0" err="1">
                <a:ea typeface="Arial" pitchFamily="34" charset="-122"/>
                <a:cs typeface="Arial" pitchFamily="34" charset="-120"/>
              </a:rPr>
              <a:t>berücksichtigen</a:t>
            </a:r>
            <a:r>
              <a:rPr lang="en-US" sz="1400" dirty="0">
                <a:ea typeface="Arial" pitchFamily="34" charset="-122"/>
                <a:cs typeface="Arial" pitchFamily="34" charset="-120"/>
              </a:rPr>
              <a:t> Sie dies:</a:t>
            </a:r>
          </a:p>
          <a:p>
            <a:pPr marL="0" indent="0" algn="l">
              <a:lnSpc>
                <a:spcPts val="1400"/>
              </a:lnSpc>
              <a:buNone/>
            </a:pPr>
            <a:br>
              <a:rPr lang="en-US" sz="1400" dirty="0">
                <a:ea typeface="Arial" pitchFamily="34" charset="-122"/>
                <a:cs typeface="Arial" pitchFamily="34" charset="-120"/>
              </a:rPr>
            </a:br>
            <a:r>
              <a:rPr lang="en-US" sz="1400" dirty="0">
                <a:ea typeface="Arial" pitchFamily="34" charset="-122"/>
                <a:cs typeface="Arial" pitchFamily="34" charset="-120"/>
              </a:rPr>
              <a:t> z. B. cockpit.s1.alpme.de, cockpit.s2.alpme.de </a:t>
            </a:r>
            <a:r>
              <a:rPr lang="en-US" sz="1400" dirty="0" err="1">
                <a:ea typeface="Arial" pitchFamily="34" charset="-122"/>
                <a:cs typeface="Arial" pitchFamily="34" charset="-120"/>
              </a:rPr>
              <a:t>usw</a:t>
            </a:r>
            <a:r>
              <a:rPr lang="en-US" sz="1400" dirty="0">
                <a:ea typeface="Arial" pitchFamily="34" charset="-122"/>
                <a:cs typeface="Arial" pitchFamily="34" charset="-120"/>
              </a:rPr>
              <a:t>.</a:t>
            </a:r>
          </a:p>
          <a:p>
            <a:pPr marL="0" indent="0" algn="l">
              <a:lnSpc>
                <a:spcPts val="1400"/>
              </a:lnSpc>
              <a:buNone/>
            </a:pPr>
            <a:endParaRPr lang="en-US" sz="1400" dirty="0">
              <a:ea typeface="Arial" pitchFamily="34" charset="-122"/>
              <a:cs typeface="Arial" pitchFamily="34" charset="-120"/>
            </a:endParaRPr>
          </a:p>
          <a:p>
            <a:pPr marL="0" indent="0" algn="l">
              <a:lnSpc>
                <a:spcPts val="1400"/>
              </a:lnSpc>
              <a:buNone/>
            </a:pPr>
            <a:endParaRPr lang="en-US" sz="1400" dirty="0"/>
          </a:p>
        </p:txBody>
      </p:sp>
      <p:sp>
        <p:nvSpPr>
          <p:cNvPr id="14" name="Text 7">
            <a:extLst>
              <a:ext uri="{FF2B5EF4-FFF2-40B4-BE49-F238E27FC236}">
                <a16:creationId xmlns:a16="http://schemas.microsoft.com/office/drawing/2014/main" id="{FBB295EC-0E8D-4553-8649-ADCB97B22A95}"/>
              </a:ext>
            </a:extLst>
          </p:cNvPr>
          <p:cNvSpPr/>
          <p:nvPr/>
        </p:nvSpPr>
        <p:spPr>
          <a:xfrm>
            <a:off x="5994202" y="1927622"/>
            <a:ext cx="5546630"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Namensauflösung vorab prüfen</a:t>
            </a:r>
            <a:endParaRPr lang="en-US" sz="1400" dirty="0"/>
          </a:p>
        </p:txBody>
      </p:sp>
      <p:sp>
        <p:nvSpPr>
          <p:cNvPr id="15" name="Shape 8">
            <a:extLst>
              <a:ext uri="{FF2B5EF4-FFF2-40B4-BE49-F238E27FC236}">
                <a16:creationId xmlns:a16="http://schemas.microsoft.com/office/drawing/2014/main" id="{DEA6B0B6-29A4-4420-A9EE-B8BA16536109}"/>
              </a:ext>
            </a:extLst>
          </p:cNvPr>
          <p:cNvSpPr/>
          <p:nvPr/>
        </p:nvSpPr>
        <p:spPr>
          <a:xfrm>
            <a:off x="5997377" y="2296438"/>
            <a:ext cx="5378728" cy="712430"/>
          </a:xfrm>
          <a:prstGeom prst="roundRect">
            <a:avLst>
              <a:gd name="adj" fmla="val 12033"/>
            </a:avLst>
          </a:prstGeom>
          <a:solidFill>
            <a:srgbClr val="F5F5F5"/>
          </a:solidFill>
          <a:ln w="6350">
            <a:solidFill>
              <a:srgbClr val="D1D5DB"/>
            </a:solidFill>
            <a:prstDash val="solid"/>
          </a:ln>
        </p:spPr>
      </p:sp>
      <p:sp>
        <p:nvSpPr>
          <p:cNvPr id="16" name="Shape 9">
            <a:extLst>
              <a:ext uri="{FF2B5EF4-FFF2-40B4-BE49-F238E27FC236}">
                <a16:creationId xmlns:a16="http://schemas.microsoft.com/office/drawing/2014/main" id="{41915F3B-018A-43B6-8AC2-86AA5DB3B808}"/>
              </a:ext>
            </a:extLst>
          </p:cNvPr>
          <p:cNvSpPr/>
          <p:nvPr/>
        </p:nvSpPr>
        <p:spPr>
          <a:xfrm>
            <a:off x="6182757" y="2478008"/>
            <a:ext cx="349171" cy="349171"/>
          </a:xfrm>
          <a:prstGeom prst="roundRect">
            <a:avLst>
              <a:gd name="adj" fmla="val 50000"/>
            </a:avLst>
          </a:prstGeom>
          <a:solidFill>
            <a:srgbClr val="FFFFFF"/>
          </a:solidFill>
          <a:ln w="6350">
            <a:solidFill>
              <a:srgbClr val="1A1A1A"/>
            </a:solidFill>
            <a:prstDash val="solid"/>
          </a:ln>
        </p:spPr>
      </p:sp>
      <p:pic>
        <p:nvPicPr>
          <p:cNvPr id="17" name="Image 1" descr="Code">
            <a:extLst>
              <a:ext uri="{FF2B5EF4-FFF2-40B4-BE49-F238E27FC236}">
                <a16:creationId xmlns:a16="http://schemas.microsoft.com/office/drawing/2014/main" id="{1BAD41DA-0DC5-4550-A898-0579B450A6D3}"/>
              </a:ext>
            </a:extLst>
          </p:cNvPr>
          <p:cNvPicPr>
            <a:picLocks noChangeAspect="1"/>
          </p:cNvPicPr>
          <p:nvPr/>
        </p:nvPicPr>
        <p:blipFill>
          <a:blip r:embed="rId3"/>
          <a:srcRect/>
          <a:stretch/>
        </p:blipFill>
        <p:spPr>
          <a:xfrm>
            <a:off x="6274832" y="2570083"/>
            <a:ext cx="165021" cy="165021"/>
          </a:xfrm>
          <a:prstGeom prst="rect">
            <a:avLst/>
          </a:prstGeom>
        </p:spPr>
      </p:pic>
      <p:sp>
        <p:nvSpPr>
          <p:cNvPr id="18" name="Text 10">
            <a:extLst>
              <a:ext uri="{FF2B5EF4-FFF2-40B4-BE49-F238E27FC236}">
                <a16:creationId xmlns:a16="http://schemas.microsoft.com/office/drawing/2014/main" id="{C82FD302-9FB7-4EDC-A0E6-9479D448376D}"/>
              </a:ext>
            </a:extLst>
          </p:cNvPr>
          <p:cNvSpPr/>
          <p:nvPr/>
        </p:nvSpPr>
        <p:spPr>
          <a:xfrm>
            <a:off x="6662024" y="2453283"/>
            <a:ext cx="4667832" cy="208280"/>
          </a:xfrm>
          <a:prstGeom prst="rect">
            <a:avLst/>
          </a:prstGeom>
          <a:noFill/>
          <a:ln/>
        </p:spPr>
        <p:txBody>
          <a:bodyPr wrap="square" lIns="0" tIns="0" rIns="0" bIns="0" rtlCol="0" anchor="t">
            <a:normAutofit/>
          </a:bodyPr>
          <a:lstStyle/>
          <a:p>
            <a:pPr marL="0" indent="0" algn="l">
              <a:lnSpc>
                <a:spcPts val="1440"/>
              </a:lnSpc>
              <a:buNone/>
            </a:pPr>
            <a:r>
              <a:rPr lang="en-US" sz="1400" b="1" dirty="0">
                <a:ea typeface="Arial" pitchFamily="34" charset="-122"/>
                <a:cs typeface="Arial" pitchFamily="34" charset="-120"/>
              </a:rPr>
              <a:t>Linux / macOS</a:t>
            </a:r>
            <a:endParaRPr lang="en-US" sz="1400" dirty="0"/>
          </a:p>
        </p:txBody>
      </p:sp>
      <p:sp>
        <p:nvSpPr>
          <p:cNvPr id="19" name="Text 11">
            <a:extLst>
              <a:ext uri="{FF2B5EF4-FFF2-40B4-BE49-F238E27FC236}">
                <a16:creationId xmlns:a16="http://schemas.microsoft.com/office/drawing/2014/main" id="{336DE123-79A9-4CEC-BD22-014B29238086}"/>
              </a:ext>
            </a:extLst>
          </p:cNvPr>
          <p:cNvSpPr/>
          <p:nvPr/>
        </p:nvSpPr>
        <p:spPr>
          <a:xfrm>
            <a:off x="6662024" y="2674263"/>
            <a:ext cx="4667832" cy="203160"/>
          </a:xfrm>
          <a:prstGeom prst="rect">
            <a:avLst/>
          </a:prstGeom>
          <a:noFill/>
          <a:ln/>
        </p:spPr>
        <p:txBody>
          <a:bodyPr wrap="square" lIns="0" tIns="0" rIns="0" bIns="0" rtlCol="0" anchor="t">
            <a:normAutofit/>
          </a:bodyPr>
          <a:lstStyle/>
          <a:p>
            <a:pPr marL="0" indent="0" algn="l">
              <a:lnSpc>
                <a:spcPts val="1400"/>
              </a:lnSpc>
              <a:buNone/>
            </a:pPr>
            <a:r>
              <a:rPr lang="en-US" sz="1400" dirty="0">
                <a:ea typeface="Courier New" pitchFamily="34" charset="-122"/>
                <a:cs typeface="Courier New" pitchFamily="34" charset="-120"/>
              </a:rPr>
              <a:t>dig cockpit.&lt;IHRE-DOMAIN&gt;</a:t>
            </a:r>
            <a:endParaRPr lang="en-US" sz="1400" dirty="0"/>
          </a:p>
        </p:txBody>
      </p:sp>
      <p:sp>
        <p:nvSpPr>
          <p:cNvPr id="20" name="Shape 12">
            <a:extLst>
              <a:ext uri="{FF2B5EF4-FFF2-40B4-BE49-F238E27FC236}">
                <a16:creationId xmlns:a16="http://schemas.microsoft.com/office/drawing/2014/main" id="{FD8670BD-9CA0-4E58-B6DC-B846FD56F921}"/>
              </a:ext>
            </a:extLst>
          </p:cNvPr>
          <p:cNvSpPr/>
          <p:nvPr/>
        </p:nvSpPr>
        <p:spPr>
          <a:xfrm>
            <a:off x="5997377" y="3142139"/>
            <a:ext cx="5378728" cy="712430"/>
          </a:xfrm>
          <a:prstGeom prst="roundRect">
            <a:avLst>
              <a:gd name="adj" fmla="val 12033"/>
            </a:avLst>
          </a:prstGeom>
          <a:solidFill>
            <a:srgbClr val="F5F5F5"/>
          </a:solidFill>
          <a:ln w="6350">
            <a:solidFill>
              <a:srgbClr val="D1D5DB"/>
            </a:solidFill>
            <a:prstDash val="solid"/>
          </a:ln>
        </p:spPr>
      </p:sp>
      <p:sp>
        <p:nvSpPr>
          <p:cNvPr id="21" name="Shape 13">
            <a:extLst>
              <a:ext uri="{FF2B5EF4-FFF2-40B4-BE49-F238E27FC236}">
                <a16:creationId xmlns:a16="http://schemas.microsoft.com/office/drawing/2014/main" id="{91C726BA-9CCD-43A0-A10F-476DFB58C73A}"/>
              </a:ext>
            </a:extLst>
          </p:cNvPr>
          <p:cNvSpPr/>
          <p:nvPr/>
        </p:nvSpPr>
        <p:spPr>
          <a:xfrm>
            <a:off x="6182757" y="3323710"/>
            <a:ext cx="349171" cy="349171"/>
          </a:xfrm>
          <a:prstGeom prst="roundRect">
            <a:avLst>
              <a:gd name="adj" fmla="val 50000"/>
            </a:avLst>
          </a:prstGeom>
          <a:solidFill>
            <a:srgbClr val="FFFFFF"/>
          </a:solidFill>
          <a:ln w="6350">
            <a:solidFill>
              <a:srgbClr val="1A1A1A"/>
            </a:solidFill>
            <a:prstDash val="solid"/>
          </a:ln>
        </p:spPr>
      </p:sp>
      <p:pic>
        <p:nvPicPr>
          <p:cNvPr id="22" name="Image 2" descr="Code">
            <a:extLst>
              <a:ext uri="{FF2B5EF4-FFF2-40B4-BE49-F238E27FC236}">
                <a16:creationId xmlns:a16="http://schemas.microsoft.com/office/drawing/2014/main" id="{46C2363A-D5DD-416C-AE2C-82C192EF6DF4}"/>
              </a:ext>
            </a:extLst>
          </p:cNvPr>
          <p:cNvPicPr>
            <a:picLocks noChangeAspect="1"/>
          </p:cNvPicPr>
          <p:nvPr/>
        </p:nvPicPr>
        <p:blipFill>
          <a:blip r:embed="rId3"/>
          <a:srcRect/>
          <a:stretch/>
        </p:blipFill>
        <p:spPr>
          <a:xfrm>
            <a:off x="6274832" y="3415785"/>
            <a:ext cx="165021" cy="165021"/>
          </a:xfrm>
          <a:prstGeom prst="rect">
            <a:avLst/>
          </a:prstGeom>
        </p:spPr>
      </p:pic>
      <p:sp>
        <p:nvSpPr>
          <p:cNvPr id="23" name="Text 14">
            <a:extLst>
              <a:ext uri="{FF2B5EF4-FFF2-40B4-BE49-F238E27FC236}">
                <a16:creationId xmlns:a16="http://schemas.microsoft.com/office/drawing/2014/main" id="{21EA3F88-0CBB-4FD3-A51D-FF57E1DF4C5E}"/>
              </a:ext>
            </a:extLst>
          </p:cNvPr>
          <p:cNvSpPr/>
          <p:nvPr/>
        </p:nvSpPr>
        <p:spPr>
          <a:xfrm>
            <a:off x="6662024" y="3298984"/>
            <a:ext cx="4667832" cy="208280"/>
          </a:xfrm>
          <a:prstGeom prst="rect">
            <a:avLst/>
          </a:prstGeom>
          <a:noFill/>
          <a:ln/>
        </p:spPr>
        <p:txBody>
          <a:bodyPr wrap="square" lIns="0" tIns="0" rIns="0" bIns="0" rtlCol="0" anchor="t">
            <a:normAutofit/>
          </a:bodyPr>
          <a:lstStyle/>
          <a:p>
            <a:pPr marL="0" indent="0" algn="l">
              <a:lnSpc>
                <a:spcPts val="1440"/>
              </a:lnSpc>
              <a:buNone/>
            </a:pPr>
            <a:r>
              <a:rPr lang="en-US" sz="1400" b="1" dirty="0">
                <a:ea typeface="Arial" pitchFamily="34" charset="-122"/>
                <a:cs typeface="Arial" pitchFamily="34" charset="-120"/>
              </a:rPr>
              <a:t>Windows (PowerShell)</a:t>
            </a:r>
            <a:endParaRPr lang="en-US" sz="1400" dirty="0"/>
          </a:p>
        </p:txBody>
      </p:sp>
      <p:sp>
        <p:nvSpPr>
          <p:cNvPr id="24" name="Text 15">
            <a:extLst>
              <a:ext uri="{FF2B5EF4-FFF2-40B4-BE49-F238E27FC236}">
                <a16:creationId xmlns:a16="http://schemas.microsoft.com/office/drawing/2014/main" id="{2C019C3F-B924-411C-B3B3-BC34D87324DA}"/>
              </a:ext>
            </a:extLst>
          </p:cNvPr>
          <p:cNvSpPr/>
          <p:nvPr/>
        </p:nvSpPr>
        <p:spPr>
          <a:xfrm>
            <a:off x="6662024" y="3519964"/>
            <a:ext cx="4667832" cy="203160"/>
          </a:xfrm>
          <a:prstGeom prst="rect">
            <a:avLst/>
          </a:prstGeom>
          <a:noFill/>
          <a:ln/>
        </p:spPr>
        <p:txBody>
          <a:bodyPr wrap="square" lIns="0" tIns="0" rIns="0" bIns="0" rtlCol="0" anchor="t">
            <a:normAutofit/>
          </a:bodyPr>
          <a:lstStyle/>
          <a:p>
            <a:pPr marL="0" indent="0" algn="l">
              <a:lnSpc>
                <a:spcPts val="1400"/>
              </a:lnSpc>
              <a:buNone/>
            </a:pPr>
            <a:r>
              <a:rPr lang="en-US" sz="1400" dirty="0">
                <a:ea typeface="Courier New" pitchFamily="34" charset="-122"/>
                <a:cs typeface="Courier New" pitchFamily="34" charset="-120"/>
              </a:rPr>
              <a:t>Resolve-DnsName cockpit.&lt;IHRE-DOMAIN&gt;</a:t>
            </a:r>
            <a:endParaRPr lang="en-US" sz="1400" dirty="0"/>
          </a:p>
        </p:txBody>
      </p:sp>
      <p:sp>
        <p:nvSpPr>
          <p:cNvPr id="25" name="Shape 16">
            <a:extLst>
              <a:ext uri="{FF2B5EF4-FFF2-40B4-BE49-F238E27FC236}">
                <a16:creationId xmlns:a16="http://schemas.microsoft.com/office/drawing/2014/main" id="{38FAFFBC-3007-4771-A257-29A5299D5FF1}"/>
              </a:ext>
            </a:extLst>
          </p:cNvPr>
          <p:cNvSpPr/>
          <p:nvPr/>
        </p:nvSpPr>
        <p:spPr>
          <a:xfrm>
            <a:off x="5997377" y="3987840"/>
            <a:ext cx="5378728" cy="788115"/>
          </a:xfrm>
          <a:prstGeom prst="roundRect">
            <a:avLst>
              <a:gd name="adj" fmla="val 9534"/>
            </a:avLst>
          </a:prstGeom>
          <a:solidFill>
            <a:srgbClr val="F5F5F5"/>
          </a:solidFill>
          <a:ln w="6350">
            <a:solidFill>
              <a:srgbClr val="D1D5DB"/>
            </a:solidFill>
            <a:prstDash val="solid"/>
          </a:ln>
        </p:spPr>
      </p:sp>
      <p:sp>
        <p:nvSpPr>
          <p:cNvPr id="26" name="Shape 17">
            <a:extLst>
              <a:ext uri="{FF2B5EF4-FFF2-40B4-BE49-F238E27FC236}">
                <a16:creationId xmlns:a16="http://schemas.microsoft.com/office/drawing/2014/main" id="{702F7485-9318-4858-9D59-DB6D57B920A8}"/>
              </a:ext>
            </a:extLst>
          </p:cNvPr>
          <p:cNvSpPr/>
          <p:nvPr/>
        </p:nvSpPr>
        <p:spPr>
          <a:xfrm>
            <a:off x="6182757" y="4262755"/>
            <a:ext cx="349171" cy="349171"/>
          </a:xfrm>
          <a:prstGeom prst="roundRect">
            <a:avLst>
              <a:gd name="adj" fmla="val 50000"/>
            </a:avLst>
          </a:prstGeom>
          <a:solidFill>
            <a:srgbClr val="FFFFFF"/>
          </a:solidFill>
          <a:ln w="6350">
            <a:solidFill>
              <a:srgbClr val="1A1A1A"/>
            </a:solidFill>
            <a:prstDash val="solid"/>
          </a:ln>
        </p:spPr>
      </p:sp>
      <p:pic>
        <p:nvPicPr>
          <p:cNvPr id="27" name="Image 3" descr="Globe">
            <a:extLst>
              <a:ext uri="{FF2B5EF4-FFF2-40B4-BE49-F238E27FC236}">
                <a16:creationId xmlns:a16="http://schemas.microsoft.com/office/drawing/2014/main" id="{893F833C-D73B-4207-AAA2-72F532F643CF}"/>
              </a:ext>
            </a:extLst>
          </p:cNvPr>
          <p:cNvPicPr>
            <a:picLocks noChangeAspect="1"/>
          </p:cNvPicPr>
          <p:nvPr/>
        </p:nvPicPr>
        <p:blipFill>
          <a:blip r:embed="rId4"/>
          <a:srcRect/>
          <a:stretch/>
        </p:blipFill>
        <p:spPr>
          <a:xfrm>
            <a:off x="6274832" y="4354830"/>
            <a:ext cx="165021" cy="165021"/>
          </a:xfrm>
          <a:prstGeom prst="rect">
            <a:avLst/>
          </a:prstGeom>
        </p:spPr>
      </p:pic>
      <p:sp>
        <p:nvSpPr>
          <p:cNvPr id="28" name="Text 18">
            <a:extLst>
              <a:ext uri="{FF2B5EF4-FFF2-40B4-BE49-F238E27FC236}">
                <a16:creationId xmlns:a16="http://schemas.microsoft.com/office/drawing/2014/main" id="{6D2B96C8-7A83-4508-8DBF-FF2A62915B7D}"/>
              </a:ext>
            </a:extLst>
          </p:cNvPr>
          <p:cNvSpPr/>
          <p:nvPr/>
        </p:nvSpPr>
        <p:spPr>
          <a:xfrm>
            <a:off x="6662024" y="4144685"/>
            <a:ext cx="4667832" cy="208280"/>
          </a:xfrm>
          <a:prstGeom prst="rect">
            <a:avLst/>
          </a:prstGeom>
          <a:noFill/>
          <a:ln/>
        </p:spPr>
        <p:txBody>
          <a:bodyPr wrap="square" lIns="0" tIns="0" rIns="0" bIns="0" rtlCol="0" anchor="t">
            <a:normAutofit/>
          </a:bodyPr>
          <a:lstStyle/>
          <a:p>
            <a:pPr>
              <a:lnSpc>
                <a:spcPts val="1440"/>
              </a:lnSpc>
            </a:pPr>
            <a:r>
              <a:rPr lang="en-US" sz="1400" b="1" dirty="0">
                <a:ea typeface="Arial" pitchFamily="34" charset="-122"/>
                <a:cs typeface="Arial" pitchFamily="34" charset="-120"/>
              </a:rPr>
              <a:t>Online-Checker z. B. dnschecker.org</a:t>
            </a:r>
            <a:endParaRPr lang="en-US" sz="1400" dirty="0"/>
          </a:p>
        </p:txBody>
      </p:sp>
      <p:sp>
        <p:nvSpPr>
          <p:cNvPr id="30" name="Text 20">
            <a:extLst>
              <a:ext uri="{FF2B5EF4-FFF2-40B4-BE49-F238E27FC236}">
                <a16:creationId xmlns:a16="http://schemas.microsoft.com/office/drawing/2014/main" id="{2C4B9490-452B-457F-89E4-057A05E82D2B}"/>
              </a:ext>
            </a:extLst>
          </p:cNvPr>
          <p:cNvSpPr/>
          <p:nvPr/>
        </p:nvSpPr>
        <p:spPr>
          <a:xfrm>
            <a:off x="6662024" y="4415275"/>
            <a:ext cx="4667832" cy="173990"/>
          </a:xfrm>
          <a:prstGeom prst="rect">
            <a:avLst/>
          </a:prstGeom>
          <a:noFill/>
          <a:ln/>
        </p:spPr>
        <p:txBody>
          <a:bodyPr wrap="square" lIns="0" tIns="0" rIns="0" bIns="0" rtlCol="0" anchor="t">
            <a:normAutofit/>
          </a:bodyPr>
          <a:lstStyle/>
          <a:p>
            <a:pPr marL="0" indent="0" algn="l">
              <a:lnSpc>
                <a:spcPts val="1170"/>
              </a:lnSpc>
              <a:buNone/>
            </a:pPr>
            <a:r>
              <a:rPr lang="en-US" sz="1400" dirty="0">
                <a:ea typeface="Arial" pitchFamily="34" charset="-122"/>
                <a:cs typeface="Arial" pitchFamily="34" charset="-120"/>
              </a:rPr>
              <a:t>Prüft die weltweite Propagierung des Eintrags</a:t>
            </a:r>
            <a:endParaRPr lang="en-US" sz="1400" dirty="0"/>
          </a:p>
        </p:txBody>
      </p:sp>
      <p:pic>
        <p:nvPicPr>
          <p:cNvPr id="35" name="Grafik 34">
            <a:extLst>
              <a:ext uri="{FF2B5EF4-FFF2-40B4-BE49-F238E27FC236}">
                <a16:creationId xmlns:a16="http://schemas.microsoft.com/office/drawing/2014/main" id="{4633993E-731A-4DEF-8A9D-1E1CA6A9BF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60001" y="5115686"/>
            <a:ext cx="1129554" cy="1298987"/>
          </a:xfrm>
          <a:prstGeom prst="rect">
            <a:avLst/>
          </a:prstGeom>
        </p:spPr>
      </p:pic>
    </p:spTree>
    <p:extLst>
      <p:ext uri="{BB962C8B-B14F-4D97-AF65-F5344CB8AC3E}">
        <p14:creationId xmlns:p14="http://schemas.microsoft.com/office/powerpoint/2010/main" val="1864767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A69A3DD-6FBD-40E7-B37A-03BD8D460E91}"/>
              </a:ext>
            </a:extLst>
          </p:cNvPr>
          <p:cNvSpPr>
            <a:spLocks noGrp="1"/>
          </p:cNvSpPr>
          <p:nvPr>
            <p:ph type="title"/>
          </p:nvPr>
        </p:nvSpPr>
        <p:spPr/>
        <p:txBody>
          <a:bodyPr/>
          <a:lstStyle/>
          <a:p>
            <a:r>
              <a:rPr lang="de-DE" dirty="0"/>
              <a:t>Laborübung 04</a:t>
            </a:r>
          </a:p>
        </p:txBody>
      </p:sp>
      <p:sp>
        <p:nvSpPr>
          <p:cNvPr id="5" name="Datumsplatzhalter 4">
            <a:extLst>
              <a:ext uri="{FF2B5EF4-FFF2-40B4-BE49-F238E27FC236}">
                <a16:creationId xmlns:a16="http://schemas.microsoft.com/office/drawing/2014/main" id="{816D55CA-6F4F-4E30-AA9E-71F6E14CB6C3}"/>
              </a:ext>
            </a:extLst>
          </p:cNvPr>
          <p:cNvSpPr>
            <a:spLocks noGrp="1"/>
          </p:cNvSpPr>
          <p:nvPr>
            <p:ph type="dt" sz="half" idx="10"/>
          </p:nvPr>
        </p:nvSpPr>
        <p:spPr/>
        <p:txBody>
          <a:bodyPr/>
          <a:lstStyle/>
          <a:p>
            <a:fld id="{757CD2D1-8C96-4412-8C0C-09C7E956F080}" type="datetime1">
              <a:rPr lang="de-DE" smtClean="0"/>
              <a:t>22.09.2026</a:t>
            </a:fld>
            <a:endParaRPr lang="de-DE" dirty="0"/>
          </a:p>
        </p:txBody>
      </p:sp>
      <p:sp>
        <p:nvSpPr>
          <p:cNvPr id="6" name="Foliennummernplatzhalter 5">
            <a:extLst>
              <a:ext uri="{FF2B5EF4-FFF2-40B4-BE49-F238E27FC236}">
                <a16:creationId xmlns:a16="http://schemas.microsoft.com/office/drawing/2014/main" id="{FADE0D9E-8259-484A-9508-2802F1E7C7A9}"/>
              </a:ext>
            </a:extLst>
          </p:cNvPr>
          <p:cNvSpPr>
            <a:spLocks noGrp="1"/>
          </p:cNvSpPr>
          <p:nvPr>
            <p:ph type="sldNum" sz="quarter" idx="4"/>
          </p:nvPr>
        </p:nvSpPr>
        <p:spPr/>
        <p:txBody>
          <a:bodyPr/>
          <a:lstStyle/>
          <a:p>
            <a:fld id="{43A6DCFB-163F-4561-BF28-3CD1FE47EE20}" type="slidenum">
              <a:rPr lang="de-DE" smtClean="0"/>
              <a:pPr/>
              <a:t>11</a:t>
            </a:fld>
            <a:endParaRPr lang="de-DE" dirty="0"/>
          </a:p>
        </p:txBody>
      </p:sp>
      <p:pic>
        <p:nvPicPr>
          <p:cNvPr id="8" name="Grafik 7">
            <a:extLst>
              <a:ext uri="{FF2B5EF4-FFF2-40B4-BE49-F238E27FC236}">
                <a16:creationId xmlns:a16="http://schemas.microsoft.com/office/drawing/2014/main" id="{2C85E1F9-33FE-45F1-BBF3-87B319A941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52597" y="1956084"/>
            <a:ext cx="3108344" cy="3730013"/>
          </a:xfrm>
          <a:prstGeom prst="rect">
            <a:avLst/>
          </a:prstGeom>
        </p:spPr>
      </p:pic>
    </p:spTree>
    <p:extLst>
      <p:ext uri="{BB962C8B-B14F-4D97-AF65-F5344CB8AC3E}">
        <p14:creationId xmlns:p14="http://schemas.microsoft.com/office/powerpoint/2010/main" val="2230104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2308E33-0829-4981-BE0B-9CBD59D7698C}"/>
              </a:ext>
            </a:extLst>
          </p:cNvPr>
          <p:cNvSpPr>
            <a:spLocks noGrp="1"/>
          </p:cNvSpPr>
          <p:nvPr>
            <p:ph type="title"/>
          </p:nvPr>
        </p:nvSpPr>
        <p:spPr/>
        <p:txBody>
          <a:bodyPr/>
          <a:lstStyle/>
          <a:p>
            <a:r>
              <a:rPr lang="de-DE" dirty="0"/>
              <a:t>Reflexionsfragen</a:t>
            </a:r>
          </a:p>
        </p:txBody>
      </p:sp>
      <p:sp>
        <p:nvSpPr>
          <p:cNvPr id="5" name="Datumsplatzhalter 4">
            <a:extLst>
              <a:ext uri="{FF2B5EF4-FFF2-40B4-BE49-F238E27FC236}">
                <a16:creationId xmlns:a16="http://schemas.microsoft.com/office/drawing/2014/main" id="{D6890CBD-364B-4CD5-AA70-68D434EA80E9}"/>
              </a:ext>
            </a:extLst>
          </p:cNvPr>
          <p:cNvSpPr>
            <a:spLocks noGrp="1"/>
          </p:cNvSpPr>
          <p:nvPr>
            <p:ph type="dt" sz="half" idx="10"/>
          </p:nvPr>
        </p:nvSpPr>
        <p:spPr/>
        <p:txBody>
          <a:bodyPr/>
          <a:lstStyle/>
          <a:p>
            <a:fld id="{757CD2D1-8C96-4412-8C0C-09C7E956F080}" type="datetime1">
              <a:rPr lang="de-DE" smtClean="0"/>
              <a:t>22.09.2026</a:t>
            </a:fld>
            <a:endParaRPr lang="de-DE" dirty="0"/>
          </a:p>
        </p:txBody>
      </p:sp>
      <p:sp>
        <p:nvSpPr>
          <p:cNvPr id="6" name="Foliennummernplatzhalter 5">
            <a:extLst>
              <a:ext uri="{FF2B5EF4-FFF2-40B4-BE49-F238E27FC236}">
                <a16:creationId xmlns:a16="http://schemas.microsoft.com/office/drawing/2014/main" id="{5271F5D2-381E-4F2B-8EDD-C91D481228C3}"/>
              </a:ext>
            </a:extLst>
          </p:cNvPr>
          <p:cNvSpPr>
            <a:spLocks noGrp="1"/>
          </p:cNvSpPr>
          <p:nvPr>
            <p:ph type="sldNum" sz="quarter" idx="4"/>
          </p:nvPr>
        </p:nvSpPr>
        <p:spPr/>
        <p:txBody>
          <a:bodyPr/>
          <a:lstStyle/>
          <a:p>
            <a:fld id="{43A6DCFB-163F-4561-BF28-3CD1FE47EE20}" type="slidenum">
              <a:rPr lang="de-DE" smtClean="0"/>
              <a:pPr/>
              <a:t>12</a:t>
            </a:fld>
            <a:endParaRPr lang="de-DE" dirty="0"/>
          </a:p>
        </p:txBody>
      </p:sp>
      <p:sp>
        <p:nvSpPr>
          <p:cNvPr id="7" name="Shape 2">
            <a:extLst>
              <a:ext uri="{FF2B5EF4-FFF2-40B4-BE49-F238E27FC236}">
                <a16:creationId xmlns:a16="http://schemas.microsoft.com/office/drawing/2014/main" id="{AE08837B-B0FC-4689-969E-6368EDF93EE3}"/>
              </a:ext>
            </a:extLst>
          </p:cNvPr>
          <p:cNvSpPr/>
          <p:nvPr/>
        </p:nvSpPr>
        <p:spPr>
          <a:xfrm>
            <a:off x="812721" y="2950000"/>
            <a:ext cx="10566559" cy="0"/>
          </a:xfrm>
          <a:prstGeom prst="line">
            <a:avLst/>
          </a:prstGeom>
          <a:noFill/>
          <a:ln w="6350">
            <a:solidFill>
              <a:srgbClr val="D1D5DB"/>
            </a:solidFill>
            <a:prstDash val="solid"/>
          </a:ln>
        </p:spPr>
      </p:sp>
      <p:sp>
        <p:nvSpPr>
          <p:cNvPr id="8" name="Text 3">
            <a:extLst>
              <a:ext uri="{FF2B5EF4-FFF2-40B4-BE49-F238E27FC236}">
                <a16:creationId xmlns:a16="http://schemas.microsoft.com/office/drawing/2014/main" id="{60C66E16-4654-4BCC-8ADA-11E50E8AC785}"/>
              </a:ext>
            </a:extLst>
          </p:cNvPr>
          <p:cNvSpPr/>
          <p:nvPr/>
        </p:nvSpPr>
        <p:spPr>
          <a:xfrm>
            <a:off x="812721" y="2130426"/>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01</a:t>
            </a:r>
            <a:endParaRPr lang="en-US" sz="3000" dirty="0"/>
          </a:p>
        </p:txBody>
      </p:sp>
      <p:sp>
        <p:nvSpPr>
          <p:cNvPr id="9" name="Text 4">
            <a:extLst>
              <a:ext uri="{FF2B5EF4-FFF2-40B4-BE49-F238E27FC236}">
                <a16:creationId xmlns:a16="http://schemas.microsoft.com/office/drawing/2014/main" id="{15CDA089-2BDF-405E-A1A2-07495C117106}"/>
              </a:ext>
            </a:extLst>
          </p:cNvPr>
          <p:cNvSpPr/>
          <p:nvPr/>
        </p:nvSpPr>
        <p:spPr>
          <a:xfrm>
            <a:off x="1625441" y="2130426"/>
            <a:ext cx="10046454" cy="6500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Welchen konkreten Unterschied haben Sie beim Aufruf von Cockpit vor und nach dieser Übung im Browser bemerkt – und was bedeutet das für einen Benutzer, der die Warnung nicht versteht?</a:t>
            </a:r>
            <a:endParaRPr lang="en-US" sz="1800" dirty="0"/>
          </a:p>
        </p:txBody>
      </p:sp>
      <p:sp>
        <p:nvSpPr>
          <p:cNvPr id="10" name="Shape 5">
            <a:extLst>
              <a:ext uri="{FF2B5EF4-FFF2-40B4-BE49-F238E27FC236}">
                <a16:creationId xmlns:a16="http://schemas.microsoft.com/office/drawing/2014/main" id="{5494341D-6130-4013-A63D-19BFA10702FB}"/>
              </a:ext>
            </a:extLst>
          </p:cNvPr>
          <p:cNvSpPr/>
          <p:nvPr/>
        </p:nvSpPr>
        <p:spPr>
          <a:xfrm>
            <a:off x="812721" y="3950000"/>
            <a:ext cx="10566559" cy="0"/>
          </a:xfrm>
          <a:prstGeom prst="line">
            <a:avLst/>
          </a:prstGeom>
          <a:noFill/>
          <a:ln w="6350">
            <a:solidFill>
              <a:srgbClr val="D1D5DB"/>
            </a:solidFill>
            <a:prstDash val="solid"/>
          </a:ln>
        </p:spPr>
      </p:sp>
      <p:sp>
        <p:nvSpPr>
          <p:cNvPr id="11" name="Text 6">
            <a:extLst>
              <a:ext uri="{FF2B5EF4-FFF2-40B4-BE49-F238E27FC236}">
                <a16:creationId xmlns:a16="http://schemas.microsoft.com/office/drawing/2014/main" id="{A7A46E7B-376D-4594-829A-8267F7A9486C}"/>
              </a:ext>
            </a:extLst>
          </p:cNvPr>
          <p:cNvSpPr/>
          <p:nvPr/>
        </p:nvSpPr>
        <p:spPr>
          <a:xfrm>
            <a:off x="812721" y="3130426"/>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02</a:t>
            </a:r>
            <a:endParaRPr lang="en-US" sz="3000" dirty="0"/>
          </a:p>
        </p:txBody>
      </p:sp>
      <p:sp>
        <p:nvSpPr>
          <p:cNvPr id="12" name="Text 7">
            <a:extLst>
              <a:ext uri="{FF2B5EF4-FFF2-40B4-BE49-F238E27FC236}">
                <a16:creationId xmlns:a16="http://schemas.microsoft.com/office/drawing/2014/main" id="{7582FEE8-0BEA-4B21-913E-A515528F264B}"/>
              </a:ext>
            </a:extLst>
          </p:cNvPr>
          <p:cNvSpPr/>
          <p:nvPr/>
        </p:nvSpPr>
        <p:spPr>
          <a:xfrm>
            <a:off x="1625441" y="3130426"/>
            <a:ext cx="10046454" cy="6500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Warum ist es sinnvoll, dass die Backend-Dienste (Ports 8001, 8002, 9090) nur auf localhost gebunden sind und nicht direkt von außen erreichbar sind?</a:t>
            </a:r>
            <a:endParaRPr lang="en-US" sz="1800" dirty="0"/>
          </a:p>
        </p:txBody>
      </p:sp>
      <p:sp>
        <p:nvSpPr>
          <p:cNvPr id="13" name="Text 8">
            <a:extLst>
              <a:ext uri="{FF2B5EF4-FFF2-40B4-BE49-F238E27FC236}">
                <a16:creationId xmlns:a16="http://schemas.microsoft.com/office/drawing/2014/main" id="{DB9A012B-4038-455F-960E-6DA6A60BA1CD}"/>
              </a:ext>
            </a:extLst>
          </p:cNvPr>
          <p:cNvSpPr/>
          <p:nvPr/>
        </p:nvSpPr>
        <p:spPr>
          <a:xfrm>
            <a:off x="812721" y="4130426"/>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03</a:t>
            </a:r>
            <a:endParaRPr lang="en-US" sz="3000" dirty="0"/>
          </a:p>
        </p:txBody>
      </p:sp>
      <p:sp>
        <p:nvSpPr>
          <p:cNvPr id="14" name="Text 9">
            <a:extLst>
              <a:ext uri="{FF2B5EF4-FFF2-40B4-BE49-F238E27FC236}">
                <a16:creationId xmlns:a16="http://schemas.microsoft.com/office/drawing/2014/main" id="{2D224168-BFCE-4E85-A425-72B73B62690C}"/>
              </a:ext>
            </a:extLst>
          </p:cNvPr>
          <p:cNvSpPr/>
          <p:nvPr/>
        </p:nvSpPr>
        <p:spPr>
          <a:xfrm>
            <a:off x="1625441" y="4130426"/>
            <a:ext cx="10046454" cy="6500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Was würde passieren, wenn jemand versucht, Dienst B direkt über http://localhost:8002 aufzurufen – von außen, ohne Caddy?</a:t>
            </a:r>
            <a:endParaRPr lang="en-US" sz="1800" dirty="0"/>
          </a:p>
        </p:txBody>
      </p:sp>
      <p:pic>
        <p:nvPicPr>
          <p:cNvPr id="2" name="Grafik 1">
            <a:extLst>
              <a:ext uri="{FF2B5EF4-FFF2-40B4-BE49-F238E27FC236}">
                <a16:creationId xmlns:a16="http://schemas.microsoft.com/office/drawing/2014/main" id="{65BA1666-49F1-42CC-9B2D-322530CAD655}"/>
              </a:ext>
            </a:extLst>
          </p:cNvPr>
          <p:cNvPicPr>
            <a:picLocks noChangeAspect="1"/>
          </p:cNvPicPr>
          <p:nvPr/>
        </p:nvPicPr>
        <p:blipFill>
          <a:blip r:embed="rId3"/>
          <a:stretch>
            <a:fillRect/>
          </a:stretch>
        </p:blipFill>
        <p:spPr>
          <a:xfrm>
            <a:off x="11150000" y="1250000"/>
            <a:ext cx="850000" cy="850000"/>
          </a:xfrm>
          <a:prstGeom prst="rect">
            <a:avLst/>
          </a:prstGeom>
        </p:spPr>
      </p:pic>
      <p:sp>
        <p:nvSpPr>
          <p:cNvPr id="3" name="Shape 5">
            <a:extLst>
              <a:ext uri="{FF2B5EF4-FFF2-40B4-BE49-F238E27FC236}">
                <a16:creationId xmlns:a16="http://schemas.microsoft.com/office/drawing/2014/main" id="{5494341D-6130-4013-A63D-19BFA10702FB}"/>
              </a:ext>
            </a:extLst>
          </p:cNvPr>
          <p:cNvSpPr/>
          <p:nvPr/>
        </p:nvSpPr>
        <p:spPr>
          <a:xfrm>
            <a:off x="812721" y="4950000"/>
            <a:ext cx="10566559" cy="0"/>
          </a:xfrm>
          <a:prstGeom prst="line">
            <a:avLst/>
          </a:prstGeom>
          <a:noFill/>
          <a:ln w="6350">
            <a:solidFill>
              <a:srgbClr val="D1D5DB"/>
            </a:solidFill>
            <a:prstDash val="solid"/>
          </a:ln>
        </p:spPr>
      </p:sp>
      <p:sp>
        <p:nvSpPr>
          <p:cNvPr id="15" name="Text 8">
            <a:extLst>
              <a:ext uri="{FF2B5EF4-FFF2-40B4-BE49-F238E27FC236}">
                <a16:creationId xmlns:a16="http://schemas.microsoft.com/office/drawing/2014/main" id="{DB9A012B-4038-455F-960E-6DA6A60BA1CD}"/>
              </a:ext>
            </a:extLst>
          </p:cNvPr>
          <p:cNvSpPr/>
          <p:nvPr/>
        </p:nvSpPr>
        <p:spPr>
          <a:xfrm>
            <a:off x="812721" y="5130426"/>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04</a:t>
            </a:r>
            <a:endParaRPr lang="en-US" sz="3000" dirty="0"/>
          </a:p>
        </p:txBody>
      </p:sp>
      <p:sp>
        <p:nvSpPr>
          <p:cNvPr id="16" name="Text 9">
            <a:extLst>
              <a:ext uri="{FF2B5EF4-FFF2-40B4-BE49-F238E27FC236}">
                <a16:creationId xmlns:a16="http://schemas.microsoft.com/office/drawing/2014/main" id="{2D224168-BFCE-4E85-A425-72B73B62690C}"/>
              </a:ext>
            </a:extLst>
          </p:cNvPr>
          <p:cNvSpPr/>
          <p:nvPr/>
        </p:nvSpPr>
        <p:spPr>
          <a:xfrm>
            <a:off x="1625441" y="5130426"/>
            <a:ext cx="10046454" cy="6500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ufw erlaubt Port 80, obwohl alle Dienste über Port 443 erreichbar sind. Warum ist Port 80 trotzdem notwendig, und was passiert mit einer HTTP-Anfrage auf Port 80 nach der Caddy-Konfiguration?</a:t>
            </a:r>
            <a:endParaRPr lang="en-US" sz="1800" dirty="0"/>
          </a:p>
        </p:txBody>
      </p:sp>
    </p:spTree>
    <p:extLst>
      <p:ext uri="{BB962C8B-B14F-4D97-AF65-F5344CB8AC3E}">
        <p14:creationId xmlns:p14="http://schemas.microsoft.com/office/powerpoint/2010/main" val="270408149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zu9_ALP-Praesentation_MasterVorlage.pptx" id="{B23EF914-3FB6-4301-94CB-99985DA93EFF}" vid="{9CA8404C-C143-41CD-9E42-A16ECB65F8EC}"/>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1898</Words>
  <Application>Microsoft Office PowerPoint</Application>
  <PresentationFormat>Breitbild</PresentationFormat>
  <Paragraphs>200</Paragraphs>
  <Slides>12</Slides>
  <Notes>7</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12</vt:i4>
      </vt:variant>
    </vt:vector>
  </HeadingPairs>
  <TitlesOfParts>
    <vt:vector size="19" baseType="lpstr">
      <vt:lpstr>Arial</vt:lpstr>
      <vt:lpstr>Roboto Slab</vt:lpstr>
      <vt:lpstr>Calibri</vt:lpstr>
      <vt:lpstr>Courier New</vt:lpstr>
      <vt:lpstr>Roboto</vt:lpstr>
      <vt:lpstr>Cambria</vt:lpstr>
      <vt:lpstr>Office</vt:lpstr>
      <vt:lpstr>IT-Infrastruktur mit freier Software  (z. B. Linux) bereitstellen </vt:lpstr>
      <vt:lpstr>Erkenntnisgewinn</vt:lpstr>
      <vt:lpstr>Zielvorgabe: Dienste sicher über HTTPS erreichbar</vt:lpstr>
      <vt:lpstr>Architekturprinzip: Ein Reverse Proxy vor drei Diensten </vt:lpstr>
      <vt:lpstr>Zuordnung im Caddyfile</vt:lpstr>
      <vt:lpstr>Automatisches HTTPS via ACME</vt:lpstr>
      <vt:lpstr>Firewall mit ufw einrichten  </vt:lpstr>
      <vt:lpstr>Variante 1 – Dienst A: öffentlich erreichbar (kein Schutz) </vt:lpstr>
      <vt:lpstr>Variante 2 – Dienst B: geschützt mit Basic Authentication </vt:lpstr>
      <vt:lpstr>DNS-Voraussetzungen für alle drei Dienste</vt:lpstr>
      <vt:lpstr>Laborübung 04</vt:lpstr>
      <vt:lpstr>Reflexionsfragen</vt:lpstr>
    </vt:vector>
  </TitlesOfParts>
  <Company>ALP-Dillingen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Koehler, Oliver</dc:creator>
  <cp:lastModifiedBy>Lotter, Michael</cp:lastModifiedBy>
  <cp:revision>125</cp:revision>
  <dcterms:created xsi:type="dcterms:W3CDTF">2019-06-04T07:33:10Z</dcterms:created>
  <dcterms:modified xsi:type="dcterms:W3CDTF">2026-09-22T10:26:24Z</dcterms:modified>
</cp:coreProperties>
</file>