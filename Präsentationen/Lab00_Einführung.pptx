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7559675" cy="10691813"/>
  <p:embeddedFontLst>
    <p:embeddedFont>
      <p:font typeface="Roboto" panose="02000000000000000000" pitchFamily="2" charset="0"/>
      <p:regular r:id="rId9"/>
      <p:bold r:id="rId9"/>
      <p:italic r:id="rId9"/>
      <p:boldItalic r:id="rId9"/>
    </p:embeddedFont>
    <p:embeddedFont>
      <p:font typeface="Roboto Flex" panose="020B0604020202020204" charset="0"/>
      <p:regular r:id="rId10"/>
      <p:bold r:id="rId10"/>
      <p:italic r:id="rId10"/>
      <p:boldItalic r:id="rId10"/>
    </p:embeddedFont>
    <p:embeddedFont>
      <p:font typeface="Roboto Slab" pitchFamily="2" charset="0"/>
      <p:regular r:id="rId11"/>
      <p:bold r:id="rId12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7"/>
          <p:cNvSpPr/>
          <p:nvPr/>
        </p:nvSpPr>
        <p:spPr>
          <a:xfrm>
            <a:off x="0" y="6629400"/>
            <a:ext cx="12191400" cy="227880"/>
          </a:xfrm>
          <a:prstGeom prst="rect">
            <a:avLst/>
          </a:prstGeom>
          <a:solidFill>
            <a:srgbClr val="274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Roboto Flex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dt" idx="1"/>
          </p:nvPr>
        </p:nvSpPr>
        <p:spPr>
          <a:xfrm>
            <a:off x="35136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901800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B4F70E4-9720-41BA-8EB3-0D9BB7748DF9}" type="slidenum"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‹Nr.›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3"/>
          </p:nvPr>
        </p:nvSpPr>
        <p:spPr>
          <a:xfrm>
            <a:off x="4038480" y="655848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-Folie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7"/>
          <p:cNvSpPr/>
          <p:nvPr/>
        </p:nvSpPr>
        <p:spPr>
          <a:xfrm>
            <a:off x="0" y="6629400"/>
            <a:ext cx="12191400" cy="227880"/>
          </a:xfrm>
          <a:prstGeom prst="rect">
            <a:avLst/>
          </a:prstGeom>
          <a:solidFill>
            <a:srgbClr val="274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Roboto Flex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dt" idx="4"/>
          </p:nvPr>
        </p:nvSpPr>
        <p:spPr>
          <a:xfrm>
            <a:off x="35136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901800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11B5719-9591-4069-BDE5-119ABC45C36D}" type="slidenum"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‹Nr.›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title" hasCustomPrompt="1"/>
          </p:nvPr>
        </p:nvSpPr>
        <p:spPr>
          <a:xfrm>
            <a:off x="388080" y="1440000"/>
            <a:ext cx="11409480" cy="251928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de-DE" sz="44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Headline</a:t>
            </a:r>
            <a:endParaRPr lang="de-DE" sz="44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6"/>
          </p:nvPr>
        </p:nvSpPr>
        <p:spPr>
          <a:xfrm>
            <a:off x="4038480" y="655848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</a:rPr>
              <a:t>Format des Gliederungstextes durch Klicken bearbeiten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Zweite Gliederungsebene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Dritte Gliederungsebene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Vierte Gliederungsebene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Fünfte Gliederungsebene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Sechste Gliederungsebene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Siebte Gliederungsebene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ufzählung-Folie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7"/>
          <p:cNvSpPr/>
          <p:nvPr/>
        </p:nvSpPr>
        <p:spPr>
          <a:xfrm>
            <a:off x="0" y="6629400"/>
            <a:ext cx="12191400" cy="227880"/>
          </a:xfrm>
          <a:prstGeom prst="rect">
            <a:avLst/>
          </a:prstGeom>
          <a:solidFill>
            <a:srgbClr val="274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Roboto Flex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dt" idx="7"/>
          </p:nvPr>
        </p:nvSpPr>
        <p:spPr>
          <a:xfrm>
            <a:off x="35136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ldNum" idx="8"/>
          </p:nvPr>
        </p:nvSpPr>
        <p:spPr>
          <a:xfrm>
            <a:off x="901800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CB50AFF-F87C-4CD6-9F89-B2D01B1C7D32}" type="slidenum"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‹Nr.›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 hasCustomPrompt="1"/>
          </p:nvPr>
        </p:nvSpPr>
        <p:spPr>
          <a:xfrm>
            <a:off x="351360" y="2304000"/>
            <a:ext cx="11409480" cy="415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  <a:defRPr lang="de-DE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1pPr>
            <a:lvl2pPr lvl="2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2pPr>
            <a:lvl3pPr lvl="3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3pPr>
            <a:lvl4pPr lvl="4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4pPr>
            <a:lvl5pPr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5pPr>
            <a:lvl6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6pPr>
            <a:lvl7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7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Aufzählung:</a:t>
            </a:r>
            <a:br>
              <a:rPr sz="2000"/>
            </a:b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Text hier einfügen</a:t>
            </a: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Dritte Ebene</a:t>
            </a:r>
            <a:endParaRPr lang="de-DE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Vierte Ebene</a:t>
            </a:r>
            <a:endParaRPr lang="de-DE" sz="1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Fünfte Ebene</a:t>
            </a:r>
            <a:endParaRPr lang="de-DE" sz="14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title" hasCustomPrompt="1"/>
          </p:nvPr>
        </p:nvSpPr>
        <p:spPr>
          <a:xfrm>
            <a:off x="400320" y="1448280"/>
            <a:ext cx="11409480" cy="64044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Überschrift</a:t>
            </a:r>
            <a:br>
              <a:rPr sz="2000"/>
            </a:br>
            <a:r>
              <a: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maximal 2 Zeilen</a:t>
            </a:r>
            <a:endParaRPr lang="de-DE" sz="20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9"/>
          </p:nvPr>
        </p:nvSpPr>
        <p:spPr>
          <a:xfrm>
            <a:off x="4038480" y="655848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Aufzählung-Folie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7"/>
          <p:cNvSpPr/>
          <p:nvPr/>
        </p:nvSpPr>
        <p:spPr>
          <a:xfrm>
            <a:off x="0" y="6629400"/>
            <a:ext cx="12191400" cy="227880"/>
          </a:xfrm>
          <a:prstGeom prst="rect">
            <a:avLst/>
          </a:prstGeom>
          <a:solidFill>
            <a:srgbClr val="274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Roboto Flex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dt" idx="10"/>
          </p:nvPr>
        </p:nvSpPr>
        <p:spPr>
          <a:xfrm>
            <a:off x="35136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1"/>
          </p:nvPr>
        </p:nvSpPr>
        <p:spPr>
          <a:xfrm>
            <a:off x="901800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50D0F4B-FBEC-4160-98D1-CA00DA7396AF}" type="slidenum"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‹Nr.›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 hasCustomPrompt="1"/>
          </p:nvPr>
        </p:nvSpPr>
        <p:spPr>
          <a:xfrm>
            <a:off x="351360" y="1386000"/>
            <a:ext cx="11409480" cy="507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  <a:defRPr lang="de-DE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1pPr>
            <a:lvl2pPr lvl="2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2pPr>
            <a:lvl3pPr lvl="3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3pPr>
            <a:lvl4pPr lvl="4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4pPr>
            <a:lvl5pPr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5pPr>
            <a:lvl6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6pPr>
            <a:lvl7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7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Aufzählung:</a:t>
            </a:r>
            <a:br>
              <a:rPr sz="2000"/>
            </a:b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Text hier einfügen</a:t>
            </a: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Dritte Ebene</a:t>
            </a:r>
            <a:endParaRPr lang="de-DE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Vierte Ebene</a:t>
            </a:r>
            <a:endParaRPr lang="de-DE" sz="1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Fünfte Ebene</a:t>
            </a:r>
            <a:endParaRPr lang="de-DE" sz="14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2"/>
          </p:nvPr>
        </p:nvSpPr>
        <p:spPr>
          <a:xfrm>
            <a:off x="4038480" y="655848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-Spalten-Folie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7"/>
          <p:cNvSpPr/>
          <p:nvPr/>
        </p:nvSpPr>
        <p:spPr>
          <a:xfrm>
            <a:off x="0" y="6629400"/>
            <a:ext cx="12191400" cy="227880"/>
          </a:xfrm>
          <a:prstGeom prst="rect">
            <a:avLst/>
          </a:prstGeom>
          <a:solidFill>
            <a:srgbClr val="274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Roboto Flex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dt" idx="13"/>
          </p:nvPr>
        </p:nvSpPr>
        <p:spPr>
          <a:xfrm>
            <a:off x="35136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14"/>
          </p:nvPr>
        </p:nvSpPr>
        <p:spPr>
          <a:xfrm>
            <a:off x="901800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A521274-2709-41E0-8EFD-EED7646767CE}" type="slidenum"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‹Nr.›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 hasCustomPrompt="1"/>
          </p:nvPr>
        </p:nvSpPr>
        <p:spPr>
          <a:xfrm>
            <a:off x="351360" y="2304000"/>
            <a:ext cx="5625360" cy="415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1pPr>
            <a:lvl2pPr lvl="2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2pPr>
            <a:lvl3pPr lvl="3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3pPr>
            <a:lvl4pPr lvl="4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4pPr>
            <a:lvl5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5pPr>
            <a:lvl6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defRPr>
            </a:lvl6pPr>
            <a:lvl7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defRPr>
            </a:lvl7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Text hier einfügen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Dritte Ebene</a:t>
            </a:r>
            <a:endParaRPr lang="de-DE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Vierte Ebene</a:t>
            </a:r>
            <a:endParaRPr lang="de-DE" sz="1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Fünfte Ebene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 hasCustomPrompt="1"/>
          </p:nvPr>
        </p:nvSpPr>
        <p:spPr>
          <a:xfrm>
            <a:off x="6135120" y="2295360"/>
            <a:ext cx="5625360" cy="415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1pPr>
            <a:lvl2pPr lvl="2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2pPr>
            <a:lvl3pPr lvl="3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3pPr>
            <a:lvl4pPr lvl="4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4pPr>
            <a:lvl5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5pPr>
            <a:lvl6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defRPr>
            </a:lvl6pPr>
            <a:lvl7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defRPr>
            </a:lvl7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Text hier einfügen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Dritte Ebene</a:t>
            </a:r>
            <a:endParaRPr lang="de-DE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Vierte Ebene</a:t>
            </a:r>
            <a:endParaRPr lang="de-DE" sz="1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Fünfte Ebene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title" hasCustomPrompt="1"/>
          </p:nvPr>
        </p:nvSpPr>
        <p:spPr>
          <a:xfrm>
            <a:off x="388080" y="1454400"/>
            <a:ext cx="11409480" cy="64044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Überschrift</a:t>
            </a:r>
            <a:br>
              <a:rPr sz="2000"/>
            </a:br>
            <a:r>
              <a: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maximal 2 Zeilen</a:t>
            </a:r>
            <a:endParaRPr lang="de-DE" sz="20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ftr" idx="15"/>
          </p:nvPr>
        </p:nvSpPr>
        <p:spPr>
          <a:xfrm>
            <a:off x="4038480" y="655848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 hasCustomPrompt="1"/>
          </p:nvPr>
        </p:nvSpPr>
        <p:spPr>
          <a:xfrm>
            <a:off x="381960" y="1440000"/>
            <a:ext cx="11409480" cy="251928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IT-Infrastruktur mit freier Software (z. B. Linux) bereitstellen, betreiben und überwachen</a:t>
            </a:r>
            <a:endParaRPr lang="de-DE" sz="44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 hasCustomPrompt="1"/>
          </p:nvPr>
        </p:nvSpPr>
        <p:spPr>
          <a:xfrm>
            <a:off x="381960" y="3959640"/>
            <a:ext cx="11409480" cy="755280"/>
          </a:xfrm>
          <a:prstGeom prst="rect">
            <a:avLst/>
          </a:prstGeom>
          <a:solidFill>
            <a:srgbClr val="FFCD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</a:rPr>
              <a:t>Laborübungen 2026 – Übersicht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B4B84CE-10BA-4850-B959-14404F0E1896}" type="slidenum">
              <a:t>1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fld id="{E3AB6CC0-6695-4F15-ADE1-7BA4A93A6EF7}" type="datetime1">
              <a:rPr lang="de-DE"/>
              <a:t>22.09.2026</a:t>
            </a:fld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 hasCustomPrompt="1"/>
          </p:nvPr>
        </p:nvSpPr>
        <p:spPr>
          <a:xfrm>
            <a:off x="402480" y="1444680"/>
            <a:ext cx="11411280" cy="63972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Überblick: 9 Laborübungen</a:t>
            </a:r>
            <a:endParaRPr lang="de-DE" sz="26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  <p:pic>
        <p:nvPicPr>
          <p:cNvPr id="33" name="Picture 3" descr="Überblick3.drawio.png"/>
          <p:cNvPicPr/>
          <p:nvPr/>
        </p:nvPicPr>
        <p:blipFill>
          <a:blip r:embed="rId2"/>
          <a:stretch/>
        </p:blipFill>
        <p:spPr>
          <a:xfrm>
            <a:off x="2493000" y="2304360"/>
            <a:ext cx="7120440" cy="4151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hasCustomPrompt="1"/>
          </p:nvPr>
        </p:nvSpPr>
        <p:spPr>
          <a:xfrm>
            <a:off x="347400" y="2304360"/>
            <a:ext cx="5486040" cy="415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Lab 01: Dienste verwalten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594360" lvl="1" indent="-2012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Software installieren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Dienste automatisch starten lassen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Einstellungen anpassen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1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Lab 02: Eigene Dienste einrichten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594360" lvl="1" indent="-2012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Einen eigenen Dienst anlegen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Dem System bekannt machen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Fehler auffinden und beheben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title" hasCustomPrompt="1"/>
          </p:nvPr>
        </p:nvSpPr>
        <p:spPr>
          <a:xfrm>
            <a:off x="402480" y="1444680"/>
            <a:ext cx="11411280" cy="63972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Labs 01–02: Lokale Linux-Umgebung</a:t>
            </a:r>
            <a:endParaRPr lang="de-DE" sz="26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  <p:pic>
        <p:nvPicPr>
          <p:cNvPr id="36" name="Picture 3" descr="Start.drawio.png"/>
          <p:cNvPicPr/>
          <p:nvPr/>
        </p:nvPicPr>
        <p:blipFill>
          <a:blip r:embed="rId2"/>
          <a:stretch/>
        </p:blipFill>
        <p:spPr>
          <a:xfrm>
            <a:off x="6309360" y="2961360"/>
            <a:ext cx="5449320" cy="2837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hasCustomPrompt="1"/>
          </p:nvPr>
        </p:nvSpPr>
        <p:spPr>
          <a:xfrm>
            <a:off x="347400" y="2304360"/>
            <a:ext cx="5486040" cy="415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Lab 03: Server einrichten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594360" lvl="1" indent="-2012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Einen Server im Internet mieten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Eine Adresse (Domain) einrichten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Sicher anmelden ohne Passwort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1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Lab 04: Dienste veröffentlichen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594360" lvl="1" indent="-2012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Den Server absichern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Verschlüsselung automatisch einrichten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Mehrere Angebote gleichzeitig bereitstellen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title" hasCustomPrompt="1"/>
          </p:nvPr>
        </p:nvSpPr>
        <p:spPr>
          <a:xfrm>
            <a:off x="402480" y="1444680"/>
            <a:ext cx="11411280" cy="63972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Labs 03–04: Server im Internet</a:t>
            </a:r>
            <a:endParaRPr lang="de-DE" sz="26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  <p:pic>
        <p:nvPicPr>
          <p:cNvPr id="39" name="Picture 3" descr="Überblick1.drawio.png"/>
          <p:cNvPicPr/>
          <p:nvPr/>
        </p:nvPicPr>
        <p:blipFill>
          <a:blip r:embed="rId2"/>
          <a:stretch/>
        </p:blipFill>
        <p:spPr>
          <a:xfrm>
            <a:off x="6309360" y="2785680"/>
            <a:ext cx="5449320" cy="3188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hasCustomPrompt="1"/>
          </p:nvPr>
        </p:nvSpPr>
        <p:spPr>
          <a:xfrm>
            <a:off x="347400" y="2304360"/>
            <a:ext cx="5486040" cy="415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 dirty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Lab 05: Container nutzen</a:t>
            </a:r>
            <a:endParaRPr lang="de-DE" sz="1600" b="1" u="none" strike="noStrike" dirty="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594360" lvl="1" indent="-2012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 dirty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Anwendungen in Containern betreiben</a:t>
            </a:r>
            <a:endParaRPr lang="de-DE" sz="1400" b="0" u="none" strike="noStrike" dirty="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 dirty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Daten dauerhaft speichern,</a:t>
            </a:r>
            <a:br>
              <a:rPr sz="1400" dirty="0"/>
            </a:br>
            <a:r>
              <a:rPr lang="de-DE" sz="1400" b="0" u="none" strike="noStrike" dirty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auch nach einem Update</a:t>
            </a:r>
            <a:endParaRPr lang="de-DE" sz="1400" b="0" u="none" strike="noStrike" dirty="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 dirty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Von außen erreichbar machen</a:t>
            </a:r>
            <a:endParaRPr lang="de-DE" sz="1400" b="0" u="none" strike="noStrike" dirty="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1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 dirty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Lab 06: Transparente Zertifikatsverwaltung</a:t>
            </a:r>
            <a:endParaRPr lang="de-DE" sz="1600" b="1" u="none" strike="noStrike" dirty="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594360" lvl="1" indent="-2012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 dirty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Issuer wählen</a:t>
            </a:r>
          </a:p>
          <a:p>
            <a:pPr marL="594360" lvl="1" indent="-2012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 dirty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Zertifikate automatisch erneuern</a:t>
            </a:r>
            <a:endParaRPr lang="de-DE" sz="1400" b="0" u="none" strike="noStrike" dirty="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 dirty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Container voneinander abschirmen</a:t>
            </a:r>
            <a:endParaRPr lang="de-DE" sz="1400" b="0" u="none" strike="noStrike" dirty="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title" hasCustomPrompt="1"/>
          </p:nvPr>
        </p:nvSpPr>
        <p:spPr>
          <a:xfrm>
            <a:off x="402480" y="1444680"/>
            <a:ext cx="11411280" cy="63972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Labs 05–06: Anwendungen in Containern</a:t>
            </a:r>
            <a:endParaRPr lang="de-DE" sz="26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  <p:pic>
        <p:nvPicPr>
          <p:cNvPr id="42" name="Picture 3" descr="Überblick2.drawio.png"/>
          <p:cNvPicPr/>
          <p:nvPr/>
        </p:nvPicPr>
        <p:blipFill>
          <a:blip r:embed="rId2"/>
          <a:stretch/>
        </p:blipFill>
        <p:spPr>
          <a:xfrm>
            <a:off x="6309360" y="2791440"/>
            <a:ext cx="5449320" cy="3176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hasCustomPrompt="1"/>
          </p:nvPr>
        </p:nvSpPr>
        <p:spPr>
          <a:xfrm>
            <a:off x="347400" y="2304360"/>
            <a:ext cx="5486040" cy="415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Lab 07: Container vernetzen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Container gezielt verbinden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Zugriffe kontrollieren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1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Lab 08: Eigene Vorlagen bauen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Software-Umgebungen selbst festlegen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Immer wieder gleich aufsetzen können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1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Lab 09: Mehrere Container koordinieren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Ganze Anwendungen auf einmal starten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title" hasCustomPrompt="1"/>
          </p:nvPr>
        </p:nvSpPr>
        <p:spPr>
          <a:xfrm>
            <a:off x="402480" y="1444680"/>
            <a:ext cx="11411280" cy="63972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Labs 07–09: Container im Zusammenspiel</a:t>
            </a:r>
            <a:endParaRPr lang="de-DE" sz="26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  <p:pic>
        <p:nvPicPr>
          <p:cNvPr id="45" name="Picture 3" descr="Überblick3.drawio.png"/>
          <p:cNvPicPr/>
          <p:nvPr/>
        </p:nvPicPr>
        <p:blipFill>
          <a:blip r:embed="rId2"/>
          <a:stretch/>
        </p:blipFill>
        <p:spPr>
          <a:xfrm>
            <a:off x="6309360" y="2791440"/>
            <a:ext cx="5449320" cy="3176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hasCustomPrompt="1"/>
          </p:nvPr>
        </p:nvSpPr>
        <p:spPr>
          <a:xfrm>
            <a:off x="347400" y="2304360"/>
            <a:ext cx="11411280" cy="415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Von den Grundlagen zur Praxis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594360" lvl="1" indent="-2012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Dienste lokal verwalten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Einen Server im Internet sicher betreiben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Angebote sicher veröffentlichen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Anwendungen in Containern isolieren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Mehrere Container koordinieren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1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→ Eine moderne IT-Infrastruktur selbst aufbauen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title" hasCustomPrompt="1"/>
          </p:nvPr>
        </p:nvSpPr>
        <p:spPr>
          <a:xfrm>
            <a:off x="402480" y="1444680"/>
            <a:ext cx="11411280" cy="63972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Zusammenfassung</a:t>
            </a:r>
            <a:endParaRPr lang="de-DE" sz="26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 Flex" panose="020F0302020204030204"/>
        <a:ea typeface=""/>
        <a:cs typeface=""/>
      </a:majorFont>
      <a:minorFont>
        <a:latin typeface="Roboto Flex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216</Words>
  <Application>Microsoft Office PowerPoint</Application>
  <PresentationFormat>Breitbild</PresentationFormat>
  <Paragraphs>49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5" baseType="lpstr">
      <vt:lpstr>Roboto Flex</vt:lpstr>
      <vt:lpstr>Arial</vt:lpstr>
      <vt:lpstr>Roboto Slab</vt:lpstr>
      <vt:lpstr>Times New Roman</vt:lpstr>
      <vt:lpstr>Roboto</vt:lpstr>
      <vt:lpstr>Wingdings</vt:lpstr>
      <vt:lpstr>Symbol</vt:lpstr>
      <vt:lpstr>Office</vt:lpstr>
      <vt:lpstr>IT-Infrastruktur mit freier Software (z. B. Linux) bereitstellen, betreiben und überwachen</vt:lpstr>
      <vt:lpstr>Überblick: 9 Laborübungen</vt:lpstr>
      <vt:lpstr>Labs 01–02: Lokale Linux-Umgebung</vt:lpstr>
      <vt:lpstr>Labs 03–04: Server im Internet</vt:lpstr>
      <vt:lpstr>Labs 05–06: Anwendungen in Containern</vt:lpstr>
      <vt:lpstr>Labs 07–09: Container im Zusammenspiel</vt:lpstr>
      <vt:lpstr>Zusammenfassung</vt:lpstr>
    </vt:vector>
  </TitlesOfParts>
  <Company>ALP-Dillingen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Koehler, Oliver</dc:creator>
  <dc:description/>
  <cp:lastModifiedBy>Lotter, Michael</cp:lastModifiedBy>
  <cp:revision>25</cp:revision>
  <dcterms:created xsi:type="dcterms:W3CDTF">2019-06-04T07:33:10Z</dcterms:created>
  <dcterms:modified xsi:type="dcterms:W3CDTF">2026-09-22T12:07:20Z</dcterms:modified>
  <dc:language>de-DE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Breitbild</vt:lpwstr>
  </property>
  <property fmtid="{D5CDD505-2E9C-101B-9397-08002B2CF9AE}" pid="3" name="Slides">
    <vt:i4>2</vt:i4>
  </property>
</Properties>
</file>