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  <p:embeddedFontLst>
    <p:embeddedFont>
      <p:font typeface="Roboto"/>
      <p:regular r:id="rId8"/>
      <p:bold r:id="rId8"/>
      <p:italic r:id="rId8"/>
      <p:boldItalic r:id="rId8"/>
    </p:embeddedFont>
    <p:embeddedFont>
      <p:font typeface="Roboto Flex"/>
      <p:regular r:id="rId9"/>
      <p:bold r:id="rId9"/>
      <p:italic r:id="rId9"/>
      <p:boldItalic r:id="rId9"/>
    </p:embeddedFont>
    <p:embeddedFont>
      <p:font typeface="SourceCodeVF"/>
      <p:regular r:id="rId10"/>
      <p:bold r:id="rId10"/>
      <p:italic r:id="rId11"/>
      <p:boldItalic r:id="rId11"/>
    </p:embeddedFont>
    <p:embeddedFont>
      <p:font typeface="Roboto Slab"/>
      <p:regular r:id="rId12"/>
      <p:bold r:id="rId13"/>
      <p:italic r:id="rId1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font" Target="fonts/Font_1_Roboto_Regular.fntdata"/><Relationship Id="rId9" Type="http://schemas.openxmlformats.org/officeDocument/2006/relationships/font" Target="fonts/Font_2_Roboto_Flex_Regular.fntdata"/><Relationship Id="rId10" Type="http://schemas.openxmlformats.org/officeDocument/2006/relationships/font" Target="fonts/Font_3_SourceCodeVF_Regular.fntdata"/><Relationship Id="rId11" Type="http://schemas.openxmlformats.org/officeDocument/2006/relationships/font" Target="fonts/Font_4_SourceCodeVF_Italic.fntdata"/><Relationship Id="rId12" Type="http://schemas.openxmlformats.org/officeDocument/2006/relationships/font" Target="fonts/Font_5_Roboto_Slab_Regular.fntdata"/><Relationship Id="rId13" Type="http://schemas.openxmlformats.org/officeDocument/2006/relationships/font" Target="fonts/Font_6_Roboto_Slab_Bold.fntdata"/><Relationship Id="rId14" Type="http://schemas.openxmlformats.org/officeDocument/2006/relationships/font" Target="fonts/Font_7_Roboto_Slab_Italic.fntdata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22.09.2026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58B45F-6715-420D-B560-33C4524F8625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3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22.09.2026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E52A65-7080-42E9-BBEB-873C3BCC3E4B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 hasCustomPrompt="1"/>
          </p:nvPr>
        </p:nvSpPr>
        <p:spPr>
          <a:xfrm>
            <a:off x="388080" y="1440000"/>
            <a:ext cx="11409480" cy="251928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Headline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6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Format des Gliederungstextes durch Klicken bearbeiten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Slab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Zweite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Dritte Gliederungsebene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Vierte Gliederungsebene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Fünfte Gliederungsebene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Sechste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Siebte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dt" idx="7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BBDD5A-AEE8-4DAE-A53B-75B724BE4146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1140948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 hasCustomPrompt="1"/>
          </p:nvPr>
        </p:nvSpPr>
        <p:spPr>
          <a:xfrm>
            <a:off x="400320" y="1448280"/>
            <a:ext cx="1140948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9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6800DC-4E39-4113-B643-8D8C827AA6C2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1386000"/>
            <a:ext cx="11409480" cy="50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2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-Spalten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0AA57E-967B-43A2-9188-C6EC20488ED7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562536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6135120" y="2295360"/>
            <a:ext cx="562536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title" hasCustomPrompt="1"/>
          </p:nvPr>
        </p:nvSpPr>
        <p:spPr>
          <a:xfrm>
            <a:off x="388080" y="1454400"/>
            <a:ext cx="1140948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ftr" idx="15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381960" y="1440000"/>
            <a:ext cx="11409480" cy="251928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 01: Ausbaustufe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 hasCustomPrompt="1"/>
          </p:nvPr>
        </p:nvSpPr>
        <p:spPr>
          <a:xfrm>
            <a:off x="381960" y="3959640"/>
            <a:ext cx="11409480" cy="755280"/>
          </a:xfrm>
          <a:prstGeom prst="rect">
            <a:avLst/>
          </a:prstGeom>
          <a:solidFill>
            <a:srgbClr val="FFCD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Überblick über das Lab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C7471A-9DEA-439A-A9C8-EA1AE2B26CF1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F49B5133-F47D-4E75-A415-7DC37A2B6F90}" type="datetime1">
              <a:rPr lang="de-DE"/>
              <a:t>22.09.2026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604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Ihr Ausgangspunkt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Cockpit läuft lokal auf einem einzelnen Rechner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Ohne Absicherung, Redundanz oder Skalierung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Jetzt: strukturierte Reflexion + Erweiterung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 Themen stehen im Mittelpunkt: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60000" lvl="1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Verfügbarkeit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60000" lvl="1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Sicherheit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60000" lvl="1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Skalierbarkeit &amp; Energieeffizienz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60000" lvl="1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Ausfallsicherheit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Worum geht es in diesem Lab?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4" name="Picture 3" descr="client.png"/>
          <p:cNvPicPr/>
          <p:nvPr/>
        </p:nvPicPr>
        <p:blipFill>
          <a:blip r:embed="rId1"/>
          <a:stretch/>
        </p:blipFill>
        <p:spPr>
          <a:xfrm>
            <a:off x="6309360" y="2330640"/>
            <a:ext cx="5449320" cy="409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Reflexionsfragen zu Verfügbarkeit, Sicherheit,</a:t>
            </a:r>
            <a:br>
              <a:rPr sz="1600"/>
            </a:b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Skalierbarkeit und Ausfallsicherheit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Erweiterungsaufgabe A: Socket-Aktivierung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Erweiterungsaufgabe B: Firewall mit 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ufw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 konfigurieren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Erweiterungsaufgabe C: Automatischen Neustart konfigurieren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Erweiterungsaufgabe D: Logs mit 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journalctl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 analysieren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Ablauf: Reflexion + 4 Erweiterungsaufgaben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Sich mit den Reflexionsfragen zu Verfügbarkeit, Sicherheit,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Skalierbarkeit und Ausfallsicherheit auseinandersetzen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cockpit.socket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statt 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cockpit.service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aktivieren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und das Startverhalten beobachten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ufw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installieren und den Zugriff auf Port 9090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auf das lokale Netzwerk beschränken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 Drop-in-Datei mit 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Restart=on-failure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anlegen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und den automatischen Neustart testen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Logs mit 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journalctl</a:t>
            </a: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analysieren (Zeitraum,</a:t>
            </a:r>
            <a:br>
              <a:rPr sz="1500"/>
            </a:br>
            <a:r>
              <a:rPr lang="de-DE" sz="15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Fehlermeldungen, aktueller Boot)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Ihre Aufgaben während des Labs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In welchen Szenarien ist ein dauerhaft laufender Dienst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sinnvoll – und wann ist Socket-Aktivierung die bessere Wahl?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Wie würden Sie dieses Setup automatisiert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auf mehreren Servern ausrollen?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Fragen zum Abschluss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Flex" panose="020F0302020204030204" pitchFamily="0" charset="1"/>
        <a:ea typeface=""/>
        <a:cs typeface=""/>
      </a:majorFont>
      <a:minorFont>
        <a:latin typeface="Roboto Flex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LibreOffice/26.8.0.3$Linux_X86_64 LibreOffice_project/bce0998afefdbc355585ca324285661a2170ba77</Application>
  <AppVersion>15.0000</AppVersion>
  <Words>4</Words>
  <Paragraphs>4</Paragraphs>
  <Company>ALP-Dillingen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2019-06-04T07:33:10Z</dcterms:created>
  <dc:creator>Koehler, Oliver</dc:creator>
  <dc:description/>
  <dc:language>de-DE</dc:language>
  <cp:lastModifiedBy>Florian Reichl</cp:lastModifiedBy>
  <dcterms:modified xsi:type="dcterms:W3CDTF">2026-09-22T17:03:24Z</dcterms:modified>
  <cp:revision>24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</vt:i4>
  </property>
</Properties>
</file>