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  <p:embeddedFontLst>
    <p:embeddedFont>
      <p:font typeface="SourceCodeVF"/>
      <p:regular r:id="rId10"/>
      <p:bold r:id="rId10"/>
      <p:italic r:id="rId11"/>
      <p:boldItalic r:id="rId11"/>
    </p:embeddedFont>
    <p:embeddedFont>
      <p:font typeface="Roboto Flex"/>
      <p:regular r:id="rId12"/>
      <p:bold r:id="rId12"/>
      <p:italic r:id="rId12"/>
      <p:boldItalic r:id="rId12"/>
    </p:embeddedFont>
    <p:embeddedFont>
      <p:font typeface="Roboto"/>
      <p:regular r:id="rId13"/>
      <p:bold r:id="rId13"/>
      <p:italic r:id="rId13"/>
      <p:boldItalic r:id="rId13"/>
    </p:embeddedFont>
    <p:embeddedFont>
      <p:font typeface="Roboto Slab"/>
      <p:regular r:id="rId14"/>
      <p:bold r:id="rId15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font" Target="fonts/Font_1_SourceCodeVF_Regular.fntdata"/><Relationship Id="rId11" Type="http://schemas.openxmlformats.org/officeDocument/2006/relationships/font" Target="fonts/Font_2_SourceCodeVF_Italic.fntdata"/><Relationship Id="rId12" Type="http://schemas.openxmlformats.org/officeDocument/2006/relationships/font" Target="fonts/Font_3_Roboto_Flex_Regular.fntdata"/><Relationship Id="rId13" Type="http://schemas.openxmlformats.org/officeDocument/2006/relationships/font" Target="fonts/Font_4_Roboto_Regular.fntdata"/><Relationship Id="rId14" Type="http://schemas.openxmlformats.org/officeDocument/2006/relationships/font" Target="fonts/Font_5_Roboto_Slab_Regular.fntdata"/><Relationship Id="rId15" Type="http://schemas.openxmlformats.org/officeDocument/2006/relationships/font" Target="fonts/Font_6_Roboto_Slab_Bold.fntdata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/>
          <p:nvPr/>
        </p:nvSpPr>
        <p:spPr>
          <a:xfrm>
            <a:off x="0" y="6629400"/>
            <a:ext cx="12191040" cy="22752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35136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901800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207B89-78C2-4915-A621-F051E080D06E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3"/>
          </p:nvPr>
        </p:nvSpPr>
        <p:spPr>
          <a:xfrm>
            <a:off x="4038480" y="655848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7"/>
          <p:cNvSpPr/>
          <p:nvPr/>
        </p:nvSpPr>
        <p:spPr>
          <a:xfrm>
            <a:off x="0" y="6629400"/>
            <a:ext cx="12191040" cy="22752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35136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901800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610797-F3F6-4E8C-B2D5-C866663977C9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 hasCustomPrompt="1"/>
          </p:nvPr>
        </p:nvSpPr>
        <p:spPr>
          <a:xfrm>
            <a:off x="388080" y="1440000"/>
            <a:ext cx="11409120" cy="25189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Headline</a:t>
            </a:r>
            <a:endParaRPr lang="de-DE" sz="44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6"/>
          </p:nvPr>
        </p:nvSpPr>
        <p:spPr>
          <a:xfrm>
            <a:off x="4038480" y="655848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rPr>
              <a:t>Format des Gliederungstextes durch Klicken bearbeiten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Slab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Zweite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Dritte Gliederungsebene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Vierte Gliederungsebene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Fünfte Gliederungsebene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Sechste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Siebte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ufzählung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7"/>
          <p:cNvSpPr/>
          <p:nvPr/>
        </p:nvSpPr>
        <p:spPr>
          <a:xfrm>
            <a:off x="0" y="6629400"/>
            <a:ext cx="12191040" cy="22752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dt" idx="7"/>
          </p:nvPr>
        </p:nvSpPr>
        <p:spPr>
          <a:xfrm>
            <a:off x="35136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8"/>
          </p:nvPr>
        </p:nvSpPr>
        <p:spPr>
          <a:xfrm>
            <a:off x="901800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3ABF43-4A26-4E69-A61F-B7DED7E845F9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2304000"/>
            <a:ext cx="11409120" cy="415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Aufzählung:</a:t>
            </a:r>
            <a:br>
              <a:rPr sz="2000"/>
            </a:b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 hasCustomPrompt="1"/>
          </p:nvPr>
        </p:nvSpPr>
        <p:spPr>
          <a:xfrm>
            <a:off x="400320" y="1448280"/>
            <a:ext cx="11409120" cy="64044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Überschrift</a:t>
            </a:r>
            <a:br>
              <a:rPr sz="2000"/>
            </a:b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maximal 2 Zeilen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9"/>
          </p:nvPr>
        </p:nvSpPr>
        <p:spPr>
          <a:xfrm>
            <a:off x="4038480" y="655848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ufzählung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7"/>
          <p:cNvSpPr/>
          <p:nvPr/>
        </p:nvSpPr>
        <p:spPr>
          <a:xfrm>
            <a:off x="0" y="6629400"/>
            <a:ext cx="12191040" cy="22752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10"/>
          </p:nvPr>
        </p:nvSpPr>
        <p:spPr>
          <a:xfrm>
            <a:off x="35136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1"/>
          </p:nvPr>
        </p:nvSpPr>
        <p:spPr>
          <a:xfrm>
            <a:off x="901800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72A656-977F-4C4D-BC56-AC4C3D0BD3A6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1386000"/>
            <a:ext cx="11409120" cy="506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Aufzählung:</a:t>
            </a:r>
            <a:br>
              <a:rPr sz="2000"/>
            </a:b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2"/>
          </p:nvPr>
        </p:nvSpPr>
        <p:spPr>
          <a:xfrm>
            <a:off x="4038480" y="655848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-Spalten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7"/>
          <p:cNvSpPr/>
          <p:nvPr/>
        </p:nvSpPr>
        <p:spPr>
          <a:xfrm>
            <a:off x="0" y="6629400"/>
            <a:ext cx="12191040" cy="22752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dt" idx="13"/>
          </p:nvPr>
        </p:nvSpPr>
        <p:spPr>
          <a:xfrm>
            <a:off x="35136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4"/>
          </p:nvPr>
        </p:nvSpPr>
        <p:spPr>
          <a:xfrm>
            <a:off x="9018000" y="6629400"/>
            <a:ext cx="274212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5062D8-30D7-4CAD-9526-A987B28D9627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2304000"/>
            <a:ext cx="5625000" cy="415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6135120" y="2295360"/>
            <a:ext cx="5625000" cy="415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title" hasCustomPrompt="1"/>
          </p:nvPr>
        </p:nvSpPr>
        <p:spPr>
          <a:xfrm>
            <a:off x="388080" y="1454400"/>
            <a:ext cx="11409120" cy="64044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Überschrift</a:t>
            </a:r>
            <a:br>
              <a:rPr sz="2000"/>
            </a:b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maximal 2 Zeilen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ftr" idx="15"/>
          </p:nvPr>
        </p:nvSpPr>
        <p:spPr>
          <a:xfrm>
            <a:off x="4038480" y="655848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 hasCustomPrompt="1"/>
          </p:nvPr>
        </p:nvSpPr>
        <p:spPr>
          <a:xfrm>
            <a:off x="381960" y="1440000"/>
            <a:ext cx="11409120" cy="25189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Lab 01: Lokale Bereitstellung eines webbasierten Dienstes</a:t>
            </a:r>
            <a:endParaRPr lang="de-DE" sz="44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 hasCustomPrompt="1"/>
          </p:nvPr>
        </p:nvSpPr>
        <p:spPr>
          <a:xfrm>
            <a:off x="381960" y="3959640"/>
            <a:ext cx="11409120" cy="754920"/>
          </a:xfrm>
          <a:prstGeom prst="rect">
            <a:avLst/>
          </a:prstGeom>
          <a:solidFill>
            <a:srgbClr val="FFCD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rPr>
              <a:t>Überblick über das Lab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CB8C9E1-5FBC-45A2-BA44-BDCB7B47C044}" type="slidenum">
              <a:t>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FCE5A27A-F4E1-44AE-AFDF-A9F0E677DF33}" type="datetime1">
              <a:rPr lang="de-DE"/>
              <a:t>22.09.2026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548568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Eine Web-Oberfläche zur Systemverwaltung bereitstellen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Schnell, ohne zusätzliche Infrastruktur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Unsere Beispielanwendung: Cockpit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Zeigt Ressourcen, Dienste und Logs im Browser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zxx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https://cockpit-project.org/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Ihr Ziel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Der Dienst läuft dauerhaft zuverlässig –</a:t>
            </a:r>
            <a:br>
              <a:rPr sz="1400"/>
            </a:b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auch nach einem Neustart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Ihr Auftrag als Netzwerkadministrator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pic>
        <p:nvPicPr>
          <p:cNvPr id="34" name="Picture 3" descr="client.png"/>
          <p:cNvPicPr/>
          <p:nvPr/>
        </p:nvPicPr>
        <p:blipFill>
          <a:blip r:embed="rId1"/>
          <a:stretch/>
        </p:blipFill>
        <p:spPr>
          <a:xfrm>
            <a:off x="6309360" y="2330640"/>
            <a:ext cx="5448960" cy="409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092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Software installieren und den Installationsstatus prüfen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Einen Dienst starten, stoppen und dauerhaft aktivieren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Das Startverhalten eines Dienstes dauerhaft sicherstellen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Konfigurationsdateien anpassen und den Dienst gezielt neu starten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Die Funktionsweise von 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systemd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und Unit-Dateien verstehen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Fragen zu Verfügbarkeit, Sicherheit, Skalierbarkeit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und Ausfallsicherheit reflektieren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Das lernen Sie in diesem Lab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092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1: Cockpit installieren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System aktualisieren, Paket installieren, Installation prüfen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2: Dienst mit </a:t>
            </a: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systemd</a:t>
            </a: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 verwalten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Starten, dauerhaft aktivieren, Neustart simulieren, im Browser aufrufen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3: Konfiguration anpassen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Eigene Einstellungen setzen, Dienst sicher neu starten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4: </a:t>
            </a: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systemctl</a:t>
            </a: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-Befehle im Überblick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Wichtige Befehle zur Dienstverwaltung kennenlernen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Ablauf: 4 Schritte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092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System aktualisieren und Cockpit installieren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Installation mit dpkg überprüfen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Cockpit starten und dauerhaft aktivieren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Neustart simulieren und Persistenz prüfen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Cockpit im Browser aufrufen und anmelden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Eigene Konfigurationsdatei und Login-Banner anlegen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Dienst nach der Änderung neu starten und Ergebnis prüfen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Unit-Datei analysieren und mit 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systemctl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-Befehle vertraut werden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Ihre Aufgaben während des Labs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092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Verfügbarkeit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Was passiert, wenn der Server ausfällt oder neu startet?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Wie könnten auch andere Geräte im Netzwerk zugreifen?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Sicherheit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Welche Risiken birgt ein selbstsigniertes Zertifikat?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Wie lässt sich der Zugriff auf autorisierte Clients beschränken?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Fragen zum Abschluss – Teil 1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0920" cy="415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Skalierbarkeit &amp; Energieeffizienz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Wie lässt sich ein Dienst nur bei Bedarf starten?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Was ändert sich bei 50 weiteren Diensten?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Ausfallsicherheit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Was wäre für einen hochverfügbaren Betrieb nötig?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Welche Rolle spielen Backups der Konfiguration?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0920" cy="63936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Fragen zum Abschluss – Teil 2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Flex" panose="020F0302020204030204" pitchFamily="0" charset="1"/>
        <a:ea typeface=""/>
        <a:cs typeface=""/>
      </a:majorFont>
      <a:minorFont>
        <a:latin typeface="Roboto Flex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LibreOffice/26.8.0.3$Linux_X86_64 LibreOffice_project/bce0998afefdbc355585ca324285661a2170ba77</Application>
  <AppVersion>15.0000</AppVersion>
  <Words>4</Words>
  <Paragraphs>4</Paragraphs>
  <Company>ALP-Dillingen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2019-06-04T07:33:10Z</dcterms:created>
  <dc:creator>Koehler, Oliver</dc:creator>
  <dc:description/>
  <dc:language>de-DE</dc:language>
  <cp:lastModifiedBy>Florian Reichl</cp:lastModifiedBy>
  <dcterms:modified xsi:type="dcterms:W3CDTF">2026-09-22T15:36:51Z</dcterms:modified>
  <cp:revision>25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2</vt:i4>
  </property>
</Properties>
</file>