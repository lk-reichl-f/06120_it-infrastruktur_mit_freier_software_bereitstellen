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12"/>
  </p:notesMasterIdLst>
  <p:sldIdLst>
    <p:sldId id="444" r:id="rId2"/>
    <p:sldId id="449" r:id="rId3"/>
    <p:sldId id="393" r:id="rId4"/>
    <p:sldId id="447" r:id="rId5"/>
    <p:sldId id="445" r:id="rId6"/>
    <p:sldId id="446" r:id="rId7"/>
    <p:sldId id="448" r:id="rId8"/>
    <p:sldId id="451" r:id="rId9"/>
    <p:sldId id="450" r:id="rId10"/>
    <p:sldId id="360" r:id="rId11"/>
  </p:sldIdLst>
  <p:sldSz cx="12192000" cy="6858000"/>
  <p:notesSz cx="6858000" cy="9144000"/>
  <p:embeddedFontLst>
    <p:embeddedFont>
      <p:font typeface="Calibri" panose="020F0502020204030204" pitchFamily="34" charset="0"/>
      <p:regular r:id="rId13"/>
      <p:bold r:id="rId14"/>
      <p:italic r:id="rId15"/>
      <p:boldItalic r:id="rId16"/>
    </p:embeddedFont>
    <p:embeddedFont>
      <p:font typeface="Calibri Light" panose="020F0302020204030204" pitchFamily="34" charset="0"/>
      <p:regular r:id="rId17"/>
      <p:italic r:id="rId18"/>
    </p:embeddedFont>
    <p:embeddedFont>
      <p:font typeface="Cambria" panose="02040503050406030204" pitchFamily="18" charset="0"/>
      <p:regular r:id="rId19"/>
      <p:bold r:id="rId20"/>
      <p:italic r:id="rId21"/>
      <p:boldItalic r:id="rId22"/>
    </p:embeddedFont>
    <p:embeddedFont>
      <p:font typeface="Roboto" panose="02000000000000000000" pitchFamily="2" charset="0"/>
      <p:regular r:id="rId23"/>
      <p:bold r:id="rId24"/>
      <p:italic r:id="rId25"/>
      <p:boldItalic r:id="rId26"/>
    </p:embeddedFont>
    <p:embeddedFont>
      <p:font typeface="Roboto Slab" pitchFamily="2" charset="0"/>
      <p:regular r:id="rId27"/>
      <p:bold r:id="rId28"/>
    </p:embeddedFont>
    <p:embeddedFont>
      <p:font typeface="Tw Cen MT" panose="020B0602020104020603" pitchFamily="34" charset="0"/>
      <p:regular r:id="rId29"/>
      <p:bold r:id="rId30"/>
      <p:italic r:id="rId31"/>
      <p:boldItalic r:id="rId32"/>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1AF"/>
    <a:srgbClr val="005AA8"/>
    <a:srgbClr val="E7E7E9"/>
    <a:srgbClr val="FFCD00"/>
    <a:srgbClr val="4472C4"/>
    <a:srgbClr val="274295"/>
    <a:srgbClr val="DEEBF7"/>
    <a:srgbClr val="2B41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36" autoAdjust="0"/>
    <p:restoredTop sz="82909" autoAdjust="0"/>
  </p:normalViewPr>
  <p:slideViewPr>
    <p:cSldViewPr snapToGrid="0">
      <p:cViewPr varScale="1">
        <p:scale>
          <a:sx n="91" d="100"/>
          <a:sy n="91" d="100"/>
        </p:scale>
        <p:origin x="8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7A8F1-2E97-442A-A3DE-98A08CE3B9A6}" type="datetimeFigureOut">
              <a:rPr lang="de-DE" smtClean="0"/>
              <a:t>22.09.2026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D5FE33-4217-42D2-A2B6-93ED6DCD092C}" type="slidenum">
              <a:rPr lang="de-DE" smtClean="0"/>
              <a:t>‹Nr.›</a:t>
            </a:fld>
            <a:endParaRPr lang="de-DE"/>
          </a:p>
        </p:txBody>
      </p:sp>
    </p:spTree>
    <p:extLst>
      <p:ext uri="{BB962C8B-B14F-4D97-AF65-F5344CB8AC3E}">
        <p14:creationId xmlns:p14="http://schemas.microsoft.com/office/powerpoint/2010/main" val="1751763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rtl="0"/>
            <a:r>
              <a:rPr lang="de-DE" dirty="0"/>
              <a:t>Beim </a:t>
            </a:r>
            <a:r>
              <a:rPr lang="de-DE" b="1" dirty="0"/>
              <a:t>Schlüsselaustausch</a:t>
            </a:r>
            <a:r>
              <a:rPr lang="de-DE" dirty="0"/>
              <a:t> (KEX) bietet </a:t>
            </a:r>
            <a:r>
              <a:rPr lang="de-DE" dirty="0" err="1"/>
              <a:t>OpenSSH</a:t>
            </a:r>
            <a:r>
              <a:rPr lang="de-DE" dirty="0"/>
              <a:t> z. B. an: curve25519-sha256, mehrere ecdh-sha2-nistp*-Varianten, mehrere </a:t>
            </a:r>
            <a:r>
              <a:rPr lang="de-DE" dirty="0" err="1"/>
              <a:t>diffie</a:t>
            </a:r>
            <a:r>
              <a:rPr lang="de-DE" dirty="0"/>
              <a:t>-</a:t>
            </a:r>
            <a:r>
              <a:rPr lang="de-DE" dirty="0" err="1"/>
              <a:t>hellman</a:t>
            </a:r>
            <a:r>
              <a:rPr lang="de-DE" dirty="0"/>
              <a:t>-group*-</a:t>
            </a:r>
            <a:r>
              <a:rPr lang="de-DE" dirty="0" err="1"/>
              <a:t>sha</a:t>
            </a:r>
            <a:r>
              <a:rPr lang="de-DE" dirty="0"/>
              <a:t>*-Varianten sowie inzwischen auch sntrup761x25519-sha512 – ein hybrides Verfahren, das zusätzlich vor zukünftigen Quantencomputern schützen soll und in aktuellen </a:t>
            </a:r>
            <a:r>
              <a:rPr lang="de-DE" dirty="0" err="1"/>
              <a:t>OpenSSH</a:t>
            </a:r>
            <a:r>
              <a:rPr lang="de-DE" dirty="0"/>
              <a:t>-Versionen sogar an erster Stelle der Präferenzliste steht.</a:t>
            </a:r>
          </a:p>
          <a:p>
            <a:pPr rtl="0"/>
            <a:endParaRPr lang="de-DE" dirty="0"/>
          </a:p>
          <a:p>
            <a:pPr rtl="0"/>
            <a:r>
              <a:rPr lang="de-DE" dirty="0"/>
              <a:t>Bei der </a:t>
            </a:r>
            <a:r>
              <a:rPr lang="de-DE" b="1" dirty="0"/>
              <a:t>Verschlüsselung</a:t>
            </a:r>
            <a:r>
              <a:rPr lang="de-DE" dirty="0"/>
              <a:t> stehen unter anderem chacha20-poly1305, mehrere </a:t>
            </a:r>
            <a:r>
              <a:rPr lang="de-DE" dirty="0" err="1"/>
              <a:t>aes</a:t>
            </a:r>
            <a:r>
              <a:rPr lang="de-DE" dirty="0"/>
              <a:t>*-</a:t>
            </a:r>
            <a:r>
              <a:rPr lang="de-DE" dirty="0" err="1"/>
              <a:t>gcm</a:t>
            </a:r>
            <a:r>
              <a:rPr lang="de-DE" dirty="0"/>
              <a:t>- und </a:t>
            </a:r>
            <a:r>
              <a:rPr lang="de-DE" dirty="0" err="1"/>
              <a:t>aes</a:t>
            </a:r>
            <a:r>
              <a:rPr lang="de-DE" dirty="0"/>
              <a:t>*-</a:t>
            </a:r>
            <a:r>
              <a:rPr lang="de-DE" dirty="0" err="1"/>
              <a:t>ctr</a:t>
            </a:r>
            <a:r>
              <a:rPr lang="de-DE" dirty="0"/>
              <a:t>-Varianten (128/192/256 Bit) zur Auswahl. Ältere Verfahren wie aes256-cbc oder 3des-cbc existieren zwar noch in der Spezifikation, sind aber in aktuellen </a:t>
            </a:r>
            <a:r>
              <a:rPr lang="de-DE" dirty="0" err="1"/>
              <a:t>OpenSSH</a:t>
            </a:r>
            <a:r>
              <a:rPr lang="de-DE" dirty="0"/>
              <a:t>-Versionen meist standardmäßig deaktiviert.</a:t>
            </a:r>
          </a:p>
          <a:p>
            <a:pPr rtl="0"/>
            <a:endParaRPr lang="de-DE" dirty="0"/>
          </a:p>
          <a:p>
            <a:pPr rtl="0"/>
            <a:r>
              <a:rPr lang="de-DE" b="1" dirty="0"/>
              <a:t>Signaturverfahren</a:t>
            </a:r>
            <a:r>
              <a:rPr lang="de-DE" dirty="0"/>
              <a:t> – also eine allgemeine kryptografische Methode (z. B. Ed25519), die festlegt, </a:t>
            </a:r>
            <a:r>
              <a:rPr lang="de-DE" i="1" dirty="0"/>
              <a:t>wie</a:t>
            </a:r>
            <a:r>
              <a:rPr lang="de-DE" dirty="0"/>
              <a:t> eine Partei später einen Nachweis über den Besitz eines privaten Schlüssels erbringen kann. Diese Methode ist an sich neutral, sie „gehört" niemandem.</a:t>
            </a:r>
          </a:p>
          <a:p>
            <a:pPr rtl="0"/>
            <a:endParaRPr lang="de-DE" dirty="0"/>
          </a:p>
          <a:p>
            <a:pPr rtl="0"/>
            <a:r>
              <a:rPr lang="de-DE" dirty="0"/>
              <a:t>Aus der (nach Präferenz sortierten) Liste des Clients wird der erste Eintrag genommen, den der Server ebenfalls unterstützt. </a:t>
            </a:r>
          </a:p>
          <a:p>
            <a:pPr rtl="0"/>
            <a:endParaRPr lang="de-DE" dirty="0"/>
          </a:p>
          <a:p>
            <a:pPr rtl="0"/>
            <a:endParaRPr lang="de-DE" dirty="0"/>
          </a:p>
          <a:p>
            <a:pPr rtl="0"/>
            <a:r>
              <a:rPr lang="de-DE" dirty="0"/>
              <a:t>Ergänzung zu Mitteilung des </a:t>
            </a:r>
            <a:r>
              <a:rPr lang="de-DE" dirty="0" err="1"/>
              <a:t>Hostkeys</a:t>
            </a:r>
            <a:r>
              <a:rPr lang="de-DE" dirty="0"/>
              <a:t> und Vielfalt der Begriffe (Hash, Fingerprint, öffentlicher </a:t>
            </a:r>
            <a:r>
              <a:rPr lang="de-DE" dirty="0" err="1"/>
              <a:t>schlüssel</a:t>
            </a:r>
            <a:r>
              <a:rPr lang="de-DE" dirty="0"/>
              <a:t>, host </a:t>
            </a:r>
            <a:r>
              <a:rPr lang="de-DE" dirty="0" err="1"/>
              <a:t>key</a:t>
            </a:r>
            <a:r>
              <a:rPr lang="de-DE" dirty="0"/>
              <a:t>):</a:t>
            </a:r>
          </a:p>
          <a:p>
            <a:pPr rtl="0"/>
            <a:r>
              <a:rPr lang="de-DE" dirty="0"/>
              <a:t>Der </a:t>
            </a:r>
            <a:r>
              <a:rPr lang="de-DE" b="1" dirty="0"/>
              <a:t>Host-Key</a:t>
            </a:r>
            <a:r>
              <a:rPr lang="de-DE" dirty="0"/>
              <a:t> ist der Oberbegriff: das Schlüsselpaar, mit dem sich der Server als genau dieser Server ausweist – vergleichbar mit der Identität des Servers. Wie bei jedem asymmetrischen Schlüsselpaar gehört dazu ein privater Teil, der nie den Server verlässt, und ein öffentlicher Teil.</a:t>
            </a:r>
          </a:p>
          <a:p>
            <a:pPr rtl="0"/>
            <a:r>
              <a:rPr lang="de-DE" dirty="0"/>
              <a:t>Der </a:t>
            </a:r>
            <a:r>
              <a:rPr lang="de-DE" b="1" dirty="0"/>
              <a:t>öffentliche Schlüssel des Servers</a:t>
            </a:r>
            <a:r>
              <a:rPr lang="de-DE" dirty="0"/>
              <a:t> ist genau dieser öffentliche Teil des Host-Keys – also die konkreten Daten, die im Handshake tatsächlich über das Netz übertragen werden. Wenn man vom Host-Key im Zusammenhang mit der Übertragung spricht, meint man in der Praxis meist schon diesen öffentlichen Teil, weil der private Teil ja gar nicht übertragen wird.</a:t>
            </a:r>
          </a:p>
          <a:p>
            <a:pPr rtl="0"/>
            <a:endParaRPr lang="de-DE" dirty="0"/>
          </a:p>
          <a:p>
            <a:pPr rtl="0"/>
            <a:r>
              <a:rPr lang="de-DE" dirty="0"/>
              <a:t>Das Problem dabei: Ein öffentlicher Schlüssel ist ein recht langer Datenblock (je nach Verfahren mehrere hundert Zeichen) – zu lang, um ihn beim Verbindungsaufbau einfach mit bloßem Auge zu vergleichen. Deshalb bildet man aus diesem öffentlichen Schlüssel einen </a:t>
            </a:r>
            <a:r>
              <a:rPr lang="de-DE" b="1" dirty="0"/>
              <a:t>Fingerprint</a:t>
            </a:r>
            <a:r>
              <a:rPr lang="de-DE" dirty="0"/>
              <a:t>: einen kurzen Hash-Wert fester Länge (z. B. per SHA256), der sich als überschaubare Zeichenkette anzeigen und vergleichen lässt.</a:t>
            </a:r>
          </a:p>
          <a:p>
            <a:pPr rtl="0"/>
            <a:endParaRPr lang="de-DE" dirty="0"/>
          </a:p>
          <a:p>
            <a:pPr rtl="0"/>
            <a:r>
              <a:rPr lang="de-DE" dirty="0"/>
              <a:t>Die Kette ist also: Host-Key (das Schlüsselpaar als Identität des Servers) → davon wird der öffentliche Schlüssel übertragen → aus diesem öffentlichen Schlüssel wird zur praktischen Prüfung ein Fingerprint gebildet. Vergleichbar mit einem Ausweisdokument: der Host-Key ist der ganze Ausweis, der öffentliche Schlüssel die eigentliche, lange Ausweisnummer darauf, und der Fingerprint eine kurze Prüfziffer, die man schnell mit einer bekannten Referenz abgleichen kann, ohne die komplette Nummer Zeichen für Zeichen durchzugehen.</a:t>
            </a:r>
          </a:p>
          <a:p>
            <a:endParaRPr lang="de-DE" dirty="0"/>
          </a:p>
          <a:p>
            <a:endParaRPr lang="de-DE" dirty="0"/>
          </a:p>
          <a:p>
            <a:endParaRPr lang="de-DE" dirty="0"/>
          </a:p>
          <a:p>
            <a:endParaRPr lang="de-DE" dirty="0"/>
          </a:p>
        </p:txBody>
      </p:sp>
      <p:sp>
        <p:nvSpPr>
          <p:cNvPr id="4" name="Foliennummernplatzhalter 3"/>
          <p:cNvSpPr>
            <a:spLocks noGrp="1"/>
          </p:cNvSpPr>
          <p:nvPr>
            <p:ph type="sldNum" sz="quarter" idx="10"/>
          </p:nvPr>
        </p:nvSpPr>
        <p:spPr/>
        <p:txBody>
          <a:bodyPr/>
          <a:lstStyle/>
          <a:p>
            <a:fld id="{3542944D-AC3E-48AF-8599-0DD23B87C5A9}" type="slidenum">
              <a:rPr lang="de-DE" smtClean="0"/>
              <a:t>3</a:t>
            </a:fld>
            <a:endParaRPr lang="de-DE"/>
          </a:p>
        </p:txBody>
      </p:sp>
    </p:spTree>
    <p:extLst>
      <p:ext uri="{BB962C8B-B14F-4D97-AF65-F5344CB8AC3E}">
        <p14:creationId xmlns:p14="http://schemas.microsoft.com/office/powerpoint/2010/main" val="291913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3542944D-AC3E-48AF-8599-0DD23B87C5A9}" type="slidenum">
              <a:rPr lang="de-DE" smtClean="0"/>
              <a:t>4</a:t>
            </a:fld>
            <a:endParaRPr lang="de-DE"/>
          </a:p>
        </p:txBody>
      </p:sp>
    </p:spTree>
    <p:extLst>
      <p:ext uri="{BB962C8B-B14F-4D97-AF65-F5344CB8AC3E}">
        <p14:creationId xmlns:p14="http://schemas.microsoft.com/office/powerpoint/2010/main" val="5095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3542944D-AC3E-48AF-8599-0DD23B87C5A9}" type="slidenum">
              <a:rPr lang="de-DE" smtClean="0"/>
              <a:t>5</a:t>
            </a:fld>
            <a:endParaRPr lang="de-DE"/>
          </a:p>
        </p:txBody>
      </p:sp>
    </p:spTree>
    <p:extLst>
      <p:ext uri="{BB962C8B-B14F-4D97-AF65-F5344CB8AC3E}">
        <p14:creationId xmlns:p14="http://schemas.microsoft.com/office/powerpoint/2010/main" val="2450566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Client nimmt diese Zufallsdaten und lässt sie durch den vereinbarten Signaturalgorithmus (z. B. Ed25519, siehe Folie 1) gemeinsam mit seinem privaten Schlüssel verarbeiten. Dabei entsteht ein neuer, fester Datenblock – die Signatur. Die Zufallsdaten selbst werden dabei nicht einfach durchgereicht oder verändert zurückgeschickt, sondern gehen als Eingabe in diese Berechnung ein; das Ergebnis ist etwas komplett anderes als die </a:t>
            </a:r>
            <a:r>
              <a:rPr lang="de-DE" dirty="0" err="1"/>
              <a:t>Ausgangsdaten.Der</a:t>
            </a:r>
            <a:r>
              <a:rPr lang="de-DE" dirty="0"/>
              <a:t> private Schlüssel wird bei diesem Vorgang nur benutzt, nicht übertragen: Er bleibt in der lokalen Datei ~/.</a:t>
            </a:r>
            <a:r>
              <a:rPr lang="de-DE" dirty="0" err="1"/>
              <a:t>ssh</a:t>
            </a:r>
            <a:r>
              <a:rPr lang="de-DE" dirty="0"/>
              <a:t>/id_ed25519 (oder im Speicher eines </a:t>
            </a:r>
            <a:r>
              <a:rPr lang="de-DE" dirty="0" err="1"/>
              <a:t>ssh</a:t>
            </a:r>
            <a:r>
              <a:rPr lang="de-DE" dirty="0"/>
              <a:t>-agent, falls einer läuft) und verlässt den Rechner zu keinem Zeitpunkt. Nur das Rechenergebnis – die Signatur – geht anschließend an den Server </a:t>
            </a:r>
            <a:r>
              <a:rPr lang="de-DE" dirty="0" err="1"/>
              <a:t>zurück.Der</a:t>
            </a:r>
            <a:r>
              <a:rPr lang="de-DE" dirty="0"/>
              <a:t> Sinn der Zufälligkeit: Weil die Challenge bei jedem Verbindungsversuch neu und unvorhersehbar ist, ist auch die daraus berechnete Signatur jedes Mal anders. Damit lässt sich eine einmal mitgeschnittene, gültige Signatur nicht bei einem späteren Anmeldeversuch wiederverwenden – das schützt vor sogenannten </a:t>
            </a:r>
            <a:r>
              <a:rPr lang="de-DE"/>
              <a:t>Replay-</a:t>
            </a:r>
            <a:r>
              <a:rPr lang="de-DE" err="1"/>
              <a:t>Angriffen</a:t>
            </a:r>
            <a:r>
              <a:rPr lang="de-DE"/>
              <a:t>.</a:t>
            </a:r>
          </a:p>
          <a:p>
            <a:r>
              <a:rPr lang="de-DE"/>
              <a:t>Eine </a:t>
            </a:r>
            <a:r>
              <a:rPr lang="de-DE" dirty="0"/>
              <a:t>kleine Ergänzung zur Genauigkeit, falls für dich relevant: Im tatsächlichen SSH-Protokoll verschickt der Server in diesem Schritt gar kein separates Zufalls-Paket – diese Rolle übernimmt dort die Session-ID, die schon beim Schlüsselaustausch (Folie 1) entsteht und für jede Verbindung einmalig ist. Das Prinzip ist identisch, die Folie stellt es nur als explizite „Challenge" dar, weil sich das leichter vermitteln lässt als der Verweis auf eine bereits weiter oben erzeugte Session-ID.</a:t>
            </a:r>
          </a:p>
        </p:txBody>
      </p:sp>
      <p:sp>
        <p:nvSpPr>
          <p:cNvPr id="4" name="Foliennummernplatzhalter 3"/>
          <p:cNvSpPr>
            <a:spLocks noGrp="1"/>
          </p:cNvSpPr>
          <p:nvPr>
            <p:ph type="sldNum" sz="quarter" idx="10"/>
          </p:nvPr>
        </p:nvSpPr>
        <p:spPr/>
        <p:txBody>
          <a:bodyPr/>
          <a:lstStyle/>
          <a:p>
            <a:fld id="{3542944D-AC3E-48AF-8599-0DD23B87C5A9}" type="slidenum">
              <a:rPr lang="de-DE" smtClean="0"/>
              <a:t>6</a:t>
            </a:fld>
            <a:endParaRPr lang="de-DE"/>
          </a:p>
        </p:txBody>
      </p:sp>
    </p:spTree>
    <p:extLst>
      <p:ext uri="{BB962C8B-B14F-4D97-AF65-F5344CB8AC3E}">
        <p14:creationId xmlns:p14="http://schemas.microsoft.com/office/powerpoint/2010/main" val="983333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BD5FE33-4217-42D2-A2B6-93ED6DCD092C}" type="slidenum">
              <a:rPr lang="de-DE" smtClean="0"/>
              <a:t>7</a:t>
            </a:fld>
            <a:endParaRPr lang="de-DE"/>
          </a:p>
        </p:txBody>
      </p:sp>
    </p:spTree>
    <p:extLst>
      <p:ext uri="{BB962C8B-B14F-4D97-AF65-F5344CB8AC3E}">
        <p14:creationId xmlns:p14="http://schemas.microsoft.com/office/powerpoint/2010/main" val="2499017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06CC794-F5C9-46AC-B11B-C8D0ADB55061}" type="slidenum">
              <a:rPr lang="de-DE" smtClean="0"/>
              <a:t>10</a:t>
            </a:fld>
            <a:endParaRPr lang="de-DE"/>
          </a:p>
        </p:txBody>
      </p:sp>
    </p:spTree>
    <p:extLst>
      <p:ext uri="{BB962C8B-B14F-4D97-AF65-F5344CB8AC3E}">
        <p14:creationId xmlns:p14="http://schemas.microsoft.com/office/powerpoint/2010/main" val="2868962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1BC23E3-4510-413A-9361-7EEE4D3F2E84}" type="datetime1">
              <a:rPr lang="de-DE" smtClean="0"/>
              <a:t>22.09.2026</a:t>
            </a:fld>
            <a:endParaRPr lang="de-DE"/>
          </a:p>
        </p:txBody>
      </p:sp>
      <p:sp>
        <p:nvSpPr>
          <p:cNvPr id="4" name="Foliennummernplatzhalter 3"/>
          <p:cNvSpPr>
            <a:spLocks noGrp="1"/>
          </p:cNvSpPr>
          <p:nvPr>
            <p:ph type="sldNum" sz="quarter" idx="12"/>
          </p:nvPr>
        </p:nvSpPr>
        <p:spPr/>
        <p:txBody>
          <a:bodyPr/>
          <a:lstStyle/>
          <a:p>
            <a:fld id="{341CD41A-C668-429A-AD07-4F84BBC3B3E7}" type="slidenum">
              <a:rPr lang="de-DE" smtClean="0"/>
              <a:t>‹Nr.›</a:t>
            </a:fld>
            <a:endParaRPr lang="de-DE"/>
          </a:p>
        </p:txBody>
      </p:sp>
      <p:sp>
        <p:nvSpPr>
          <p:cNvPr id="3" name="Fußzeilenplatzhalter 2">
            <a:extLst>
              <a:ext uri="{FF2B5EF4-FFF2-40B4-BE49-F238E27FC236}">
                <a16:creationId xmlns:a16="http://schemas.microsoft.com/office/drawing/2014/main" id="{7F76B9BF-0406-764A-A3AE-DEC5AD580CC8}"/>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2322597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22.09.2026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7" name="Untertitel 2"/>
          <p:cNvSpPr>
            <a:spLocks noGrp="1"/>
          </p:cNvSpPr>
          <p:nvPr>
            <p:ph type="subTitle" idx="1" hasCustomPrompt="1"/>
          </p:nvPr>
        </p:nvSpPr>
        <p:spPr>
          <a:xfrm>
            <a:off x="388003" y="3959588"/>
            <a:ext cx="11410123" cy="756000"/>
          </a:xfrm>
          <a:solidFill>
            <a:srgbClr val="FFCD00"/>
          </a:solidFill>
        </p:spPr>
        <p:txBody>
          <a:bodyPr anchor="ctr">
            <a:normAutofit/>
          </a:bodyPr>
          <a:lstStyle>
            <a:lvl1pPr algn="ctr">
              <a:defRPr sz="3200">
                <a:solidFill>
                  <a:schemeClr val="accent5">
                    <a:lumMod val="75000"/>
                  </a:schemeClr>
                </a:solidFill>
                <a:latin typeface="Roboto" panose="02000000000000000000" pitchFamily="2" charset="0"/>
                <a:ea typeface="Roboto" panose="02000000000000000000" pitchFamily="2" charset="0"/>
              </a:defRPr>
            </a:lvl1pPr>
          </a:lstStyle>
          <a:p>
            <a:r>
              <a:rPr lang="de-DE" sz="3200" spc="200" dirty="0" err="1">
                <a:solidFill>
                  <a:srgbClr val="2B418E"/>
                </a:solidFill>
                <a:latin typeface="Roboto" panose="02000000000000000000" pitchFamily="2" charset="0"/>
                <a:ea typeface="Roboto" panose="02000000000000000000" pitchFamily="2" charset="0"/>
              </a:rPr>
              <a:t>Subline</a:t>
            </a:r>
            <a:endParaRPr lang="de-DE" sz="3200" spc="200" dirty="0">
              <a:solidFill>
                <a:srgbClr val="2B418E"/>
              </a:solidFill>
              <a:latin typeface="Roboto" panose="02000000000000000000" pitchFamily="2" charset="0"/>
              <a:ea typeface="Roboto" panose="02000000000000000000" pitchFamily="2" charset="0"/>
            </a:endParaRPr>
          </a:p>
        </p:txBody>
      </p:sp>
      <p:sp>
        <p:nvSpPr>
          <p:cNvPr id="8" name="Titel 1"/>
          <p:cNvSpPr>
            <a:spLocks noGrp="1"/>
          </p:cNvSpPr>
          <p:nvPr>
            <p:ph type="ctrTitle" hasCustomPrompt="1"/>
          </p:nvPr>
        </p:nvSpPr>
        <p:spPr>
          <a:xfrm>
            <a:off x="388002" y="1439999"/>
            <a:ext cx="11410123" cy="2520000"/>
          </a:xfrm>
          <a:solidFill>
            <a:srgbClr val="2B418E"/>
          </a:solidFill>
        </p:spPr>
        <p:txBody>
          <a:bodyPr anchor="ctr">
            <a:normAutofit/>
          </a:bodyPr>
          <a:lstStyle>
            <a:lvl1pPr>
              <a:defRPr sz="4400">
                <a:solidFill>
                  <a:schemeClr val="bg1"/>
                </a:solidFill>
              </a:defRPr>
            </a:lvl1pPr>
          </a:lstStyle>
          <a:p>
            <a:r>
              <a:rPr lang="de-DE" altLang="de-DE" sz="4400" b="1" dirty="0">
                <a:solidFill>
                  <a:schemeClr val="bg1"/>
                </a:solidFill>
                <a:latin typeface="Roboto Slab" pitchFamily="2" charset="0"/>
                <a:ea typeface="Roboto Slab" pitchFamily="2" charset="0"/>
              </a:rPr>
              <a:t>Headline</a:t>
            </a:r>
            <a:endParaRPr lang="de-DE" sz="4400" b="1" dirty="0">
              <a:latin typeface="Roboto Slab" pitchFamily="2" charset="0"/>
              <a:ea typeface="Roboto Slab" pitchFamily="2" charset="0"/>
            </a:endParaRPr>
          </a:p>
        </p:txBody>
      </p:sp>
      <p:sp>
        <p:nvSpPr>
          <p:cNvPr id="2" name="Fußzeilenplatzhalter 1">
            <a:extLst>
              <a:ext uri="{FF2B5EF4-FFF2-40B4-BE49-F238E27FC236}">
                <a16:creationId xmlns:a16="http://schemas.microsoft.com/office/drawing/2014/main" id="{6323C46C-563A-C940-92F4-FEC0E92C53F7}"/>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3148218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ufzählung-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22.09.2026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6" name="Inhaltsplatzhalter 2"/>
          <p:cNvSpPr>
            <a:spLocks noGrp="1"/>
          </p:cNvSpPr>
          <p:nvPr>
            <p:ph idx="1" hasCustomPrompt="1"/>
          </p:nvPr>
        </p:nvSpPr>
        <p:spPr>
          <a:xfrm>
            <a:off x="351181" y="2304000"/>
            <a:ext cx="11410124" cy="4153080"/>
          </a:xfrm>
        </p:spPr>
        <p:txBody>
          <a:bodyPr>
            <a:noAutofit/>
          </a:bodyPr>
          <a:lstStyle>
            <a:lvl1pPr>
              <a:defRPr>
                <a:latin typeface="Roboto" panose="02000000000000000000" pitchFamily="2" charset="0"/>
                <a:ea typeface="Roboto" panose="02000000000000000000" pitchFamily="2" charset="0"/>
              </a:defRPr>
            </a:lvl1pPr>
          </a:lstStyle>
          <a:p>
            <a:pPr>
              <a:lnSpc>
                <a:spcPct val="120000"/>
              </a:lnSpc>
            </a:pPr>
            <a:r>
              <a:rPr lang="de-DE" sz="2000" b="1" dirty="0">
                <a:solidFill>
                  <a:schemeClr val="tx1">
                    <a:lumMod val="65000"/>
                    <a:lumOff val="35000"/>
                  </a:schemeClr>
                </a:solidFill>
                <a:latin typeface="Roboto" panose="02000000000000000000" pitchFamily="2" charset="0"/>
                <a:ea typeface="Roboto" panose="02000000000000000000" pitchFamily="2" charset="0"/>
              </a:rPr>
              <a:t>Aufzählung:</a:t>
            </a:r>
            <a:br>
              <a:rPr lang="de-DE" sz="2000" b="1" dirty="0">
                <a:solidFill>
                  <a:schemeClr val="tx1">
                    <a:lumMod val="65000"/>
                    <a:lumOff val="35000"/>
                  </a:schemeClr>
                </a:solidFill>
                <a:latin typeface="Roboto" panose="02000000000000000000" pitchFamily="2" charset="0"/>
                <a:ea typeface="Roboto" panose="02000000000000000000" pitchFamily="2" charset="0"/>
              </a:rPr>
            </a:b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8" name="Title 1"/>
          <p:cNvSpPr>
            <a:spLocks noGrp="1"/>
          </p:cNvSpPr>
          <p:nvPr>
            <p:ph type="title" hasCustomPrompt="1"/>
          </p:nvPr>
        </p:nvSpPr>
        <p:spPr>
          <a:xfrm>
            <a:off x="400277" y="1445754"/>
            <a:ext cx="11410124" cy="646331"/>
          </a:xfrm>
          <a:solidFill>
            <a:srgbClr val="2B418E"/>
          </a:solidFill>
        </p:spPr>
        <p:txBody>
          <a:bodyPr wrap="square">
            <a:spAutoFit/>
          </a:bodyPr>
          <a:lstStyle>
            <a:lvl1pPr algn="l">
              <a:defRPr sz="2000" b="1">
                <a:solidFill>
                  <a:schemeClr val="bg1"/>
                </a:solidFill>
              </a:defRPr>
            </a:lvl1pPr>
          </a:lstStyle>
          <a:p>
            <a:r>
              <a:rPr lang="de-DE" dirty="0"/>
              <a:t>Überschrift</a:t>
            </a:r>
            <a:br>
              <a:rPr lang="de-DE" dirty="0"/>
            </a:br>
            <a:r>
              <a:rPr lang="de-DE" dirty="0"/>
              <a:t>maximal 2 Zeilen</a:t>
            </a:r>
            <a:endParaRPr lang="en-US" dirty="0"/>
          </a:p>
        </p:txBody>
      </p:sp>
      <p:sp>
        <p:nvSpPr>
          <p:cNvPr id="2" name="Fußzeilenplatzhalter 1">
            <a:extLst>
              <a:ext uri="{FF2B5EF4-FFF2-40B4-BE49-F238E27FC236}">
                <a16:creationId xmlns:a16="http://schemas.microsoft.com/office/drawing/2014/main" id="{39ADA1F3-7414-E348-8F03-4F47E182C581}"/>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4116819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ufzählung-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22.09.2026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6" name="Inhaltsplatzhalter 2"/>
          <p:cNvSpPr>
            <a:spLocks noGrp="1"/>
          </p:cNvSpPr>
          <p:nvPr>
            <p:ph idx="1" hasCustomPrompt="1"/>
          </p:nvPr>
        </p:nvSpPr>
        <p:spPr>
          <a:xfrm>
            <a:off x="351181" y="1386038"/>
            <a:ext cx="11410124" cy="5071042"/>
          </a:xfrm>
        </p:spPr>
        <p:txBody>
          <a:bodyPr>
            <a:noAutofit/>
          </a:bodyPr>
          <a:lstStyle>
            <a:lvl1pPr>
              <a:defRPr>
                <a:latin typeface="Roboto" panose="02000000000000000000" pitchFamily="2" charset="0"/>
                <a:ea typeface="Roboto" panose="02000000000000000000" pitchFamily="2" charset="0"/>
              </a:defRPr>
            </a:lvl1pPr>
          </a:lstStyle>
          <a:p>
            <a:pPr>
              <a:lnSpc>
                <a:spcPct val="120000"/>
              </a:lnSpc>
            </a:pPr>
            <a:r>
              <a:rPr lang="de-DE" sz="2000" b="1" dirty="0">
                <a:solidFill>
                  <a:schemeClr val="tx1">
                    <a:lumMod val="65000"/>
                    <a:lumOff val="35000"/>
                  </a:schemeClr>
                </a:solidFill>
                <a:latin typeface="Roboto" panose="02000000000000000000" pitchFamily="2" charset="0"/>
                <a:ea typeface="Roboto" panose="02000000000000000000" pitchFamily="2" charset="0"/>
              </a:rPr>
              <a:t>Aufzählung:</a:t>
            </a:r>
            <a:br>
              <a:rPr lang="de-DE" sz="2000" b="1" dirty="0">
                <a:solidFill>
                  <a:schemeClr val="tx1">
                    <a:lumMod val="65000"/>
                    <a:lumOff val="35000"/>
                  </a:schemeClr>
                </a:solidFill>
                <a:latin typeface="Roboto" panose="02000000000000000000" pitchFamily="2" charset="0"/>
                <a:ea typeface="Roboto" panose="02000000000000000000" pitchFamily="2" charset="0"/>
              </a:rPr>
            </a:b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2" name="Fußzeilenplatzhalter 1">
            <a:extLst>
              <a:ext uri="{FF2B5EF4-FFF2-40B4-BE49-F238E27FC236}">
                <a16:creationId xmlns:a16="http://schemas.microsoft.com/office/drawing/2014/main" id="{D295CA11-9812-1547-A9A0-1EEEC47FC478}"/>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3167284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Spalten-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22.09.2026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6" name="Inhaltsplatzhalter 2"/>
          <p:cNvSpPr>
            <a:spLocks noGrp="1"/>
          </p:cNvSpPr>
          <p:nvPr>
            <p:ph idx="1" hasCustomPrompt="1"/>
          </p:nvPr>
        </p:nvSpPr>
        <p:spPr>
          <a:xfrm>
            <a:off x="351181" y="2304000"/>
            <a:ext cx="5626107" cy="4153080"/>
          </a:xfrm>
        </p:spPr>
        <p:txBody>
          <a:bodyPr>
            <a:noAutofit/>
          </a:bodyPr>
          <a:lstStyle>
            <a:lvl1pPr marL="0" indent="0">
              <a:buNone/>
              <a:defRPr/>
            </a:lvl1pPr>
          </a:lstStyle>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8" name="Inhaltsplatzhalter 2"/>
          <p:cNvSpPr>
            <a:spLocks noGrp="1"/>
          </p:cNvSpPr>
          <p:nvPr>
            <p:ph idx="13" hasCustomPrompt="1"/>
          </p:nvPr>
        </p:nvSpPr>
        <p:spPr>
          <a:xfrm>
            <a:off x="6135198" y="2295485"/>
            <a:ext cx="5626107" cy="4153080"/>
          </a:xfrm>
        </p:spPr>
        <p:txBody>
          <a:bodyPr>
            <a:noAutofit/>
          </a:bodyPr>
          <a:lstStyle>
            <a:lvl1pPr marL="0" indent="0">
              <a:buNone/>
              <a:defRPr/>
            </a:lvl1pPr>
          </a:lstStyle>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9" name="Title 1"/>
          <p:cNvSpPr>
            <a:spLocks noGrp="1"/>
          </p:cNvSpPr>
          <p:nvPr>
            <p:ph type="title" hasCustomPrompt="1"/>
          </p:nvPr>
        </p:nvSpPr>
        <p:spPr>
          <a:xfrm>
            <a:off x="388003" y="1451891"/>
            <a:ext cx="11410124" cy="646331"/>
          </a:xfrm>
          <a:solidFill>
            <a:srgbClr val="2B418E"/>
          </a:solidFill>
        </p:spPr>
        <p:txBody>
          <a:bodyPr wrap="square">
            <a:spAutoFit/>
          </a:bodyPr>
          <a:lstStyle>
            <a:lvl1pPr algn="l">
              <a:defRPr sz="2000" b="1">
                <a:solidFill>
                  <a:schemeClr val="bg1"/>
                </a:solidFill>
              </a:defRPr>
            </a:lvl1pPr>
          </a:lstStyle>
          <a:p>
            <a:r>
              <a:rPr lang="de-DE" dirty="0"/>
              <a:t>Überschrift</a:t>
            </a:r>
            <a:br>
              <a:rPr lang="de-DE" dirty="0"/>
            </a:br>
            <a:r>
              <a:rPr lang="de-DE" dirty="0"/>
              <a:t>maximal 2 Zeilen</a:t>
            </a:r>
            <a:endParaRPr lang="en-US" dirty="0"/>
          </a:p>
        </p:txBody>
      </p:sp>
      <p:sp>
        <p:nvSpPr>
          <p:cNvPr id="2" name="Fußzeilenplatzhalter 1">
            <a:extLst>
              <a:ext uri="{FF2B5EF4-FFF2-40B4-BE49-F238E27FC236}">
                <a16:creationId xmlns:a16="http://schemas.microsoft.com/office/drawing/2014/main" id="{929FB456-7ECE-6841-8927-D979B8552058}"/>
              </a:ext>
            </a:extLst>
          </p:cNvPr>
          <p:cNvSpPr>
            <a:spLocks noGrp="1"/>
          </p:cNvSpPr>
          <p:nvPr>
            <p:ph type="ftr" sz="quarter" idx="14"/>
          </p:nvPr>
        </p:nvSpPr>
        <p:spPr/>
        <p:txBody>
          <a:bodyPr/>
          <a:lstStyle/>
          <a:p>
            <a:endParaRPr lang="de-DE"/>
          </a:p>
        </p:txBody>
      </p:sp>
    </p:spTree>
    <p:extLst>
      <p:ext uri="{BB962C8B-B14F-4D97-AF65-F5344CB8AC3E}">
        <p14:creationId xmlns:p14="http://schemas.microsoft.com/office/powerpoint/2010/main" val="3350273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Zwei Inhalte">
    <p:spTree>
      <p:nvGrpSpPr>
        <p:cNvPr id="1" name=""/>
        <p:cNvGrpSpPr/>
        <p:nvPr/>
      </p:nvGrpSpPr>
      <p:grpSpPr>
        <a:xfrm>
          <a:off x="0" y="0"/>
          <a:ext cx="0" cy="0"/>
          <a:chOff x="0" y="0"/>
          <a:chExt cx="0" cy="0"/>
        </a:xfrm>
      </p:grpSpPr>
      <p:sp>
        <p:nvSpPr>
          <p:cNvPr id="9" name="Abgerundetes Rechteck 8"/>
          <p:cNvSpPr/>
          <p:nvPr userDrawn="1"/>
        </p:nvSpPr>
        <p:spPr>
          <a:xfrm>
            <a:off x="341354" y="276550"/>
            <a:ext cx="12084756" cy="1144800"/>
          </a:xfrm>
          <a:prstGeom prst="round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798"/>
          </a:p>
        </p:txBody>
      </p:sp>
      <p:sp>
        <p:nvSpPr>
          <p:cNvPr id="3" name="Inhaltsplatzhalter 2"/>
          <p:cNvSpPr>
            <a:spLocks noGrp="1"/>
          </p:cNvSpPr>
          <p:nvPr>
            <p:ph sz="half" idx="1"/>
          </p:nvPr>
        </p:nvSpPr>
        <p:spPr>
          <a:xfrm>
            <a:off x="629087" y="1628799"/>
            <a:ext cx="5394381" cy="4536000"/>
          </a:xfrm>
        </p:spPr>
        <p:txBody>
          <a:bodyPr/>
          <a:lstStyle>
            <a:lvl1pPr>
              <a:defRPr sz="2797">
                <a:solidFill>
                  <a:schemeClr val="tx2"/>
                </a:solidFill>
              </a:defRPr>
            </a:lvl1pPr>
            <a:lvl2pPr>
              <a:defRPr sz="2398">
                <a:solidFill>
                  <a:schemeClr val="tx2"/>
                </a:solidFill>
              </a:defRPr>
            </a:lvl2pPr>
            <a:lvl3pPr>
              <a:defRPr sz="1998">
                <a:solidFill>
                  <a:schemeClr val="tx2"/>
                </a:solidFill>
              </a:defRPr>
            </a:lvl3pPr>
            <a:lvl4pPr>
              <a:defRPr sz="1798">
                <a:solidFill>
                  <a:schemeClr val="tx2"/>
                </a:solidFill>
              </a:defRPr>
            </a:lvl4pPr>
            <a:lvl5pPr>
              <a:defRPr sz="1798">
                <a:solidFill>
                  <a:schemeClr val="tx2"/>
                </a:solidFill>
              </a:defRPr>
            </a:lvl5pPr>
            <a:lvl6pPr>
              <a:defRPr sz="1798"/>
            </a:lvl6pPr>
            <a:lvl7pPr>
              <a:defRPr sz="1798"/>
            </a:lvl7pPr>
            <a:lvl8pPr>
              <a:defRPr sz="1798"/>
            </a:lvl8pPr>
            <a:lvl9pPr>
              <a:defRPr sz="1798"/>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p:cNvSpPr>
            <a:spLocks noGrp="1"/>
          </p:cNvSpPr>
          <p:nvPr>
            <p:ph sz="half" idx="2"/>
          </p:nvPr>
        </p:nvSpPr>
        <p:spPr>
          <a:xfrm>
            <a:off x="6168532" y="1628799"/>
            <a:ext cx="5394381" cy="4536000"/>
          </a:xfrm>
        </p:spPr>
        <p:txBody>
          <a:bodyPr/>
          <a:lstStyle>
            <a:lvl1pPr>
              <a:defRPr sz="2797">
                <a:solidFill>
                  <a:schemeClr val="tx2"/>
                </a:solidFill>
              </a:defRPr>
            </a:lvl1pPr>
            <a:lvl2pPr>
              <a:defRPr sz="2398">
                <a:solidFill>
                  <a:schemeClr val="tx2"/>
                </a:solidFill>
              </a:defRPr>
            </a:lvl2pPr>
            <a:lvl3pPr>
              <a:defRPr sz="1998">
                <a:solidFill>
                  <a:schemeClr val="tx2"/>
                </a:solidFill>
              </a:defRPr>
            </a:lvl3pPr>
            <a:lvl4pPr>
              <a:defRPr sz="1798">
                <a:solidFill>
                  <a:schemeClr val="tx2"/>
                </a:solidFill>
              </a:defRPr>
            </a:lvl4pPr>
            <a:lvl5pPr>
              <a:defRPr sz="1798">
                <a:solidFill>
                  <a:schemeClr val="tx2"/>
                </a:solidFill>
              </a:defRPr>
            </a:lvl5pPr>
            <a:lvl6pPr>
              <a:defRPr sz="1798"/>
            </a:lvl6pPr>
            <a:lvl7pPr>
              <a:defRPr sz="1798"/>
            </a:lvl7pPr>
            <a:lvl8pPr>
              <a:defRPr sz="1798"/>
            </a:lvl8pPr>
            <a:lvl9pPr>
              <a:defRPr sz="1798"/>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p:cNvSpPr>
            <a:spLocks noGrp="1"/>
          </p:cNvSpPr>
          <p:nvPr>
            <p:ph type="title"/>
          </p:nvPr>
        </p:nvSpPr>
        <p:spPr>
          <a:xfrm>
            <a:off x="609601" y="274638"/>
            <a:ext cx="10953313" cy="1143000"/>
          </a:xfrm>
        </p:spPr>
        <p:txBody>
          <a:bodyPr>
            <a:normAutofit/>
          </a:bodyPr>
          <a:lstStyle>
            <a:lvl1pPr>
              <a:defRPr sz="2398" b="1">
                <a:solidFill>
                  <a:schemeClr val="tx2"/>
                </a:solidFill>
              </a:defRPr>
            </a:lvl1pPr>
          </a:lstStyle>
          <a:p>
            <a:r>
              <a:rPr lang="de-DE" dirty="0"/>
              <a:t>Titelmasterformat durch Klicken bearbeiten</a:t>
            </a:r>
          </a:p>
        </p:txBody>
      </p:sp>
      <p:sp>
        <p:nvSpPr>
          <p:cNvPr id="18" name="Datumsplatzhalter 6"/>
          <p:cNvSpPr>
            <a:spLocks noGrp="1"/>
          </p:cNvSpPr>
          <p:nvPr>
            <p:ph type="dt" sz="half" idx="10"/>
          </p:nvPr>
        </p:nvSpPr>
        <p:spPr>
          <a:xfrm>
            <a:off x="609600" y="6356352"/>
            <a:ext cx="2844800" cy="365125"/>
          </a:xfrm>
          <a:prstGeom prst="rect">
            <a:avLst/>
          </a:prstGeom>
        </p:spPr>
        <p:txBody>
          <a:bodyPr/>
          <a:lstStyle>
            <a:lvl1pPr marL="0" algn="l" defTabSz="913486" rtl="0" eaLnBrk="1" latinLnBrk="0" hangingPunct="1">
              <a:defRPr lang="de-DE" sz="1049" kern="1200" dirty="0">
                <a:solidFill>
                  <a:schemeClr val="bg1"/>
                </a:solidFill>
                <a:latin typeface="Arial" panose="020B0604020202020204" pitchFamily="34" charset="0"/>
                <a:ea typeface="+mn-ea"/>
                <a:cs typeface="Arial" panose="020B0604020202020204" pitchFamily="34" charset="0"/>
              </a:defRPr>
            </a:lvl1pPr>
          </a:lstStyle>
          <a:p>
            <a:fld id="{757CD2D1-8C96-4412-8C0C-09C7E956F080}" type="datetime1">
              <a:rPr lang="de-DE" smtClean="0"/>
              <a:t>22.09.2026</a:t>
            </a:fld>
            <a:endParaRPr lang="de-DE" dirty="0"/>
          </a:p>
        </p:txBody>
      </p:sp>
      <p:sp>
        <p:nvSpPr>
          <p:cNvPr id="20" name="Foliennummernplatzhalter 8"/>
          <p:cNvSpPr>
            <a:spLocks noGrp="1"/>
          </p:cNvSpPr>
          <p:nvPr>
            <p:ph type="sldNum" sz="quarter" idx="4"/>
          </p:nvPr>
        </p:nvSpPr>
        <p:spPr>
          <a:xfrm>
            <a:off x="8737601" y="6356352"/>
            <a:ext cx="2844800" cy="365125"/>
          </a:xfrm>
          <a:prstGeom prst="rect">
            <a:avLst/>
          </a:prstGeom>
        </p:spPr>
        <p:txBody>
          <a:bodyPr/>
          <a:lstStyle>
            <a:lvl1pPr algn="r">
              <a:defRPr lang="de-DE" sz="1049" kern="1200" smtClean="0">
                <a:solidFill>
                  <a:schemeClr val="bg1"/>
                </a:solidFill>
                <a:latin typeface="Arial" panose="020B0604020202020204" pitchFamily="34" charset="0"/>
                <a:ea typeface="+mn-ea"/>
                <a:cs typeface="Arial" panose="020B0604020202020204" pitchFamily="34" charset="0"/>
              </a:defRPr>
            </a:lvl1pPr>
          </a:lstStyle>
          <a:p>
            <a:fld id="{43A6DCFB-163F-4561-BF28-3CD1FE47EE20}" type="slidenum">
              <a:rPr lang="de-DE" smtClean="0"/>
              <a:pPr/>
              <a:t>‹Nr.›</a:t>
            </a:fld>
            <a:endParaRPr lang="de-DE" dirty="0"/>
          </a:p>
        </p:txBody>
      </p:sp>
    </p:spTree>
    <p:extLst>
      <p:ext uri="{BB962C8B-B14F-4D97-AF65-F5344CB8AC3E}">
        <p14:creationId xmlns:p14="http://schemas.microsoft.com/office/powerpoint/2010/main" val="3564731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8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609601" y="274638"/>
            <a:ext cx="10953313" cy="1143000"/>
          </a:xfrm>
        </p:spPr>
        <p:txBody>
          <a:bodyPr>
            <a:normAutofit/>
          </a:bodyPr>
          <a:lstStyle>
            <a:lvl1pPr>
              <a:defRPr sz="1798" b="1">
                <a:solidFill>
                  <a:schemeClr val="tx2"/>
                </a:solidFill>
              </a:defRPr>
            </a:lvl1pPr>
          </a:lstStyle>
          <a:p>
            <a:r>
              <a:rPr lang="de-DE" dirty="0"/>
              <a:t>Titelmasterformat durch Klicken bearbeiten</a:t>
            </a:r>
          </a:p>
        </p:txBody>
      </p:sp>
      <p:sp>
        <p:nvSpPr>
          <p:cNvPr id="14" name="Datumsplatzhalter 6"/>
          <p:cNvSpPr>
            <a:spLocks noGrp="1"/>
          </p:cNvSpPr>
          <p:nvPr>
            <p:ph type="dt" sz="half" idx="2"/>
          </p:nvPr>
        </p:nvSpPr>
        <p:spPr>
          <a:xfrm>
            <a:off x="609600" y="6356353"/>
            <a:ext cx="2844800" cy="365125"/>
          </a:xfrm>
          <a:prstGeom prst="rect">
            <a:avLst/>
          </a:prstGeom>
        </p:spPr>
        <p:txBody>
          <a:bodyPr/>
          <a:lstStyle>
            <a:lvl1pPr marL="0" algn="l" defTabSz="685068" rtl="0" eaLnBrk="1" latinLnBrk="0" hangingPunct="1">
              <a:defRPr lang="de-DE" sz="787" kern="1200" dirty="0">
                <a:solidFill>
                  <a:schemeClr val="tx2">
                    <a:lumMod val="50000"/>
                  </a:schemeClr>
                </a:solidFill>
                <a:latin typeface="Arial" panose="020B0604020202020204" pitchFamily="34" charset="0"/>
                <a:ea typeface="+mn-ea"/>
                <a:cs typeface="Arial" panose="020B0604020202020204" pitchFamily="34" charset="0"/>
              </a:defRPr>
            </a:lvl1pPr>
          </a:lstStyle>
          <a:p>
            <a:r>
              <a:rPr lang="de-DE"/>
              <a:t>23.11.2019</a:t>
            </a:r>
            <a:endParaRPr lang="de-DE" dirty="0"/>
          </a:p>
        </p:txBody>
      </p:sp>
      <p:sp>
        <p:nvSpPr>
          <p:cNvPr id="16" name="Foliennummernplatzhalter 8"/>
          <p:cNvSpPr>
            <a:spLocks noGrp="1"/>
          </p:cNvSpPr>
          <p:nvPr>
            <p:ph type="sldNum" sz="quarter" idx="4"/>
          </p:nvPr>
        </p:nvSpPr>
        <p:spPr>
          <a:xfrm>
            <a:off x="8737600" y="6356353"/>
            <a:ext cx="2844800" cy="365125"/>
          </a:xfrm>
          <a:prstGeom prst="rect">
            <a:avLst/>
          </a:prstGeom>
        </p:spPr>
        <p:txBody>
          <a:bodyPr/>
          <a:lstStyle>
            <a:lvl1pPr algn="r">
              <a:defRPr lang="de-DE" sz="787" kern="1200" smtClean="0">
                <a:solidFill>
                  <a:schemeClr val="tx2">
                    <a:lumMod val="50000"/>
                  </a:schemeClr>
                </a:solidFill>
                <a:latin typeface="Arial" panose="020B0604020202020204" pitchFamily="34" charset="0"/>
                <a:ea typeface="+mn-ea"/>
                <a:cs typeface="Arial" panose="020B0604020202020204" pitchFamily="34" charset="0"/>
              </a:defRPr>
            </a:lvl1pPr>
          </a:lstStyle>
          <a:p>
            <a:fld id="{43A6DCFB-163F-4561-BF28-3CD1FE47EE20}" type="slidenum">
              <a:rPr lang="de-DE" smtClean="0"/>
              <a:pPr/>
              <a:t>‹Nr.›</a:t>
            </a:fld>
            <a:endParaRPr lang="de-DE" dirty="0"/>
          </a:p>
        </p:txBody>
      </p:sp>
    </p:spTree>
    <p:extLst>
      <p:ext uri="{BB962C8B-B14F-4D97-AF65-F5344CB8AC3E}">
        <p14:creationId xmlns:p14="http://schemas.microsoft.com/office/powerpoint/2010/main" val="4033272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202F9D49-4CB7-4444-915C-FDDFCF5AC699}"/>
              </a:ext>
            </a:extLst>
          </p:cNvPr>
          <p:cNvSpPr/>
          <p:nvPr userDrawn="1"/>
        </p:nvSpPr>
        <p:spPr>
          <a:xfrm>
            <a:off x="0" y="6629400"/>
            <a:ext cx="12192000" cy="228600"/>
          </a:xfrm>
          <a:prstGeom prst="rect">
            <a:avLst/>
          </a:prstGeom>
          <a:solidFill>
            <a:srgbClr val="274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p:cNvSpPr>
            <a:spLocks noGrp="1"/>
          </p:cNvSpPr>
          <p:nvPr>
            <p:ph type="title"/>
          </p:nvPr>
        </p:nvSpPr>
        <p:spPr>
          <a:xfrm>
            <a:off x="838200" y="1123121"/>
            <a:ext cx="10515600" cy="1719469"/>
          </a:xfrm>
          <a:prstGeom prst="rect">
            <a:avLst/>
          </a:prstGeom>
        </p:spPr>
        <p:txBody>
          <a:bodyPr vert="horz" lIns="91440" tIns="45720" rIns="91440" bIns="45720" rtlCol="0" anchor="ctr">
            <a:normAutofit/>
          </a:bodyPr>
          <a:lstStyle/>
          <a:p>
            <a:r>
              <a:rPr lang="de-DE" dirty="0"/>
              <a:t>Titelmasterformat durch Klicken bearbeiten</a:t>
            </a:r>
          </a:p>
        </p:txBody>
      </p:sp>
      <p:sp>
        <p:nvSpPr>
          <p:cNvPr id="3" name="Textplatzhalter 2"/>
          <p:cNvSpPr>
            <a:spLocks noGrp="1"/>
          </p:cNvSpPr>
          <p:nvPr>
            <p:ph type="body" idx="1"/>
          </p:nvPr>
        </p:nvSpPr>
        <p:spPr>
          <a:xfrm>
            <a:off x="841513" y="2842591"/>
            <a:ext cx="10515600" cy="3786809"/>
          </a:xfrm>
          <a:prstGeom prst="rect">
            <a:avLst/>
          </a:prstGeom>
        </p:spPr>
        <p:txBody>
          <a:bodyPr vert="horz" lIns="91440" tIns="45720" rIns="91440" bIns="45720" rtlCol="0">
            <a:normAutofit/>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351181" y="6629400"/>
            <a:ext cx="2743200" cy="228600"/>
          </a:xfrm>
          <a:prstGeom prst="rect">
            <a:avLst/>
          </a:prstGeom>
        </p:spPr>
        <p:txBody>
          <a:bodyPr vert="horz" lIns="91440" tIns="45720" rIns="91440" bIns="45720" rtlCol="0" anchor="ctr"/>
          <a:lstStyle>
            <a:lvl1pPr algn="l">
              <a:defRPr sz="1200">
                <a:solidFill>
                  <a:schemeClr val="bg1">
                    <a:lumMod val="95000"/>
                  </a:schemeClr>
                </a:solidFill>
              </a:defRPr>
            </a:lvl1pPr>
          </a:lstStyle>
          <a:p>
            <a:fld id="{DFF21B63-CC14-4CF7-B236-95F232F15D6B}" type="datetime1">
              <a:rPr lang="de-DE" smtClean="0"/>
              <a:t>22.09.2026</a:t>
            </a:fld>
            <a:endParaRPr lang="de-DE" dirty="0"/>
          </a:p>
        </p:txBody>
      </p:sp>
      <p:sp>
        <p:nvSpPr>
          <p:cNvPr id="6" name="Foliennummernplatzhalter 5"/>
          <p:cNvSpPr>
            <a:spLocks noGrp="1"/>
          </p:cNvSpPr>
          <p:nvPr>
            <p:ph type="sldNum" sz="quarter" idx="4"/>
          </p:nvPr>
        </p:nvSpPr>
        <p:spPr>
          <a:xfrm>
            <a:off x="9018105" y="6629400"/>
            <a:ext cx="2743200" cy="228599"/>
          </a:xfrm>
          <a:prstGeom prst="rect">
            <a:avLst/>
          </a:prstGeom>
        </p:spPr>
        <p:txBody>
          <a:bodyPr vert="horz" lIns="91440" tIns="45720" rIns="91440" bIns="45720" rtlCol="0" anchor="ctr"/>
          <a:lstStyle>
            <a:lvl1pPr algn="r">
              <a:defRPr sz="1200">
                <a:solidFill>
                  <a:schemeClr val="bg1">
                    <a:lumMod val="95000"/>
                  </a:schemeClr>
                </a:solidFill>
              </a:defRPr>
            </a:lvl1pPr>
          </a:lstStyle>
          <a:p>
            <a:fld id="{341CD41A-C668-429A-AD07-4F84BBC3B3E7}" type="slidenum">
              <a:rPr lang="de-DE" smtClean="0"/>
              <a:pPr/>
              <a:t>‹Nr.›</a:t>
            </a:fld>
            <a:endParaRPr lang="de-DE" dirty="0"/>
          </a:p>
        </p:txBody>
      </p:sp>
      <p:sp>
        <p:nvSpPr>
          <p:cNvPr id="5" name="Fußzeilenplatzhalter 4">
            <a:extLst>
              <a:ext uri="{FF2B5EF4-FFF2-40B4-BE49-F238E27FC236}">
                <a16:creationId xmlns:a16="http://schemas.microsoft.com/office/drawing/2014/main" id="{3EE2BAE6-A273-B346-9C40-F0E5E4CBC3CE}"/>
              </a:ext>
            </a:extLst>
          </p:cNvPr>
          <p:cNvSpPr>
            <a:spLocks noGrp="1"/>
          </p:cNvSpPr>
          <p:nvPr>
            <p:ph type="ftr" sz="quarter" idx="3"/>
          </p:nvPr>
        </p:nvSpPr>
        <p:spPr>
          <a:xfrm>
            <a:off x="4038600" y="6558483"/>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de-DE" dirty="0"/>
          </a:p>
        </p:txBody>
      </p:sp>
    </p:spTree>
    <p:extLst>
      <p:ext uri="{BB962C8B-B14F-4D97-AF65-F5344CB8AC3E}">
        <p14:creationId xmlns:p14="http://schemas.microsoft.com/office/powerpoint/2010/main" val="3746501783"/>
      </p:ext>
    </p:extLst>
  </p:cSld>
  <p:clrMap bg1="lt1" tx1="dk1" bg2="lt2" tx2="dk2" accent1="accent1" accent2="accent2" accent3="accent3" accent4="accent4" accent5="accent5" accent6="accent6" hlink="hlink" folHlink="folHlink"/>
  <p:sldLayoutIdLst>
    <p:sldLayoutId id="2147483655" r:id="rId1"/>
    <p:sldLayoutId id="2147483661" r:id="rId2"/>
    <p:sldLayoutId id="2147483662" r:id="rId3"/>
    <p:sldLayoutId id="2147483667" r:id="rId4"/>
    <p:sldLayoutId id="2147483663" r:id="rId5"/>
    <p:sldLayoutId id="2147483672" r:id="rId6"/>
    <p:sldLayoutId id="2147483673" r:id="rId7"/>
  </p:sldLayoutIdLst>
  <p:hf hdr="0"/>
  <p:txStyles>
    <p:titleStyle>
      <a:lvl1pPr algn="ctr" defTabSz="914400" rtl="0" eaLnBrk="1" latinLnBrk="0" hangingPunct="1">
        <a:lnSpc>
          <a:spcPct val="90000"/>
        </a:lnSpc>
        <a:spcBef>
          <a:spcPct val="0"/>
        </a:spcBef>
        <a:buNone/>
        <a:defRPr sz="4400" b="1" kern="1200">
          <a:solidFill>
            <a:schemeClr val="accent5">
              <a:lumMod val="75000"/>
            </a:schemeClr>
          </a:solidFill>
          <a:latin typeface="Roboto Slab" pitchFamily="2" charset="0"/>
          <a:ea typeface="Roboto Slab"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65000"/>
              <a:lumOff val="35000"/>
            </a:schemeClr>
          </a:solidFill>
          <a:latin typeface="Roboto Slab" pitchFamily="2" charset="0"/>
          <a:ea typeface="Roboto Slab"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5.jpe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5.jpe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48FF65-5AE9-45FB-8D3A-73F6AFF4A470}"/>
              </a:ext>
            </a:extLst>
          </p:cNvPr>
          <p:cNvSpPr>
            <a:spLocks noGrp="1"/>
          </p:cNvSpPr>
          <p:nvPr>
            <p:ph type="ctrTitle"/>
          </p:nvPr>
        </p:nvSpPr>
        <p:spPr/>
        <p:txBody>
          <a:bodyPr/>
          <a:lstStyle/>
          <a:p>
            <a:r>
              <a:rPr lang="de-DE" dirty="0"/>
              <a:t>IT-Infrastruktur mit freier Software </a:t>
            </a:r>
            <a:br>
              <a:rPr lang="de-DE" dirty="0"/>
            </a:br>
            <a:r>
              <a:rPr lang="de-DE" dirty="0"/>
              <a:t>(z. B. Linux) bereitstellen </a:t>
            </a:r>
          </a:p>
        </p:txBody>
      </p:sp>
      <p:sp>
        <p:nvSpPr>
          <p:cNvPr id="3" name="Untertitel 2">
            <a:extLst>
              <a:ext uri="{FF2B5EF4-FFF2-40B4-BE49-F238E27FC236}">
                <a16:creationId xmlns:a16="http://schemas.microsoft.com/office/drawing/2014/main" id="{AA6E370A-3F9D-4972-8257-4338E8BC435E}"/>
              </a:ext>
            </a:extLst>
          </p:cNvPr>
          <p:cNvSpPr>
            <a:spLocks noGrp="1"/>
          </p:cNvSpPr>
          <p:nvPr>
            <p:ph type="subTitle" idx="1"/>
          </p:nvPr>
        </p:nvSpPr>
        <p:spPr>
          <a:xfrm>
            <a:off x="388003" y="3959587"/>
            <a:ext cx="11410123" cy="1116909"/>
          </a:xfrm>
        </p:spPr>
        <p:txBody>
          <a:bodyPr>
            <a:normAutofit fontScale="85000" lnSpcReduction="10000"/>
          </a:bodyPr>
          <a:lstStyle/>
          <a:p>
            <a:pPr marL="0" indent="0">
              <a:buNone/>
            </a:pPr>
            <a:r>
              <a:rPr lang="de-DE" dirty="0"/>
              <a:t>Lab 03 -  </a:t>
            </a:r>
          </a:p>
          <a:p>
            <a:pPr marL="0" indent="0">
              <a:buNone/>
            </a:pPr>
            <a:r>
              <a:rPr lang="de-DE" dirty="0"/>
              <a:t>Linux-Server in der Cloud bereitstellen und sicher erreichbar machen</a:t>
            </a:r>
          </a:p>
        </p:txBody>
      </p:sp>
    </p:spTree>
    <p:extLst>
      <p:ext uri="{BB962C8B-B14F-4D97-AF65-F5344CB8AC3E}">
        <p14:creationId xmlns:p14="http://schemas.microsoft.com/office/powerpoint/2010/main" val="4110770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8876A94-DDF9-4DFE-88C6-4AD2D82A4CE0}"/>
              </a:ext>
            </a:extLst>
          </p:cNvPr>
          <p:cNvSpPr>
            <a:spLocks noGrp="1"/>
          </p:cNvSpPr>
          <p:nvPr>
            <p:ph type="title"/>
          </p:nvPr>
        </p:nvSpPr>
        <p:spPr/>
        <p:txBody>
          <a:bodyPr/>
          <a:lstStyle/>
          <a:p>
            <a:r>
              <a:rPr lang="de-DE" dirty="0"/>
              <a:t>Zielvorgabe: </a:t>
            </a:r>
            <a:r>
              <a:rPr lang="de-DE" dirty="0" err="1"/>
              <a:t>ssh</a:t>
            </a:r>
            <a:r>
              <a:rPr lang="de-DE" dirty="0"/>
              <a:t>-Verbindung mit Name &amp; Public-Key</a:t>
            </a:r>
          </a:p>
        </p:txBody>
      </p:sp>
      <p:sp>
        <p:nvSpPr>
          <p:cNvPr id="5" name="Datumsplatzhalter 4">
            <a:extLst>
              <a:ext uri="{FF2B5EF4-FFF2-40B4-BE49-F238E27FC236}">
                <a16:creationId xmlns:a16="http://schemas.microsoft.com/office/drawing/2014/main" id="{8552E27A-EAD4-4009-9443-85CCF2FEBEDE}"/>
              </a:ext>
            </a:extLst>
          </p:cNvPr>
          <p:cNvSpPr>
            <a:spLocks noGrp="1"/>
          </p:cNvSpPr>
          <p:nvPr>
            <p:ph type="dt" sz="half" idx="10"/>
          </p:nvPr>
        </p:nvSpPr>
        <p:spPr/>
        <p:txBody>
          <a:bodyPr/>
          <a:lstStyle/>
          <a:p>
            <a:fld id="{757CD2D1-8C96-4412-8C0C-09C7E956F080}" type="datetime1">
              <a:rPr lang="de-DE" smtClean="0"/>
              <a:t>22.09.2026</a:t>
            </a:fld>
            <a:endParaRPr lang="de-DE" dirty="0"/>
          </a:p>
        </p:txBody>
      </p:sp>
      <p:sp>
        <p:nvSpPr>
          <p:cNvPr id="6" name="Foliennummernplatzhalter 5">
            <a:extLst>
              <a:ext uri="{FF2B5EF4-FFF2-40B4-BE49-F238E27FC236}">
                <a16:creationId xmlns:a16="http://schemas.microsoft.com/office/drawing/2014/main" id="{89ECD8EA-CF76-4F3D-A5C6-7795DCE9B1D1}"/>
              </a:ext>
            </a:extLst>
          </p:cNvPr>
          <p:cNvSpPr>
            <a:spLocks noGrp="1"/>
          </p:cNvSpPr>
          <p:nvPr>
            <p:ph type="sldNum" sz="quarter" idx="4"/>
          </p:nvPr>
        </p:nvSpPr>
        <p:spPr/>
        <p:txBody>
          <a:bodyPr/>
          <a:lstStyle/>
          <a:p>
            <a:fld id="{43A6DCFB-163F-4561-BF28-3CD1FE47EE20}" type="slidenum">
              <a:rPr lang="de-DE" smtClean="0"/>
              <a:pPr/>
              <a:t>2</a:t>
            </a:fld>
            <a:endParaRPr lang="de-DE" dirty="0"/>
          </a:p>
        </p:txBody>
      </p:sp>
      <p:sp>
        <p:nvSpPr>
          <p:cNvPr id="7" name="Shape 2">
            <a:extLst>
              <a:ext uri="{FF2B5EF4-FFF2-40B4-BE49-F238E27FC236}">
                <a16:creationId xmlns:a16="http://schemas.microsoft.com/office/drawing/2014/main" id="{23967FC2-B9A9-47FE-9554-108B74F3B777}"/>
              </a:ext>
            </a:extLst>
          </p:cNvPr>
          <p:cNvSpPr/>
          <p:nvPr/>
        </p:nvSpPr>
        <p:spPr>
          <a:xfrm>
            <a:off x="815896" y="1877457"/>
            <a:ext cx="4819610" cy="2950686"/>
          </a:xfrm>
          <a:prstGeom prst="roundRect">
            <a:avLst>
              <a:gd name="adj" fmla="val 4196"/>
            </a:avLst>
          </a:prstGeom>
          <a:solidFill>
            <a:srgbClr val="F5F5F5"/>
          </a:solidFill>
          <a:ln w="6350">
            <a:solidFill>
              <a:srgbClr val="D1D5DB"/>
            </a:solidFill>
            <a:prstDash val="solid"/>
          </a:ln>
        </p:spPr>
      </p:sp>
      <p:sp>
        <p:nvSpPr>
          <p:cNvPr id="8" name="Text 3">
            <a:extLst>
              <a:ext uri="{FF2B5EF4-FFF2-40B4-BE49-F238E27FC236}">
                <a16:creationId xmlns:a16="http://schemas.microsoft.com/office/drawing/2014/main" id="{FDCD6DE8-EF5A-4C27-AE59-20ACC33B4E50}"/>
              </a:ext>
            </a:extLst>
          </p:cNvPr>
          <p:cNvSpPr/>
          <p:nvPr/>
        </p:nvSpPr>
        <p:spPr>
          <a:xfrm>
            <a:off x="1074301" y="2508290"/>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A1A1A"/>
                </a:solidFill>
                <a:latin typeface="Courier New" pitchFamily="34" charset="0"/>
                <a:ea typeface="Courier New" pitchFamily="34" charset="-122"/>
                <a:cs typeface="Courier New" pitchFamily="34" charset="-120"/>
              </a:rPr>
              <a:t>$ ssh root@server.&lt;IHRE-DOMAIN&gt;</a:t>
            </a:r>
            <a:endParaRPr lang="en-US" sz="1200" dirty="0"/>
          </a:p>
        </p:txBody>
      </p:sp>
      <p:sp>
        <p:nvSpPr>
          <p:cNvPr id="9" name="Text 4">
            <a:extLst>
              <a:ext uri="{FF2B5EF4-FFF2-40B4-BE49-F238E27FC236}">
                <a16:creationId xmlns:a16="http://schemas.microsoft.com/office/drawing/2014/main" id="{BB1C826C-2181-4AD1-872B-D2B875BDBB90}"/>
              </a:ext>
            </a:extLst>
          </p:cNvPr>
          <p:cNvSpPr/>
          <p:nvPr/>
        </p:nvSpPr>
        <p:spPr>
          <a:xfrm>
            <a:off x="1074301" y="2800350"/>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A1A1A"/>
                </a:solidFill>
                <a:latin typeface="Courier New" pitchFamily="34" charset="0"/>
                <a:ea typeface="Courier New" pitchFamily="34" charset="-122"/>
                <a:cs typeface="Courier New" pitchFamily="34" charset="-120"/>
              </a:rPr>
              <a:t>Enter passphrase for key</a:t>
            </a:r>
            <a:endParaRPr lang="en-US" sz="1200" dirty="0"/>
          </a:p>
        </p:txBody>
      </p:sp>
      <p:sp>
        <p:nvSpPr>
          <p:cNvPr id="10" name="Text 5">
            <a:extLst>
              <a:ext uri="{FF2B5EF4-FFF2-40B4-BE49-F238E27FC236}">
                <a16:creationId xmlns:a16="http://schemas.microsoft.com/office/drawing/2014/main" id="{042CA2C1-A5B5-45DE-BC43-04F35BDF33F5}"/>
              </a:ext>
            </a:extLst>
          </p:cNvPr>
          <p:cNvSpPr/>
          <p:nvPr/>
        </p:nvSpPr>
        <p:spPr>
          <a:xfrm>
            <a:off x="1074301" y="3092411"/>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A1A1A"/>
                </a:solidFill>
                <a:latin typeface="Courier New" pitchFamily="34" charset="0"/>
                <a:ea typeface="Courier New" pitchFamily="34" charset="-122"/>
                <a:cs typeface="Courier New" pitchFamily="34" charset="-120"/>
              </a:rPr>
              <a:t>'~/.ssh/id_ed25519':</a:t>
            </a:r>
            <a:endParaRPr lang="en-US" sz="1200" dirty="0"/>
          </a:p>
        </p:txBody>
      </p:sp>
      <p:sp>
        <p:nvSpPr>
          <p:cNvPr id="11" name="Text 6">
            <a:extLst>
              <a:ext uri="{FF2B5EF4-FFF2-40B4-BE49-F238E27FC236}">
                <a16:creationId xmlns:a16="http://schemas.microsoft.com/office/drawing/2014/main" id="{47BEA32C-BA6C-411E-AFB8-E3AEE2ED7FAB}"/>
              </a:ext>
            </a:extLst>
          </p:cNvPr>
          <p:cNvSpPr/>
          <p:nvPr/>
        </p:nvSpPr>
        <p:spPr>
          <a:xfrm>
            <a:off x="1074301" y="3384471"/>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A1A1A"/>
                </a:solidFill>
                <a:latin typeface="Courier New" pitchFamily="34" charset="0"/>
                <a:ea typeface="Courier New" pitchFamily="34" charset="-122"/>
                <a:cs typeface="Courier New" pitchFamily="34" charset="-120"/>
              </a:rPr>
              <a:t>Welcome to Debian GNU/Linux</a:t>
            </a:r>
            <a:endParaRPr lang="en-US" sz="1200" dirty="0"/>
          </a:p>
        </p:txBody>
      </p:sp>
      <p:sp>
        <p:nvSpPr>
          <p:cNvPr id="12" name="Text 7">
            <a:extLst>
              <a:ext uri="{FF2B5EF4-FFF2-40B4-BE49-F238E27FC236}">
                <a16:creationId xmlns:a16="http://schemas.microsoft.com/office/drawing/2014/main" id="{4EE4B116-0EB1-4608-90B5-B6B382808CBC}"/>
              </a:ext>
            </a:extLst>
          </p:cNvPr>
          <p:cNvSpPr/>
          <p:nvPr/>
        </p:nvSpPr>
        <p:spPr>
          <a:xfrm>
            <a:off x="1074301" y="3676532"/>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A1A1A"/>
                </a:solidFill>
                <a:latin typeface="Courier New" pitchFamily="34" charset="0"/>
                <a:ea typeface="Courier New" pitchFamily="34" charset="-122"/>
                <a:cs typeface="Courier New" pitchFamily="34" charset="-120"/>
              </a:rPr>
              <a:t>Last login: Tue Sep 22 08:14 UTC</a:t>
            </a:r>
            <a:endParaRPr lang="en-US" sz="1200" dirty="0"/>
          </a:p>
        </p:txBody>
      </p:sp>
      <p:sp>
        <p:nvSpPr>
          <p:cNvPr id="13" name="Text 8">
            <a:extLst>
              <a:ext uri="{FF2B5EF4-FFF2-40B4-BE49-F238E27FC236}">
                <a16:creationId xmlns:a16="http://schemas.microsoft.com/office/drawing/2014/main" id="{5EF03A1D-E5B7-494B-B583-6A8F0F5363DA}"/>
              </a:ext>
            </a:extLst>
          </p:cNvPr>
          <p:cNvSpPr/>
          <p:nvPr/>
        </p:nvSpPr>
        <p:spPr>
          <a:xfrm>
            <a:off x="1074301" y="3968592"/>
            <a:ext cx="4431884" cy="2540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1A1A1A"/>
                </a:solidFill>
                <a:latin typeface="Courier New" pitchFamily="34" charset="0"/>
                <a:ea typeface="Courier New" pitchFamily="34" charset="-122"/>
                <a:cs typeface="Courier New" pitchFamily="34" charset="-120"/>
              </a:rPr>
              <a:t>root@server:~#</a:t>
            </a:r>
            <a:endParaRPr lang="en-US" sz="1200" dirty="0"/>
          </a:p>
        </p:txBody>
      </p:sp>
      <p:sp>
        <p:nvSpPr>
          <p:cNvPr id="14" name="Text 9">
            <a:extLst>
              <a:ext uri="{FF2B5EF4-FFF2-40B4-BE49-F238E27FC236}">
                <a16:creationId xmlns:a16="http://schemas.microsoft.com/office/drawing/2014/main" id="{D38F1389-D871-4584-A8A8-7659BAAFB3A8}"/>
              </a:ext>
            </a:extLst>
          </p:cNvPr>
          <p:cNvSpPr/>
          <p:nvPr/>
        </p:nvSpPr>
        <p:spPr>
          <a:xfrm>
            <a:off x="5994202" y="2320528"/>
            <a:ext cx="5546630" cy="2386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A1A1A"/>
                </a:solidFill>
                <a:latin typeface="Arial" pitchFamily="34" charset="0"/>
                <a:ea typeface="Arial" pitchFamily="34" charset="-122"/>
                <a:cs typeface="Arial" pitchFamily="34" charset="-120"/>
              </a:rPr>
              <a:t>Ziel erreicht, wenn:</a:t>
            </a:r>
            <a:endParaRPr lang="en-US" sz="1400" dirty="0"/>
          </a:p>
        </p:txBody>
      </p:sp>
      <p:sp>
        <p:nvSpPr>
          <p:cNvPr id="15" name="Shape 10">
            <a:extLst>
              <a:ext uri="{FF2B5EF4-FFF2-40B4-BE49-F238E27FC236}">
                <a16:creationId xmlns:a16="http://schemas.microsoft.com/office/drawing/2014/main" id="{F7C9B361-8680-4CCC-9E55-B28F6268799D}"/>
              </a:ext>
            </a:extLst>
          </p:cNvPr>
          <p:cNvSpPr/>
          <p:nvPr/>
        </p:nvSpPr>
        <p:spPr>
          <a:xfrm>
            <a:off x="5997377" y="2740065"/>
            <a:ext cx="349171" cy="349171"/>
          </a:xfrm>
          <a:prstGeom prst="roundRect">
            <a:avLst>
              <a:gd name="adj" fmla="val 50000"/>
            </a:avLst>
          </a:prstGeom>
          <a:solidFill>
            <a:srgbClr val="FFFFFF"/>
          </a:solidFill>
          <a:ln w="6350">
            <a:solidFill>
              <a:srgbClr val="1A1A1A"/>
            </a:solidFill>
            <a:prstDash val="solid"/>
          </a:ln>
        </p:spPr>
      </p:sp>
      <p:pic>
        <p:nvPicPr>
          <p:cNvPr id="16" name="Image 0" descr="CheckCircle">
            <a:extLst>
              <a:ext uri="{FF2B5EF4-FFF2-40B4-BE49-F238E27FC236}">
                <a16:creationId xmlns:a16="http://schemas.microsoft.com/office/drawing/2014/main" id="{E44AB11F-2FD0-4C72-9293-211529EDC677}"/>
              </a:ext>
            </a:extLst>
          </p:cNvPr>
          <p:cNvPicPr>
            <a:picLocks noChangeAspect="1"/>
          </p:cNvPicPr>
          <p:nvPr/>
        </p:nvPicPr>
        <p:blipFill>
          <a:blip r:embed="rId2"/>
          <a:srcRect/>
          <a:stretch/>
        </p:blipFill>
        <p:spPr>
          <a:xfrm>
            <a:off x="6083022" y="2825711"/>
            <a:ext cx="177760" cy="177760"/>
          </a:xfrm>
          <a:prstGeom prst="rect">
            <a:avLst/>
          </a:prstGeom>
        </p:spPr>
      </p:pic>
      <p:sp>
        <p:nvSpPr>
          <p:cNvPr id="17" name="Text 11">
            <a:extLst>
              <a:ext uri="{FF2B5EF4-FFF2-40B4-BE49-F238E27FC236}">
                <a16:creationId xmlns:a16="http://schemas.microsoft.com/office/drawing/2014/main" id="{71B0F977-B120-40B3-9B77-7513243FE9CE}"/>
              </a:ext>
            </a:extLst>
          </p:cNvPr>
          <p:cNvSpPr/>
          <p:nvPr/>
        </p:nvSpPr>
        <p:spPr>
          <a:xfrm>
            <a:off x="6502122" y="2736890"/>
            <a:ext cx="5023472"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1A1A"/>
                </a:solidFill>
                <a:latin typeface="Arial" pitchFamily="34" charset="0"/>
                <a:ea typeface="Arial" pitchFamily="34" charset="-122"/>
                <a:cs typeface="Arial" pitchFamily="34" charset="-120"/>
              </a:rPr>
              <a:t>Verbindung per Name statt IP</a:t>
            </a:r>
            <a:endParaRPr lang="en-US" sz="1300" dirty="0"/>
          </a:p>
        </p:txBody>
      </p:sp>
      <p:sp>
        <p:nvSpPr>
          <p:cNvPr id="18" name="Text 12">
            <a:extLst>
              <a:ext uri="{FF2B5EF4-FFF2-40B4-BE49-F238E27FC236}">
                <a16:creationId xmlns:a16="http://schemas.microsoft.com/office/drawing/2014/main" id="{5D9F28C4-94AE-4162-947D-A44FE3C0EADE}"/>
              </a:ext>
            </a:extLst>
          </p:cNvPr>
          <p:cNvSpPr/>
          <p:nvPr/>
        </p:nvSpPr>
        <p:spPr>
          <a:xfrm>
            <a:off x="6502122" y="2973110"/>
            <a:ext cx="5023472" cy="20316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6B7280"/>
                </a:solidFill>
                <a:latin typeface="Courier New" pitchFamily="34" charset="0"/>
                <a:ea typeface="Courier New" pitchFamily="34" charset="-122"/>
                <a:cs typeface="Courier New" pitchFamily="34" charset="-120"/>
              </a:rPr>
              <a:t>ssh root@server.&lt;IHRE-DOMAIN&gt;</a:t>
            </a:r>
            <a:endParaRPr lang="en-US" sz="1000" dirty="0"/>
          </a:p>
        </p:txBody>
      </p:sp>
      <p:sp>
        <p:nvSpPr>
          <p:cNvPr id="19" name="Shape 13">
            <a:extLst>
              <a:ext uri="{FF2B5EF4-FFF2-40B4-BE49-F238E27FC236}">
                <a16:creationId xmlns:a16="http://schemas.microsoft.com/office/drawing/2014/main" id="{7CB166B5-437D-4D10-8545-8ABB92B52902}"/>
              </a:ext>
            </a:extLst>
          </p:cNvPr>
          <p:cNvSpPr/>
          <p:nvPr/>
        </p:nvSpPr>
        <p:spPr>
          <a:xfrm>
            <a:off x="5997377" y="3357166"/>
            <a:ext cx="349171" cy="349171"/>
          </a:xfrm>
          <a:prstGeom prst="roundRect">
            <a:avLst>
              <a:gd name="adj" fmla="val 50000"/>
            </a:avLst>
          </a:prstGeom>
          <a:solidFill>
            <a:srgbClr val="FFFFFF"/>
          </a:solidFill>
          <a:ln w="6350">
            <a:solidFill>
              <a:srgbClr val="1A1A1A"/>
            </a:solidFill>
            <a:prstDash val="solid"/>
          </a:ln>
        </p:spPr>
      </p:sp>
      <p:pic>
        <p:nvPicPr>
          <p:cNvPr id="20" name="Image 1" descr="CheckCircle">
            <a:extLst>
              <a:ext uri="{FF2B5EF4-FFF2-40B4-BE49-F238E27FC236}">
                <a16:creationId xmlns:a16="http://schemas.microsoft.com/office/drawing/2014/main" id="{97AAC19C-E9B9-436D-B6AC-9834B545D565}"/>
              </a:ext>
            </a:extLst>
          </p:cNvPr>
          <p:cNvPicPr>
            <a:picLocks noChangeAspect="1"/>
          </p:cNvPicPr>
          <p:nvPr/>
        </p:nvPicPr>
        <p:blipFill>
          <a:blip r:embed="rId2"/>
          <a:srcRect/>
          <a:stretch/>
        </p:blipFill>
        <p:spPr>
          <a:xfrm>
            <a:off x="6083022" y="3442812"/>
            <a:ext cx="177760" cy="177760"/>
          </a:xfrm>
          <a:prstGeom prst="rect">
            <a:avLst/>
          </a:prstGeom>
        </p:spPr>
      </p:pic>
      <p:sp>
        <p:nvSpPr>
          <p:cNvPr id="21" name="Text 14">
            <a:extLst>
              <a:ext uri="{FF2B5EF4-FFF2-40B4-BE49-F238E27FC236}">
                <a16:creationId xmlns:a16="http://schemas.microsoft.com/office/drawing/2014/main" id="{89E580B7-B429-4F3B-A5A2-33E861F740EE}"/>
              </a:ext>
            </a:extLst>
          </p:cNvPr>
          <p:cNvSpPr/>
          <p:nvPr/>
        </p:nvSpPr>
        <p:spPr>
          <a:xfrm>
            <a:off x="6502122" y="3353991"/>
            <a:ext cx="5023472"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1A1A"/>
                </a:solidFill>
                <a:latin typeface="Arial" pitchFamily="34" charset="0"/>
                <a:ea typeface="Arial" pitchFamily="34" charset="-122"/>
                <a:cs typeface="Arial" pitchFamily="34" charset="-120"/>
              </a:rPr>
              <a:t>Public-Key-Login</a:t>
            </a:r>
            <a:endParaRPr lang="en-US" sz="1300" dirty="0"/>
          </a:p>
        </p:txBody>
      </p:sp>
      <p:sp>
        <p:nvSpPr>
          <p:cNvPr id="22" name="Text 15">
            <a:extLst>
              <a:ext uri="{FF2B5EF4-FFF2-40B4-BE49-F238E27FC236}">
                <a16:creationId xmlns:a16="http://schemas.microsoft.com/office/drawing/2014/main" id="{48F7EB67-553B-46DA-B47C-CBA3092D20BC}"/>
              </a:ext>
            </a:extLst>
          </p:cNvPr>
          <p:cNvSpPr/>
          <p:nvPr/>
        </p:nvSpPr>
        <p:spPr>
          <a:xfrm>
            <a:off x="6502122" y="3590212"/>
            <a:ext cx="5023472" cy="20316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6B7280"/>
                </a:solidFill>
                <a:latin typeface="Arial" pitchFamily="34" charset="0"/>
                <a:ea typeface="Arial" pitchFamily="34" charset="-122"/>
                <a:cs typeface="Arial" pitchFamily="34" charset="-120"/>
              </a:rPr>
              <a:t>Kein Passwort-Prompt vom Server – Anmeldung über den privaten Schlüssel.</a:t>
            </a:r>
            <a:endParaRPr lang="en-US" sz="1000" dirty="0"/>
          </a:p>
        </p:txBody>
      </p:sp>
      <p:sp>
        <p:nvSpPr>
          <p:cNvPr id="23" name="Shape 16">
            <a:extLst>
              <a:ext uri="{FF2B5EF4-FFF2-40B4-BE49-F238E27FC236}">
                <a16:creationId xmlns:a16="http://schemas.microsoft.com/office/drawing/2014/main" id="{6647F96B-6425-4B7B-8289-B69ACD45AE02}"/>
              </a:ext>
            </a:extLst>
          </p:cNvPr>
          <p:cNvSpPr/>
          <p:nvPr/>
        </p:nvSpPr>
        <p:spPr>
          <a:xfrm>
            <a:off x="5997377" y="3974267"/>
            <a:ext cx="349171" cy="349171"/>
          </a:xfrm>
          <a:prstGeom prst="roundRect">
            <a:avLst>
              <a:gd name="adj" fmla="val 50000"/>
            </a:avLst>
          </a:prstGeom>
          <a:solidFill>
            <a:srgbClr val="FFFFFF"/>
          </a:solidFill>
          <a:ln w="6350">
            <a:solidFill>
              <a:srgbClr val="1A1A1A"/>
            </a:solidFill>
            <a:prstDash val="solid"/>
          </a:ln>
        </p:spPr>
      </p:sp>
      <p:pic>
        <p:nvPicPr>
          <p:cNvPr id="24" name="Image 2" descr="CheckCircle">
            <a:extLst>
              <a:ext uri="{FF2B5EF4-FFF2-40B4-BE49-F238E27FC236}">
                <a16:creationId xmlns:a16="http://schemas.microsoft.com/office/drawing/2014/main" id="{7530FA36-808D-4854-ACAD-014933AF9682}"/>
              </a:ext>
            </a:extLst>
          </p:cNvPr>
          <p:cNvPicPr>
            <a:picLocks noChangeAspect="1"/>
          </p:cNvPicPr>
          <p:nvPr/>
        </p:nvPicPr>
        <p:blipFill>
          <a:blip r:embed="rId2"/>
          <a:srcRect/>
          <a:stretch/>
        </p:blipFill>
        <p:spPr>
          <a:xfrm>
            <a:off x="6083022" y="4059913"/>
            <a:ext cx="177760" cy="177760"/>
          </a:xfrm>
          <a:prstGeom prst="rect">
            <a:avLst/>
          </a:prstGeom>
        </p:spPr>
      </p:pic>
      <p:sp>
        <p:nvSpPr>
          <p:cNvPr id="25" name="Text 17">
            <a:extLst>
              <a:ext uri="{FF2B5EF4-FFF2-40B4-BE49-F238E27FC236}">
                <a16:creationId xmlns:a16="http://schemas.microsoft.com/office/drawing/2014/main" id="{EE5D9662-5AF9-439C-9C73-81BCC5D99772}"/>
              </a:ext>
            </a:extLst>
          </p:cNvPr>
          <p:cNvSpPr/>
          <p:nvPr/>
        </p:nvSpPr>
        <p:spPr>
          <a:xfrm>
            <a:off x="6502122" y="3971092"/>
            <a:ext cx="5023472"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1A1A"/>
                </a:solidFill>
                <a:latin typeface="Arial" pitchFamily="34" charset="0"/>
                <a:ea typeface="Arial" pitchFamily="34" charset="-122"/>
                <a:cs typeface="Arial" pitchFamily="34" charset="-120"/>
              </a:rPr>
              <a:t>Passwort-Login deaktiviert</a:t>
            </a:r>
            <a:endParaRPr lang="en-US" sz="1300" dirty="0"/>
          </a:p>
        </p:txBody>
      </p:sp>
      <p:sp>
        <p:nvSpPr>
          <p:cNvPr id="26" name="Text 18">
            <a:extLst>
              <a:ext uri="{FF2B5EF4-FFF2-40B4-BE49-F238E27FC236}">
                <a16:creationId xmlns:a16="http://schemas.microsoft.com/office/drawing/2014/main" id="{9DAD01C3-B079-4937-A9A4-5CFD1A151D19}"/>
              </a:ext>
            </a:extLst>
          </p:cNvPr>
          <p:cNvSpPr/>
          <p:nvPr/>
        </p:nvSpPr>
        <p:spPr>
          <a:xfrm>
            <a:off x="6502122" y="4207312"/>
            <a:ext cx="5023472" cy="20316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6B7280"/>
                </a:solidFill>
                <a:latin typeface="Courier New" pitchFamily="34" charset="0"/>
                <a:ea typeface="Courier New" pitchFamily="34" charset="-122"/>
                <a:cs typeface="Courier New" pitchFamily="34" charset="-120"/>
              </a:rPr>
              <a:t>PasswordAuthentication no</a:t>
            </a:r>
            <a:endParaRPr lang="en-US" sz="1000" dirty="0"/>
          </a:p>
        </p:txBody>
      </p:sp>
      <p:sp>
        <p:nvSpPr>
          <p:cNvPr id="27" name="Shape 19">
            <a:extLst>
              <a:ext uri="{FF2B5EF4-FFF2-40B4-BE49-F238E27FC236}">
                <a16:creationId xmlns:a16="http://schemas.microsoft.com/office/drawing/2014/main" id="{548FCC7C-B78A-4ACD-9EA1-4ABD2702F77D}"/>
              </a:ext>
            </a:extLst>
          </p:cNvPr>
          <p:cNvSpPr/>
          <p:nvPr/>
        </p:nvSpPr>
        <p:spPr>
          <a:xfrm>
            <a:off x="812721" y="5085279"/>
            <a:ext cx="10566559" cy="756761"/>
          </a:xfrm>
          <a:prstGeom prst="roundRect">
            <a:avLst>
              <a:gd name="adj" fmla="val 10069"/>
            </a:avLst>
          </a:prstGeom>
          <a:solidFill>
            <a:srgbClr val="F5F5F5"/>
          </a:solidFill>
          <a:ln/>
        </p:spPr>
      </p:sp>
      <p:sp>
        <p:nvSpPr>
          <p:cNvPr id="28" name="Shape 20">
            <a:extLst>
              <a:ext uri="{FF2B5EF4-FFF2-40B4-BE49-F238E27FC236}">
                <a16:creationId xmlns:a16="http://schemas.microsoft.com/office/drawing/2014/main" id="{11978340-C428-45C9-9719-4BE16DA67971}"/>
              </a:ext>
            </a:extLst>
          </p:cNvPr>
          <p:cNvSpPr/>
          <p:nvPr/>
        </p:nvSpPr>
        <p:spPr>
          <a:xfrm>
            <a:off x="831771" y="5085279"/>
            <a:ext cx="0" cy="756761"/>
          </a:xfrm>
          <a:prstGeom prst="line">
            <a:avLst/>
          </a:prstGeom>
          <a:noFill/>
          <a:ln w="38100">
            <a:solidFill>
              <a:srgbClr val="1A1A1A"/>
            </a:solidFill>
            <a:prstDash val="solid"/>
          </a:ln>
        </p:spPr>
      </p:sp>
      <p:sp>
        <p:nvSpPr>
          <p:cNvPr id="30" name="Text 21">
            <a:extLst>
              <a:ext uri="{FF2B5EF4-FFF2-40B4-BE49-F238E27FC236}">
                <a16:creationId xmlns:a16="http://schemas.microsoft.com/office/drawing/2014/main" id="{DD6334AC-C2D8-4375-9016-A477C45FAA44}"/>
              </a:ext>
            </a:extLst>
          </p:cNvPr>
          <p:cNvSpPr/>
          <p:nvPr/>
        </p:nvSpPr>
        <p:spPr>
          <a:xfrm>
            <a:off x="1478875" y="5250300"/>
            <a:ext cx="996195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A1A1A"/>
                </a:solidFill>
                <a:latin typeface="Arial" pitchFamily="34" charset="0"/>
                <a:ea typeface="Arial" pitchFamily="34" charset="-122"/>
                <a:cs typeface="Arial" pitchFamily="34" charset="-120"/>
              </a:rPr>
              <a:t>Der Server ist ausschließlich über einen vertrauenswürdigen Namen und kryptografische Schlüssel erreichbar – Passwort-Angriffe laufen ins Leere.</a:t>
            </a:r>
            <a:endParaRPr lang="en-US" sz="1200" dirty="0"/>
          </a:p>
        </p:txBody>
      </p:sp>
    </p:spTree>
    <p:extLst>
      <p:ext uri="{BB962C8B-B14F-4D97-AF65-F5344CB8AC3E}">
        <p14:creationId xmlns:p14="http://schemas.microsoft.com/office/powerpoint/2010/main" val="2063739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3955" y="331336"/>
            <a:ext cx="10953313" cy="1143000"/>
          </a:xfrm>
        </p:spPr>
        <p:txBody>
          <a:bodyPr/>
          <a:lstStyle/>
          <a:p>
            <a:r>
              <a:rPr lang="en-US" sz="2000" b="1" dirty="0" err="1">
                <a:solidFill>
                  <a:srgbClr val="1E2761"/>
                </a:solidFill>
                <a:latin typeface="Cambria" pitchFamily="34" charset="0"/>
                <a:ea typeface="Cambria" pitchFamily="34" charset="-122"/>
                <a:cs typeface="Cambria" pitchFamily="34" charset="-120"/>
              </a:rPr>
              <a:t>Gemeinsamer</a:t>
            </a:r>
            <a:r>
              <a:rPr lang="en-US" sz="2000" b="1" dirty="0">
                <a:solidFill>
                  <a:srgbClr val="1E2761"/>
                </a:solidFill>
                <a:latin typeface="Cambria" pitchFamily="34" charset="0"/>
                <a:ea typeface="Cambria" pitchFamily="34" charset="-122"/>
                <a:cs typeface="Cambria" pitchFamily="34" charset="-120"/>
              </a:rPr>
              <a:t> Handshake: bis zum </a:t>
            </a:r>
            <a:r>
              <a:rPr lang="en-US" sz="2000" b="1" dirty="0" err="1">
                <a:solidFill>
                  <a:srgbClr val="1E2761"/>
                </a:solidFill>
                <a:latin typeface="Cambria" pitchFamily="34" charset="0"/>
                <a:ea typeface="Cambria" pitchFamily="34" charset="-122"/>
                <a:cs typeface="Cambria" pitchFamily="34" charset="-120"/>
              </a:rPr>
              <a:t>verschlüsselten</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Kanal</a:t>
            </a:r>
            <a:br>
              <a:rPr lang="en-US" sz="2000" dirty="0"/>
            </a:br>
            <a:endParaRPr lang="de-DE" sz="1998" dirty="0"/>
          </a:p>
        </p:txBody>
      </p:sp>
      <p:sp>
        <p:nvSpPr>
          <p:cNvPr id="5" name="Foliennummernplatzhalter 4"/>
          <p:cNvSpPr>
            <a:spLocks noGrp="1"/>
          </p:cNvSpPr>
          <p:nvPr>
            <p:ph type="sldNum" sz="quarter" idx="4"/>
          </p:nvPr>
        </p:nvSpPr>
        <p:spPr/>
        <p:txBody>
          <a:bodyPr/>
          <a:lstStyle/>
          <a:p>
            <a:fld id="{43A6DCFB-163F-4561-BF28-3CD1FE47EE20}" type="slidenum">
              <a:rPr lang="de-DE" smtClean="0"/>
              <a:pPr/>
              <a:t>3</a:t>
            </a:fld>
            <a:endParaRPr lang="de-DE" dirty="0"/>
          </a:p>
        </p:txBody>
      </p:sp>
      <p:sp>
        <p:nvSpPr>
          <p:cNvPr id="9" name="Text 10">
            <a:extLst>
              <a:ext uri="{FF2B5EF4-FFF2-40B4-BE49-F238E27FC236}">
                <a16:creationId xmlns:a16="http://schemas.microsoft.com/office/drawing/2014/main" id="{C3A1267F-9880-4251-A3FE-5CC854BEF5FD}"/>
              </a:ext>
            </a:extLst>
          </p:cNvPr>
          <p:cNvSpPr txBox="1"/>
          <p:nvPr/>
        </p:nvSpPr>
        <p:spPr>
          <a:xfrm>
            <a:off x="2479637" y="2188645"/>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TCP-Verbindung (Port 22)</a:t>
            </a:r>
            <a:endParaRPr lang="en-US" sz="1200" dirty="0"/>
          </a:p>
        </p:txBody>
      </p:sp>
      <p:sp>
        <p:nvSpPr>
          <p:cNvPr id="10" name="Shape 11">
            <a:extLst>
              <a:ext uri="{FF2B5EF4-FFF2-40B4-BE49-F238E27FC236}">
                <a16:creationId xmlns:a16="http://schemas.microsoft.com/office/drawing/2014/main" id="{C1B4F580-7AA8-4D0C-916F-CE1EE2DF2438}"/>
              </a:ext>
            </a:extLst>
          </p:cNvPr>
          <p:cNvSpPr/>
          <p:nvPr/>
        </p:nvSpPr>
        <p:spPr>
          <a:xfrm>
            <a:off x="2479637" y="2499541"/>
            <a:ext cx="7253935" cy="0"/>
          </a:xfrm>
          <a:prstGeom prst="line">
            <a:avLst/>
          </a:prstGeom>
          <a:noFill/>
          <a:ln w="22225">
            <a:solidFill>
              <a:srgbClr val="1E2761"/>
            </a:solidFill>
            <a:prstDash val="solid"/>
            <a:tailEnd type="triangle"/>
          </a:ln>
        </p:spPr>
      </p:sp>
      <p:sp>
        <p:nvSpPr>
          <p:cNvPr id="11" name="Text 12">
            <a:extLst>
              <a:ext uri="{FF2B5EF4-FFF2-40B4-BE49-F238E27FC236}">
                <a16:creationId xmlns:a16="http://schemas.microsoft.com/office/drawing/2014/main" id="{E1A6390C-07FD-4624-AAE0-460323C1C8B6}"/>
              </a:ext>
            </a:extLst>
          </p:cNvPr>
          <p:cNvSpPr txBox="1"/>
          <p:nvPr/>
        </p:nvSpPr>
        <p:spPr>
          <a:xfrm>
            <a:off x="2479637" y="2752884"/>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Protokollversion &amp; unterstützte Verfahren aushandeln</a:t>
            </a:r>
            <a:endParaRPr lang="en-US" sz="1200" dirty="0"/>
          </a:p>
        </p:txBody>
      </p:sp>
      <p:sp>
        <p:nvSpPr>
          <p:cNvPr id="12" name="Shape 13">
            <a:extLst>
              <a:ext uri="{FF2B5EF4-FFF2-40B4-BE49-F238E27FC236}">
                <a16:creationId xmlns:a16="http://schemas.microsoft.com/office/drawing/2014/main" id="{7B95D62F-DE65-40DE-A028-3BB9BF87E961}"/>
              </a:ext>
            </a:extLst>
          </p:cNvPr>
          <p:cNvSpPr/>
          <p:nvPr/>
        </p:nvSpPr>
        <p:spPr>
          <a:xfrm>
            <a:off x="2479637" y="3063780"/>
            <a:ext cx="7253935" cy="0"/>
          </a:xfrm>
          <a:prstGeom prst="line">
            <a:avLst/>
          </a:prstGeom>
          <a:noFill/>
          <a:ln w="22225">
            <a:solidFill>
              <a:srgbClr val="1E2761"/>
            </a:solidFill>
            <a:prstDash val="solid"/>
            <a:headEnd type="triangle"/>
            <a:tailEnd type="triangle"/>
          </a:ln>
        </p:spPr>
      </p:sp>
      <p:sp>
        <p:nvSpPr>
          <p:cNvPr id="13" name="Text 14">
            <a:extLst>
              <a:ext uri="{FF2B5EF4-FFF2-40B4-BE49-F238E27FC236}">
                <a16:creationId xmlns:a16="http://schemas.microsoft.com/office/drawing/2014/main" id="{430E0880-62BD-4127-A5B8-825112DBF494}"/>
              </a:ext>
            </a:extLst>
          </p:cNvPr>
          <p:cNvSpPr txBox="1"/>
          <p:nvPr/>
        </p:nvSpPr>
        <p:spPr>
          <a:xfrm>
            <a:off x="2479637" y="3770556"/>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Host-Key (öffentlicher Schlüssel des Servers)</a:t>
            </a:r>
            <a:endParaRPr lang="en-US" sz="1200" dirty="0"/>
          </a:p>
        </p:txBody>
      </p:sp>
      <p:sp>
        <p:nvSpPr>
          <p:cNvPr id="14" name="Shape 15">
            <a:extLst>
              <a:ext uri="{FF2B5EF4-FFF2-40B4-BE49-F238E27FC236}">
                <a16:creationId xmlns:a16="http://schemas.microsoft.com/office/drawing/2014/main" id="{03F7DE66-AA35-4028-82D4-4CB02275583D}"/>
              </a:ext>
            </a:extLst>
          </p:cNvPr>
          <p:cNvSpPr/>
          <p:nvPr/>
        </p:nvSpPr>
        <p:spPr>
          <a:xfrm>
            <a:off x="2479637" y="4081452"/>
            <a:ext cx="7253935" cy="0"/>
          </a:xfrm>
          <a:prstGeom prst="line">
            <a:avLst/>
          </a:prstGeom>
          <a:noFill/>
          <a:ln w="22225">
            <a:solidFill>
              <a:srgbClr val="1E2761"/>
            </a:solidFill>
            <a:prstDash val="solid"/>
            <a:headEnd type="triangle"/>
          </a:ln>
        </p:spPr>
      </p:sp>
      <p:sp>
        <p:nvSpPr>
          <p:cNvPr id="15" name="Text 16">
            <a:extLst>
              <a:ext uri="{FF2B5EF4-FFF2-40B4-BE49-F238E27FC236}">
                <a16:creationId xmlns:a16="http://schemas.microsoft.com/office/drawing/2014/main" id="{DCA89F46-0595-4B61-956F-8108E12D9709}"/>
              </a:ext>
            </a:extLst>
          </p:cNvPr>
          <p:cNvSpPr txBox="1"/>
          <p:nvPr/>
        </p:nvSpPr>
        <p:spPr>
          <a:xfrm>
            <a:off x="2205317" y="4154604"/>
            <a:ext cx="7802575" cy="292608"/>
          </a:xfrm>
          <a:prstGeom prst="rect">
            <a:avLst/>
          </a:prstGeom>
          <a:noFill/>
          <a:ln/>
        </p:spPr>
        <p:txBody>
          <a:bodyPr wrap="square" lIns="0" tIns="0" rIns="0" bIns="0" rtlCol="0" anchor="t"/>
          <a:lstStyle/>
          <a:p>
            <a:pPr marL="0" indent="0" algn="ctr">
              <a:buNone/>
            </a:pPr>
            <a:r>
              <a:rPr lang="en-US" sz="1400" i="1" dirty="0">
                <a:solidFill>
                  <a:srgbClr val="5B6472"/>
                </a:solidFill>
                <a:latin typeface="Calibri" pitchFamily="34" charset="0"/>
                <a:ea typeface="Calibri" pitchFamily="34" charset="-122"/>
                <a:cs typeface="Calibri" pitchFamily="34" charset="-120"/>
              </a:rPr>
              <a:t>Client prüft Fingerprint – aus known_hosts oder manuell</a:t>
            </a:r>
            <a:endParaRPr lang="en-US" sz="1400" dirty="0"/>
          </a:p>
        </p:txBody>
      </p:sp>
      <p:sp>
        <p:nvSpPr>
          <p:cNvPr id="16" name="Text 17">
            <a:extLst>
              <a:ext uri="{FF2B5EF4-FFF2-40B4-BE49-F238E27FC236}">
                <a16:creationId xmlns:a16="http://schemas.microsoft.com/office/drawing/2014/main" id="{FC791E46-6774-4D43-B69E-5B666A6C6890}"/>
              </a:ext>
            </a:extLst>
          </p:cNvPr>
          <p:cNvSpPr txBox="1"/>
          <p:nvPr/>
        </p:nvSpPr>
        <p:spPr>
          <a:xfrm>
            <a:off x="2479637" y="4683880"/>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Schlüsselaustausch (Diffie-Hellman)</a:t>
            </a:r>
            <a:endParaRPr lang="en-US" sz="1200" dirty="0"/>
          </a:p>
        </p:txBody>
      </p:sp>
      <p:sp>
        <p:nvSpPr>
          <p:cNvPr id="17" name="Shape 18">
            <a:extLst>
              <a:ext uri="{FF2B5EF4-FFF2-40B4-BE49-F238E27FC236}">
                <a16:creationId xmlns:a16="http://schemas.microsoft.com/office/drawing/2014/main" id="{B6017B0E-3DDA-435C-BF50-BA717D1BAB05}"/>
              </a:ext>
            </a:extLst>
          </p:cNvPr>
          <p:cNvSpPr/>
          <p:nvPr/>
        </p:nvSpPr>
        <p:spPr>
          <a:xfrm>
            <a:off x="2479637" y="4994776"/>
            <a:ext cx="7253935" cy="0"/>
          </a:xfrm>
          <a:prstGeom prst="line">
            <a:avLst/>
          </a:prstGeom>
          <a:noFill/>
          <a:ln w="22225">
            <a:solidFill>
              <a:srgbClr val="1E2761"/>
            </a:solidFill>
            <a:prstDash val="solid"/>
            <a:headEnd type="triangle"/>
            <a:tailEnd type="triangle"/>
          </a:ln>
        </p:spPr>
      </p:sp>
      <p:sp>
        <p:nvSpPr>
          <p:cNvPr id="19" name="Shape 20">
            <a:extLst>
              <a:ext uri="{FF2B5EF4-FFF2-40B4-BE49-F238E27FC236}">
                <a16:creationId xmlns:a16="http://schemas.microsoft.com/office/drawing/2014/main" id="{1F96E1BE-3BA2-43C3-A8CA-98E83A7CCF32}"/>
              </a:ext>
            </a:extLst>
          </p:cNvPr>
          <p:cNvSpPr/>
          <p:nvPr/>
        </p:nvSpPr>
        <p:spPr>
          <a:xfrm>
            <a:off x="1519517" y="5667666"/>
            <a:ext cx="9174175" cy="566928"/>
          </a:xfrm>
          <a:prstGeom prst="roundRect">
            <a:avLst>
              <a:gd name="adj" fmla="val 16129"/>
            </a:avLst>
          </a:prstGeom>
          <a:solidFill>
            <a:srgbClr val="1E2761"/>
          </a:solidFill>
          <a:ln/>
        </p:spPr>
      </p:sp>
      <p:sp>
        <p:nvSpPr>
          <p:cNvPr id="20" name="Text 21">
            <a:extLst>
              <a:ext uri="{FF2B5EF4-FFF2-40B4-BE49-F238E27FC236}">
                <a16:creationId xmlns:a16="http://schemas.microsoft.com/office/drawing/2014/main" id="{94A2DBC1-0240-4516-A648-9D6433B8DD38}"/>
              </a:ext>
            </a:extLst>
          </p:cNvPr>
          <p:cNvSpPr txBox="1"/>
          <p:nvPr/>
        </p:nvSpPr>
        <p:spPr>
          <a:xfrm>
            <a:off x="1519517" y="5667666"/>
            <a:ext cx="9174175" cy="56692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 Ab hier läuft die gesamte Verbindung verschlüsselt</a:t>
            </a:r>
            <a:endParaRPr lang="en-US" sz="1350" dirty="0"/>
          </a:p>
        </p:txBody>
      </p:sp>
      <p:pic>
        <p:nvPicPr>
          <p:cNvPr id="21" name="Grafik 20" descr="Sperren mit einfarbiger Füllung">
            <a:extLst>
              <a:ext uri="{FF2B5EF4-FFF2-40B4-BE49-F238E27FC236}">
                <a16:creationId xmlns:a16="http://schemas.microsoft.com/office/drawing/2014/main" id="{CB9BED65-AFDB-4C21-B389-E463A8F6779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0540" y="5760746"/>
            <a:ext cx="450719" cy="450719"/>
          </a:xfrm>
          <a:prstGeom prst="rect">
            <a:avLst/>
          </a:prstGeom>
        </p:spPr>
      </p:pic>
      <p:pic>
        <p:nvPicPr>
          <p:cNvPr id="22" name="Grafik 21" descr="Sperren mit einfarbiger Füllung">
            <a:extLst>
              <a:ext uri="{FF2B5EF4-FFF2-40B4-BE49-F238E27FC236}">
                <a16:creationId xmlns:a16="http://schemas.microsoft.com/office/drawing/2014/main" id="{957DEEFE-4E99-452F-945A-2AD7490A61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89358" y="5725770"/>
            <a:ext cx="450719" cy="450719"/>
          </a:xfrm>
          <a:prstGeom prst="rect">
            <a:avLst/>
          </a:prstGeom>
        </p:spPr>
      </p:pic>
      <p:sp>
        <p:nvSpPr>
          <p:cNvPr id="24" name="Text 14">
            <a:extLst>
              <a:ext uri="{FF2B5EF4-FFF2-40B4-BE49-F238E27FC236}">
                <a16:creationId xmlns:a16="http://schemas.microsoft.com/office/drawing/2014/main" id="{6BF7705A-B32D-4C40-B55C-208480440DCF}"/>
              </a:ext>
            </a:extLst>
          </p:cNvPr>
          <p:cNvSpPr txBox="1"/>
          <p:nvPr/>
        </p:nvSpPr>
        <p:spPr>
          <a:xfrm>
            <a:off x="1331260" y="3215704"/>
            <a:ext cx="8828742" cy="311277"/>
          </a:xfrm>
          <a:prstGeom prst="rect">
            <a:avLst/>
          </a:prstGeom>
          <a:noFill/>
          <a:ln/>
        </p:spPr>
        <p:txBody>
          <a:bodyPr wrap="square" lIns="0" tIns="0" rIns="0" bIns="0" rtlCol="0" anchor="t"/>
          <a:lstStyle/>
          <a:p>
            <a:pPr marL="0" indent="0" algn="ctr">
              <a:buNone/>
            </a:pPr>
            <a:r>
              <a:rPr lang="en-US" sz="1400" i="1" dirty="0">
                <a:solidFill>
                  <a:srgbClr val="5B6472"/>
                </a:solidFill>
                <a:latin typeface="Calibri" pitchFamily="34" charset="0"/>
                <a:ea typeface="Calibri" pitchFamily="34" charset="-122"/>
                <a:cs typeface="Calibri" pitchFamily="34" charset="-120"/>
              </a:rPr>
              <a:t>Schlüsselaustausch (z. B. curve25519) · Verschlüsselung der Daten (z. B. aes256-gcm) · </a:t>
            </a:r>
            <a:r>
              <a:rPr lang="en-US" sz="1400" i="1" dirty="0" err="1">
                <a:solidFill>
                  <a:srgbClr val="5B6472"/>
                </a:solidFill>
                <a:latin typeface="Calibri" pitchFamily="34" charset="0"/>
                <a:ea typeface="Calibri" pitchFamily="34" charset="-122"/>
                <a:cs typeface="Calibri" pitchFamily="34" charset="-120"/>
              </a:rPr>
              <a:t>Signaturverfahren</a:t>
            </a:r>
            <a:r>
              <a:rPr lang="en-US" sz="1400" i="1" dirty="0">
                <a:solidFill>
                  <a:srgbClr val="5B6472"/>
                </a:solidFill>
                <a:latin typeface="Calibri" pitchFamily="34" charset="0"/>
                <a:ea typeface="Calibri" pitchFamily="34" charset="-122"/>
                <a:cs typeface="Calibri" pitchFamily="34" charset="-120"/>
              </a:rPr>
              <a:t> (z. B. ed25519)</a:t>
            </a:r>
            <a:endParaRPr lang="en-US" sz="1400" dirty="0"/>
          </a:p>
        </p:txBody>
      </p:sp>
      <p:sp>
        <p:nvSpPr>
          <p:cNvPr id="25" name="Text 15">
            <a:extLst>
              <a:ext uri="{FF2B5EF4-FFF2-40B4-BE49-F238E27FC236}">
                <a16:creationId xmlns:a16="http://schemas.microsoft.com/office/drawing/2014/main" id="{F63CD0B1-B157-4493-A2C1-65A693862FD5}"/>
              </a:ext>
            </a:extLst>
          </p:cNvPr>
          <p:cNvSpPr txBox="1"/>
          <p:nvPr/>
        </p:nvSpPr>
        <p:spPr>
          <a:xfrm>
            <a:off x="2357425" y="3502274"/>
            <a:ext cx="7802575" cy="256032"/>
          </a:xfrm>
          <a:prstGeom prst="rect">
            <a:avLst/>
          </a:prstGeom>
          <a:noFill/>
          <a:ln/>
        </p:spPr>
        <p:txBody>
          <a:bodyPr wrap="square" lIns="0" tIns="0" rIns="0" bIns="0" rtlCol="0" anchor="t"/>
          <a:lstStyle/>
          <a:p>
            <a:pPr marL="0" indent="0" algn="ctr">
              <a:buNone/>
            </a:pPr>
            <a:r>
              <a:rPr lang="en-US" sz="1400" dirty="0">
                <a:solidFill>
                  <a:srgbClr val="5B6472"/>
                </a:solidFill>
                <a:ea typeface="Courier New" pitchFamily="34" charset="-122"/>
                <a:cs typeface="Courier New" pitchFamily="34" charset="-120"/>
              </a:rPr>
              <a:t>Vielfalt unter Debian anzeigen:  ssh -Q kex   |   ssh -Q cipher   |   ssh -Q key</a:t>
            </a:r>
            <a:endParaRPr lang="en-US" sz="1400" dirty="0"/>
          </a:p>
        </p:txBody>
      </p:sp>
      <p:sp>
        <p:nvSpPr>
          <p:cNvPr id="26" name="Text 21">
            <a:extLst>
              <a:ext uri="{FF2B5EF4-FFF2-40B4-BE49-F238E27FC236}">
                <a16:creationId xmlns:a16="http://schemas.microsoft.com/office/drawing/2014/main" id="{E21B569B-1859-4442-90C9-1D7102AB98A7}"/>
              </a:ext>
            </a:extLst>
          </p:cNvPr>
          <p:cNvSpPr txBox="1"/>
          <p:nvPr/>
        </p:nvSpPr>
        <p:spPr>
          <a:xfrm>
            <a:off x="2194712" y="5149772"/>
            <a:ext cx="7802575" cy="274320"/>
          </a:xfrm>
          <a:prstGeom prst="rect">
            <a:avLst/>
          </a:prstGeom>
          <a:noFill/>
          <a:ln/>
        </p:spPr>
        <p:txBody>
          <a:bodyPr wrap="square" lIns="0" tIns="0" rIns="0" bIns="0" rtlCol="0" anchor="t"/>
          <a:lstStyle/>
          <a:p>
            <a:pPr marL="0" indent="0" algn="ctr">
              <a:buNone/>
            </a:pPr>
            <a:r>
              <a:rPr lang="en-US" sz="1400" i="1" dirty="0">
                <a:solidFill>
                  <a:srgbClr val="5B6472"/>
                </a:solidFill>
                <a:latin typeface="Calibri" pitchFamily="34" charset="0"/>
                <a:ea typeface="Calibri" pitchFamily="34" charset="-122"/>
                <a:cs typeface="Calibri" pitchFamily="34" charset="-120"/>
              </a:rPr>
              <a:t>Beide Seiten berechnen den Sitzungsschlüssel · Server beweist per Signatur den Besitz des privaten Host-Keys</a:t>
            </a:r>
            <a:endParaRPr lang="en-US" sz="1400" dirty="0"/>
          </a:p>
        </p:txBody>
      </p:sp>
      <p:grpSp>
        <p:nvGrpSpPr>
          <p:cNvPr id="39" name="Gruppieren 38">
            <a:extLst>
              <a:ext uri="{FF2B5EF4-FFF2-40B4-BE49-F238E27FC236}">
                <a16:creationId xmlns:a16="http://schemas.microsoft.com/office/drawing/2014/main" id="{431A4488-B8BD-4EED-A933-347AC9594A26}"/>
              </a:ext>
            </a:extLst>
          </p:cNvPr>
          <p:cNvGrpSpPr/>
          <p:nvPr/>
        </p:nvGrpSpPr>
        <p:grpSpPr>
          <a:xfrm>
            <a:off x="1277241" y="1717910"/>
            <a:ext cx="1351659" cy="1017731"/>
            <a:chOff x="1277241" y="1717910"/>
            <a:chExt cx="1351659" cy="1017731"/>
          </a:xfrm>
        </p:grpSpPr>
        <p:pic>
          <p:nvPicPr>
            <p:cNvPr id="27" name="Grafik 26">
              <a:extLst>
                <a:ext uri="{FF2B5EF4-FFF2-40B4-BE49-F238E27FC236}">
                  <a16:creationId xmlns:a16="http://schemas.microsoft.com/office/drawing/2014/main" id="{87551FA8-3934-4E05-B834-870146A013F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509841" y="1717910"/>
              <a:ext cx="847584" cy="1017731"/>
            </a:xfrm>
            <a:prstGeom prst="rect">
              <a:avLst/>
            </a:prstGeom>
          </p:spPr>
        </p:pic>
        <p:sp>
          <p:nvSpPr>
            <p:cNvPr id="37" name="Text 9">
              <a:extLst>
                <a:ext uri="{FF2B5EF4-FFF2-40B4-BE49-F238E27FC236}">
                  <a16:creationId xmlns:a16="http://schemas.microsoft.com/office/drawing/2014/main" id="{D6035DAB-79DE-49EB-9BAB-523C7F5A33F6}"/>
                </a:ext>
              </a:extLst>
            </p:cNvPr>
            <p:cNvSpPr txBox="1"/>
            <p:nvPr/>
          </p:nvSpPr>
          <p:spPr>
            <a:xfrm>
              <a:off x="1277241" y="182226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CLIENT</a:t>
              </a:r>
              <a:endParaRPr lang="en-US" sz="1300" dirty="0">
                <a:solidFill>
                  <a:srgbClr val="0061AF"/>
                </a:solidFill>
              </a:endParaRPr>
            </a:p>
          </p:txBody>
        </p:sp>
      </p:grpSp>
      <p:grpSp>
        <p:nvGrpSpPr>
          <p:cNvPr id="40" name="Gruppieren 39">
            <a:extLst>
              <a:ext uri="{FF2B5EF4-FFF2-40B4-BE49-F238E27FC236}">
                <a16:creationId xmlns:a16="http://schemas.microsoft.com/office/drawing/2014/main" id="{22C2375B-D9D8-4147-91B2-9C186A8C10AA}"/>
              </a:ext>
            </a:extLst>
          </p:cNvPr>
          <p:cNvGrpSpPr/>
          <p:nvPr/>
        </p:nvGrpSpPr>
        <p:grpSpPr>
          <a:xfrm>
            <a:off x="9848849" y="1767865"/>
            <a:ext cx="1351659" cy="985018"/>
            <a:chOff x="9848849" y="1767865"/>
            <a:chExt cx="1351659" cy="985018"/>
          </a:xfrm>
        </p:grpSpPr>
        <p:sp>
          <p:nvSpPr>
            <p:cNvPr id="28" name="Rechteck 27">
              <a:extLst>
                <a:ext uri="{FF2B5EF4-FFF2-40B4-BE49-F238E27FC236}">
                  <a16:creationId xmlns:a16="http://schemas.microsoft.com/office/drawing/2014/main" id="{DF6EFC9B-4E88-40F4-98AE-E4C5BDF7525A}"/>
                </a:ext>
              </a:extLst>
            </p:cNvPr>
            <p:cNvSpPr/>
            <p:nvPr/>
          </p:nvSpPr>
          <p:spPr>
            <a:xfrm>
              <a:off x="10160000" y="1767865"/>
              <a:ext cx="729358" cy="985018"/>
            </a:xfrm>
            <a:prstGeom prst="rect">
              <a:avLst/>
            </a:prstGeom>
            <a:solidFill>
              <a:srgbClr val="E7E7E9"/>
            </a:solidFill>
            <a:ln w="47625">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2" name="Gerader Verbinder 31">
              <a:extLst>
                <a:ext uri="{FF2B5EF4-FFF2-40B4-BE49-F238E27FC236}">
                  <a16:creationId xmlns:a16="http://schemas.microsoft.com/office/drawing/2014/main" id="{A1B70D36-E04A-4593-AF05-EE75BA62E720}"/>
                </a:ext>
              </a:extLst>
            </p:cNvPr>
            <p:cNvCxnSpPr>
              <a:cxnSpLocks/>
            </p:cNvCxnSpPr>
            <p:nvPr/>
          </p:nvCxnSpPr>
          <p:spPr>
            <a:xfrm>
              <a:off x="10274154" y="2341045"/>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E39B0B10-AE56-407B-926E-D4DE0CF51A94}"/>
                </a:ext>
              </a:extLst>
            </p:cNvPr>
            <p:cNvCxnSpPr>
              <a:cxnSpLocks/>
            </p:cNvCxnSpPr>
            <p:nvPr/>
          </p:nvCxnSpPr>
          <p:spPr>
            <a:xfrm>
              <a:off x="10274154" y="2441810"/>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26BBAD0E-9EAD-4BA8-8C78-10FC73E4E6E2}"/>
                </a:ext>
              </a:extLst>
            </p:cNvPr>
            <p:cNvCxnSpPr>
              <a:cxnSpLocks/>
            </p:cNvCxnSpPr>
            <p:nvPr/>
          </p:nvCxnSpPr>
          <p:spPr>
            <a:xfrm>
              <a:off x="10274154" y="2567286"/>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sp>
          <p:nvSpPr>
            <p:cNvPr id="36" name="Ellipse 35">
              <a:extLst>
                <a:ext uri="{FF2B5EF4-FFF2-40B4-BE49-F238E27FC236}">
                  <a16:creationId xmlns:a16="http://schemas.microsoft.com/office/drawing/2014/main" id="{4125DE95-578D-419E-9249-666E4EB771BD}"/>
                </a:ext>
              </a:extLst>
            </p:cNvPr>
            <p:cNvSpPr/>
            <p:nvPr/>
          </p:nvSpPr>
          <p:spPr>
            <a:xfrm>
              <a:off x="10553846" y="1942465"/>
              <a:ext cx="162565" cy="162000"/>
            </a:xfrm>
            <a:prstGeom prst="ellipse">
              <a:avLst/>
            </a:prstGeom>
            <a:solidFill>
              <a:srgbClr val="E7E7E9"/>
            </a:solidFill>
            <a:ln w="38100">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Text 9">
              <a:extLst>
                <a:ext uri="{FF2B5EF4-FFF2-40B4-BE49-F238E27FC236}">
                  <a16:creationId xmlns:a16="http://schemas.microsoft.com/office/drawing/2014/main" id="{2A6EB4F7-297A-4C10-9CFB-B988A65E2078}"/>
                </a:ext>
              </a:extLst>
            </p:cNvPr>
            <p:cNvSpPr txBox="1"/>
            <p:nvPr/>
          </p:nvSpPr>
          <p:spPr>
            <a:xfrm>
              <a:off x="9848849" y="200003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Server</a:t>
              </a:r>
              <a:endParaRPr lang="en-US" sz="1300" dirty="0">
                <a:solidFill>
                  <a:srgbClr val="0061AF"/>
                </a:solidFill>
              </a:endParaRPr>
            </a:p>
          </p:txBody>
        </p:sp>
      </p:grpSp>
      <p:pic>
        <p:nvPicPr>
          <p:cNvPr id="4" name="Grafik 3" descr="Ausrufezeichen mit einfarbiger Füllung">
            <a:extLst>
              <a:ext uri="{FF2B5EF4-FFF2-40B4-BE49-F238E27FC236}">
                <a16:creationId xmlns:a16="http://schemas.microsoft.com/office/drawing/2014/main" id="{EBD0A8D5-5499-4888-8CDB-A0F71B25C49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44028" y="3521758"/>
            <a:ext cx="914400" cy="914400"/>
          </a:xfrm>
          <a:prstGeom prst="rect">
            <a:avLst/>
          </a:prstGeom>
        </p:spPr>
      </p:pic>
    </p:spTree>
    <p:extLst>
      <p:ext uri="{BB962C8B-B14F-4D97-AF65-F5344CB8AC3E}">
        <p14:creationId xmlns:p14="http://schemas.microsoft.com/office/powerpoint/2010/main" val="806748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534949"/>
            <a:ext cx="10953313" cy="1143000"/>
          </a:xfrm>
        </p:spPr>
        <p:txBody>
          <a:bodyPr/>
          <a:lstStyle/>
          <a:p>
            <a:r>
              <a:rPr lang="en-US" sz="2000" dirty="0"/>
              <a:t>Host-Key-Fingerprint </a:t>
            </a:r>
            <a:r>
              <a:rPr lang="en-US" sz="2000" dirty="0" err="1"/>
              <a:t>überprüfen</a:t>
            </a:r>
            <a:br>
              <a:rPr lang="en-US" sz="2000" dirty="0"/>
            </a:br>
            <a:br>
              <a:rPr lang="en-US" sz="2000" dirty="0"/>
            </a:br>
            <a:endParaRPr lang="de-DE" sz="1998" dirty="0"/>
          </a:p>
        </p:txBody>
      </p:sp>
      <p:sp>
        <p:nvSpPr>
          <p:cNvPr id="5" name="Foliennummernplatzhalter 4"/>
          <p:cNvSpPr>
            <a:spLocks noGrp="1"/>
          </p:cNvSpPr>
          <p:nvPr>
            <p:ph type="sldNum" sz="quarter" idx="4"/>
          </p:nvPr>
        </p:nvSpPr>
        <p:spPr/>
        <p:txBody>
          <a:bodyPr/>
          <a:lstStyle/>
          <a:p>
            <a:fld id="{43A6DCFB-163F-4561-BF28-3CD1FE47EE20}" type="slidenum">
              <a:rPr lang="de-DE" smtClean="0"/>
              <a:pPr/>
              <a:t>4</a:t>
            </a:fld>
            <a:endParaRPr lang="de-DE" dirty="0"/>
          </a:p>
        </p:txBody>
      </p:sp>
      <p:sp>
        <p:nvSpPr>
          <p:cNvPr id="41" name="Shape 2">
            <a:extLst>
              <a:ext uri="{FF2B5EF4-FFF2-40B4-BE49-F238E27FC236}">
                <a16:creationId xmlns:a16="http://schemas.microsoft.com/office/drawing/2014/main" id="{38C067B0-3936-41B1-A465-6CF531D3A8B9}"/>
              </a:ext>
            </a:extLst>
          </p:cNvPr>
          <p:cNvSpPr/>
          <p:nvPr/>
        </p:nvSpPr>
        <p:spPr>
          <a:xfrm>
            <a:off x="815896" y="1897817"/>
            <a:ext cx="4819610" cy="2860437"/>
          </a:xfrm>
          <a:prstGeom prst="roundRect">
            <a:avLst>
              <a:gd name="adj" fmla="val 4329"/>
            </a:avLst>
          </a:prstGeom>
          <a:solidFill>
            <a:srgbClr val="1A222C"/>
          </a:solidFill>
          <a:ln w="6350">
            <a:solidFill>
              <a:srgbClr val="2A3540"/>
            </a:solidFill>
            <a:prstDash val="solid"/>
          </a:ln>
        </p:spPr>
      </p:sp>
      <p:sp>
        <p:nvSpPr>
          <p:cNvPr id="42" name="Text 3">
            <a:extLst>
              <a:ext uri="{FF2B5EF4-FFF2-40B4-BE49-F238E27FC236}">
                <a16:creationId xmlns:a16="http://schemas.microsoft.com/office/drawing/2014/main" id="{1AAB280A-C58B-4600-91C2-05E8E72EA5FA}"/>
              </a:ext>
            </a:extLst>
          </p:cNvPr>
          <p:cNvSpPr/>
          <p:nvPr/>
        </p:nvSpPr>
        <p:spPr>
          <a:xfrm>
            <a:off x="1074301" y="2337554"/>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BA8B5"/>
                </a:solidFill>
                <a:latin typeface="Courier New" pitchFamily="34" charset="0"/>
                <a:ea typeface="Courier New" pitchFamily="34" charset="-122"/>
                <a:cs typeface="Courier New" pitchFamily="34" charset="-120"/>
              </a:rPr>
              <a:t>$ ssh root@49.12.34.56</a:t>
            </a:r>
            <a:endParaRPr lang="en-US" sz="1200" dirty="0"/>
          </a:p>
        </p:txBody>
      </p:sp>
      <p:sp>
        <p:nvSpPr>
          <p:cNvPr id="43" name="Text 4">
            <a:extLst>
              <a:ext uri="{FF2B5EF4-FFF2-40B4-BE49-F238E27FC236}">
                <a16:creationId xmlns:a16="http://schemas.microsoft.com/office/drawing/2014/main" id="{8AAEFDEB-D914-4800-867A-E1B2F3B52DA4}"/>
              </a:ext>
            </a:extLst>
          </p:cNvPr>
          <p:cNvSpPr/>
          <p:nvPr/>
        </p:nvSpPr>
        <p:spPr>
          <a:xfrm>
            <a:off x="1074301" y="2629614"/>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The authenticity of host</a:t>
            </a:r>
            <a:endParaRPr lang="en-US" sz="1200" dirty="0"/>
          </a:p>
        </p:txBody>
      </p:sp>
      <p:sp>
        <p:nvSpPr>
          <p:cNvPr id="44" name="Text 5">
            <a:extLst>
              <a:ext uri="{FF2B5EF4-FFF2-40B4-BE49-F238E27FC236}">
                <a16:creationId xmlns:a16="http://schemas.microsoft.com/office/drawing/2014/main" id="{D23E1F0C-757A-42E1-AD49-385B2705298C}"/>
              </a:ext>
            </a:extLst>
          </p:cNvPr>
          <p:cNvSpPr/>
          <p:nvPr/>
        </p:nvSpPr>
        <p:spPr>
          <a:xfrm>
            <a:off x="1074301" y="2921675"/>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'49.12.34.56' can't be established.</a:t>
            </a:r>
            <a:endParaRPr lang="en-US" sz="1200" dirty="0"/>
          </a:p>
        </p:txBody>
      </p:sp>
      <p:sp>
        <p:nvSpPr>
          <p:cNvPr id="45" name="Text 6">
            <a:extLst>
              <a:ext uri="{FF2B5EF4-FFF2-40B4-BE49-F238E27FC236}">
                <a16:creationId xmlns:a16="http://schemas.microsoft.com/office/drawing/2014/main" id="{FF804CF7-5F0A-4A1A-825E-C719AE6AB240}"/>
              </a:ext>
            </a:extLst>
          </p:cNvPr>
          <p:cNvSpPr/>
          <p:nvPr/>
        </p:nvSpPr>
        <p:spPr>
          <a:xfrm>
            <a:off x="1074301" y="3213735"/>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ED25519 key fingerprint is</a:t>
            </a:r>
            <a:endParaRPr lang="en-US" sz="1200" dirty="0"/>
          </a:p>
        </p:txBody>
      </p:sp>
      <p:sp>
        <p:nvSpPr>
          <p:cNvPr id="46" name="Text 7">
            <a:extLst>
              <a:ext uri="{FF2B5EF4-FFF2-40B4-BE49-F238E27FC236}">
                <a16:creationId xmlns:a16="http://schemas.microsoft.com/office/drawing/2014/main" id="{24A663C8-1008-4A42-9F39-02CC281DFE5F}"/>
              </a:ext>
            </a:extLst>
          </p:cNvPr>
          <p:cNvSpPr/>
          <p:nvPr/>
        </p:nvSpPr>
        <p:spPr>
          <a:xfrm>
            <a:off x="1074301" y="3505795"/>
            <a:ext cx="4431884" cy="2540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F2B84B"/>
                </a:solidFill>
                <a:latin typeface="Courier New" pitchFamily="34" charset="0"/>
                <a:ea typeface="Courier New" pitchFamily="34" charset="-122"/>
                <a:cs typeface="Courier New" pitchFamily="34" charset="-120"/>
              </a:rPr>
              <a:t>SHA256:abc123XYZ...fingerprint=</a:t>
            </a:r>
            <a:endParaRPr lang="en-US" sz="1200" dirty="0"/>
          </a:p>
        </p:txBody>
      </p:sp>
      <p:sp>
        <p:nvSpPr>
          <p:cNvPr id="47" name="Text 8">
            <a:extLst>
              <a:ext uri="{FF2B5EF4-FFF2-40B4-BE49-F238E27FC236}">
                <a16:creationId xmlns:a16="http://schemas.microsoft.com/office/drawing/2014/main" id="{532CD5DA-7718-4A8E-8831-B62B02F6B3C1}"/>
              </a:ext>
            </a:extLst>
          </p:cNvPr>
          <p:cNvSpPr/>
          <p:nvPr/>
        </p:nvSpPr>
        <p:spPr>
          <a:xfrm>
            <a:off x="1074301" y="3797856"/>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Are you sure you want to continue</a:t>
            </a:r>
            <a:endParaRPr lang="en-US" sz="1200" dirty="0"/>
          </a:p>
        </p:txBody>
      </p:sp>
      <p:sp>
        <p:nvSpPr>
          <p:cNvPr id="48" name="Text 9">
            <a:extLst>
              <a:ext uri="{FF2B5EF4-FFF2-40B4-BE49-F238E27FC236}">
                <a16:creationId xmlns:a16="http://schemas.microsoft.com/office/drawing/2014/main" id="{0FA88FCB-C79E-4161-BB07-82B54DE702AE}"/>
              </a:ext>
            </a:extLst>
          </p:cNvPr>
          <p:cNvSpPr/>
          <p:nvPr/>
        </p:nvSpPr>
        <p:spPr>
          <a:xfrm>
            <a:off x="1074301" y="4089916"/>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connecting (yes/no/[fingerprint])?</a:t>
            </a:r>
            <a:endParaRPr lang="en-US" sz="1200" dirty="0"/>
          </a:p>
        </p:txBody>
      </p:sp>
      <p:sp>
        <p:nvSpPr>
          <p:cNvPr id="49" name="Shape 10">
            <a:extLst>
              <a:ext uri="{FF2B5EF4-FFF2-40B4-BE49-F238E27FC236}">
                <a16:creationId xmlns:a16="http://schemas.microsoft.com/office/drawing/2014/main" id="{8F857C7B-B20F-46F9-8EE1-DA98ED1AAE54}"/>
              </a:ext>
            </a:extLst>
          </p:cNvPr>
          <p:cNvSpPr/>
          <p:nvPr/>
        </p:nvSpPr>
        <p:spPr>
          <a:xfrm>
            <a:off x="5997377" y="2043906"/>
            <a:ext cx="349171" cy="349171"/>
          </a:xfrm>
          <a:prstGeom prst="roundRect">
            <a:avLst>
              <a:gd name="adj" fmla="val 50000"/>
            </a:avLst>
          </a:prstGeom>
          <a:solidFill>
            <a:srgbClr val="F2B84B">
              <a:alpha val="15000"/>
            </a:srgbClr>
          </a:solidFill>
          <a:ln w="6350">
            <a:solidFill>
              <a:srgbClr val="F2B84B"/>
            </a:solidFill>
            <a:prstDash val="solid"/>
          </a:ln>
        </p:spPr>
      </p:sp>
      <p:sp>
        <p:nvSpPr>
          <p:cNvPr id="50" name="Text 11">
            <a:extLst>
              <a:ext uri="{FF2B5EF4-FFF2-40B4-BE49-F238E27FC236}">
                <a16:creationId xmlns:a16="http://schemas.microsoft.com/office/drawing/2014/main" id="{1C8F9B9E-BF92-43F2-B472-F74A689D5FE6}"/>
              </a:ext>
            </a:extLst>
          </p:cNvPr>
          <p:cNvSpPr/>
          <p:nvPr/>
        </p:nvSpPr>
        <p:spPr>
          <a:xfrm>
            <a:off x="6122432" y="2094071"/>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1</a:t>
            </a:r>
            <a:endParaRPr lang="en-US" sz="1400" dirty="0"/>
          </a:p>
        </p:txBody>
      </p:sp>
      <p:sp>
        <p:nvSpPr>
          <p:cNvPr id="51" name="Text 12">
            <a:extLst>
              <a:ext uri="{FF2B5EF4-FFF2-40B4-BE49-F238E27FC236}">
                <a16:creationId xmlns:a16="http://schemas.microsoft.com/office/drawing/2014/main" id="{B9AA4CCF-E012-41F2-9846-BB357A6ADA52}"/>
              </a:ext>
            </a:extLst>
          </p:cNvPr>
          <p:cNvSpPr/>
          <p:nvPr/>
        </p:nvSpPr>
        <p:spPr>
          <a:xfrm>
            <a:off x="6502122" y="2040731"/>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Fingerprint auf dem Server ermitteln</a:t>
            </a:r>
            <a:endParaRPr lang="en-US" sz="1400" dirty="0"/>
          </a:p>
        </p:txBody>
      </p:sp>
      <p:sp>
        <p:nvSpPr>
          <p:cNvPr id="52" name="Text 13">
            <a:extLst>
              <a:ext uri="{FF2B5EF4-FFF2-40B4-BE49-F238E27FC236}">
                <a16:creationId xmlns:a16="http://schemas.microsoft.com/office/drawing/2014/main" id="{8294DD96-C001-49F2-8130-4C473B854ED3}"/>
              </a:ext>
            </a:extLst>
          </p:cNvPr>
          <p:cNvSpPr/>
          <p:nvPr/>
        </p:nvSpPr>
        <p:spPr>
          <a:xfrm>
            <a:off x="6502122" y="2292072"/>
            <a:ext cx="5023472" cy="4164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Über die Hetzner-Console verbinden (läuft nicht übers Netz) und dort ausführen:</a:t>
            </a:r>
            <a:endParaRPr lang="en-US" sz="1400" dirty="0"/>
          </a:p>
        </p:txBody>
      </p:sp>
      <p:sp>
        <p:nvSpPr>
          <p:cNvPr id="53" name="Text 14">
            <a:extLst>
              <a:ext uri="{FF2B5EF4-FFF2-40B4-BE49-F238E27FC236}">
                <a16:creationId xmlns:a16="http://schemas.microsoft.com/office/drawing/2014/main" id="{763870ED-19DF-43FF-A66E-56694F219C40}"/>
              </a:ext>
            </a:extLst>
          </p:cNvPr>
          <p:cNvSpPr/>
          <p:nvPr/>
        </p:nvSpPr>
        <p:spPr>
          <a:xfrm>
            <a:off x="6502122" y="2721174"/>
            <a:ext cx="5023472" cy="215900"/>
          </a:xfrm>
          <a:prstGeom prst="rect">
            <a:avLst/>
          </a:prstGeom>
          <a:noFill/>
          <a:ln/>
        </p:spPr>
        <p:txBody>
          <a:bodyPr wrap="square" lIns="0" tIns="0" rIns="0" bIns="0" rtlCol="0" anchor="t">
            <a:normAutofit/>
          </a:bodyPr>
          <a:lstStyle/>
          <a:p>
            <a:pPr marL="0" indent="0" algn="l">
              <a:lnSpc>
                <a:spcPts val="1500"/>
              </a:lnSpc>
              <a:buNone/>
            </a:pPr>
            <a:r>
              <a:rPr lang="en-US" sz="1400" dirty="0">
                <a:ea typeface="Courier New" pitchFamily="34" charset="-122"/>
                <a:cs typeface="Courier New" pitchFamily="34" charset="-120"/>
              </a:rPr>
              <a:t>ssh-keygen -lf /etc/ssh/ssh_host_ed25519_key.pub</a:t>
            </a:r>
            <a:endParaRPr lang="en-US" sz="1400" dirty="0"/>
          </a:p>
        </p:txBody>
      </p:sp>
      <p:sp>
        <p:nvSpPr>
          <p:cNvPr id="54" name="Shape 15">
            <a:extLst>
              <a:ext uri="{FF2B5EF4-FFF2-40B4-BE49-F238E27FC236}">
                <a16:creationId xmlns:a16="http://schemas.microsoft.com/office/drawing/2014/main" id="{FDA7ADAD-64AE-483B-AB8D-DFEA2D20D6F4}"/>
              </a:ext>
            </a:extLst>
          </p:cNvPr>
          <p:cNvSpPr/>
          <p:nvPr/>
        </p:nvSpPr>
        <p:spPr>
          <a:xfrm>
            <a:off x="5997377" y="3117969"/>
            <a:ext cx="349171" cy="349171"/>
          </a:xfrm>
          <a:prstGeom prst="roundRect">
            <a:avLst>
              <a:gd name="adj" fmla="val 50000"/>
            </a:avLst>
          </a:prstGeom>
          <a:solidFill>
            <a:srgbClr val="F2B84B">
              <a:alpha val="15000"/>
            </a:srgbClr>
          </a:solidFill>
          <a:ln w="6350">
            <a:solidFill>
              <a:srgbClr val="F2B84B"/>
            </a:solidFill>
            <a:prstDash val="solid"/>
          </a:ln>
        </p:spPr>
      </p:sp>
      <p:sp>
        <p:nvSpPr>
          <p:cNvPr id="55" name="Text 16">
            <a:extLst>
              <a:ext uri="{FF2B5EF4-FFF2-40B4-BE49-F238E27FC236}">
                <a16:creationId xmlns:a16="http://schemas.microsoft.com/office/drawing/2014/main" id="{4164429F-9F1E-424F-AFE2-43B367F37BE9}"/>
              </a:ext>
            </a:extLst>
          </p:cNvPr>
          <p:cNvSpPr/>
          <p:nvPr/>
        </p:nvSpPr>
        <p:spPr>
          <a:xfrm>
            <a:off x="6122432" y="3168134"/>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2</a:t>
            </a:r>
            <a:endParaRPr lang="en-US" sz="1400" dirty="0"/>
          </a:p>
        </p:txBody>
      </p:sp>
      <p:sp>
        <p:nvSpPr>
          <p:cNvPr id="56" name="Text 17">
            <a:extLst>
              <a:ext uri="{FF2B5EF4-FFF2-40B4-BE49-F238E27FC236}">
                <a16:creationId xmlns:a16="http://schemas.microsoft.com/office/drawing/2014/main" id="{10AD6FAB-7B0B-43BD-A629-8F05EEBBED60}"/>
              </a:ext>
            </a:extLst>
          </p:cNvPr>
          <p:cNvSpPr/>
          <p:nvPr/>
        </p:nvSpPr>
        <p:spPr>
          <a:xfrm>
            <a:off x="6502122" y="3114794"/>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Zeichen für Zeichen vergleichen</a:t>
            </a:r>
            <a:endParaRPr lang="en-US" sz="1400" dirty="0"/>
          </a:p>
        </p:txBody>
      </p:sp>
      <p:sp>
        <p:nvSpPr>
          <p:cNvPr id="57" name="Text 18">
            <a:extLst>
              <a:ext uri="{FF2B5EF4-FFF2-40B4-BE49-F238E27FC236}">
                <a16:creationId xmlns:a16="http://schemas.microsoft.com/office/drawing/2014/main" id="{C21BBB92-8131-4FF5-883C-DB37F1896D0C}"/>
              </a:ext>
            </a:extLst>
          </p:cNvPr>
          <p:cNvSpPr/>
          <p:nvPr/>
        </p:nvSpPr>
        <p:spPr>
          <a:xfrm>
            <a:off x="6502122" y="3366135"/>
            <a:ext cx="5023472" cy="4164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Angezeigten Fingerprint beim ersten Verbindungsaufbau mit dem </a:t>
            </a:r>
            <a:r>
              <a:rPr lang="en-US" sz="1400" dirty="0" err="1">
                <a:ea typeface="Arial" pitchFamily="34" charset="-122"/>
                <a:cs typeface="Arial" pitchFamily="34" charset="-120"/>
              </a:rPr>
              <a:t>ermittelten</a:t>
            </a:r>
            <a:r>
              <a:rPr lang="en-US" sz="1400" dirty="0">
                <a:ea typeface="Arial" pitchFamily="34" charset="-122"/>
                <a:cs typeface="Arial" pitchFamily="34" charset="-120"/>
              </a:rPr>
              <a:t> Wert abgleichen.</a:t>
            </a:r>
            <a:endParaRPr lang="en-US" sz="1400" dirty="0"/>
          </a:p>
        </p:txBody>
      </p:sp>
      <p:sp>
        <p:nvSpPr>
          <p:cNvPr id="58" name="Shape 19">
            <a:extLst>
              <a:ext uri="{FF2B5EF4-FFF2-40B4-BE49-F238E27FC236}">
                <a16:creationId xmlns:a16="http://schemas.microsoft.com/office/drawing/2014/main" id="{21AAD443-ED9F-4532-835D-74575E2EFA63}"/>
              </a:ext>
            </a:extLst>
          </p:cNvPr>
          <p:cNvSpPr/>
          <p:nvPr/>
        </p:nvSpPr>
        <p:spPr>
          <a:xfrm>
            <a:off x="5997377" y="3963432"/>
            <a:ext cx="349171" cy="349171"/>
          </a:xfrm>
          <a:prstGeom prst="roundRect">
            <a:avLst>
              <a:gd name="adj" fmla="val 50000"/>
            </a:avLst>
          </a:prstGeom>
          <a:solidFill>
            <a:srgbClr val="F2B84B">
              <a:alpha val="15000"/>
            </a:srgbClr>
          </a:solidFill>
          <a:ln w="6350">
            <a:solidFill>
              <a:srgbClr val="F2B84B"/>
            </a:solidFill>
            <a:prstDash val="solid"/>
          </a:ln>
        </p:spPr>
      </p:sp>
      <p:sp>
        <p:nvSpPr>
          <p:cNvPr id="59" name="Text 20">
            <a:extLst>
              <a:ext uri="{FF2B5EF4-FFF2-40B4-BE49-F238E27FC236}">
                <a16:creationId xmlns:a16="http://schemas.microsoft.com/office/drawing/2014/main" id="{0F6A2A80-7820-4F44-8E7A-61751819FAFC}"/>
              </a:ext>
            </a:extLst>
          </p:cNvPr>
          <p:cNvSpPr/>
          <p:nvPr/>
        </p:nvSpPr>
        <p:spPr>
          <a:xfrm>
            <a:off x="6122432" y="4013597"/>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3</a:t>
            </a:r>
            <a:endParaRPr lang="en-US" sz="1400" dirty="0"/>
          </a:p>
        </p:txBody>
      </p:sp>
      <p:sp>
        <p:nvSpPr>
          <p:cNvPr id="60" name="Text 21">
            <a:extLst>
              <a:ext uri="{FF2B5EF4-FFF2-40B4-BE49-F238E27FC236}">
                <a16:creationId xmlns:a16="http://schemas.microsoft.com/office/drawing/2014/main" id="{477E6D75-3A3B-475F-8766-52DFA7645D93}"/>
              </a:ext>
            </a:extLst>
          </p:cNvPr>
          <p:cNvSpPr/>
          <p:nvPr/>
        </p:nvSpPr>
        <p:spPr>
          <a:xfrm>
            <a:off x="6502122" y="3960257"/>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Entscheiden</a:t>
            </a:r>
            <a:endParaRPr lang="en-US" sz="1400" dirty="0"/>
          </a:p>
        </p:txBody>
      </p:sp>
      <p:sp>
        <p:nvSpPr>
          <p:cNvPr id="61" name="Text 22">
            <a:extLst>
              <a:ext uri="{FF2B5EF4-FFF2-40B4-BE49-F238E27FC236}">
                <a16:creationId xmlns:a16="http://schemas.microsoft.com/office/drawing/2014/main" id="{3CE88406-4D3B-44C6-A32D-A5EF1D2984C7}"/>
              </a:ext>
            </a:extLst>
          </p:cNvPr>
          <p:cNvSpPr/>
          <p:nvPr/>
        </p:nvSpPr>
        <p:spPr>
          <a:xfrm>
            <a:off x="6502122" y="4198858"/>
            <a:ext cx="5023472" cy="2209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Stimmt überein → </a:t>
            </a:r>
            <a:r>
              <a:rPr lang="en-US" sz="1400" b="1" dirty="0">
                <a:ea typeface="Arial" pitchFamily="34" charset="-122"/>
                <a:cs typeface="Arial" pitchFamily="34" charset="-120"/>
              </a:rPr>
              <a:t>yes</a:t>
            </a:r>
            <a:r>
              <a:rPr lang="en-US" sz="1400" dirty="0">
                <a:ea typeface="Arial" pitchFamily="34" charset="-122"/>
                <a:cs typeface="Arial" pitchFamily="34" charset="-120"/>
              </a:rPr>
              <a:t> (wird in known_hosts gespeichert)</a:t>
            </a:r>
            <a:endParaRPr lang="en-US" sz="1400" dirty="0"/>
          </a:p>
        </p:txBody>
      </p:sp>
      <p:sp>
        <p:nvSpPr>
          <p:cNvPr id="62" name="Text 23">
            <a:extLst>
              <a:ext uri="{FF2B5EF4-FFF2-40B4-BE49-F238E27FC236}">
                <a16:creationId xmlns:a16="http://schemas.microsoft.com/office/drawing/2014/main" id="{797138DB-BC51-4397-BF84-450B27ADBDB3}"/>
              </a:ext>
            </a:extLst>
          </p:cNvPr>
          <p:cNvSpPr/>
          <p:nvPr/>
        </p:nvSpPr>
        <p:spPr>
          <a:xfrm>
            <a:off x="6502122" y="4419719"/>
            <a:ext cx="5023472" cy="2209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Weicht ab → </a:t>
            </a:r>
            <a:r>
              <a:rPr lang="en-US" sz="1400" b="1" dirty="0">
                <a:ea typeface="Arial" pitchFamily="34" charset="-122"/>
                <a:cs typeface="Arial" pitchFamily="34" charset="-120"/>
              </a:rPr>
              <a:t>no</a:t>
            </a:r>
            <a:r>
              <a:rPr lang="en-US" sz="1400" dirty="0">
                <a:ea typeface="Arial" pitchFamily="34" charset="-122"/>
                <a:cs typeface="Arial" pitchFamily="34" charset="-120"/>
              </a:rPr>
              <a:t> (abbrechen, Ursache prüfen)</a:t>
            </a:r>
            <a:endParaRPr lang="en-US" sz="1400" dirty="0"/>
          </a:p>
        </p:txBody>
      </p:sp>
      <p:sp>
        <p:nvSpPr>
          <p:cNvPr id="67" name="Text 27">
            <a:extLst>
              <a:ext uri="{FF2B5EF4-FFF2-40B4-BE49-F238E27FC236}">
                <a16:creationId xmlns:a16="http://schemas.microsoft.com/office/drawing/2014/main" id="{1A300C58-C33C-4563-9481-8813CF0D164F}"/>
              </a:ext>
            </a:extLst>
          </p:cNvPr>
          <p:cNvSpPr/>
          <p:nvPr/>
        </p:nvSpPr>
        <p:spPr>
          <a:xfrm>
            <a:off x="1511141" y="5466160"/>
            <a:ext cx="9928725" cy="223520"/>
          </a:xfrm>
          <a:prstGeom prst="rect">
            <a:avLst/>
          </a:prstGeom>
          <a:noFill/>
          <a:ln/>
        </p:spPr>
        <p:txBody>
          <a:bodyPr wrap="square" lIns="0" tIns="0" rIns="0" bIns="0" rtlCol="0" anchor="t">
            <a:normAutofit/>
          </a:bodyPr>
          <a:lstStyle/>
          <a:p>
            <a:pPr marL="0" indent="0" algn="l">
              <a:lnSpc>
                <a:spcPts val="1560"/>
              </a:lnSpc>
              <a:buNone/>
            </a:pPr>
            <a:r>
              <a:rPr lang="en-US" sz="1400" dirty="0">
                <a:latin typeface="Arial" pitchFamily="34" charset="0"/>
                <a:ea typeface="Arial" pitchFamily="34" charset="-122"/>
                <a:cs typeface="Arial" pitchFamily="34" charset="-120"/>
              </a:rPr>
              <a:t>Ein abweichender Fingerprint kann auf einen Man-in-the-Middle-Angriff hindeuten – abbrechen (no).</a:t>
            </a:r>
            <a:endParaRPr lang="en-US" sz="1400" dirty="0"/>
          </a:p>
        </p:txBody>
      </p:sp>
      <p:pic>
        <p:nvPicPr>
          <p:cNvPr id="68" name="Grafik 67" descr="Ausrufezeichen mit einfarbiger Füllung">
            <a:extLst>
              <a:ext uri="{FF2B5EF4-FFF2-40B4-BE49-F238E27FC236}">
                <a16:creationId xmlns:a16="http://schemas.microsoft.com/office/drawing/2014/main" id="{0254A55C-46A4-4C6E-8348-4E04132019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6741" y="5008960"/>
            <a:ext cx="914400" cy="914400"/>
          </a:xfrm>
          <a:prstGeom prst="rect">
            <a:avLst/>
          </a:prstGeom>
        </p:spPr>
      </p:pic>
      <p:pic>
        <p:nvPicPr>
          <p:cNvPr id="69" name="Grafik 68">
            <a:extLst>
              <a:ext uri="{FF2B5EF4-FFF2-40B4-BE49-F238E27FC236}">
                <a16:creationId xmlns:a16="http://schemas.microsoft.com/office/drawing/2014/main" id="{92231B37-952D-4C82-9715-49777CA61D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65705" y="5024064"/>
            <a:ext cx="1129554" cy="1298987"/>
          </a:xfrm>
          <a:prstGeom prst="rect">
            <a:avLst/>
          </a:prstGeom>
        </p:spPr>
      </p:pic>
    </p:spTree>
    <p:extLst>
      <p:ext uri="{BB962C8B-B14F-4D97-AF65-F5344CB8AC3E}">
        <p14:creationId xmlns:p14="http://schemas.microsoft.com/office/powerpoint/2010/main" val="1819360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3955" y="331336"/>
            <a:ext cx="10953313" cy="1143000"/>
          </a:xfrm>
        </p:spPr>
        <p:txBody>
          <a:bodyPr/>
          <a:lstStyle/>
          <a:p>
            <a:r>
              <a:rPr lang="en-US" sz="2000" b="1" dirty="0" err="1">
                <a:solidFill>
                  <a:srgbClr val="1E2761"/>
                </a:solidFill>
                <a:latin typeface="Cambria" pitchFamily="34" charset="0"/>
                <a:ea typeface="Cambria" pitchFamily="34" charset="-122"/>
                <a:cs typeface="Cambria" pitchFamily="34" charset="-120"/>
              </a:rPr>
              <a:t>Variante</a:t>
            </a:r>
            <a:r>
              <a:rPr lang="en-US" sz="2000" b="1" dirty="0">
                <a:solidFill>
                  <a:srgbClr val="1E2761"/>
                </a:solidFill>
                <a:latin typeface="Cambria" pitchFamily="34" charset="0"/>
                <a:ea typeface="Cambria" pitchFamily="34" charset="-122"/>
                <a:cs typeface="Cambria" pitchFamily="34" charset="-120"/>
              </a:rPr>
              <a:t> 1 – </a:t>
            </a:r>
            <a:r>
              <a:rPr lang="en-US" sz="2000" b="1" dirty="0" err="1">
                <a:solidFill>
                  <a:srgbClr val="1E2761"/>
                </a:solidFill>
                <a:latin typeface="Cambria" pitchFamily="34" charset="0"/>
                <a:ea typeface="Cambria" pitchFamily="34" charset="-122"/>
                <a:cs typeface="Cambria" pitchFamily="34" charset="-120"/>
              </a:rPr>
              <a:t>Anmeldung</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mit</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Passwort</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initiale</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Variante</a:t>
            </a:r>
            <a:r>
              <a:rPr lang="en-US" sz="2000" b="1" dirty="0">
                <a:solidFill>
                  <a:srgbClr val="1E2761"/>
                </a:solidFill>
                <a:latin typeface="Cambria" pitchFamily="34" charset="0"/>
                <a:ea typeface="Cambria" pitchFamily="34" charset="-122"/>
                <a:cs typeface="Cambria" pitchFamily="34" charset="-120"/>
              </a:rPr>
              <a:t>)</a:t>
            </a:r>
            <a:br>
              <a:rPr lang="en-US" sz="2000" dirty="0"/>
            </a:br>
            <a:endParaRPr lang="de-DE" sz="1998" dirty="0"/>
          </a:p>
        </p:txBody>
      </p:sp>
      <p:sp>
        <p:nvSpPr>
          <p:cNvPr id="5" name="Foliennummernplatzhalter 4"/>
          <p:cNvSpPr>
            <a:spLocks noGrp="1"/>
          </p:cNvSpPr>
          <p:nvPr>
            <p:ph type="sldNum" sz="quarter" idx="4"/>
          </p:nvPr>
        </p:nvSpPr>
        <p:spPr/>
        <p:txBody>
          <a:bodyPr/>
          <a:lstStyle/>
          <a:p>
            <a:fld id="{43A6DCFB-163F-4561-BF28-3CD1FE47EE20}" type="slidenum">
              <a:rPr lang="de-DE" smtClean="0"/>
              <a:pPr/>
              <a:t>5</a:t>
            </a:fld>
            <a:endParaRPr lang="de-DE" dirty="0"/>
          </a:p>
        </p:txBody>
      </p:sp>
      <p:sp>
        <p:nvSpPr>
          <p:cNvPr id="21" name="Shape 6">
            <a:extLst>
              <a:ext uri="{FF2B5EF4-FFF2-40B4-BE49-F238E27FC236}">
                <a16:creationId xmlns:a16="http://schemas.microsoft.com/office/drawing/2014/main" id="{11A55839-1DE0-4C24-BF3C-0EA010B5D370}"/>
              </a:ext>
            </a:extLst>
          </p:cNvPr>
          <p:cNvSpPr/>
          <p:nvPr/>
        </p:nvSpPr>
        <p:spPr>
          <a:xfrm>
            <a:off x="2468880" y="2272555"/>
            <a:ext cx="0" cy="3657600"/>
          </a:xfrm>
          <a:prstGeom prst="line">
            <a:avLst/>
          </a:prstGeom>
          <a:noFill/>
          <a:ln w="15875">
            <a:solidFill>
              <a:srgbClr val="D8DEE9"/>
            </a:solidFill>
            <a:prstDash val="dash"/>
          </a:ln>
        </p:spPr>
      </p:sp>
      <p:sp>
        <p:nvSpPr>
          <p:cNvPr id="22" name="Shape 7">
            <a:extLst>
              <a:ext uri="{FF2B5EF4-FFF2-40B4-BE49-F238E27FC236}">
                <a16:creationId xmlns:a16="http://schemas.microsoft.com/office/drawing/2014/main" id="{51384A62-AFAF-4DEF-9E09-883505B0D01C}"/>
              </a:ext>
            </a:extLst>
          </p:cNvPr>
          <p:cNvSpPr/>
          <p:nvPr/>
        </p:nvSpPr>
        <p:spPr>
          <a:xfrm>
            <a:off x="9722815" y="2272555"/>
            <a:ext cx="0" cy="3657600"/>
          </a:xfrm>
          <a:prstGeom prst="line">
            <a:avLst/>
          </a:prstGeom>
          <a:noFill/>
          <a:ln w="15875">
            <a:solidFill>
              <a:srgbClr val="D8DEE9"/>
            </a:solidFill>
            <a:prstDash val="dash"/>
          </a:ln>
        </p:spPr>
      </p:sp>
      <p:sp>
        <p:nvSpPr>
          <p:cNvPr id="24" name="Text 9">
            <a:extLst>
              <a:ext uri="{FF2B5EF4-FFF2-40B4-BE49-F238E27FC236}">
                <a16:creationId xmlns:a16="http://schemas.microsoft.com/office/drawing/2014/main" id="{E8CE578C-1878-4EBE-B98B-80EDA13F601B}"/>
              </a:ext>
            </a:extLst>
          </p:cNvPr>
          <p:cNvSpPr txBox="1"/>
          <p:nvPr/>
        </p:nvSpPr>
        <p:spPr>
          <a:xfrm>
            <a:off x="1280160" y="2036606"/>
            <a:ext cx="1828800" cy="420624"/>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CLIENT</a:t>
            </a:r>
            <a:endParaRPr lang="en-US" sz="1300" dirty="0"/>
          </a:p>
        </p:txBody>
      </p:sp>
      <p:sp>
        <p:nvSpPr>
          <p:cNvPr id="27" name="Text 12">
            <a:extLst>
              <a:ext uri="{FF2B5EF4-FFF2-40B4-BE49-F238E27FC236}">
                <a16:creationId xmlns:a16="http://schemas.microsoft.com/office/drawing/2014/main" id="{0CB437B5-4790-4408-8572-E8067A3BE468}"/>
              </a:ext>
            </a:extLst>
          </p:cNvPr>
          <p:cNvSpPr txBox="1"/>
          <p:nvPr/>
        </p:nvSpPr>
        <p:spPr>
          <a:xfrm>
            <a:off x="2468880" y="2336563"/>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Benutzername</a:t>
            </a:r>
            <a:endParaRPr lang="en-US" sz="1200" dirty="0"/>
          </a:p>
        </p:txBody>
      </p:sp>
      <p:sp>
        <p:nvSpPr>
          <p:cNvPr id="28" name="Shape 13">
            <a:extLst>
              <a:ext uri="{FF2B5EF4-FFF2-40B4-BE49-F238E27FC236}">
                <a16:creationId xmlns:a16="http://schemas.microsoft.com/office/drawing/2014/main" id="{F9C1BF48-96DF-4BF5-97A3-6E41B498AA4D}"/>
              </a:ext>
            </a:extLst>
          </p:cNvPr>
          <p:cNvSpPr/>
          <p:nvPr/>
        </p:nvSpPr>
        <p:spPr>
          <a:xfrm>
            <a:off x="2468880" y="2647459"/>
            <a:ext cx="7253935" cy="0"/>
          </a:xfrm>
          <a:prstGeom prst="line">
            <a:avLst/>
          </a:prstGeom>
          <a:noFill/>
          <a:ln w="22225">
            <a:solidFill>
              <a:srgbClr val="1E2761"/>
            </a:solidFill>
            <a:prstDash val="solid"/>
            <a:tailEnd type="triangle"/>
          </a:ln>
        </p:spPr>
      </p:sp>
      <p:sp>
        <p:nvSpPr>
          <p:cNvPr id="29" name="Text 14">
            <a:extLst>
              <a:ext uri="{FF2B5EF4-FFF2-40B4-BE49-F238E27FC236}">
                <a16:creationId xmlns:a16="http://schemas.microsoft.com/office/drawing/2014/main" id="{C9479BCE-1449-4C78-A3B5-108C20426612}"/>
              </a:ext>
            </a:extLst>
          </p:cNvPr>
          <p:cNvSpPr txBox="1"/>
          <p:nvPr/>
        </p:nvSpPr>
        <p:spPr>
          <a:xfrm>
            <a:off x="2468880" y="2994931"/>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Passwortabfrage</a:t>
            </a:r>
            <a:endParaRPr lang="en-US" sz="1200" dirty="0"/>
          </a:p>
        </p:txBody>
      </p:sp>
      <p:sp>
        <p:nvSpPr>
          <p:cNvPr id="30" name="Shape 15">
            <a:extLst>
              <a:ext uri="{FF2B5EF4-FFF2-40B4-BE49-F238E27FC236}">
                <a16:creationId xmlns:a16="http://schemas.microsoft.com/office/drawing/2014/main" id="{170E7C85-354C-433C-9FED-A19090C54982}"/>
              </a:ext>
            </a:extLst>
          </p:cNvPr>
          <p:cNvSpPr/>
          <p:nvPr/>
        </p:nvSpPr>
        <p:spPr>
          <a:xfrm>
            <a:off x="2468880" y="3305827"/>
            <a:ext cx="7253935" cy="0"/>
          </a:xfrm>
          <a:prstGeom prst="line">
            <a:avLst/>
          </a:prstGeom>
          <a:noFill/>
          <a:ln w="22225">
            <a:solidFill>
              <a:srgbClr val="1E2761"/>
            </a:solidFill>
            <a:prstDash val="solid"/>
            <a:headEnd type="triangle"/>
          </a:ln>
        </p:spPr>
      </p:sp>
      <p:sp>
        <p:nvSpPr>
          <p:cNvPr id="31" name="Text 16">
            <a:extLst>
              <a:ext uri="{FF2B5EF4-FFF2-40B4-BE49-F238E27FC236}">
                <a16:creationId xmlns:a16="http://schemas.microsoft.com/office/drawing/2014/main" id="{4592DE02-3ECD-4F7E-97B0-C776134DCF95}"/>
              </a:ext>
            </a:extLst>
          </p:cNvPr>
          <p:cNvSpPr txBox="1"/>
          <p:nvPr/>
        </p:nvSpPr>
        <p:spPr>
          <a:xfrm>
            <a:off x="2468880" y="3689875"/>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Passwort</a:t>
            </a:r>
            <a:endParaRPr lang="en-US" sz="1200" dirty="0"/>
          </a:p>
        </p:txBody>
      </p:sp>
      <p:sp>
        <p:nvSpPr>
          <p:cNvPr id="32" name="Shape 17">
            <a:extLst>
              <a:ext uri="{FF2B5EF4-FFF2-40B4-BE49-F238E27FC236}">
                <a16:creationId xmlns:a16="http://schemas.microsoft.com/office/drawing/2014/main" id="{848F3D3E-CE86-4720-8DBB-65CEEFDAE5BB}"/>
              </a:ext>
            </a:extLst>
          </p:cNvPr>
          <p:cNvSpPr/>
          <p:nvPr/>
        </p:nvSpPr>
        <p:spPr>
          <a:xfrm>
            <a:off x="2468880" y="4000771"/>
            <a:ext cx="7253935" cy="0"/>
          </a:xfrm>
          <a:prstGeom prst="line">
            <a:avLst/>
          </a:prstGeom>
          <a:noFill/>
          <a:ln w="22225">
            <a:solidFill>
              <a:srgbClr val="1E2761"/>
            </a:solidFill>
            <a:prstDash val="solid"/>
            <a:tailEnd type="triangle"/>
          </a:ln>
        </p:spPr>
      </p:sp>
      <p:sp>
        <p:nvSpPr>
          <p:cNvPr id="33" name="Text 18">
            <a:extLst>
              <a:ext uri="{FF2B5EF4-FFF2-40B4-BE49-F238E27FC236}">
                <a16:creationId xmlns:a16="http://schemas.microsoft.com/office/drawing/2014/main" id="{E3CAEA97-7F47-455C-8850-D7169E9A7B1A}"/>
              </a:ext>
            </a:extLst>
          </p:cNvPr>
          <p:cNvSpPr txBox="1"/>
          <p:nvPr/>
        </p:nvSpPr>
        <p:spPr>
          <a:xfrm>
            <a:off x="2194560" y="4073923"/>
            <a:ext cx="7802575" cy="292608"/>
          </a:xfrm>
          <a:prstGeom prst="rect">
            <a:avLst/>
          </a:prstGeom>
          <a:noFill/>
          <a:ln/>
        </p:spPr>
        <p:txBody>
          <a:bodyPr wrap="square" lIns="0" tIns="0" rIns="0" bIns="0" rtlCol="0" anchor="t"/>
          <a:lstStyle/>
          <a:p>
            <a:pPr marL="0" indent="0" algn="ctr">
              <a:buNone/>
            </a:pPr>
            <a:r>
              <a:rPr lang="en-US" sz="1050" i="1" dirty="0">
                <a:solidFill>
                  <a:srgbClr val="B03A2E"/>
                </a:solidFill>
                <a:latin typeface="Calibri" pitchFamily="34" charset="0"/>
                <a:ea typeface="Calibri" pitchFamily="34" charset="-122"/>
                <a:cs typeface="Calibri" pitchFamily="34" charset="-120"/>
              </a:rPr>
              <a:t>Ein Geheimnis überquert das Netz – wenn auch verschlüsselt</a:t>
            </a:r>
            <a:endParaRPr lang="en-US" sz="1050" dirty="0"/>
          </a:p>
        </p:txBody>
      </p:sp>
      <p:sp>
        <p:nvSpPr>
          <p:cNvPr id="34" name="Shape 19">
            <a:extLst>
              <a:ext uri="{FF2B5EF4-FFF2-40B4-BE49-F238E27FC236}">
                <a16:creationId xmlns:a16="http://schemas.microsoft.com/office/drawing/2014/main" id="{670B4D0F-FBF2-49D3-82D1-F440BA61DC19}"/>
              </a:ext>
            </a:extLst>
          </p:cNvPr>
          <p:cNvSpPr/>
          <p:nvPr/>
        </p:nvSpPr>
        <p:spPr>
          <a:xfrm>
            <a:off x="7802575" y="4540267"/>
            <a:ext cx="3840480" cy="457200"/>
          </a:xfrm>
          <a:prstGeom prst="roundRect">
            <a:avLst>
              <a:gd name="adj" fmla="val 16000"/>
            </a:avLst>
          </a:prstGeom>
          <a:solidFill>
            <a:srgbClr val="F4F6FA"/>
          </a:solidFill>
          <a:ln w="9525">
            <a:solidFill>
              <a:srgbClr val="D8DEE9"/>
            </a:solidFill>
            <a:prstDash val="solid"/>
          </a:ln>
        </p:spPr>
      </p:sp>
      <p:sp>
        <p:nvSpPr>
          <p:cNvPr id="35" name="Text 20">
            <a:extLst>
              <a:ext uri="{FF2B5EF4-FFF2-40B4-BE49-F238E27FC236}">
                <a16:creationId xmlns:a16="http://schemas.microsoft.com/office/drawing/2014/main" id="{9E358CDC-6873-4AC9-9F65-93474D6FC232}"/>
              </a:ext>
            </a:extLst>
          </p:cNvPr>
          <p:cNvSpPr txBox="1"/>
          <p:nvPr/>
        </p:nvSpPr>
        <p:spPr>
          <a:xfrm>
            <a:off x="7939735" y="4540267"/>
            <a:ext cx="3566160" cy="457200"/>
          </a:xfrm>
          <a:prstGeom prst="rect">
            <a:avLst/>
          </a:prstGeom>
          <a:noFill/>
          <a:ln/>
        </p:spPr>
        <p:txBody>
          <a:bodyPr wrap="square" lIns="0" tIns="0" rIns="0" bIns="0" rtlCol="0" anchor="ctr"/>
          <a:lstStyle/>
          <a:p>
            <a:pPr marL="0" indent="0" algn="ctr">
              <a:buNone/>
            </a:pPr>
            <a:r>
              <a:rPr lang="en-US" sz="1100" b="1" dirty="0">
                <a:solidFill>
                  <a:srgbClr val="1A1F2B"/>
                </a:solidFill>
                <a:latin typeface="Calibri" pitchFamily="34" charset="0"/>
                <a:ea typeface="Calibri" pitchFamily="34" charset="-122"/>
                <a:cs typeface="Calibri" pitchFamily="34" charset="-120"/>
              </a:rPr>
              <a:t>Vergleich mit gespeichertem Passwort-Hash (z. B. /etc/shadow)</a:t>
            </a:r>
            <a:endParaRPr lang="en-US" sz="1100" dirty="0"/>
          </a:p>
        </p:txBody>
      </p:sp>
      <p:sp>
        <p:nvSpPr>
          <p:cNvPr id="36" name="Text 21">
            <a:extLst>
              <a:ext uri="{FF2B5EF4-FFF2-40B4-BE49-F238E27FC236}">
                <a16:creationId xmlns:a16="http://schemas.microsoft.com/office/drawing/2014/main" id="{C7D7202E-294A-4DEB-8D71-3A3D4D7B3B6C}"/>
              </a:ext>
            </a:extLst>
          </p:cNvPr>
          <p:cNvSpPr txBox="1"/>
          <p:nvPr/>
        </p:nvSpPr>
        <p:spPr>
          <a:xfrm>
            <a:off x="2468880" y="5171203"/>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Zugriff gewährt / verweigert</a:t>
            </a:r>
            <a:endParaRPr lang="en-US" sz="1200" dirty="0"/>
          </a:p>
        </p:txBody>
      </p:sp>
      <p:sp>
        <p:nvSpPr>
          <p:cNvPr id="37" name="Shape 22">
            <a:extLst>
              <a:ext uri="{FF2B5EF4-FFF2-40B4-BE49-F238E27FC236}">
                <a16:creationId xmlns:a16="http://schemas.microsoft.com/office/drawing/2014/main" id="{5CF97E3D-3DCC-4FE5-AF5A-DC6024ACA703}"/>
              </a:ext>
            </a:extLst>
          </p:cNvPr>
          <p:cNvSpPr/>
          <p:nvPr/>
        </p:nvSpPr>
        <p:spPr>
          <a:xfrm>
            <a:off x="2468880" y="5482099"/>
            <a:ext cx="7253935" cy="0"/>
          </a:xfrm>
          <a:prstGeom prst="line">
            <a:avLst/>
          </a:prstGeom>
          <a:noFill/>
          <a:ln w="22225">
            <a:solidFill>
              <a:srgbClr val="1E2761"/>
            </a:solidFill>
            <a:prstDash val="solid"/>
            <a:headEnd type="triangle"/>
          </a:ln>
        </p:spPr>
      </p:sp>
      <p:sp>
        <p:nvSpPr>
          <p:cNvPr id="38" name="Shape 23">
            <a:extLst>
              <a:ext uri="{FF2B5EF4-FFF2-40B4-BE49-F238E27FC236}">
                <a16:creationId xmlns:a16="http://schemas.microsoft.com/office/drawing/2014/main" id="{CEE76E02-4D5C-4FBF-8A79-8F2D882824A5}"/>
              </a:ext>
            </a:extLst>
          </p:cNvPr>
          <p:cNvSpPr/>
          <p:nvPr/>
        </p:nvSpPr>
        <p:spPr>
          <a:xfrm>
            <a:off x="548640" y="6021595"/>
            <a:ext cx="11094415" cy="475488"/>
          </a:xfrm>
          <a:prstGeom prst="roundRect">
            <a:avLst>
              <a:gd name="adj" fmla="val 19231"/>
            </a:avLst>
          </a:prstGeom>
          <a:solidFill>
            <a:srgbClr val="F4F6FA"/>
          </a:solidFill>
          <a:ln w="9525">
            <a:solidFill>
              <a:srgbClr val="D8DEE9"/>
            </a:solidFill>
            <a:prstDash val="solid"/>
          </a:ln>
        </p:spPr>
      </p:sp>
      <p:sp>
        <p:nvSpPr>
          <p:cNvPr id="39" name="Text 24">
            <a:extLst>
              <a:ext uri="{FF2B5EF4-FFF2-40B4-BE49-F238E27FC236}">
                <a16:creationId xmlns:a16="http://schemas.microsoft.com/office/drawing/2014/main" id="{C7D7E4CD-08C4-4F62-BD26-8F602259155B}"/>
              </a:ext>
            </a:extLst>
          </p:cNvPr>
          <p:cNvSpPr txBox="1"/>
          <p:nvPr/>
        </p:nvSpPr>
        <p:spPr>
          <a:xfrm>
            <a:off x="822960" y="6021595"/>
            <a:ext cx="10545775" cy="47548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Kernaussage:  </a:t>
            </a:r>
            <a:r>
              <a:rPr lang="en-US" sz="1300" dirty="0">
                <a:solidFill>
                  <a:srgbClr val="1A1F2B"/>
                </a:solidFill>
                <a:latin typeface="Calibri" pitchFamily="34" charset="0"/>
                <a:ea typeface="Calibri" pitchFamily="34" charset="-122"/>
                <a:cs typeface="Calibri" pitchFamily="34" charset="-120"/>
              </a:rPr>
              <a:t>Auch verschlüsselt übertragen bleibt das Passwort ein Geheimnis, das den Client tatsächlich verlässt.</a:t>
            </a:r>
            <a:endParaRPr lang="en-US" sz="1300" dirty="0"/>
          </a:p>
        </p:txBody>
      </p:sp>
      <p:sp>
        <p:nvSpPr>
          <p:cNvPr id="40" name="Text 5">
            <a:extLst>
              <a:ext uri="{FF2B5EF4-FFF2-40B4-BE49-F238E27FC236}">
                <a16:creationId xmlns:a16="http://schemas.microsoft.com/office/drawing/2014/main" id="{6B366B0A-00C7-4326-986B-657390BD3D53}"/>
              </a:ext>
            </a:extLst>
          </p:cNvPr>
          <p:cNvSpPr txBox="1"/>
          <p:nvPr/>
        </p:nvSpPr>
        <p:spPr>
          <a:xfrm>
            <a:off x="4389120" y="1539689"/>
            <a:ext cx="3063240" cy="365760"/>
          </a:xfrm>
          <a:prstGeom prst="rect">
            <a:avLst/>
          </a:prstGeom>
          <a:noFill/>
          <a:ln/>
        </p:spPr>
        <p:txBody>
          <a:bodyPr wrap="square" lIns="0" tIns="0" rIns="0" bIns="0" rtlCol="0" anchor="ctr"/>
          <a:lstStyle/>
          <a:p>
            <a:pPr marL="0" indent="0" algn="ctr">
              <a:buNone/>
            </a:pPr>
            <a:r>
              <a:rPr lang="en-US" sz="1050" b="1" dirty="0" err="1">
                <a:solidFill>
                  <a:srgbClr val="1E2761"/>
                </a:solidFill>
                <a:latin typeface="Calibri" pitchFamily="34" charset="0"/>
                <a:ea typeface="Calibri" pitchFamily="34" charset="-122"/>
                <a:cs typeface="Calibri" pitchFamily="34" charset="-120"/>
              </a:rPr>
              <a:t>Kanal</a:t>
            </a:r>
            <a:r>
              <a:rPr lang="en-US" sz="1050" b="1" dirty="0">
                <a:solidFill>
                  <a:srgbClr val="1E2761"/>
                </a:solidFill>
                <a:latin typeface="Calibri" pitchFamily="34" charset="0"/>
                <a:ea typeface="Calibri" pitchFamily="34" charset="-122"/>
                <a:cs typeface="Calibri" pitchFamily="34" charset="-120"/>
              </a:rPr>
              <a:t> bereits verschlüsselt</a:t>
            </a:r>
            <a:endParaRPr lang="en-US" sz="1050" dirty="0"/>
          </a:p>
        </p:txBody>
      </p:sp>
      <p:pic>
        <p:nvPicPr>
          <p:cNvPr id="41" name="Grafik 40" descr="Sperren mit einfarbiger Füllung">
            <a:extLst>
              <a:ext uri="{FF2B5EF4-FFF2-40B4-BE49-F238E27FC236}">
                <a16:creationId xmlns:a16="http://schemas.microsoft.com/office/drawing/2014/main" id="{B0E76A61-12D0-4129-8550-00CAD7696E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16563" y="1411402"/>
            <a:ext cx="450719" cy="450719"/>
          </a:xfrm>
          <a:prstGeom prst="rect">
            <a:avLst/>
          </a:prstGeom>
        </p:spPr>
      </p:pic>
      <p:grpSp>
        <p:nvGrpSpPr>
          <p:cNvPr id="42" name="Gruppieren 41">
            <a:extLst>
              <a:ext uri="{FF2B5EF4-FFF2-40B4-BE49-F238E27FC236}">
                <a16:creationId xmlns:a16="http://schemas.microsoft.com/office/drawing/2014/main" id="{C9D63D06-BBA2-4AD2-B920-C68FA469EA5F}"/>
              </a:ext>
            </a:extLst>
          </p:cNvPr>
          <p:cNvGrpSpPr/>
          <p:nvPr/>
        </p:nvGrpSpPr>
        <p:grpSpPr>
          <a:xfrm>
            <a:off x="1277241" y="1717910"/>
            <a:ext cx="1351659" cy="1017731"/>
            <a:chOff x="1277241" y="1717910"/>
            <a:chExt cx="1351659" cy="1017731"/>
          </a:xfrm>
        </p:grpSpPr>
        <p:pic>
          <p:nvPicPr>
            <p:cNvPr id="43" name="Grafik 42">
              <a:extLst>
                <a:ext uri="{FF2B5EF4-FFF2-40B4-BE49-F238E27FC236}">
                  <a16:creationId xmlns:a16="http://schemas.microsoft.com/office/drawing/2014/main" id="{1C81A670-7FCF-47A9-B628-FB3E3064F39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509841" y="1717910"/>
              <a:ext cx="847584" cy="1017731"/>
            </a:xfrm>
            <a:prstGeom prst="rect">
              <a:avLst/>
            </a:prstGeom>
          </p:spPr>
        </p:pic>
        <p:sp>
          <p:nvSpPr>
            <p:cNvPr id="44" name="Text 9">
              <a:extLst>
                <a:ext uri="{FF2B5EF4-FFF2-40B4-BE49-F238E27FC236}">
                  <a16:creationId xmlns:a16="http://schemas.microsoft.com/office/drawing/2014/main" id="{D42581BC-A170-4930-8BCF-82BD86D2619B}"/>
                </a:ext>
              </a:extLst>
            </p:cNvPr>
            <p:cNvSpPr txBox="1"/>
            <p:nvPr/>
          </p:nvSpPr>
          <p:spPr>
            <a:xfrm>
              <a:off x="1277241" y="182226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CLIENT</a:t>
              </a:r>
              <a:endParaRPr lang="en-US" sz="1300" dirty="0">
                <a:solidFill>
                  <a:srgbClr val="0061AF"/>
                </a:solidFill>
              </a:endParaRPr>
            </a:p>
          </p:txBody>
        </p:sp>
      </p:grpSp>
      <p:grpSp>
        <p:nvGrpSpPr>
          <p:cNvPr id="45" name="Gruppieren 44">
            <a:extLst>
              <a:ext uri="{FF2B5EF4-FFF2-40B4-BE49-F238E27FC236}">
                <a16:creationId xmlns:a16="http://schemas.microsoft.com/office/drawing/2014/main" id="{09124870-20C1-4243-8F26-139CDA406434}"/>
              </a:ext>
            </a:extLst>
          </p:cNvPr>
          <p:cNvGrpSpPr/>
          <p:nvPr/>
        </p:nvGrpSpPr>
        <p:grpSpPr>
          <a:xfrm>
            <a:off x="9848849" y="1767865"/>
            <a:ext cx="1351659" cy="985018"/>
            <a:chOff x="9848849" y="1767865"/>
            <a:chExt cx="1351659" cy="985018"/>
          </a:xfrm>
        </p:grpSpPr>
        <p:sp>
          <p:nvSpPr>
            <p:cNvPr id="46" name="Rechteck 45">
              <a:extLst>
                <a:ext uri="{FF2B5EF4-FFF2-40B4-BE49-F238E27FC236}">
                  <a16:creationId xmlns:a16="http://schemas.microsoft.com/office/drawing/2014/main" id="{4BBB3943-04B0-459A-BAA6-4497074CFA18}"/>
                </a:ext>
              </a:extLst>
            </p:cNvPr>
            <p:cNvSpPr/>
            <p:nvPr/>
          </p:nvSpPr>
          <p:spPr>
            <a:xfrm>
              <a:off x="10160000" y="1767865"/>
              <a:ext cx="729358" cy="985018"/>
            </a:xfrm>
            <a:prstGeom prst="rect">
              <a:avLst/>
            </a:prstGeom>
            <a:solidFill>
              <a:srgbClr val="E7E7E9"/>
            </a:solidFill>
            <a:ln w="47625">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7" name="Gerader Verbinder 46">
              <a:extLst>
                <a:ext uri="{FF2B5EF4-FFF2-40B4-BE49-F238E27FC236}">
                  <a16:creationId xmlns:a16="http://schemas.microsoft.com/office/drawing/2014/main" id="{E1B00477-5E20-4D80-A3AF-AACD8E3F462B}"/>
                </a:ext>
              </a:extLst>
            </p:cNvPr>
            <p:cNvCxnSpPr>
              <a:cxnSpLocks/>
            </p:cNvCxnSpPr>
            <p:nvPr/>
          </p:nvCxnSpPr>
          <p:spPr>
            <a:xfrm>
              <a:off x="10274154" y="2341045"/>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48" name="Gerader Verbinder 47">
              <a:extLst>
                <a:ext uri="{FF2B5EF4-FFF2-40B4-BE49-F238E27FC236}">
                  <a16:creationId xmlns:a16="http://schemas.microsoft.com/office/drawing/2014/main" id="{CD2C6A94-4C0B-4BA9-AC9D-68811F02B243}"/>
                </a:ext>
              </a:extLst>
            </p:cNvPr>
            <p:cNvCxnSpPr>
              <a:cxnSpLocks/>
            </p:cNvCxnSpPr>
            <p:nvPr/>
          </p:nvCxnSpPr>
          <p:spPr>
            <a:xfrm>
              <a:off x="10274154" y="2441810"/>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F6ADAB5C-C326-4794-AEBB-DE8DB4E0B7F5}"/>
                </a:ext>
              </a:extLst>
            </p:cNvPr>
            <p:cNvCxnSpPr>
              <a:cxnSpLocks/>
            </p:cNvCxnSpPr>
            <p:nvPr/>
          </p:nvCxnSpPr>
          <p:spPr>
            <a:xfrm>
              <a:off x="10274154" y="2567286"/>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sp>
          <p:nvSpPr>
            <p:cNvPr id="50" name="Ellipse 49">
              <a:extLst>
                <a:ext uri="{FF2B5EF4-FFF2-40B4-BE49-F238E27FC236}">
                  <a16:creationId xmlns:a16="http://schemas.microsoft.com/office/drawing/2014/main" id="{3991FE60-BF14-41BD-B924-C1259366BE37}"/>
                </a:ext>
              </a:extLst>
            </p:cNvPr>
            <p:cNvSpPr/>
            <p:nvPr/>
          </p:nvSpPr>
          <p:spPr>
            <a:xfrm>
              <a:off x="10553846" y="1942465"/>
              <a:ext cx="162565" cy="162000"/>
            </a:xfrm>
            <a:prstGeom prst="ellipse">
              <a:avLst/>
            </a:prstGeom>
            <a:solidFill>
              <a:srgbClr val="E7E7E9"/>
            </a:solidFill>
            <a:ln w="38100">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 9">
              <a:extLst>
                <a:ext uri="{FF2B5EF4-FFF2-40B4-BE49-F238E27FC236}">
                  <a16:creationId xmlns:a16="http://schemas.microsoft.com/office/drawing/2014/main" id="{F52A9860-277F-45E4-AE14-47ABF2616300}"/>
                </a:ext>
              </a:extLst>
            </p:cNvPr>
            <p:cNvSpPr txBox="1"/>
            <p:nvPr/>
          </p:nvSpPr>
          <p:spPr>
            <a:xfrm>
              <a:off x="9848849" y="200003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Server</a:t>
              </a:r>
              <a:endParaRPr lang="en-US" sz="1300" dirty="0">
                <a:solidFill>
                  <a:srgbClr val="0061AF"/>
                </a:solidFill>
              </a:endParaRPr>
            </a:p>
          </p:txBody>
        </p:sp>
      </p:grpSp>
    </p:spTree>
    <p:extLst>
      <p:ext uri="{BB962C8B-B14F-4D97-AF65-F5344CB8AC3E}">
        <p14:creationId xmlns:p14="http://schemas.microsoft.com/office/powerpoint/2010/main" val="4230401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3955" y="331336"/>
            <a:ext cx="10953313" cy="1143000"/>
          </a:xfrm>
        </p:spPr>
        <p:txBody>
          <a:bodyPr/>
          <a:lstStyle/>
          <a:p>
            <a:r>
              <a:rPr lang="en-US" sz="2000" b="1" dirty="0" err="1">
                <a:solidFill>
                  <a:srgbClr val="1E2761"/>
                </a:solidFill>
                <a:latin typeface="Cambria" pitchFamily="34" charset="0"/>
                <a:ea typeface="Cambria" pitchFamily="34" charset="-122"/>
                <a:cs typeface="Cambria" pitchFamily="34" charset="-120"/>
              </a:rPr>
              <a:t>Variante</a:t>
            </a:r>
            <a:r>
              <a:rPr lang="en-US" sz="2000" b="1" dirty="0">
                <a:solidFill>
                  <a:srgbClr val="1E2761"/>
                </a:solidFill>
                <a:latin typeface="Cambria" pitchFamily="34" charset="0"/>
                <a:ea typeface="Cambria" pitchFamily="34" charset="-122"/>
                <a:cs typeface="Cambria" pitchFamily="34" charset="-120"/>
              </a:rPr>
              <a:t> 2 – </a:t>
            </a:r>
            <a:r>
              <a:rPr lang="en-US" sz="2000" b="1" dirty="0" err="1">
                <a:solidFill>
                  <a:srgbClr val="1E2761"/>
                </a:solidFill>
                <a:latin typeface="Cambria" pitchFamily="34" charset="0"/>
                <a:ea typeface="Cambria" pitchFamily="34" charset="-122"/>
                <a:cs typeface="Cambria" pitchFamily="34" charset="-120"/>
              </a:rPr>
              <a:t>Anmeldung</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mit</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Schlüsselpaar</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dauerhafte</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Variante</a:t>
            </a:r>
            <a:r>
              <a:rPr lang="en-US" sz="2000" b="1" dirty="0">
                <a:solidFill>
                  <a:srgbClr val="1E2761"/>
                </a:solidFill>
                <a:latin typeface="Cambria" pitchFamily="34" charset="0"/>
                <a:ea typeface="Cambria" pitchFamily="34" charset="-122"/>
                <a:cs typeface="Cambria" pitchFamily="34" charset="-120"/>
              </a:rPr>
              <a:t>)</a:t>
            </a:r>
            <a:br>
              <a:rPr lang="en-US" sz="2000" dirty="0"/>
            </a:br>
            <a:endParaRPr lang="de-DE" sz="1998" dirty="0"/>
          </a:p>
        </p:txBody>
      </p:sp>
      <p:sp>
        <p:nvSpPr>
          <p:cNvPr id="5" name="Foliennummernplatzhalter 4"/>
          <p:cNvSpPr>
            <a:spLocks noGrp="1"/>
          </p:cNvSpPr>
          <p:nvPr>
            <p:ph type="sldNum" sz="quarter" idx="4"/>
          </p:nvPr>
        </p:nvSpPr>
        <p:spPr/>
        <p:txBody>
          <a:bodyPr/>
          <a:lstStyle/>
          <a:p>
            <a:fld id="{43A6DCFB-163F-4561-BF28-3CD1FE47EE20}" type="slidenum">
              <a:rPr lang="de-DE" smtClean="0"/>
              <a:pPr/>
              <a:t>6</a:t>
            </a:fld>
            <a:endParaRPr lang="de-DE" dirty="0"/>
          </a:p>
        </p:txBody>
      </p:sp>
      <p:sp>
        <p:nvSpPr>
          <p:cNvPr id="40" name="Shape 6">
            <a:extLst>
              <a:ext uri="{FF2B5EF4-FFF2-40B4-BE49-F238E27FC236}">
                <a16:creationId xmlns:a16="http://schemas.microsoft.com/office/drawing/2014/main" id="{51AFF95E-FB85-43D7-A14F-02AA33A8E5FE}"/>
              </a:ext>
            </a:extLst>
          </p:cNvPr>
          <p:cNvSpPr/>
          <p:nvPr/>
        </p:nvSpPr>
        <p:spPr>
          <a:xfrm>
            <a:off x="2468880" y="1992858"/>
            <a:ext cx="0" cy="4059936"/>
          </a:xfrm>
          <a:prstGeom prst="line">
            <a:avLst/>
          </a:prstGeom>
          <a:noFill/>
          <a:ln w="15875">
            <a:solidFill>
              <a:srgbClr val="D8DEE9"/>
            </a:solidFill>
            <a:prstDash val="dash"/>
          </a:ln>
        </p:spPr>
      </p:sp>
      <p:sp>
        <p:nvSpPr>
          <p:cNvPr id="41" name="Shape 7">
            <a:extLst>
              <a:ext uri="{FF2B5EF4-FFF2-40B4-BE49-F238E27FC236}">
                <a16:creationId xmlns:a16="http://schemas.microsoft.com/office/drawing/2014/main" id="{3AA6A67B-8E58-4F7A-A248-BD914271D63B}"/>
              </a:ext>
            </a:extLst>
          </p:cNvPr>
          <p:cNvSpPr/>
          <p:nvPr/>
        </p:nvSpPr>
        <p:spPr>
          <a:xfrm>
            <a:off x="9722815" y="1992858"/>
            <a:ext cx="0" cy="4059936"/>
          </a:xfrm>
          <a:prstGeom prst="line">
            <a:avLst/>
          </a:prstGeom>
          <a:noFill/>
          <a:ln w="15875">
            <a:solidFill>
              <a:srgbClr val="D8DEE9"/>
            </a:solidFill>
            <a:prstDash val="dash"/>
          </a:ln>
        </p:spPr>
      </p:sp>
      <p:sp>
        <p:nvSpPr>
          <p:cNvPr id="46" name="Text 12">
            <a:extLst>
              <a:ext uri="{FF2B5EF4-FFF2-40B4-BE49-F238E27FC236}">
                <a16:creationId xmlns:a16="http://schemas.microsoft.com/office/drawing/2014/main" id="{078F56B0-86B4-4E5B-8F6B-99D43219AAB7}"/>
              </a:ext>
            </a:extLst>
          </p:cNvPr>
          <p:cNvSpPr txBox="1"/>
          <p:nvPr/>
        </p:nvSpPr>
        <p:spPr>
          <a:xfrm>
            <a:off x="2468880" y="2056866"/>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Angebot: Anmeldung mit Public Key X</a:t>
            </a:r>
            <a:endParaRPr lang="en-US" sz="1200" dirty="0"/>
          </a:p>
        </p:txBody>
      </p:sp>
      <p:sp>
        <p:nvSpPr>
          <p:cNvPr id="47" name="Shape 13">
            <a:extLst>
              <a:ext uri="{FF2B5EF4-FFF2-40B4-BE49-F238E27FC236}">
                <a16:creationId xmlns:a16="http://schemas.microsoft.com/office/drawing/2014/main" id="{1CB26402-862D-45A8-80B8-157C83DF2748}"/>
              </a:ext>
            </a:extLst>
          </p:cNvPr>
          <p:cNvSpPr/>
          <p:nvPr/>
        </p:nvSpPr>
        <p:spPr>
          <a:xfrm>
            <a:off x="2468880" y="2367762"/>
            <a:ext cx="7253935" cy="0"/>
          </a:xfrm>
          <a:prstGeom prst="line">
            <a:avLst/>
          </a:prstGeom>
          <a:noFill/>
          <a:ln w="22225">
            <a:solidFill>
              <a:srgbClr val="1E2761"/>
            </a:solidFill>
            <a:prstDash val="solid"/>
            <a:tailEnd type="triangle"/>
          </a:ln>
        </p:spPr>
      </p:sp>
      <p:sp>
        <p:nvSpPr>
          <p:cNvPr id="48" name="Text 14">
            <a:extLst>
              <a:ext uri="{FF2B5EF4-FFF2-40B4-BE49-F238E27FC236}">
                <a16:creationId xmlns:a16="http://schemas.microsoft.com/office/drawing/2014/main" id="{CBD2291F-F91F-4B6D-AD1C-5897ED1713F8}"/>
              </a:ext>
            </a:extLst>
          </p:cNvPr>
          <p:cNvSpPr txBox="1"/>
          <p:nvPr/>
        </p:nvSpPr>
        <p:spPr>
          <a:xfrm>
            <a:off x="2468880" y="2751810"/>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Challenge (Zufallsdaten)</a:t>
            </a:r>
            <a:endParaRPr lang="en-US" sz="1200" dirty="0"/>
          </a:p>
        </p:txBody>
      </p:sp>
      <p:sp>
        <p:nvSpPr>
          <p:cNvPr id="49" name="Shape 15">
            <a:extLst>
              <a:ext uri="{FF2B5EF4-FFF2-40B4-BE49-F238E27FC236}">
                <a16:creationId xmlns:a16="http://schemas.microsoft.com/office/drawing/2014/main" id="{5C8C37BA-D03E-42CB-8467-7F7A43AA13E9}"/>
              </a:ext>
            </a:extLst>
          </p:cNvPr>
          <p:cNvSpPr/>
          <p:nvPr/>
        </p:nvSpPr>
        <p:spPr>
          <a:xfrm>
            <a:off x="2468880" y="3062706"/>
            <a:ext cx="7253935" cy="0"/>
          </a:xfrm>
          <a:prstGeom prst="line">
            <a:avLst/>
          </a:prstGeom>
          <a:noFill/>
          <a:ln w="22225">
            <a:solidFill>
              <a:srgbClr val="1E2761"/>
            </a:solidFill>
            <a:prstDash val="solid"/>
            <a:headEnd type="triangle"/>
          </a:ln>
        </p:spPr>
      </p:sp>
      <p:sp>
        <p:nvSpPr>
          <p:cNvPr id="50" name="Text 16">
            <a:extLst>
              <a:ext uri="{FF2B5EF4-FFF2-40B4-BE49-F238E27FC236}">
                <a16:creationId xmlns:a16="http://schemas.microsoft.com/office/drawing/2014/main" id="{5681EE6F-A227-41A3-8CF9-7C427204BB24}"/>
              </a:ext>
            </a:extLst>
          </p:cNvPr>
          <p:cNvSpPr txBox="1"/>
          <p:nvPr/>
        </p:nvSpPr>
        <p:spPr>
          <a:xfrm>
            <a:off x="2194560" y="3135858"/>
            <a:ext cx="7802575" cy="292608"/>
          </a:xfrm>
          <a:prstGeom prst="rect">
            <a:avLst/>
          </a:prstGeom>
          <a:noFill/>
          <a:ln/>
        </p:spPr>
        <p:txBody>
          <a:bodyPr wrap="square" lIns="0" tIns="0" rIns="0" bIns="0" rtlCol="0" anchor="t"/>
          <a:lstStyle/>
          <a:p>
            <a:pPr marL="0" indent="0" algn="ctr">
              <a:buNone/>
            </a:pPr>
            <a:r>
              <a:rPr lang="en-US" sz="1050" i="1" dirty="0">
                <a:solidFill>
                  <a:srgbClr val="5B6472"/>
                </a:solidFill>
                <a:latin typeface="Calibri" pitchFamily="34" charset="0"/>
                <a:ea typeface="Calibri" pitchFamily="34" charset="-122"/>
                <a:cs typeface="Calibri" pitchFamily="34" charset="-120"/>
              </a:rPr>
              <a:t>davor: Server prüft, ob Public Key X in authorized_keys steht</a:t>
            </a:r>
            <a:endParaRPr lang="en-US" sz="1050" dirty="0"/>
          </a:p>
        </p:txBody>
      </p:sp>
      <p:sp>
        <p:nvSpPr>
          <p:cNvPr id="51" name="Shape 17">
            <a:extLst>
              <a:ext uri="{FF2B5EF4-FFF2-40B4-BE49-F238E27FC236}">
                <a16:creationId xmlns:a16="http://schemas.microsoft.com/office/drawing/2014/main" id="{5F5AA79E-5808-4D40-8809-885056C30518}"/>
              </a:ext>
            </a:extLst>
          </p:cNvPr>
          <p:cNvSpPr/>
          <p:nvPr/>
        </p:nvSpPr>
        <p:spPr>
          <a:xfrm>
            <a:off x="548640" y="3602202"/>
            <a:ext cx="3840480" cy="658368"/>
          </a:xfrm>
          <a:prstGeom prst="roundRect">
            <a:avLst>
              <a:gd name="adj" fmla="val 11111"/>
            </a:avLst>
          </a:prstGeom>
          <a:solidFill>
            <a:srgbClr val="F4F6FA"/>
          </a:solidFill>
          <a:ln w="9525">
            <a:solidFill>
              <a:srgbClr val="D8DEE9"/>
            </a:solidFill>
            <a:prstDash val="solid"/>
          </a:ln>
        </p:spPr>
      </p:sp>
      <p:sp>
        <p:nvSpPr>
          <p:cNvPr id="52" name="Text 18">
            <a:extLst>
              <a:ext uri="{FF2B5EF4-FFF2-40B4-BE49-F238E27FC236}">
                <a16:creationId xmlns:a16="http://schemas.microsoft.com/office/drawing/2014/main" id="{127C2C7F-6CE1-444A-9B8D-7499EA89CC08}"/>
              </a:ext>
            </a:extLst>
          </p:cNvPr>
          <p:cNvSpPr txBox="1"/>
          <p:nvPr/>
        </p:nvSpPr>
        <p:spPr>
          <a:xfrm>
            <a:off x="685800" y="3657066"/>
            <a:ext cx="3566160" cy="274320"/>
          </a:xfrm>
          <a:prstGeom prst="rect">
            <a:avLst/>
          </a:prstGeom>
          <a:noFill/>
          <a:ln/>
        </p:spPr>
        <p:txBody>
          <a:bodyPr wrap="square" lIns="0" tIns="0" rIns="0" bIns="0" rtlCol="0" anchor="ctr"/>
          <a:lstStyle/>
          <a:p>
            <a:pPr marL="0" indent="0" algn="ctr">
              <a:buNone/>
            </a:pPr>
            <a:r>
              <a:rPr lang="en-US" sz="1100" b="1" dirty="0">
                <a:solidFill>
                  <a:srgbClr val="1A1F2B"/>
                </a:solidFill>
                <a:latin typeface="Calibri" pitchFamily="34" charset="0"/>
                <a:ea typeface="Calibri" pitchFamily="34" charset="-122"/>
                <a:cs typeface="Calibri" pitchFamily="34" charset="-120"/>
              </a:rPr>
              <a:t>Signiert Challenge mit privatem Schlüssel</a:t>
            </a:r>
            <a:endParaRPr lang="en-US" sz="1100" dirty="0"/>
          </a:p>
        </p:txBody>
      </p:sp>
      <p:sp>
        <p:nvSpPr>
          <p:cNvPr id="53" name="Text 19">
            <a:extLst>
              <a:ext uri="{FF2B5EF4-FFF2-40B4-BE49-F238E27FC236}">
                <a16:creationId xmlns:a16="http://schemas.microsoft.com/office/drawing/2014/main" id="{B211183E-E99C-4C6F-9487-2B5EABB8CA22}"/>
              </a:ext>
            </a:extLst>
          </p:cNvPr>
          <p:cNvSpPr txBox="1"/>
          <p:nvPr/>
        </p:nvSpPr>
        <p:spPr>
          <a:xfrm>
            <a:off x="685800" y="3931386"/>
            <a:ext cx="3566160" cy="292608"/>
          </a:xfrm>
          <a:prstGeom prst="rect">
            <a:avLst/>
          </a:prstGeom>
          <a:noFill/>
          <a:ln/>
        </p:spPr>
        <p:txBody>
          <a:bodyPr wrap="square" lIns="0" tIns="0" rIns="0" bIns="0" rtlCol="0" anchor="ctr"/>
          <a:lstStyle/>
          <a:p>
            <a:pPr marL="0" indent="0" algn="ctr">
              <a:buNone/>
            </a:pPr>
            <a:r>
              <a:rPr lang="en-US" sz="1000" i="1" dirty="0">
                <a:solidFill>
                  <a:srgbClr val="1E6B3C"/>
                </a:solidFill>
                <a:latin typeface="Calibri" pitchFamily="34" charset="0"/>
                <a:ea typeface="Calibri" pitchFamily="34" charset="-122"/>
                <a:cs typeface="Calibri" pitchFamily="34" charset="-120"/>
              </a:rPr>
              <a:t>bleibt lokal – verlässt den Client nie</a:t>
            </a:r>
            <a:endParaRPr lang="en-US" sz="1000" dirty="0"/>
          </a:p>
        </p:txBody>
      </p:sp>
      <p:sp>
        <p:nvSpPr>
          <p:cNvPr id="54" name="Text 20">
            <a:extLst>
              <a:ext uri="{FF2B5EF4-FFF2-40B4-BE49-F238E27FC236}">
                <a16:creationId xmlns:a16="http://schemas.microsoft.com/office/drawing/2014/main" id="{52C33098-3754-47E3-BE13-185711628386}"/>
              </a:ext>
            </a:extLst>
          </p:cNvPr>
          <p:cNvSpPr txBox="1"/>
          <p:nvPr/>
        </p:nvSpPr>
        <p:spPr>
          <a:xfrm>
            <a:off x="2468880" y="4434306"/>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Signatur</a:t>
            </a:r>
            <a:endParaRPr lang="en-US" sz="1200" dirty="0"/>
          </a:p>
        </p:txBody>
      </p:sp>
      <p:sp>
        <p:nvSpPr>
          <p:cNvPr id="55" name="Shape 21">
            <a:extLst>
              <a:ext uri="{FF2B5EF4-FFF2-40B4-BE49-F238E27FC236}">
                <a16:creationId xmlns:a16="http://schemas.microsoft.com/office/drawing/2014/main" id="{E0FC6CCD-59AD-40DE-9098-C1D17E0642F6}"/>
              </a:ext>
            </a:extLst>
          </p:cNvPr>
          <p:cNvSpPr/>
          <p:nvPr/>
        </p:nvSpPr>
        <p:spPr>
          <a:xfrm>
            <a:off x="2468880" y="4745202"/>
            <a:ext cx="7253935" cy="0"/>
          </a:xfrm>
          <a:prstGeom prst="line">
            <a:avLst/>
          </a:prstGeom>
          <a:noFill/>
          <a:ln w="22225">
            <a:solidFill>
              <a:srgbClr val="1E2761"/>
            </a:solidFill>
            <a:prstDash val="solid"/>
            <a:tailEnd type="triangle"/>
          </a:ln>
        </p:spPr>
      </p:sp>
      <p:sp>
        <p:nvSpPr>
          <p:cNvPr id="56" name="Text 22">
            <a:extLst>
              <a:ext uri="{FF2B5EF4-FFF2-40B4-BE49-F238E27FC236}">
                <a16:creationId xmlns:a16="http://schemas.microsoft.com/office/drawing/2014/main" id="{9CBEC570-DC67-467E-9E31-A5F8418E0555}"/>
              </a:ext>
            </a:extLst>
          </p:cNvPr>
          <p:cNvSpPr txBox="1"/>
          <p:nvPr/>
        </p:nvSpPr>
        <p:spPr>
          <a:xfrm>
            <a:off x="2468880" y="5129250"/>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Zugriff gewährt / verweigert</a:t>
            </a:r>
            <a:endParaRPr lang="en-US" sz="1200" dirty="0"/>
          </a:p>
        </p:txBody>
      </p:sp>
      <p:sp>
        <p:nvSpPr>
          <p:cNvPr id="57" name="Shape 23">
            <a:extLst>
              <a:ext uri="{FF2B5EF4-FFF2-40B4-BE49-F238E27FC236}">
                <a16:creationId xmlns:a16="http://schemas.microsoft.com/office/drawing/2014/main" id="{584CAEDE-283B-42FD-8E16-13624CA4994B}"/>
              </a:ext>
            </a:extLst>
          </p:cNvPr>
          <p:cNvSpPr/>
          <p:nvPr/>
        </p:nvSpPr>
        <p:spPr>
          <a:xfrm>
            <a:off x="2468880" y="5440146"/>
            <a:ext cx="7253935" cy="0"/>
          </a:xfrm>
          <a:prstGeom prst="line">
            <a:avLst/>
          </a:prstGeom>
          <a:noFill/>
          <a:ln w="22225">
            <a:solidFill>
              <a:srgbClr val="1E2761"/>
            </a:solidFill>
            <a:prstDash val="solid"/>
            <a:headEnd type="triangle"/>
          </a:ln>
        </p:spPr>
      </p:sp>
      <p:sp>
        <p:nvSpPr>
          <p:cNvPr id="58" name="Text 24">
            <a:extLst>
              <a:ext uri="{FF2B5EF4-FFF2-40B4-BE49-F238E27FC236}">
                <a16:creationId xmlns:a16="http://schemas.microsoft.com/office/drawing/2014/main" id="{D0ED256A-A6CF-4997-A2A5-5DC29A341CA1}"/>
              </a:ext>
            </a:extLst>
          </p:cNvPr>
          <p:cNvSpPr txBox="1"/>
          <p:nvPr/>
        </p:nvSpPr>
        <p:spPr>
          <a:xfrm>
            <a:off x="2194560" y="5513298"/>
            <a:ext cx="7802575" cy="292608"/>
          </a:xfrm>
          <a:prstGeom prst="rect">
            <a:avLst/>
          </a:prstGeom>
          <a:noFill/>
          <a:ln/>
        </p:spPr>
        <p:txBody>
          <a:bodyPr wrap="square" lIns="0" tIns="0" rIns="0" bIns="0" rtlCol="0" anchor="t"/>
          <a:lstStyle/>
          <a:p>
            <a:pPr marL="0" indent="0" algn="ctr">
              <a:buNone/>
            </a:pPr>
            <a:r>
              <a:rPr lang="en-US" sz="1050" i="1" dirty="0">
                <a:solidFill>
                  <a:srgbClr val="5B6472"/>
                </a:solidFill>
                <a:latin typeface="Calibri" pitchFamily="34" charset="0"/>
                <a:ea typeface="Calibri" pitchFamily="34" charset="-122"/>
                <a:cs typeface="Calibri" pitchFamily="34" charset="-120"/>
              </a:rPr>
              <a:t>nach Prüfung der Signatur mit dem hinterlegten Public Key</a:t>
            </a:r>
            <a:endParaRPr lang="en-US" sz="1050" dirty="0"/>
          </a:p>
        </p:txBody>
      </p:sp>
      <p:sp>
        <p:nvSpPr>
          <p:cNvPr id="59" name="Shape 25">
            <a:extLst>
              <a:ext uri="{FF2B5EF4-FFF2-40B4-BE49-F238E27FC236}">
                <a16:creationId xmlns:a16="http://schemas.microsoft.com/office/drawing/2014/main" id="{F4D0A233-856D-4225-91EC-916851500020}"/>
              </a:ext>
            </a:extLst>
          </p:cNvPr>
          <p:cNvSpPr/>
          <p:nvPr/>
        </p:nvSpPr>
        <p:spPr>
          <a:xfrm>
            <a:off x="548640" y="6144234"/>
            <a:ext cx="11094415" cy="475488"/>
          </a:xfrm>
          <a:prstGeom prst="roundRect">
            <a:avLst>
              <a:gd name="adj" fmla="val 19231"/>
            </a:avLst>
          </a:prstGeom>
          <a:solidFill>
            <a:srgbClr val="F4F6FA"/>
          </a:solidFill>
          <a:ln w="9525">
            <a:solidFill>
              <a:srgbClr val="D8DEE9"/>
            </a:solidFill>
            <a:prstDash val="solid"/>
          </a:ln>
        </p:spPr>
      </p:sp>
      <p:sp>
        <p:nvSpPr>
          <p:cNvPr id="60" name="Text 26">
            <a:extLst>
              <a:ext uri="{FF2B5EF4-FFF2-40B4-BE49-F238E27FC236}">
                <a16:creationId xmlns:a16="http://schemas.microsoft.com/office/drawing/2014/main" id="{6DE50C08-05CA-4D32-AE62-08C303443571}"/>
              </a:ext>
            </a:extLst>
          </p:cNvPr>
          <p:cNvSpPr txBox="1"/>
          <p:nvPr/>
        </p:nvSpPr>
        <p:spPr>
          <a:xfrm>
            <a:off x="822960" y="6144234"/>
            <a:ext cx="10545775" cy="47548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Kernaussage:  </a:t>
            </a:r>
            <a:r>
              <a:rPr lang="en-US" sz="1300" dirty="0">
                <a:solidFill>
                  <a:srgbClr val="1A1F2B"/>
                </a:solidFill>
                <a:latin typeface="Calibri" pitchFamily="34" charset="0"/>
                <a:ea typeface="Calibri" pitchFamily="34" charset="-122"/>
                <a:cs typeface="Calibri" pitchFamily="34" charset="-120"/>
              </a:rPr>
              <a:t>Es wird nur eine Signatur übertragen – nie ein Geheimnis. Der private Schlüssel bleibt immer auf dem Client.</a:t>
            </a:r>
            <a:endParaRPr lang="en-US" sz="1300" dirty="0"/>
          </a:p>
        </p:txBody>
      </p:sp>
      <p:sp>
        <p:nvSpPr>
          <p:cNvPr id="61" name="Text 5">
            <a:extLst>
              <a:ext uri="{FF2B5EF4-FFF2-40B4-BE49-F238E27FC236}">
                <a16:creationId xmlns:a16="http://schemas.microsoft.com/office/drawing/2014/main" id="{9C66A720-A69F-4C2F-AE54-33CC5FB208F1}"/>
              </a:ext>
            </a:extLst>
          </p:cNvPr>
          <p:cNvSpPr txBox="1"/>
          <p:nvPr/>
        </p:nvSpPr>
        <p:spPr>
          <a:xfrm>
            <a:off x="4389120" y="1412214"/>
            <a:ext cx="3063240" cy="365760"/>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 Kanal bereits verschlüsselt</a:t>
            </a:r>
            <a:endParaRPr lang="en-US" sz="1050" dirty="0"/>
          </a:p>
        </p:txBody>
      </p:sp>
      <p:pic>
        <p:nvPicPr>
          <p:cNvPr id="4" name="Grafik 3" descr="Sperren mit einfarbiger Füllung">
            <a:extLst>
              <a:ext uri="{FF2B5EF4-FFF2-40B4-BE49-F238E27FC236}">
                <a16:creationId xmlns:a16="http://schemas.microsoft.com/office/drawing/2014/main" id="{4D0BAD7A-CAEF-4D35-8291-8AEB79A068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16563" y="1411402"/>
            <a:ext cx="450719" cy="450719"/>
          </a:xfrm>
          <a:prstGeom prst="rect">
            <a:avLst/>
          </a:prstGeom>
        </p:spPr>
      </p:pic>
      <p:grpSp>
        <p:nvGrpSpPr>
          <p:cNvPr id="62" name="Gruppieren 61">
            <a:extLst>
              <a:ext uri="{FF2B5EF4-FFF2-40B4-BE49-F238E27FC236}">
                <a16:creationId xmlns:a16="http://schemas.microsoft.com/office/drawing/2014/main" id="{DCE96F44-C136-43EC-B0F2-CF05896815C3}"/>
              </a:ext>
            </a:extLst>
          </p:cNvPr>
          <p:cNvGrpSpPr/>
          <p:nvPr/>
        </p:nvGrpSpPr>
        <p:grpSpPr>
          <a:xfrm>
            <a:off x="1277241" y="1717910"/>
            <a:ext cx="1351659" cy="1017731"/>
            <a:chOff x="1277241" y="1717910"/>
            <a:chExt cx="1351659" cy="1017731"/>
          </a:xfrm>
        </p:grpSpPr>
        <p:pic>
          <p:nvPicPr>
            <p:cNvPr id="63" name="Grafik 62">
              <a:extLst>
                <a:ext uri="{FF2B5EF4-FFF2-40B4-BE49-F238E27FC236}">
                  <a16:creationId xmlns:a16="http://schemas.microsoft.com/office/drawing/2014/main" id="{6726FD05-C862-4BF4-A509-6871012457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509841" y="1717910"/>
              <a:ext cx="847584" cy="1017731"/>
            </a:xfrm>
            <a:prstGeom prst="rect">
              <a:avLst/>
            </a:prstGeom>
          </p:spPr>
        </p:pic>
        <p:sp>
          <p:nvSpPr>
            <p:cNvPr id="64" name="Text 9">
              <a:extLst>
                <a:ext uri="{FF2B5EF4-FFF2-40B4-BE49-F238E27FC236}">
                  <a16:creationId xmlns:a16="http://schemas.microsoft.com/office/drawing/2014/main" id="{C63F7D95-FA10-40B0-B917-9E2B8658BC53}"/>
                </a:ext>
              </a:extLst>
            </p:cNvPr>
            <p:cNvSpPr txBox="1"/>
            <p:nvPr/>
          </p:nvSpPr>
          <p:spPr>
            <a:xfrm>
              <a:off x="1277241" y="182226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CLIENT</a:t>
              </a:r>
              <a:endParaRPr lang="en-US" sz="1300" dirty="0">
                <a:solidFill>
                  <a:srgbClr val="0061AF"/>
                </a:solidFill>
              </a:endParaRPr>
            </a:p>
          </p:txBody>
        </p:sp>
      </p:grpSp>
      <p:grpSp>
        <p:nvGrpSpPr>
          <p:cNvPr id="65" name="Gruppieren 64">
            <a:extLst>
              <a:ext uri="{FF2B5EF4-FFF2-40B4-BE49-F238E27FC236}">
                <a16:creationId xmlns:a16="http://schemas.microsoft.com/office/drawing/2014/main" id="{536C7E92-7B76-4FE7-912F-D3D233FA6A5C}"/>
              </a:ext>
            </a:extLst>
          </p:cNvPr>
          <p:cNvGrpSpPr/>
          <p:nvPr/>
        </p:nvGrpSpPr>
        <p:grpSpPr>
          <a:xfrm>
            <a:off x="9848849" y="1767865"/>
            <a:ext cx="1351659" cy="985018"/>
            <a:chOff x="9848849" y="1767865"/>
            <a:chExt cx="1351659" cy="985018"/>
          </a:xfrm>
        </p:grpSpPr>
        <p:sp>
          <p:nvSpPr>
            <p:cNvPr id="66" name="Rechteck 65">
              <a:extLst>
                <a:ext uri="{FF2B5EF4-FFF2-40B4-BE49-F238E27FC236}">
                  <a16:creationId xmlns:a16="http://schemas.microsoft.com/office/drawing/2014/main" id="{C9A7232B-3FEE-4D24-86BD-58B6B8BA70B1}"/>
                </a:ext>
              </a:extLst>
            </p:cNvPr>
            <p:cNvSpPr/>
            <p:nvPr/>
          </p:nvSpPr>
          <p:spPr>
            <a:xfrm>
              <a:off x="10160000" y="1767865"/>
              <a:ext cx="729358" cy="985018"/>
            </a:xfrm>
            <a:prstGeom prst="rect">
              <a:avLst/>
            </a:prstGeom>
            <a:solidFill>
              <a:srgbClr val="E7E7E9"/>
            </a:solidFill>
            <a:ln w="47625">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67" name="Gerader Verbinder 66">
              <a:extLst>
                <a:ext uri="{FF2B5EF4-FFF2-40B4-BE49-F238E27FC236}">
                  <a16:creationId xmlns:a16="http://schemas.microsoft.com/office/drawing/2014/main" id="{F3DD181E-BF86-419C-9466-E49477360B08}"/>
                </a:ext>
              </a:extLst>
            </p:cNvPr>
            <p:cNvCxnSpPr>
              <a:cxnSpLocks/>
            </p:cNvCxnSpPr>
            <p:nvPr/>
          </p:nvCxnSpPr>
          <p:spPr>
            <a:xfrm>
              <a:off x="10274154" y="2341045"/>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9F4F1AAA-D26D-46C8-A679-95D040BAE16D}"/>
                </a:ext>
              </a:extLst>
            </p:cNvPr>
            <p:cNvCxnSpPr>
              <a:cxnSpLocks/>
            </p:cNvCxnSpPr>
            <p:nvPr/>
          </p:nvCxnSpPr>
          <p:spPr>
            <a:xfrm>
              <a:off x="10274154" y="2441810"/>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33B867E4-5CAA-481F-BFC6-A0EDB5D95E53}"/>
                </a:ext>
              </a:extLst>
            </p:cNvPr>
            <p:cNvCxnSpPr>
              <a:cxnSpLocks/>
            </p:cNvCxnSpPr>
            <p:nvPr/>
          </p:nvCxnSpPr>
          <p:spPr>
            <a:xfrm>
              <a:off x="10274154" y="2567286"/>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sp>
          <p:nvSpPr>
            <p:cNvPr id="70" name="Ellipse 69">
              <a:extLst>
                <a:ext uri="{FF2B5EF4-FFF2-40B4-BE49-F238E27FC236}">
                  <a16:creationId xmlns:a16="http://schemas.microsoft.com/office/drawing/2014/main" id="{C1A37B8A-9721-4D38-A2F5-8490974A78F5}"/>
                </a:ext>
              </a:extLst>
            </p:cNvPr>
            <p:cNvSpPr/>
            <p:nvPr/>
          </p:nvSpPr>
          <p:spPr>
            <a:xfrm>
              <a:off x="10553846" y="1942465"/>
              <a:ext cx="162565" cy="162000"/>
            </a:xfrm>
            <a:prstGeom prst="ellipse">
              <a:avLst/>
            </a:prstGeom>
            <a:solidFill>
              <a:srgbClr val="E7E7E9"/>
            </a:solidFill>
            <a:ln w="38100">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Text 9">
              <a:extLst>
                <a:ext uri="{FF2B5EF4-FFF2-40B4-BE49-F238E27FC236}">
                  <a16:creationId xmlns:a16="http://schemas.microsoft.com/office/drawing/2014/main" id="{9260EA5E-DEF3-4BC6-A873-DDC5DD3A5F49}"/>
                </a:ext>
              </a:extLst>
            </p:cNvPr>
            <p:cNvSpPr txBox="1"/>
            <p:nvPr/>
          </p:nvSpPr>
          <p:spPr>
            <a:xfrm>
              <a:off x="9848849" y="200003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Server</a:t>
              </a:r>
              <a:endParaRPr lang="en-US" sz="1300" dirty="0">
                <a:solidFill>
                  <a:srgbClr val="0061AF"/>
                </a:solidFill>
              </a:endParaRPr>
            </a:p>
          </p:txBody>
        </p:sp>
      </p:grpSp>
    </p:spTree>
    <p:extLst>
      <p:ext uri="{BB962C8B-B14F-4D97-AF65-F5344CB8AC3E}">
        <p14:creationId xmlns:p14="http://schemas.microsoft.com/office/powerpoint/2010/main" val="1637575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F102084-4CA6-40E8-879C-5BE2D257AA1C}"/>
              </a:ext>
            </a:extLst>
          </p:cNvPr>
          <p:cNvSpPr>
            <a:spLocks noGrp="1"/>
          </p:cNvSpPr>
          <p:nvPr>
            <p:ph type="title"/>
          </p:nvPr>
        </p:nvSpPr>
        <p:spPr/>
        <p:txBody>
          <a:bodyPr/>
          <a:lstStyle/>
          <a:p>
            <a:r>
              <a:rPr lang="de-DE" dirty="0"/>
              <a:t>DNS-A-</a:t>
            </a:r>
            <a:r>
              <a:rPr lang="de-DE" dirty="0" err="1"/>
              <a:t>Record</a:t>
            </a:r>
            <a:r>
              <a:rPr lang="de-DE" dirty="0"/>
              <a:t> anlegen</a:t>
            </a:r>
          </a:p>
        </p:txBody>
      </p:sp>
      <p:sp>
        <p:nvSpPr>
          <p:cNvPr id="6" name="Foliennummernplatzhalter 5">
            <a:extLst>
              <a:ext uri="{FF2B5EF4-FFF2-40B4-BE49-F238E27FC236}">
                <a16:creationId xmlns:a16="http://schemas.microsoft.com/office/drawing/2014/main" id="{536FD45C-CF83-4995-92CB-AB2759D5A9E5}"/>
              </a:ext>
            </a:extLst>
          </p:cNvPr>
          <p:cNvSpPr>
            <a:spLocks noGrp="1"/>
          </p:cNvSpPr>
          <p:nvPr>
            <p:ph type="sldNum" sz="quarter" idx="4"/>
          </p:nvPr>
        </p:nvSpPr>
        <p:spPr/>
        <p:txBody>
          <a:bodyPr/>
          <a:lstStyle/>
          <a:p>
            <a:fld id="{43A6DCFB-163F-4561-BF28-3CD1FE47EE20}" type="slidenum">
              <a:rPr lang="de-DE" smtClean="0"/>
              <a:pPr/>
              <a:t>7</a:t>
            </a:fld>
            <a:endParaRPr lang="de-DE" dirty="0"/>
          </a:p>
        </p:txBody>
      </p:sp>
      <p:sp>
        <p:nvSpPr>
          <p:cNvPr id="7" name="Shape 2">
            <a:extLst>
              <a:ext uri="{FF2B5EF4-FFF2-40B4-BE49-F238E27FC236}">
                <a16:creationId xmlns:a16="http://schemas.microsoft.com/office/drawing/2014/main" id="{7A90ADDA-0FAA-4B88-AF4D-A3FAA575490A}"/>
              </a:ext>
            </a:extLst>
          </p:cNvPr>
          <p:cNvSpPr/>
          <p:nvPr/>
        </p:nvSpPr>
        <p:spPr>
          <a:xfrm>
            <a:off x="483476" y="1930797"/>
            <a:ext cx="5152030" cy="3908068"/>
          </a:xfrm>
          <a:prstGeom prst="roundRect">
            <a:avLst>
              <a:gd name="adj" fmla="val 3168"/>
            </a:avLst>
          </a:prstGeom>
          <a:solidFill>
            <a:srgbClr val="F5F5F5"/>
          </a:solidFill>
          <a:ln w="6350">
            <a:solidFill>
              <a:srgbClr val="D1D5DB"/>
            </a:solidFill>
            <a:prstDash val="solid"/>
          </a:ln>
        </p:spPr>
      </p:sp>
      <p:sp>
        <p:nvSpPr>
          <p:cNvPr id="8" name="Text 3">
            <a:extLst>
              <a:ext uri="{FF2B5EF4-FFF2-40B4-BE49-F238E27FC236}">
                <a16:creationId xmlns:a16="http://schemas.microsoft.com/office/drawing/2014/main" id="{DAF2E98A-AEEF-4413-B440-EA30D5C4071D}"/>
              </a:ext>
            </a:extLst>
          </p:cNvPr>
          <p:cNvSpPr/>
          <p:nvPr/>
        </p:nvSpPr>
        <p:spPr>
          <a:xfrm>
            <a:off x="749694" y="2201019"/>
            <a:ext cx="4431884"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Notwendige Parameter</a:t>
            </a:r>
            <a:endParaRPr lang="en-US" sz="1400" dirty="0"/>
          </a:p>
        </p:txBody>
      </p:sp>
      <p:graphicFrame>
        <p:nvGraphicFramePr>
          <p:cNvPr id="9" name="Table 0">
            <a:extLst>
              <a:ext uri="{FF2B5EF4-FFF2-40B4-BE49-F238E27FC236}">
                <a16:creationId xmlns:a16="http://schemas.microsoft.com/office/drawing/2014/main" id="{6E51F3E8-3C73-473A-B2AF-4DE577FC8245}"/>
              </a:ext>
            </a:extLst>
          </p:cNvPr>
          <p:cNvGraphicFramePr>
            <a:graphicFrameLocks noGrp="1"/>
          </p:cNvGraphicFramePr>
          <p:nvPr>
            <p:extLst>
              <p:ext uri="{D42A27DB-BD31-4B8C-83A1-F6EECF244321}">
                <p14:modId xmlns:p14="http://schemas.microsoft.com/office/powerpoint/2010/main" val="4053979559"/>
              </p:ext>
            </p:extLst>
          </p:nvPr>
        </p:nvGraphicFramePr>
        <p:xfrm>
          <a:off x="749694" y="2554843"/>
          <a:ext cx="4697099" cy="1503760"/>
        </p:xfrm>
        <a:graphic>
          <a:graphicData uri="http://schemas.openxmlformats.org/drawingml/2006/table">
            <a:tbl>
              <a:tblPr/>
              <a:tblGrid>
                <a:gridCol w="1784898">
                  <a:extLst>
                    <a:ext uri="{9D8B030D-6E8A-4147-A177-3AD203B41FA5}">
                      <a16:colId xmlns:a16="http://schemas.microsoft.com/office/drawing/2014/main" val="20000"/>
                    </a:ext>
                  </a:extLst>
                </a:gridCol>
                <a:gridCol w="2912201">
                  <a:extLst>
                    <a:ext uri="{9D8B030D-6E8A-4147-A177-3AD203B41FA5}">
                      <a16:colId xmlns:a16="http://schemas.microsoft.com/office/drawing/2014/main" val="20001"/>
                    </a:ext>
                  </a:extLst>
                </a:gridCol>
              </a:tblGrid>
              <a:tr h="300752">
                <a:tc>
                  <a:txBody>
                    <a:bodyPr/>
                    <a:lstStyle/>
                    <a:p>
                      <a:pPr marL="0" indent="0">
                        <a:lnSpc>
                          <a:spcPts val="1540"/>
                        </a:lnSpc>
                        <a:buNone/>
                      </a:pPr>
                      <a:r>
                        <a:rPr lang="en-US" sz="1100" b="1" dirty="0">
                          <a:solidFill>
                            <a:srgbClr val="1A1A1A"/>
                          </a:solidFill>
                          <a:latin typeface="Arial" pitchFamily="34" charset="0"/>
                          <a:ea typeface="Arial" pitchFamily="34" charset="-122"/>
                          <a:cs typeface="Arial" pitchFamily="34" charset="-120"/>
                        </a:rPr>
                        <a:t>Feld</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5E7EB"/>
                    </a:solidFill>
                  </a:tcPr>
                </a:tc>
                <a:tc>
                  <a:txBody>
                    <a:bodyPr/>
                    <a:lstStyle/>
                    <a:p>
                      <a:pPr marL="0" indent="0">
                        <a:lnSpc>
                          <a:spcPts val="1540"/>
                        </a:lnSpc>
                        <a:buNone/>
                      </a:pPr>
                      <a:r>
                        <a:rPr lang="en-US" sz="1100" b="1" dirty="0">
                          <a:solidFill>
                            <a:srgbClr val="1A1A1A"/>
                          </a:solidFill>
                          <a:latin typeface="Arial" pitchFamily="34" charset="0"/>
                          <a:ea typeface="Arial" pitchFamily="34" charset="-122"/>
                          <a:cs typeface="Arial" pitchFamily="34" charset="-120"/>
                        </a:rPr>
                        <a:t>Wert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5E7EB"/>
                    </a:solidFill>
                  </a:tcPr>
                </a:tc>
                <a:extLst>
                  <a:ext uri="{0D108BD9-81ED-4DB2-BD59-A6C34878D82A}">
                    <a16:rowId xmlns:a16="http://schemas.microsoft.com/office/drawing/2014/main" val="10000"/>
                  </a:ext>
                </a:extLst>
              </a:tr>
              <a:tr h="300752">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Typ</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A</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extLst>
                  <a:ext uri="{0D108BD9-81ED-4DB2-BD59-A6C34878D82A}">
                    <a16:rowId xmlns:a16="http://schemas.microsoft.com/office/drawing/2014/main" val="10001"/>
                  </a:ext>
                </a:extLst>
              </a:tr>
              <a:tr h="300752">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Name / Host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server</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extLst>
                  <a:ext uri="{0D108BD9-81ED-4DB2-BD59-A6C34878D82A}">
                    <a16:rowId xmlns:a16="http://schemas.microsoft.com/office/drawing/2014/main" val="10002"/>
                  </a:ext>
                </a:extLst>
              </a:tr>
              <a:tr h="300752">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Wert / Ziel</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&lt;IPv4-Adresse der VM&gt;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extLst>
                  <a:ext uri="{0D108BD9-81ED-4DB2-BD59-A6C34878D82A}">
                    <a16:rowId xmlns:a16="http://schemas.microsoft.com/office/drawing/2014/main" val="10003"/>
                  </a:ext>
                </a:extLst>
              </a:tr>
              <a:tr h="300752">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TTL *</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300 (Test) / 3600 (Prod.)</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extLst>
                  <a:ext uri="{0D108BD9-81ED-4DB2-BD59-A6C34878D82A}">
                    <a16:rowId xmlns:a16="http://schemas.microsoft.com/office/drawing/2014/main" val="10004"/>
                  </a:ext>
                </a:extLst>
              </a:tr>
            </a:tbl>
          </a:graphicData>
        </a:graphic>
      </p:graphicFrame>
      <p:sp>
        <p:nvSpPr>
          <p:cNvPr id="10" name="Shape 4">
            <a:extLst>
              <a:ext uri="{FF2B5EF4-FFF2-40B4-BE49-F238E27FC236}">
                <a16:creationId xmlns:a16="http://schemas.microsoft.com/office/drawing/2014/main" id="{0BB161B0-3808-4772-B205-12602CA483E7}"/>
              </a:ext>
            </a:extLst>
          </p:cNvPr>
          <p:cNvSpPr/>
          <p:nvPr/>
        </p:nvSpPr>
        <p:spPr>
          <a:xfrm>
            <a:off x="819387" y="4248825"/>
            <a:ext cx="4627406" cy="1503760"/>
          </a:xfrm>
          <a:prstGeom prst="roundRect">
            <a:avLst>
              <a:gd name="adj" fmla="val 11367"/>
            </a:avLst>
          </a:prstGeom>
          <a:solidFill>
            <a:srgbClr val="EDEDED"/>
          </a:solidFill>
          <a:ln/>
        </p:spPr>
      </p:sp>
      <p:sp>
        <p:nvSpPr>
          <p:cNvPr id="11" name="Shape 5">
            <a:extLst>
              <a:ext uri="{FF2B5EF4-FFF2-40B4-BE49-F238E27FC236}">
                <a16:creationId xmlns:a16="http://schemas.microsoft.com/office/drawing/2014/main" id="{1DC949E1-398D-4BDC-98E9-2E7A0ED36CDB}"/>
              </a:ext>
            </a:extLst>
          </p:cNvPr>
          <p:cNvSpPr/>
          <p:nvPr/>
        </p:nvSpPr>
        <p:spPr>
          <a:xfrm>
            <a:off x="812402" y="4394483"/>
            <a:ext cx="6985" cy="1119942"/>
          </a:xfrm>
          <a:prstGeom prst="line">
            <a:avLst/>
          </a:prstGeom>
          <a:noFill/>
          <a:ln w="25400">
            <a:solidFill>
              <a:srgbClr val="1A1A1A"/>
            </a:solidFill>
            <a:prstDash val="solid"/>
          </a:ln>
        </p:spPr>
      </p:sp>
      <p:sp>
        <p:nvSpPr>
          <p:cNvPr id="13" name="Text 6">
            <a:extLst>
              <a:ext uri="{FF2B5EF4-FFF2-40B4-BE49-F238E27FC236}">
                <a16:creationId xmlns:a16="http://schemas.microsoft.com/office/drawing/2014/main" id="{E516886C-81A3-440A-805D-E156C6EFC54D}"/>
              </a:ext>
            </a:extLst>
          </p:cNvPr>
          <p:cNvSpPr/>
          <p:nvPr/>
        </p:nvSpPr>
        <p:spPr>
          <a:xfrm>
            <a:off x="997381" y="4360327"/>
            <a:ext cx="4184197" cy="380921"/>
          </a:xfrm>
          <a:prstGeom prst="rect">
            <a:avLst/>
          </a:prstGeom>
          <a:noFill/>
          <a:ln/>
        </p:spPr>
        <p:txBody>
          <a:bodyPr wrap="square" lIns="0" tIns="0" rIns="0" bIns="0" rtlCol="0" anchor="t">
            <a:normAutofit/>
          </a:bodyPr>
          <a:lstStyle/>
          <a:p>
            <a:pPr marL="0" indent="0" algn="l">
              <a:lnSpc>
                <a:spcPts val="1400"/>
              </a:lnSpc>
              <a:buNone/>
            </a:pPr>
            <a:r>
              <a:rPr lang="en-US" sz="1400" dirty="0">
                <a:ea typeface="Arial" pitchFamily="34" charset="-122"/>
                <a:cs typeface="Arial" pitchFamily="34" charset="-120"/>
              </a:rPr>
              <a:t>Statt vieler Einzeleinträge: ein </a:t>
            </a:r>
            <a:r>
              <a:rPr lang="en-US" sz="1400" b="1" dirty="0">
                <a:ea typeface="Arial" pitchFamily="34" charset="-122"/>
                <a:cs typeface="Arial" pitchFamily="34" charset="-120"/>
              </a:rPr>
              <a:t>Wildcard-Record</a:t>
            </a:r>
            <a:r>
              <a:rPr lang="en-US" sz="1400" dirty="0">
                <a:ea typeface="Arial" pitchFamily="34" charset="-122"/>
                <a:cs typeface="Arial" pitchFamily="34" charset="-120"/>
              </a:rPr>
              <a:t> (Name *, Typ A) deckt alle Subdomains automatisch ab.</a:t>
            </a:r>
            <a:endParaRPr lang="en-US" sz="1400" dirty="0"/>
          </a:p>
        </p:txBody>
      </p:sp>
      <p:sp>
        <p:nvSpPr>
          <p:cNvPr id="14" name="Text 7">
            <a:extLst>
              <a:ext uri="{FF2B5EF4-FFF2-40B4-BE49-F238E27FC236}">
                <a16:creationId xmlns:a16="http://schemas.microsoft.com/office/drawing/2014/main" id="{FBB295EC-0E8D-4553-8649-ADCB97B22A95}"/>
              </a:ext>
            </a:extLst>
          </p:cNvPr>
          <p:cNvSpPr/>
          <p:nvPr/>
        </p:nvSpPr>
        <p:spPr>
          <a:xfrm>
            <a:off x="5994202" y="1927622"/>
            <a:ext cx="5546630"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Namensauflösung prüfen</a:t>
            </a:r>
            <a:endParaRPr lang="en-US" sz="1400" dirty="0"/>
          </a:p>
        </p:txBody>
      </p:sp>
      <p:sp>
        <p:nvSpPr>
          <p:cNvPr id="15" name="Shape 8">
            <a:extLst>
              <a:ext uri="{FF2B5EF4-FFF2-40B4-BE49-F238E27FC236}">
                <a16:creationId xmlns:a16="http://schemas.microsoft.com/office/drawing/2014/main" id="{DEA6B0B6-29A4-4420-A9EE-B8BA16536109}"/>
              </a:ext>
            </a:extLst>
          </p:cNvPr>
          <p:cNvSpPr/>
          <p:nvPr/>
        </p:nvSpPr>
        <p:spPr>
          <a:xfrm>
            <a:off x="5997377" y="2296438"/>
            <a:ext cx="5378728" cy="712430"/>
          </a:xfrm>
          <a:prstGeom prst="roundRect">
            <a:avLst>
              <a:gd name="adj" fmla="val 12033"/>
            </a:avLst>
          </a:prstGeom>
          <a:solidFill>
            <a:srgbClr val="F5F5F5"/>
          </a:solidFill>
          <a:ln w="6350">
            <a:solidFill>
              <a:srgbClr val="D1D5DB"/>
            </a:solidFill>
            <a:prstDash val="solid"/>
          </a:ln>
        </p:spPr>
      </p:sp>
      <p:sp>
        <p:nvSpPr>
          <p:cNvPr id="16" name="Shape 9">
            <a:extLst>
              <a:ext uri="{FF2B5EF4-FFF2-40B4-BE49-F238E27FC236}">
                <a16:creationId xmlns:a16="http://schemas.microsoft.com/office/drawing/2014/main" id="{41915F3B-018A-43B6-8AC2-86AA5DB3B808}"/>
              </a:ext>
            </a:extLst>
          </p:cNvPr>
          <p:cNvSpPr/>
          <p:nvPr/>
        </p:nvSpPr>
        <p:spPr>
          <a:xfrm>
            <a:off x="6182757" y="2478008"/>
            <a:ext cx="349171" cy="349171"/>
          </a:xfrm>
          <a:prstGeom prst="roundRect">
            <a:avLst>
              <a:gd name="adj" fmla="val 50000"/>
            </a:avLst>
          </a:prstGeom>
          <a:solidFill>
            <a:srgbClr val="FFFFFF"/>
          </a:solidFill>
          <a:ln w="6350">
            <a:solidFill>
              <a:srgbClr val="1A1A1A"/>
            </a:solidFill>
            <a:prstDash val="solid"/>
          </a:ln>
        </p:spPr>
      </p:sp>
      <p:pic>
        <p:nvPicPr>
          <p:cNvPr id="17" name="Image 1" descr="Code">
            <a:extLst>
              <a:ext uri="{FF2B5EF4-FFF2-40B4-BE49-F238E27FC236}">
                <a16:creationId xmlns:a16="http://schemas.microsoft.com/office/drawing/2014/main" id="{1BAD41DA-0DC5-4550-A898-0579B450A6D3}"/>
              </a:ext>
            </a:extLst>
          </p:cNvPr>
          <p:cNvPicPr>
            <a:picLocks noChangeAspect="1"/>
          </p:cNvPicPr>
          <p:nvPr/>
        </p:nvPicPr>
        <p:blipFill>
          <a:blip r:embed="rId3"/>
          <a:srcRect/>
          <a:stretch/>
        </p:blipFill>
        <p:spPr>
          <a:xfrm>
            <a:off x="6274832" y="2570083"/>
            <a:ext cx="165021" cy="165021"/>
          </a:xfrm>
          <a:prstGeom prst="rect">
            <a:avLst/>
          </a:prstGeom>
        </p:spPr>
      </p:pic>
      <p:sp>
        <p:nvSpPr>
          <p:cNvPr id="18" name="Text 10">
            <a:extLst>
              <a:ext uri="{FF2B5EF4-FFF2-40B4-BE49-F238E27FC236}">
                <a16:creationId xmlns:a16="http://schemas.microsoft.com/office/drawing/2014/main" id="{C82FD302-9FB7-4EDC-A0E6-9479D448376D}"/>
              </a:ext>
            </a:extLst>
          </p:cNvPr>
          <p:cNvSpPr/>
          <p:nvPr/>
        </p:nvSpPr>
        <p:spPr>
          <a:xfrm>
            <a:off x="6662024" y="2453283"/>
            <a:ext cx="4667832" cy="208280"/>
          </a:xfrm>
          <a:prstGeom prst="rect">
            <a:avLst/>
          </a:prstGeom>
          <a:noFill/>
          <a:ln/>
        </p:spPr>
        <p:txBody>
          <a:bodyPr wrap="square" lIns="0" tIns="0" rIns="0" bIns="0" rtlCol="0" anchor="t">
            <a:normAutofit/>
          </a:bodyPr>
          <a:lstStyle/>
          <a:p>
            <a:pPr marL="0" indent="0" algn="l">
              <a:lnSpc>
                <a:spcPts val="1440"/>
              </a:lnSpc>
              <a:buNone/>
            </a:pPr>
            <a:r>
              <a:rPr lang="en-US" sz="1400" b="1" dirty="0">
                <a:ea typeface="Arial" pitchFamily="34" charset="-122"/>
                <a:cs typeface="Arial" pitchFamily="34" charset="-120"/>
              </a:rPr>
              <a:t>Linux / macOS</a:t>
            </a:r>
            <a:endParaRPr lang="en-US" sz="1400" dirty="0"/>
          </a:p>
        </p:txBody>
      </p:sp>
      <p:sp>
        <p:nvSpPr>
          <p:cNvPr id="19" name="Text 11">
            <a:extLst>
              <a:ext uri="{FF2B5EF4-FFF2-40B4-BE49-F238E27FC236}">
                <a16:creationId xmlns:a16="http://schemas.microsoft.com/office/drawing/2014/main" id="{336DE123-79A9-4CEC-BD22-014B29238086}"/>
              </a:ext>
            </a:extLst>
          </p:cNvPr>
          <p:cNvSpPr/>
          <p:nvPr/>
        </p:nvSpPr>
        <p:spPr>
          <a:xfrm>
            <a:off x="6662024" y="2674263"/>
            <a:ext cx="4667832" cy="203160"/>
          </a:xfrm>
          <a:prstGeom prst="rect">
            <a:avLst/>
          </a:prstGeom>
          <a:noFill/>
          <a:ln/>
        </p:spPr>
        <p:txBody>
          <a:bodyPr wrap="square" lIns="0" tIns="0" rIns="0" bIns="0" rtlCol="0" anchor="t">
            <a:normAutofit/>
          </a:bodyPr>
          <a:lstStyle/>
          <a:p>
            <a:pPr marL="0" indent="0" algn="l">
              <a:lnSpc>
                <a:spcPts val="1400"/>
              </a:lnSpc>
              <a:buNone/>
            </a:pPr>
            <a:r>
              <a:rPr lang="en-US" sz="1400" dirty="0">
                <a:ea typeface="Courier New" pitchFamily="34" charset="-122"/>
                <a:cs typeface="Courier New" pitchFamily="34" charset="-120"/>
              </a:rPr>
              <a:t>dig &lt;subdomain&gt;.&lt;domain&gt;</a:t>
            </a:r>
            <a:endParaRPr lang="en-US" sz="1400" dirty="0"/>
          </a:p>
        </p:txBody>
      </p:sp>
      <p:sp>
        <p:nvSpPr>
          <p:cNvPr id="20" name="Shape 12">
            <a:extLst>
              <a:ext uri="{FF2B5EF4-FFF2-40B4-BE49-F238E27FC236}">
                <a16:creationId xmlns:a16="http://schemas.microsoft.com/office/drawing/2014/main" id="{FD8670BD-9CA0-4E58-B6DC-B846FD56F921}"/>
              </a:ext>
            </a:extLst>
          </p:cNvPr>
          <p:cNvSpPr/>
          <p:nvPr/>
        </p:nvSpPr>
        <p:spPr>
          <a:xfrm>
            <a:off x="5997377" y="3142139"/>
            <a:ext cx="5378728" cy="712430"/>
          </a:xfrm>
          <a:prstGeom prst="roundRect">
            <a:avLst>
              <a:gd name="adj" fmla="val 12033"/>
            </a:avLst>
          </a:prstGeom>
          <a:solidFill>
            <a:srgbClr val="F5F5F5"/>
          </a:solidFill>
          <a:ln w="6350">
            <a:solidFill>
              <a:srgbClr val="D1D5DB"/>
            </a:solidFill>
            <a:prstDash val="solid"/>
          </a:ln>
        </p:spPr>
      </p:sp>
      <p:sp>
        <p:nvSpPr>
          <p:cNvPr id="21" name="Shape 13">
            <a:extLst>
              <a:ext uri="{FF2B5EF4-FFF2-40B4-BE49-F238E27FC236}">
                <a16:creationId xmlns:a16="http://schemas.microsoft.com/office/drawing/2014/main" id="{91C726BA-9CCD-43A0-A10F-476DFB58C73A}"/>
              </a:ext>
            </a:extLst>
          </p:cNvPr>
          <p:cNvSpPr/>
          <p:nvPr/>
        </p:nvSpPr>
        <p:spPr>
          <a:xfrm>
            <a:off x="6182757" y="3323710"/>
            <a:ext cx="349171" cy="349171"/>
          </a:xfrm>
          <a:prstGeom prst="roundRect">
            <a:avLst>
              <a:gd name="adj" fmla="val 50000"/>
            </a:avLst>
          </a:prstGeom>
          <a:solidFill>
            <a:srgbClr val="FFFFFF"/>
          </a:solidFill>
          <a:ln w="6350">
            <a:solidFill>
              <a:srgbClr val="1A1A1A"/>
            </a:solidFill>
            <a:prstDash val="solid"/>
          </a:ln>
        </p:spPr>
      </p:sp>
      <p:pic>
        <p:nvPicPr>
          <p:cNvPr id="22" name="Image 2" descr="Code">
            <a:extLst>
              <a:ext uri="{FF2B5EF4-FFF2-40B4-BE49-F238E27FC236}">
                <a16:creationId xmlns:a16="http://schemas.microsoft.com/office/drawing/2014/main" id="{46C2363A-D5DD-416C-AE2C-82C192EF6DF4}"/>
              </a:ext>
            </a:extLst>
          </p:cNvPr>
          <p:cNvPicPr>
            <a:picLocks noChangeAspect="1"/>
          </p:cNvPicPr>
          <p:nvPr/>
        </p:nvPicPr>
        <p:blipFill>
          <a:blip r:embed="rId3"/>
          <a:srcRect/>
          <a:stretch/>
        </p:blipFill>
        <p:spPr>
          <a:xfrm>
            <a:off x="6274832" y="3415785"/>
            <a:ext cx="165021" cy="165021"/>
          </a:xfrm>
          <a:prstGeom prst="rect">
            <a:avLst/>
          </a:prstGeom>
        </p:spPr>
      </p:pic>
      <p:sp>
        <p:nvSpPr>
          <p:cNvPr id="23" name="Text 14">
            <a:extLst>
              <a:ext uri="{FF2B5EF4-FFF2-40B4-BE49-F238E27FC236}">
                <a16:creationId xmlns:a16="http://schemas.microsoft.com/office/drawing/2014/main" id="{21EA3F88-0CBB-4FD3-A51D-FF57E1DF4C5E}"/>
              </a:ext>
            </a:extLst>
          </p:cNvPr>
          <p:cNvSpPr/>
          <p:nvPr/>
        </p:nvSpPr>
        <p:spPr>
          <a:xfrm>
            <a:off x="6662024" y="3298984"/>
            <a:ext cx="4667832" cy="208280"/>
          </a:xfrm>
          <a:prstGeom prst="rect">
            <a:avLst/>
          </a:prstGeom>
          <a:noFill/>
          <a:ln/>
        </p:spPr>
        <p:txBody>
          <a:bodyPr wrap="square" lIns="0" tIns="0" rIns="0" bIns="0" rtlCol="0" anchor="t">
            <a:normAutofit/>
          </a:bodyPr>
          <a:lstStyle/>
          <a:p>
            <a:pPr marL="0" indent="0" algn="l">
              <a:lnSpc>
                <a:spcPts val="1440"/>
              </a:lnSpc>
              <a:buNone/>
            </a:pPr>
            <a:r>
              <a:rPr lang="en-US" sz="1400" b="1" dirty="0">
                <a:ea typeface="Arial" pitchFamily="34" charset="-122"/>
                <a:cs typeface="Arial" pitchFamily="34" charset="-120"/>
              </a:rPr>
              <a:t>Windows (PowerShell)</a:t>
            </a:r>
            <a:endParaRPr lang="en-US" sz="1400" dirty="0"/>
          </a:p>
        </p:txBody>
      </p:sp>
      <p:sp>
        <p:nvSpPr>
          <p:cNvPr id="24" name="Text 15">
            <a:extLst>
              <a:ext uri="{FF2B5EF4-FFF2-40B4-BE49-F238E27FC236}">
                <a16:creationId xmlns:a16="http://schemas.microsoft.com/office/drawing/2014/main" id="{2C019C3F-B924-411C-B3B3-BC34D87324DA}"/>
              </a:ext>
            </a:extLst>
          </p:cNvPr>
          <p:cNvSpPr/>
          <p:nvPr/>
        </p:nvSpPr>
        <p:spPr>
          <a:xfrm>
            <a:off x="6662024" y="3519964"/>
            <a:ext cx="4667832" cy="203160"/>
          </a:xfrm>
          <a:prstGeom prst="rect">
            <a:avLst/>
          </a:prstGeom>
          <a:noFill/>
          <a:ln/>
        </p:spPr>
        <p:txBody>
          <a:bodyPr wrap="square" lIns="0" tIns="0" rIns="0" bIns="0" rtlCol="0" anchor="t">
            <a:normAutofit/>
          </a:bodyPr>
          <a:lstStyle/>
          <a:p>
            <a:pPr marL="0" indent="0" algn="l">
              <a:lnSpc>
                <a:spcPts val="1400"/>
              </a:lnSpc>
              <a:buNone/>
            </a:pPr>
            <a:r>
              <a:rPr lang="en-US" sz="1400" dirty="0">
                <a:ea typeface="Courier New" pitchFamily="34" charset="-122"/>
                <a:cs typeface="Courier New" pitchFamily="34" charset="-120"/>
              </a:rPr>
              <a:t>Resolve-DnsName &lt;subdomain&gt;.&lt;domain&gt;</a:t>
            </a:r>
            <a:endParaRPr lang="en-US" sz="1400" dirty="0"/>
          </a:p>
        </p:txBody>
      </p:sp>
      <p:sp>
        <p:nvSpPr>
          <p:cNvPr id="25" name="Shape 16">
            <a:extLst>
              <a:ext uri="{FF2B5EF4-FFF2-40B4-BE49-F238E27FC236}">
                <a16:creationId xmlns:a16="http://schemas.microsoft.com/office/drawing/2014/main" id="{38FAFFBC-3007-4771-A257-29A5299D5FF1}"/>
              </a:ext>
            </a:extLst>
          </p:cNvPr>
          <p:cNvSpPr/>
          <p:nvPr/>
        </p:nvSpPr>
        <p:spPr>
          <a:xfrm>
            <a:off x="5997377" y="3987840"/>
            <a:ext cx="5378728" cy="788115"/>
          </a:xfrm>
          <a:prstGeom prst="roundRect">
            <a:avLst>
              <a:gd name="adj" fmla="val 9534"/>
            </a:avLst>
          </a:prstGeom>
          <a:solidFill>
            <a:srgbClr val="F5F5F5"/>
          </a:solidFill>
          <a:ln w="6350">
            <a:solidFill>
              <a:srgbClr val="D1D5DB"/>
            </a:solidFill>
            <a:prstDash val="solid"/>
          </a:ln>
        </p:spPr>
      </p:sp>
      <p:sp>
        <p:nvSpPr>
          <p:cNvPr id="26" name="Shape 17">
            <a:extLst>
              <a:ext uri="{FF2B5EF4-FFF2-40B4-BE49-F238E27FC236}">
                <a16:creationId xmlns:a16="http://schemas.microsoft.com/office/drawing/2014/main" id="{702F7485-9318-4858-9D59-DB6D57B920A8}"/>
              </a:ext>
            </a:extLst>
          </p:cNvPr>
          <p:cNvSpPr/>
          <p:nvPr/>
        </p:nvSpPr>
        <p:spPr>
          <a:xfrm>
            <a:off x="6182757" y="4262755"/>
            <a:ext cx="349171" cy="349171"/>
          </a:xfrm>
          <a:prstGeom prst="roundRect">
            <a:avLst>
              <a:gd name="adj" fmla="val 50000"/>
            </a:avLst>
          </a:prstGeom>
          <a:solidFill>
            <a:srgbClr val="FFFFFF"/>
          </a:solidFill>
          <a:ln w="6350">
            <a:solidFill>
              <a:srgbClr val="1A1A1A"/>
            </a:solidFill>
            <a:prstDash val="solid"/>
          </a:ln>
        </p:spPr>
      </p:sp>
      <p:pic>
        <p:nvPicPr>
          <p:cNvPr id="27" name="Image 3" descr="Globe">
            <a:extLst>
              <a:ext uri="{FF2B5EF4-FFF2-40B4-BE49-F238E27FC236}">
                <a16:creationId xmlns:a16="http://schemas.microsoft.com/office/drawing/2014/main" id="{893F833C-D73B-4207-AAA2-72F532F643CF}"/>
              </a:ext>
            </a:extLst>
          </p:cNvPr>
          <p:cNvPicPr>
            <a:picLocks noChangeAspect="1"/>
          </p:cNvPicPr>
          <p:nvPr/>
        </p:nvPicPr>
        <p:blipFill>
          <a:blip r:embed="rId4"/>
          <a:srcRect/>
          <a:stretch/>
        </p:blipFill>
        <p:spPr>
          <a:xfrm>
            <a:off x="6274832" y="4354830"/>
            <a:ext cx="165021" cy="165021"/>
          </a:xfrm>
          <a:prstGeom prst="rect">
            <a:avLst/>
          </a:prstGeom>
        </p:spPr>
      </p:pic>
      <p:sp>
        <p:nvSpPr>
          <p:cNvPr id="28" name="Text 18">
            <a:extLst>
              <a:ext uri="{FF2B5EF4-FFF2-40B4-BE49-F238E27FC236}">
                <a16:creationId xmlns:a16="http://schemas.microsoft.com/office/drawing/2014/main" id="{6D2B96C8-7A83-4508-8DBF-FF2A62915B7D}"/>
              </a:ext>
            </a:extLst>
          </p:cNvPr>
          <p:cNvSpPr/>
          <p:nvPr/>
        </p:nvSpPr>
        <p:spPr>
          <a:xfrm>
            <a:off x="6662024" y="4144685"/>
            <a:ext cx="4667832" cy="208280"/>
          </a:xfrm>
          <a:prstGeom prst="rect">
            <a:avLst/>
          </a:prstGeom>
          <a:noFill/>
          <a:ln/>
        </p:spPr>
        <p:txBody>
          <a:bodyPr wrap="square" lIns="0" tIns="0" rIns="0" bIns="0" rtlCol="0" anchor="t">
            <a:normAutofit/>
          </a:bodyPr>
          <a:lstStyle/>
          <a:p>
            <a:pPr>
              <a:lnSpc>
                <a:spcPts val="1440"/>
              </a:lnSpc>
            </a:pPr>
            <a:r>
              <a:rPr lang="en-US" sz="1400" b="1" dirty="0">
                <a:ea typeface="Arial" pitchFamily="34" charset="-122"/>
                <a:cs typeface="Arial" pitchFamily="34" charset="-120"/>
              </a:rPr>
              <a:t>Online-Checker </a:t>
            </a:r>
            <a:r>
              <a:rPr lang="en-US" sz="1400" b="1" dirty="0">
                <a:ea typeface="Courier New" pitchFamily="34" charset="-122"/>
                <a:cs typeface="Courier New" pitchFamily="34" charset="-120"/>
              </a:rPr>
              <a:t>z. B. dnschecker.org</a:t>
            </a:r>
            <a:endParaRPr lang="en-US" sz="1400" dirty="0"/>
          </a:p>
          <a:p>
            <a:pPr marL="0" indent="0" algn="l">
              <a:lnSpc>
                <a:spcPts val="1440"/>
              </a:lnSpc>
              <a:buNone/>
            </a:pPr>
            <a:endParaRPr lang="en-US" sz="1400" dirty="0"/>
          </a:p>
        </p:txBody>
      </p:sp>
      <p:sp>
        <p:nvSpPr>
          <p:cNvPr id="30" name="Text 20">
            <a:extLst>
              <a:ext uri="{FF2B5EF4-FFF2-40B4-BE49-F238E27FC236}">
                <a16:creationId xmlns:a16="http://schemas.microsoft.com/office/drawing/2014/main" id="{2C4B9490-452B-457F-89E4-057A05E82D2B}"/>
              </a:ext>
            </a:extLst>
          </p:cNvPr>
          <p:cNvSpPr/>
          <p:nvPr/>
        </p:nvSpPr>
        <p:spPr>
          <a:xfrm>
            <a:off x="6662024" y="4415275"/>
            <a:ext cx="4667832" cy="173990"/>
          </a:xfrm>
          <a:prstGeom prst="rect">
            <a:avLst/>
          </a:prstGeom>
          <a:noFill/>
          <a:ln/>
        </p:spPr>
        <p:txBody>
          <a:bodyPr wrap="square" lIns="0" tIns="0" rIns="0" bIns="0" rtlCol="0" anchor="t">
            <a:normAutofit/>
          </a:bodyPr>
          <a:lstStyle/>
          <a:p>
            <a:pPr marL="0" indent="0" algn="l">
              <a:lnSpc>
                <a:spcPts val="1170"/>
              </a:lnSpc>
              <a:buNone/>
            </a:pPr>
            <a:r>
              <a:rPr lang="en-US" sz="1400" dirty="0">
                <a:ea typeface="Arial" pitchFamily="34" charset="-122"/>
                <a:cs typeface="Arial" pitchFamily="34" charset="-120"/>
              </a:rPr>
              <a:t>Prüft die weltweite Propagierung des Eintrags</a:t>
            </a:r>
            <a:endParaRPr lang="en-US" sz="1400" dirty="0"/>
          </a:p>
        </p:txBody>
      </p:sp>
      <p:sp>
        <p:nvSpPr>
          <p:cNvPr id="33" name="Text 21">
            <a:extLst>
              <a:ext uri="{FF2B5EF4-FFF2-40B4-BE49-F238E27FC236}">
                <a16:creationId xmlns:a16="http://schemas.microsoft.com/office/drawing/2014/main" id="{A7616738-0B70-4DAA-8385-EF0A20757C25}"/>
              </a:ext>
            </a:extLst>
          </p:cNvPr>
          <p:cNvSpPr/>
          <p:nvPr/>
        </p:nvSpPr>
        <p:spPr>
          <a:xfrm>
            <a:off x="997381" y="4931470"/>
            <a:ext cx="4238177" cy="681930"/>
          </a:xfrm>
          <a:prstGeom prst="rect">
            <a:avLst/>
          </a:prstGeom>
          <a:noFill/>
          <a:ln/>
        </p:spPr>
        <p:txBody>
          <a:bodyPr wrap="square" lIns="0" tIns="0" rIns="0" bIns="0" rtlCol="0" anchor="t">
            <a:normAutofit/>
          </a:bodyPr>
          <a:lstStyle/>
          <a:p>
            <a:pPr marL="0" indent="0" algn="l">
              <a:lnSpc>
                <a:spcPts val="1170"/>
              </a:lnSpc>
              <a:buNone/>
            </a:pPr>
            <a:r>
              <a:rPr lang="en-US" sz="1400" dirty="0">
                <a:ea typeface="Arial" pitchFamily="34" charset="-122"/>
                <a:cs typeface="Arial" pitchFamily="34" charset="-120"/>
              </a:rPr>
              <a:t>* TTL (Time to Live): Sekunden, die ein DNS-Resolver den Eintrag zwischenspeichert, bevor er ihn erneut abfragt – niedriger Wert = schnellere Änderungen, mehr Anfragen</a:t>
            </a:r>
            <a:r>
              <a:rPr lang="en-US" sz="1400" i="1" dirty="0">
                <a:ea typeface="Arial" pitchFamily="34" charset="-122"/>
                <a:cs typeface="Arial" pitchFamily="34" charset="-120"/>
              </a:rPr>
              <a:t>.</a:t>
            </a:r>
            <a:endParaRPr lang="en-US" sz="1400" dirty="0"/>
          </a:p>
        </p:txBody>
      </p:sp>
      <p:pic>
        <p:nvPicPr>
          <p:cNvPr id="35" name="Grafik 34">
            <a:extLst>
              <a:ext uri="{FF2B5EF4-FFF2-40B4-BE49-F238E27FC236}">
                <a16:creationId xmlns:a16="http://schemas.microsoft.com/office/drawing/2014/main" id="{4633993E-731A-4DEF-8A9D-1E1CA6A9BF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60001" y="5115686"/>
            <a:ext cx="1129554" cy="1298987"/>
          </a:xfrm>
          <a:prstGeom prst="rect">
            <a:avLst/>
          </a:prstGeom>
        </p:spPr>
      </p:pic>
    </p:spTree>
    <p:extLst>
      <p:ext uri="{BB962C8B-B14F-4D97-AF65-F5344CB8AC3E}">
        <p14:creationId xmlns:p14="http://schemas.microsoft.com/office/powerpoint/2010/main" val="1864767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A69A3DD-6FBD-40E7-B37A-03BD8D460E91}"/>
              </a:ext>
            </a:extLst>
          </p:cNvPr>
          <p:cNvSpPr>
            <a:spLocks noGrp="1"/>
          </p:cNvSpPr>
          <p:nvPr>
            <p:ph type="title"/>
          </p:nvPr>
        </p:nvSpPr>
        <p:spPr/>
        <p:txBody>
          <a:bodyPr/>
          <a:lstStyle/>
          <a:p>
            <a:r>
              <a:rPr lang="de-DE" dirty="0"/>
              <a:t>Laborübung 03</a:t>
            </a:r>
          </a:p>
        </p:txBody>
      </p:sp>
      <p:sp>
        <p:nvSpPr>
          <p:cNvPr id="5" name="Datumsplatzhalter 4">
            <a:extLst>
              <a:ext uri="{FF2B5EF4-FFF2-40B4-BE49-F238E27FC236}">
                <a16:creationId xmlns:a16="http://schemas.microsoft.com/office/drawing/2014/main" id="{816D55CA-6F4F-4E30-AA9E-71F6E14CB6C3}"/>
              </a:ext>
            </a:extLst>
          </p:cNvPr>
          <p:cNvSpPr>
            <a:spLocks noGrp="1"/>
          </p:cNvSpPr>
          <p:nvPr>
            <p:ph type="dt" sz="half" idx="10"/>
          </p:nvPr>
        </p:nvSpPr>
        <p:spPr/>
        <p:txBody>
          <a:bodyPr/>
          <a:lstStyle/>
          <a:p>
            <a:fld id="{757CD2D1-8C96-4412-8C0C-09C7E956F080}" type="datetime1">
              <a:rPr lang="de-DE" smtClean="0"/>
              <a:t>22.09.2026</a:t>
            </a:fld>
            <a:endParaRPr lang="de-DE" dirty="0"/>
          </a:p>
        </p:txBody>
      </p:sp>
      <p:sp>
        <p:nvSpPr>
          <p:cNvPr id="6" name="Foliennummernplatzhalter 5">
            <a:extLst>
              <a:ext uri="{FF2B5EF4-FFF2-40B4-BE49-F238E27FC236}">
                <a16:creationId xmlns:a16="http://schemas.microsoft.com/office/drawing/2014/main" id="{FADE0D9E-8259-484A-9508-2802F1E7C7A9}"/>
              </a:ext>
            </a:extLst>
          </p:cNvPr>
          <p:cNvSpPr>
            <a:spLocks noGrp="1"/>
          </p:cNvSpPr>
          <p:nvPr>
            <p:ph type="sldNum" sz="quarter" idx="4"/>
          </p:nvPr>
        </p:nvSpPr>
        <p:spPr/>
        <p:txBody>
          <a:bodyPr/>
          <a:lstStyle/>
          <a:p>
            <a:fld id="{43A6DCFB-163F-4561-BF28-3CD1FE47EE20}" type="slidenum">
              <a:rPr lang="de-DE" smtClean="0"/>
              <a:pPr/>
              <a:t>8</a:t>
            </a:fld>
            <a:endParaRPr lang="de-DE" dirty="0"/>
          </a:p>
        </p:txBody>
      </p:sp>
      <p:pic>
        <p:nvPicPr>
          <p:cNvPr id="8" name="Grafik 7">
            <a:extLst>
              <a:ext uri="{FF2B5EF4-FFF2-40B4-BE49-F238E27FC236}">
                <a16:creationId xmlns:a16="http://schemas.microsoft.com/office/drawing/2014/main" id="{2C85E1F9-33FE-45F1-BBF3-87B319A941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52597" y="1956084"/>
            <a:ext cx="3108344" cy="3730013"/>
          </a:xfrm>
          <a:prstGeom prst="rect">
            <a:avLst/>
          </a:prstGeom>
        </p:spPr>
      </p:pic>
    </p:spTree>
    <p:extLst>
      <p:ext uri="{BB962C8B-B14F-4D97-AF65-F5344CB8AC3E}">
        <p14:creationId xmlns:p14="http://schemas.microsoft.com/office/powerpoint/2010/main" val="2230104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2308E33-0829-4981-BE0B-9CBD59D7698C}"/>
              </a:ext>
            </a:extLst>
          </p:cNvPr>
          <p:cNvSpPr>
            <a:spLocks noGrp="1"/>
          </p:cNvSpPr>
          <p:nvPr>
            <p:ph type="title"/>
          </p:nvPr>
        </p:nvSpPr>
        <p:spPr/>
        <p:txBody>
          <a:bodyPr/>
          <a:lstStyle/>
          <a:p>
            <a:r>
              <a:rPr lang="de-DE" dirty="0"/>
              <a:t>Reflexionsfragen</a:t>
            </a:r>
          </a:p>
        </p:txBody>
      </p:sp>
      <p:sp>
        <p:nvSpPr>
          <p:cNvPr id="5" name="Datumsplatzhalter 4">
            <a:extLst>
              <a:ext uri="{FF2B5EF4-FFF2-40B4-BE49-F238E27FC236}">
                <a16:creationId xmlns:a16="http://schemas.microsoft.com/office/drawing/2014/main" id="{D6890CBD-364B-4CD5-AA70-68D434EA80E9}"/>
              </a:ext>
            </a:extLst>
          </p:cNvPr>
          <p:cNvSpPr>
            <a:spLocks noGrp="1"/>
          </p:cNvSpPr>
          <p:nvPr>
            <p:ph type="dt" sz="half" idx="10"/>
          </p:nvPr>
        </p:nvSpPr>
        <p:spPr/>
        <p:txBody>
          <a:bodyPr/>
          <a:lstStyle/>
          <a:p>
            <a:fld id="{757CD2D1-8C96-4412-8C0C-09C7E956F080}" type="datetime1">
              <a:rPr lang="de-DE" smtClean="0"/>
              <a:t>22.09.2026</a:t>
            </a:fld>
            <a:endParaRPr lang="de-DE" dirty="0"/>
          </a:p>
        </p:txBody>
      </p:sp>
      <p:sp>
        <p:nvSpPr>
          <p:cNvPr id="6" name="Foliennummernplatzhalter 5">
            <a:extLst>
              <a:ext uri="{FF2B5EF4-FFF2-40B4-BE49-F238E27FC236}">
                <a16:creationId xmlns:a16="http://schemas.microsoft.com/office/drawing/2014/main" id="{5271F5D2-381E-4F2B-8EDD-C91D481228C3}"/>
              </a:ext>
            </a:extLst>
          </p:cNvPr>
          <p:cNvSpPr>
            <a:spLocks noGrp="1"/>
          </p:cNvSpPr>
          <p:nvPr>
            <p:ph type="sldNum" sz="quarter" idx="4"/>
          </p:nvPr>
        </p:nvSpPr>
        <p:spPr/>
        <p:txBody>
          <a:bodyPr/>
          <a:lstStyle/>
          <a:p>
            <a:fld id="{43A6DCFB-163F-4561-BF28-3CD1FE47EE20}" type="slidenum">
              <a:rPr lang="de-DE" smtClean="0"/>
              <a:pPr/>
              <a:t>9</a:t>
            </a:fld>
            <a:endParaRPr lang="de-DE" dirty="0"/>
          </a:p>
        </p:txBody>
      </p:sp>
      <p:sp>
        <p:nvSpPr>
          <p:cNvPr id="7" name="Shape 2">
            <a:extLst>
              <a:ext uri="{FF2B5EF4-FFF2-40B4-BE49-F238E27FC236}">
                <a16:creationId xmlns:a16="http://schemas.microsoft.com/office/drawing/2014/main" id="{AE08837B-B0FC-4689-969E-6368EDF93EE3}"/>
              </a:ext>
            </a:extLst>
          </p:cNvPr>
          <p:cNvSpPr/>
          <p:nvPr/>
        </p:nvSpPr>
        <p:spPr>
          <a:xfrm>
            <a:off x="812721" y="3452375"/>
            <a:ext cx="10566559" cy="0"/>
          </a:xfrm>
          <a:prstGeom prst="line">
            <a:avLst/>
          </a:prstGeom>
          <a:noFill/>
          <a:ln w="6350">
            <a:solidFill>
              <a:srgbClr val="D1D5DB"/>
            </a:solidFill>
            <a:prstDash val="solid"/>
          </a:ln>
        </p:spPr>
      </p:sp>
      <p:sp>
        <p:nvSpPr>
          <p:cNvPr id="8" name="Text 3">
            <a:extLst>
              <a:ext uri="{FF2B5EF4-FFF2-40B4-BE49-F238E27FC236}">
                <a16:creationId xmlns:a16="http://schemas.microsoft.com/office/drawing/2014/main" id="{60C66E16-4654-4BCC-8ADA-11E50E8AC785}"/>
              </a:ext>
            </a:extLst>
          </p:cNvPr>
          <p:cNvSpPr/>
          <p:nvPr/>
        </p:nvSpPr>
        <p:spPr>
          <a:xfrm>
            <a:off x="812721" y="2528529"/>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01</a:t>
            </a:r>
            <a:endParaRPr lang="en-US" sz="3000" dirty="0"/>
          </a:p>
        </p:txBody>
      </p:sp>
      <p:sp>
        <p:nvSpPr>
          <p:cNvPr id="9" name="Text 4">
            <a:extLst>
              <a:ext uri="{FF2B5EF4-FFF2-40B4-BE49-F238E27FC236}">
                <a16:creationId xmlns:a16="http://schemas.microsoft.com/office/drawing/2014/main" id="{15CDA089-2BDF-405E-A1A2-07495C117106}"/>
              </a:ext>
            </a:extLst>
          </p:cNvPr>
          <p:cNvSpPr/>
          <p:nvPr/>
        </p:nvSpPr>
        <p:spPr>
          <a:xfrm>
            <a:off x="1625441" y="2528529"/>
            <a:ext cx="10046454"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Warum ist es sinnvoll, einen Domänennamen statt der IP-Adresse direkt zu verwenden – auch wenn sich die IP selten ändert?</a:t>
            </a:r>
            <a:endParaRPr lang="en-US" sz="1800" dirty="0"/>
          </a:p>
        </p:txBody>
      </p:sp>
      <p:sp>
        <p:nvSpPr>
          <p:cNvPr id="10" name="Shape 5">
            <a:extLst>
              <a:ext uri="{FF2B5EF4-FFF2-40B4-BE49-F238E27FC236}">
                <a16:creationId xmlns:a16="http://schemas.microsoft.com/office/drawing/2014/main" id="{5494341D-6130-4013-A63D-19BFA10702FB}"/>
              </a:ext>
            </a:extLst>
          </p:cNvPr>
          <p:cNvSpPr/>
          <p:nvPr/>
        </p:nvSpPr>
        <p:spPr>
          <a:xfrm>
            <a:off x="812721" y="4526676"/>
            <a:ext cx="10566559" cy="0"/>
          </a:xfrm>
          <a:prstGeom prst="line">
            <a:avLst/>
          </a:prstGeom>
          <a:noFill/>
          <a:ln w="6350">
            <a:solidFill>
              <a:srgbClr val="D1D5DB"/>
            </a:solidFill>
            <a:prstDash val="solid"/>
          </a:ln>
        </p:spPr>
      </p:sp>
      <p:sp>
        <p:nvSpPr>
          <p:cNvPr id="11" name="Text 6">
            <a:extLst>
              <a:ext uri="{FF2B5EF4-FFF2-40B4-BE49-F238E27FC236}">
                <a16:creationId xmlns:a16="http://schemas.microsoft.com/office/drawing/2014/main" id="{A7A46E7B-376D-4594-829A-8267F7A9486C}"/>
              </a:ext>
            </a:extLst>
          </p:cNvPr>
          <p:cNvSpPr/>
          <p:nvPr/>
        </p:nvSpPr>
        <p:spPr>
          <a:xfrm>
            <a:off x="812721" y="3861910"/>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02</a:t>
            </a:r>
            <a:endParaRPr lang="en-US" sz="3000" dirty="0"/>
          </a:p>
        </p:txBody>
      </p:sp>
      <p:sp>
        <p:nvSpPr>
          <p:cNvPr id="12" name="Text 7">
            <a:extLst>
              <a:ext uri="{FF2B5EF4-FFF2-40B4-BE49-F238E27FC236}">
                <a16:creationId xmlns:a16="http://schemas.microsoft.com/office/drawing/2014/main" id="{7582FEE8-0BEA-4B21-913E-A515528F264B}"/>
              </a:ext>
            </a:extLst>
          </p:cNvPr>
          <p:cNvSpPr/>
          <p:nvPr/>
        </p:nvSpPr>
        <p:spPr>
          <a:xfrm>
            <a:off x="1625441" y="3861910"/>
            <a:ext cx="10046454"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Welche Konsequenz hat eine zu hohe TTL, wenn Sie die Server-IP kurzfristig ändern müssen?</a:t>
            </a:r>
            <a:endParaRPr lang="en-US" sz="1800" dirty="0"/>
          </a:p>
        </p:txBody>
      </p:sp>
      <p:sp>
        <p:nvSpPr>
          <p:cNvPr id="13" name="Text 8">
            <a:extLst>
              <a:ext uri="{FF2B5EF4-FFF2-40B4-BE49-F238E27FC236}">
                <a16:creationId xmlns:a16="http://schemas.microsoft.com/office/drawing/2014/main" id="{DB9A012B-4038-455F-960E-6DA6A60BA1CD}"/>
              </a:ext>
            </a:extLst>
          </p:cNvPr>
          <p:cNvSpPr/>
          <p:nvPr/>
        </p:nvSpPr>
        <p:spPr>
          <a:xfrm>
            <a:off x="812721" y="4936212"/>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03</a:t>
            </a:r>
            <a:endParaRPr lang="en-US" sz="3000" dirty="0"/>
          </a:p>
        </p:txBody>
      </p:sp>
      <p:sp>
        <p:nvSpPr>
          <p:cNvPr id="14" name="Text 9">
            <a:extLst>
              <a:ext uri="{FF2B5EF4-FFF2-40B4-BE49-F238E27FC236}">
                <a16:creationId xmlns:a16="http://schemas.microsoft.com/office/drawing/2014/main" id="{2D224168-BFCE-4E85-A425-72B73B62690C}"/>
              </a:ext>
            </a:extLst>
          </p:cNvPr>
          <p:cNvSpPr/>
          <p:nvPr/>
        </p:nvSpPr>
        <p:spPr>
          <a:xfrm>
            <a:off x="1625441" y="4936212"/>
            <a:ext cx="10046454"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Ist eine Passphrase auf dem privaten Schlüssel sinnvoll?</a:t>
            </a:r>
            <a:endParaRPr lang="en-US" sz="1800" dirty="0"/>
          </a:p>
        </p:txBody>
      </p:sp>
    </p:spTree>
    <p:extLst>
      <p:ext uri="{BB962C8B-B14F-4D97-AF65-F5344CB8AC3E}">
        <p14:creationId xmlns:p14="http://schemas.microsoft.com/office/powerpoint/2010/main" val="2704081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537B233-9CDD-4A90-AABB-A8963DEE4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el 1"/>
          <p:cNvSpPr>
            <a:spLocks noGrp="1"/>
          </p:cNvSpPr>
          <p:nvPr>
            <p:ph type="title"/>
          </p:nvPr>
        </p:nvSpPr>
        <p:spPr>
          <a:xfrm>
            <a:off x="841248" y="818457"/>
            <a:ext cx="3322317" cy="2975876"/>
          </a:xfrm>
        </p:spPr>
        <p:txBody>
          <a:bodyPr vert="horz" lIns="91440" tIns="45720" rIns="91440" bIns="45720" rtlCol="0" anchor="b">
            <a:normAutofit/>
          </a:bodyPr>
          <a:lstStyle/>
          <a:p>
            <a:pPr algn="l"/>
            <a:r>
              <a:rPr lang="en-US" sz="4400" kern="1200" dirty="0" err="1">
                <a:solidFill>
                  <a:schemeClr val="tx1"/>
                </a:solidFill>
                <a:latin typeface="+mj-lt"/>
                <a:ea typeface="+mj-ea"/>
                <a:cs typeface="+mj-cs"/>
              </a:rPr>
              <a:t>Reflexion</a:t>
            </a:r>
            <a:endParaRPr lang="en-US" sz="4400" kern="1200" dirty="0">
              <a:solidFill>
                <a:schemeClr val="tx1"/>
              </a:solidFill>
              <a:latin typeface="+mj-lt"/>
              <a:ea typeface="+mj-ea"/>
              <a:cs typeface="+mj-cs"/>
            </a:endParaRPr>
          </a:p>
        </p:txBody>
      </p:sp>
      <p:cxnSp>
        <p:nvCxnSpPr>
          <p:cNvPr id="12" name="Straight Connector 11">
            <a:extLst>
              <a:ext uri="{FF2B5EF4-FFF2-40B4-BE49-F238E27FC236}">
                <a16:creationId xmlns:a16="http://schemas.microsoft.com/office/drawing/2014/main" id="{040575EE-C594-4566-BC00-663004E52A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63566" y="1417320"/>
            <a:ext cx="0" cy="40233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Grafik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0868" y="566916"/>
            <a:ext cx="5724168" cy="5724168"/>
          </a:xfrm>
          <a:prstGeom prst="rect">
            <a:avLst/>
          </a:prstGeom>
        </p:spPr>
      </p:pic>
      <p:sp>
        <p:nvSpPr>
          <p:cNvPr id="4" name="Foliennummernplatzhalter 3"/>
          <p:cNvSpPr>
            <a:spLocks noGrp="1"/>
          </p:cNvSpPr>
          <p:nvPr>
            <p:ph type="sldNum" sz="quarter" idx="4"/>
          </p:nvPr>
        </p:nvSpPr>
        <p:spPr>
          <a:xfrm>
            <a:off x="9762308" y="6356350"/>
            <a:ext cx="1591491" cy="365125"/>
          </a:xfrm>
        </p:spPr>
        <p:txBody>
          <a:bodyPr vert="horz" lIns="91440" tIns="45720" rIns="91440" bIns="45720" rtlCol="0" anchor="ctr">
            <a:normAutofit/>
          </a:bodyPr>
          <a:lstStyle/>
          <a:p>
            <a:pPr>
              <a:spcAft>
                <a:spcPts val="600"/>
              </a:spcAft>
            </a:pPr>
            <a:fld id="{43A6DCFB-163F-4561-BF28-3CD1FE47EE20}" type="slidenum">
              <a:rPr lang="en-US" sz="1200">
                <a:solidFill>
                  <a:schemeClr val="tx1">
                    <a:alpha val="70000"/>
                  </a:schemeClr>
                </a:solidFill>
                <a:latin typeface="+mn-lt"/>
                <a:cs typeface="+mn-cs"/>
              </a:rPr>
              <a:pPr>
                <a:spcAft>
                  <a:spcPts val="600"/>
                </a:spcAft>
              </a:pPr>
              <a:t>10</a:t>
            </a:fld>
            <a:endParaRPr lang="en-US" sz="1200">
              <a:solidFill>
                <a:schemeClr val="tx1">
                  <a:alpha val="70000"/>
                </a:schemeClr>
              </a:solidFill>
              <a:latin typeface="+mn-lt"/>
              <a:cs typeface="+mn-cs"/>
            </a:endParaRPr>
          </a:p>
        </p:txBody>
      </p:sp>
    </p:spTree>
    <p:extLst>
      <p:ext uri="{BB962C8B-B14F-4D97-AF65-F5344CB8AC3E}">
        <p14:creationId xmlns:p14="http://schemas.microsoft.com/office/powerpoint/2010/main" val="3199242868"/>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zu9_ALP-Praesentation_MasterVorlage.pptx" id="{B23EF914-3FB6-4301-94CB-99985DA93EFF}" vid="{9CA8404C-C143-41CD-9E42-A16ECB65F8EC}"/>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1411</Words>
  <Application>Microsoft Office PowerPoint</Application>
  <PresentationFormat>Breitbild</PresentationFormat>
  <Paragraphs>143</Paragraphs>
  <Slides>10</Slides>
  <Notes>6</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10</vt:i4>
      </vt:variant>
    </vt:vector>
  </HeadingPairs>
  <TitlesOfParts>
    <vt:vector size="19" baseType="lpstr">
      <vt:lpstr>Roboto Slab</vt:lpstr>
      <vt:lpstr>Arial</vt:lpstr>
      <vt:lpstr>Calibri Light</vt:lpstr>
      <vt:lpstr>Roboto</vt:lpstr>
      <vt:lpstr>Tw Cen MT</vt:lpstr>
      <vt:lpstr>Courier New</vt:lpstr>
      <vt:lpstr>Calibri</vt:lpstr>
      <vt:lpstr>Cambria</vt:lpstr>
      <vt:lpstr>Office</vt:lpstr>
      <vt:lpstr>IT-Infrastruktur mit freier Software  (z. B. Linux) bereitstellen </vt:lpstr>
      <vt:lpstr>Zielvorgabe: ssh-Verbindung mit Name &amp; Public-Key</vt:lpstr>
      <vt:lpstr>Gemeinsamer Handshake: bis zum verschlüsselten Kanal </vt:lpstr>
      <vt:lpstr>Host-Key-Fingerprint überprüfen  </vt:lpstr>
      <vt:lpstr>Variante 1 – Anmeldung mit Passwort (initiale Variante) </vt:lpstr>
      <vt:lpstr>Variante 2 – Anmeldung mit Schlüsselpaar (dauerhafte Variante) </vt:lpstr>
      <vt:lpstr>DNS-A-Record anlegen</vt:lpstr>
      <vt:lpstr>Laborübung 03</vt:lpstr>
      <vt:lpstr>Reflexionsfragen</vt:lpstr>
      <vt:lpstr>Reflexion</vt:lpstr>
    </vt:vector>
  </TitlesOfParts>
  <Company>ALP-Dillingen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Koehler, Oliver</dc:creator>
  <cp:lastModifiedBy>Lotter, Michael</cp:lastModifiedBy>
  <cp:revision>113</cp:revision>
  <dcterms:created xsi:type="dcterms:W3CDTF">2019-06-04T07:33:10Z</dcterms:created>
  <dcterms:modified xsi:type="dcterms:W3CDTF">2026-09-22T07:44:38Z</dcterms:modified>
</cp:coreProperties>
</file>